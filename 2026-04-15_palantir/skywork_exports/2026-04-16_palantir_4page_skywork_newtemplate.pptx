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embeddedFontLst>
    <p:embeddedFont>
      <p:font typeface="Noto Sans SC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image" Target="../media/image-4-39.png"/><Relationship Id="rId40" Type="http://schemas.openxmlformats.org/officeDocument/2006/relationships/image" Target="../media/image-4-40.png"/><Relationship Id="rId41" Type="http://schemas.openxmlformats.org/officeDocument/2006/relationships/image" Target="../media/image-4-41.png"/><Relationship Id="rId42" Type="http://schemas.openxmlformats.org/officeDocument/2006/relationships/image" Target="../media/image-4-42.png"/><Relationship Id="rId43" Type="http://schemas.openxmlformats.org/officeDocument/2006/relationships/image" Target="../media/image-4-43.png"/><Relationship Id="rId44" Type="http://schemas.openxmlformats.org/officeDocument/2006/relationships/image" Target="../media/image-4-44.png"/><Relationship Id="rId45" Type="http://schemas.openxmlformats.org/officeDocument/2006/relationships/image" Target="../media/image-4-45.png"/><Relationship Id="rId46" Type="http://schemas.openxmlformats.org/officeDocument/2006/relationships/image" Target="../media/image-4-46.png"/><Relationship Id="rId47" Type="http://schemas.openxmlformats.org/officeDocument/2006/relationships/image" Target="../media/image-4-47.png"/><Relationship Id="rId48" Type="http://schemas.openxmlformats.org/officeDocument/2006/relationships/image" Target="../media/image-4-48.png"/><Relationship Id="rId49" Type="http://schemas.openxmlformats.org/officeDocument/2006/relationships/image" Target="../media/image-4-49.png"/><Relationship Id="rId50" Type="http://schemas.openxmlformats.org/officeDocument/2006/relationships/image" Target="../media/image-4-50.png"/><Relationship Id="rId51" Type="http://schemas.openxmlformats.org/officeDocument/2006/relationships/image" Target="../media/image-4-51.png"/><Relationship Id="rId52" Type="http://schemas.openxmlformats.org/officeDocument/2006/relationships/image" Target="../media/image-4-52.png"/><Relationship Id="rId53" Type="http://schemas.openxmlformats.org/officeDocument/2006/relationships/image" Target="../media/image-4-53.png"/><Relationship Id="rId54" Type="http://schemas.openxmlformats.org/officeDocument/2006/relationships/image" Target="../media/image-4-54.png"/><Relationship Id="rId55" Type="http://schemas.openxmlformats.org/officeDocument/2006/relationships/image" Target="../media/image-4-55.png"/><Relationship Id="rId56" Type="http://schemas.openxmlformats.org/officeDocument/2006/relationships/image" Target="../media/image-4-56.png"/><Relationship Id="rId57" Type="http://schemas.openxmlformats.org/officeDocument/2006/relationships/image" Target="../media/image-4-57.png"/><Relationship Id="rId58" Type="http://schemas.openxmlformats.org/officeDocument/2006/relationships/image" Target="../media/image-4-58.png"/><Relationship Id="rId59" Type="http://schemas.openxmlformats.org/officeDocument/2006/relationships/image" Target="../media/image-4-59.png"/><Relationship Id="rId60" Type="http://schemas.openxmlformats.org/officeDocument/2006/relationships/image" Target="../media/image-4-60.png"/><Relationship Id="rId61" Type="http://schemas.openxmlformats.org/officeDocument/2006/relationships/image" Target="../media/image-4-61.png"/><Relationship Id="rId62" Type="http://schemas.openxmlformats.org/officeDocument/2006/relationships/image" Target="../media/image-4-62.png"/><Relationship Id="rId63" Type="http://schemas.openxmlformats.org/officeDocument/2006/relationships/image" Target="../media/image-4-63.png"/><Relationship Id="rId64" Type="http://schemas.openxmlformats.org/officeDocument/2006/relationships/image" Target="../media/image-4-64.png"/><Relationship Id="rId65" Type="http://schemas.openxmlformats.org/officeDocument/2006/relationships/image" Target="../media/image-4-65.png"/><Relationship Id="rId66" Type="http://schemas.openxmlformats.org/officeDocument/2006/relationships/image" Target="../media/image-4-66.png"/><Relationship Id="rId67" Type="http://schemas.openxmlformats.org/officeDocument/2006/relationships/image" Target="../media/image-4-67.png"/><Relationship Id="rId68" Type="http://schemas.openxmlformats.org/officeDocument/2006/relationships/image" Target="../media/image-4-68.png"/><Relationship Id="rId69" Type="http://schemas.openxmlformats.org/officeDocument/2006/relationships/image" Target="../media/image-4-69.png"/><Relationship Id="rId70" Type="http://schemas.openxmlformats.org/officeDocument/2006/relationships/image" Target="../media/image-4-70.png"/><Relationship Id="rId71" Type="http://schemas.openxmlformats.org/officeDocument/2006/relationships/image" Target="../media/image-4-71.png"/><Relationship Id="rId72" Type="http://schemas.openxmlformats.org/officeDocument/2006/relationships/image" Target="../media/image-4-72.png"/><Relationship Id="rId73" Type="http://schemas.openxmlformats.org/officeDocument/2006/relationships/image" Target="../media/image-4-73.png"/><Relationship Id="rId74" Type="http://schemas.openxmlformats.org/officeDocument/2006/relationships/slideLayout" Target="../slideLayouts/slideLayout1.xml"/><Relationship Id="rId7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809625"/>
            <a:ext cx="1219200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고위험 제조데이터에서도 핵심은 AI 사용 여부가 아니라 어디에 두고 어떤 권한·행위통제로 운영하느냐다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14375" y="1781175"/>
            <a:ext cx="5657850" cy="8737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Palantir는 외부 SaaS처럼 보이지만, 배포 구조 선택과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온톨로지 설계에 따라 raw data 외부반출 없이 운영 가능함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플랫폼이다. 선입견이 아닌 실제 문제로 접근해야 한다.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14375" y="2886075"/>
            <a:ext cx="2514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[배포 옵션 비교표]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324600" y="1676400"/>
            <a:ext cx="3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[구조적 장점 — LGD 관점]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24600" y="3276600"/>
            <a:ext cx="3691890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[남는 어려움 — Caveat]</a:t>
            </a:r>
            <a:endParaRPr lang="en-US" sz="1425" dirty="0"/>
          </a:p>
        </p:txBody>
      </p:sp>
      <p:sp>
        <p:nvSpPr>
          <p:cNvPr id="8" name="Text 5"/>
          <p:cNvSpPr/>
          <p:nvPr/>
        </p:nvSpPr>
        <p:spPr>
          <a:xfrm>
            <a:off x="6324600" y="4733925"/>
            <a:ext cx="342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[용어 정의 및 보안 메모]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24600" y="1943100"/>
            <a:ext cx="561588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 Customer-controlled ontology layer: 데이터 모델·접근권한을 고객이 직접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정의하고 통제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6104483" y="2314575"/>
            <a:ext cx="60875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② Object-level fine-grained access control: 사용자·역할·행위 단위로 세분화된 통제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6324600" y="2676525"/>
            <a:ext cx="5867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③ Raw data는 이동하지 않음: ontology 위에서 workflow-AI 실행 (원본 유출 없음)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6324600" y="3048000"/>
            <a:ext cx="5867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④ On-prem 선택 시 외부 인터넷 차단 후 내부망 전용 운영 가능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6041678" y="3524250"/>
            <a:ext cx="615017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On-prem 구축 비용 상당: 초기 인프라 + 지속 운영 리소스 필요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Ontology 설계 기간 6~18개월: 내부 도메인 전문가 + Palantir 파트너 리소스 병행 필요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“On-prem이면 끝”이 아님: on-prem + customer-controlled ontology +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fine-grained access control 세 가지가 함께 작동해야 보안 상태 완성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6073080" y="4972050"/>
            <a:ext cx="6118771" cy="5598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※ Ontology: 데이터의 각각 간 관계·속성·권한을 정의하는 논리 레이어, raw DB 테이블이 아님.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※ Air-gapped: 외부 인터넷망과 완전 분리된 환경. 굳이 반도체·디스플레이 고위험 공정에 적용.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※ Managed LLM 연동은 저위험 데이터 영역에 한해 선택적 허용 가능. 기본값은 차단.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6725" y="190500"/>
            <a:ext cx="8077200" cy="188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Slide 1 of 4 | 보안·데이터주권·온톨로지 구축 방식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256508" y="6467475"/>
            <a:ext cx="5678686" cy="1360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71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Sources: Palantir公开文件 (Deploy Anywhere, FedStart Architecture); 内部审查备忘录 2026-04-16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13524" y="6686550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486" y="2228850"/>
            <a:ext cx="4962079" cy="216708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486" y="2228850"/>
            <a:ext cx="992386" cy="2667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872" y="2228850"/>
            <a:ext cx="1984772" cy="266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7644" y="2228850"/>
            <a:ext cx="992386" cy="266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0030" y="2228850"/>
            <a:ext cx="992535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486" y="2495550"/>
            <a:ext cx="992386" cy="63341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2872" y="2495550"/>
            <a:ext cx="1984772" cy="63341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7644" y="2495550"/>
            <a:ext cx="992386" cy="63341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80030" y="2495550"/>
            <a:ext cx="992535" cy="63341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0486" y="3128963"/>
            <a:ext cx="992386" cy="63341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2872" y="3128963"/>
            <a:ext cx="1984772" cy="63341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87644" y="3128963"/>
            <a:ext cx="992386" cy="633413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80030" y="3128963"/>
            <a:ext cx="992535" cy="63341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10486" y="3762375"/>
            <a:ext cx="992386" cy="633561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02872" y="3762375"/>
            <a:ext cx="1984772" cy="633561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87644" y="3762375"/>
            <a:ext cx="992386" cy="633561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80030" y="3762375"/>
            <a:ext cx="992535" cy="633561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2221855"/>
            <a:ext cx="4913376" cy="2828581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2221855"/>
            <a:ext cx="903556" cy="566297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13156" y="2221855"/>
            <a:ext cx="2611696" cy="566297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24852" y="2221855"/>
            <a:ext cx="1398123" cy="566297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" y="2788152"/>
            <a:ext cx="903556" cy="302781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13156" y="2788152"/>
            <a:ext cx="2611696" cy="302781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24852" y="2788152"/>
            <a:ext cx="1398123" cy="302781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3090933"/>
            <a:ext cx="903556" cy="489841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513156" y="3090933"/>
            <a:ext cx="2611696" cy="489841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124852" y="3090933"/>
            <a:ext cx="1398123" cy="489841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9600" y="3580774"/>
            <a:ext cx="903556" cy="489841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513156" y="3580774"/>
            <a:ext cx="2611696" cy="489841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124852" y="3580774"/>
            <a:ext cx="1398123" cy="489841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09600" y="4070615"/>
            <a:ext cx="903556" cy="489841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513156" y="4070615"/>
            <a:ext cx="2611696" cy="489841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124852" y="4070615"/>
            <a:ext cx="1398123" cy="489841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9600" y="4560457"/>
            <a:ext cx="903556" cy="48998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513156" y="4560457"/>
            <a:ext cx="2611696" cy="48998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124852" y="4560457"/>
            <a:ext cx="1398123" cy="48998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sp>
        <p:nvSpPr>
          <p:cNvPr id="40" name="Text 0"/>
          <p:cNvSpPr/>
          <p:nvPr/>
        </p:nvSpPr>
        <p:spPr>
          <a:xfrm>
            <a:off x="6510486" y="2228850"/>
            <a:ext cx="9923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</a:rPr>
              <a:t>기업</a:t>
            </a:r>
            <a:endParaRPr lang="en-US" sz="1425" dirty="0"/>
          </a:p>
        </p:txBody>
      </p:sp>
      <p:sp>
        <p:nvSpPr>
          <p:cNvPr id="41" name="Text 1"/>
          <p:cNvSpPr/>
          <p:nvPr/>
        </p:nvSpPr>
        <p:spPr>
          <a:xfrm>
            <a:off x="7502872" y="2228850"/>
            <a:ext cx="19847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</a:rPr>
              <a:t>내용</a:t>
            </a:r>
            <a:endParaRPr lang="en-US" sz="1425" dirty="0"/>
          </a:p>
        </p:txBody>
      </p:sp>
      <p:sp>
        <p:nvSpPr>
          <p:cNvPr id="42" name="Text 2"/>
          <p:cNvSpPr/>
          <p:nvPr/>
        </p:nvSpPr>
        <p:spPr>
          <a:xfrm>
            <a:off x="9487644" y="2228850"/>
            <a:ext cx="9923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</a:rPr>
              <a:t>단계</a:t>
            </a:r>
            <a:endParaRPr lang="en-US" sz="1425" dirty="0"/>
          </a:p>
        </p:txBody>
      </p:sp>
      <p:sp>
        <p:nvSpPr>
          <p:cNvPr id="43" name="Text 3"/>
          <p:cNvSpPr/>
          <p:nvPr/>
        </p:nvSpPr>
        <p:spPr>
          <a:xfrm>
            <a:off x="10480030" y="2228850"/>
            <a:ext cx="9925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</a:rPr>
              <a:t>근거 수준</a:t>
            </a:r>
            <a:endParaRPr lang="en-US" sz="1425" dirty="0"/>
          </a:p>
        </p:txBody>
      </p:sp>
      <p:sp>
        <p:nvSpPr>
          <p:cNvPr id="44" name="Text 4"/>
          <p:cNvSpPr/>
          <p:nvPr/>
        </p:nvSpPr>
        <p:spPr>
          <a:xfrm>
            <a:off x="6510486" y="2495550"/>
            <a:ext cx="801886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LG CNS</a:t>
            </a:r>
            <a:endParaRPr lang="en-US" sz="1163" dirty="0"/>
          </a:p>
        </p:txBody>
      </p:sp>
      <p:sp>
        <p:nvSpPr>
          <p:cNvPr id="45" name="Text 5"/>
          <p:cNvSpPr/>
          <p:nvPr/>
        </p:nvSpPr>
        <p:spPr>
          <a:xfrm>
            <a:off x="7598122" y="2495550"/>
            <a:ext cx="1794272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Palantir 전략적 파트너십</a:t>
            </a:r>
            <a:pPr algn="l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— PoC → 본계약</a:t>
            </a:r>
            <a:endParaRPr lang="en-US" sz="1163" dirty="0"/>
          </a:p>
        </p:txBody>
      </p:sp>
      <p:sp>
        <p:nvSpPr>
          <p:cNvPr id="46" name="Text 6"/>
          <p:cNvSpPr/>
          <p:nvPr/>
        </p:nvSpPr>
        <p:spPr>
          <a:xfrm>
            <a:off x="9487644" y="2495550"/>
            <a:ext cx="801886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Full-scale</a:t>
            </a:r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contract</a:t>
            </a:r>
            <a:endParaRPr lang="en-US" sz="1163" dirty="0"/>
          </a:p>
        </p:txBody>
      </p:sp>
      <p:sp>
        <p:nvSpPr>
          <p:cNvPr id="47" name="Text 7"/>
          <p:cNvSpPr/>
          <p:nvPr/>
        </p:nvSpPr>
        <p:spPr>
          <a:xfrm>
            <a:off x="10480030" y="2495550"/>
            <a:ext cx="802035" cy="6334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✅ 공개 발표</a:t>
            </a:r>
            <a:endParaRPr lang="en-US" sz="1163" dirty="0"/>
          </a:p>
        </p:txBody>
      </p:sp>
      <p:sp>
        <p:nvSpPr>
          <p:cNvPr id="48" name="Text 8"/>
          <p:cNvSpPr/>
          <p:nvPr/>
        </p:nvSpPr>
        <p:spPr>
          <a:xfrm>
            <a:off x="6510486" y="3128963"/>
            <a:ext cx="801886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LG (그룹)</a:t>
            </a:r>
            <a:endParaRPr lang="en-US" sz="1163" dirty="0"/>
          </a:p>
        </p:txBody>
      </p:sp>
      <p:sp>
        <p:nvSpPr>
          <p:cNvPr id="49" name="Text 9"/>
          <p:cNvSpPr/>
          <p:nvPr/>
        </p:nvSpPr>
        <p:spPr>
          <a:xfrm>
            <a:off x="7598122" y="3128963"/>
            <a:ext cx="1794272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구광모 회장 × Palantir</a:t>
            </a:r>
            <a:pPr algn="l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경영진 면담</a:t>
            </a:r>
            <a:endParaRPr lang="en-US" sz="1163" dirty="0"/>
          </a:p>
        </p:txBody>
      </p:sp>
      <p:sp>
        <p:nvSpPr>
          <p:cNvPr id="50" name="Text 10"/>
          <p:cNvSpPr/>
          <p:nvPr/>
        </p:nvSpPr>
        <p:spPr>
          <a:xfrm>
            <a:off x="9487644" y="3128963"/>
            <a:ext cx="801886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지속 확장</a:t>
            </a:r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의지</a:t>
            </a:r>
            <a:endParaRPr lang="en-US" sz="1163" dirty="0"/>
          </a:p>
        </p:txBody>
      </p:sp>
      <p:sp>
        <p:nvSpPr>
          <p:cNvPr id="51" name="Text 11"/>
          <p:cNvSpPr/>
          <p:nvPr/>
        </p:nvSpPr>
        <p:spPr>
          <a:xfrm>
            <a:off x="10480030" y="3128963"/>
            <a:ext cx="802035" cy="6334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✅ 공개 확인</a:t>
            </a:r>
            <a:endParaRPr lang="en-US" sz="1163" dirty="0"/>
          </a:p>
        </p:txBody>
      </p:sp>
      <p:sp>
        <p:nvSpPr>
          <p:cNvPr id="52" name="Text 12"/>
          <p:cNvSpPr/>
          <p:nvPr/>
        </p:nvSpPr>
        <p:spPr>
          <a:xfrm>
            <a:off x="6510486" y="3762375"/>
            <a:ext cx="801886" cy="63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HD</a:t>
            </a:r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Hyundai</a:t>
            </a:r>
            <a:endParaRPr lang="en-US" sz="1163" dirty="0"/>
          </a:p>
        </p:txBody>
      </p:sp>
      <p:sp>
        <p:nvSpPr>
          <p:cNvPr id="53" name="Text 13"/>
          <p:cNvSpPr/>
          <p:nvPr/>
        </p:nvSpPr>
        <p:spPr>
          <a:xfrm>
            <a:off x="7598122" y="3762375"/>
            <a:ext cx="1794272" cy="63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Foundry + AIP 계열사</a:t>
            </a:r>
            <a:pPr algn="l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전체 확장 계약</a:t>
            </a:r>
            <a:endParaRPr lang="en-US" sz="1163" dirty="0"/>
          </a:p>
        </p:txBody>
      </p:sp>
      <p:sp>
        <p:nvSpPr>
          <p:cNvPr id="54" name="Text 14"/>
          <p:cNvSpPr/>
          <p:nvPr/>
        </p:nvSpPr>
        <p:spPr>
          <a:xfrm>
            <a:off x="9487644" y="3762375"/>
            <a:ext cx="801886" cy="63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Multi-BU</a:t>
            </a:r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expansion</a:t>
            </a:r>
            <a:endParaRPr lang="en-US" sz="1163" dirty="0"/>
          </a:p>
        </p:txBody>
      </p:sp>
      <p:sp>
        <p:nvSpPr>
          <p:cNvPr id="55" name="Text 15"/>
          <p:cNvSpPr/>
          <p:nvPr/>
        </p:nvSpPr>
        <p:spPr>
          <a:xfrm>
            <a:off x="10480030" y="3762375"/>
            <a:ext cx="802035" cy="6335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1"/>
              </a:lnSpc>
              <a:buNone/>
            </a:pPr>
            <a:r>
              <a:rPr lang="en-US" sz="1163" b="1" dirty="0">
                <a:solidFill>
                  <a:srgbClr val="000000"/>
                </a:solidFill>
              </a:rPr>
              <a:t>✅ 공개 발표</a:t>
            </a:r>
            <a:endParaRPr lang="en-US" sz="1163" dirty="0"/>
          </a:p>
        </p:txBody>
      </p:sp>
      <p:sp>
        <p:nvSpPr>
          <p:cNvPr id="56" name="Text 16"/>
          <p:cNvSpPr/>
          <p:nvPr/>
        </p:nvSpPr>
        <p:spPr>
          <a:xfrm>
            <a:off x="609600" y="2221855"/>
            <a:ext cx="751156" cy="5662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</a:rPr>
              <a:t>시기</a:t>
            </a:r>
            <a:endParaRPr lang="en-US" sz="1425" dirty="0"/>
          </a:p>
        </p:txBody>
      </p:sp>
      <p:sp>
        <p:nvSpPr>
          <p:cNvPr id="57" name="Text 17"/>
          <p:cNvSpPr/>
          <p:nvPr/>
        </p:nvSpPr>
        <p:spPr>
          <a:xfrm>
            <a:off x="1589358" y="2221855"/>
            <a:ext cx="2459296" cy="5662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</a:rPr>
              <a:t>이벤트</a:t>
            </a:r>
            <a:endParaRPr lang="en-US" sz="1425" dirty="0"/>
          </a:p>
        </p:txBody>
      </p:sp>
      <p:sp>
        <p:nvSpPr>
          <p:cNvPr id="58" name="Text 18"/>
          <p:cNvSpPr/>
          <p:nvPr/>
        </p:nvSpPr>
        <p:spPr>
          <a:xfrm>
            <a:off x="4201054" y="2221855"/>
            <a:ext cx="1245723" cy="5662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</a:rPr>
              <a:t>판단</a:t>
            </a:r>
            <a:endParaRPr lang="en-US" sz="1425" dirty="0"/>
          </a:p>
        </p:txBody>
      </p:sp>
      <p:sp>
        <p:nvSpPr>
          <p:cNvPr id="59" name="Text 19"/>
          <p:cNvSpPr/>
          <p:nvPr/>
        </p:nvSpPr>
        <p:spPr>
          <a:xfrm>
            <a:off x="609600" y="2788152"/>
            <a:ext cx="713056" cy="3027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Q1 2024</a:t>
            </a:r>
            <a:endParaRPr lang="en-US" sz="1163" dirty="0"/>
          </a:p>
        </p:txBody>
      </p:sp>
      <p:sp>
        <p:nvSpPr>
          <p:cNvPr id="60" name="Text 20"/>
          <p:cNvSpPr/>
          <p:nvPr/>
        </p:nvSpPr>
        <p:spPr>
          <a:xfrm>
            <a:off x="1608409" y="2788152"/>
            <a:ext cx="4106060" cy="3027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삼성 DX 사업부 Palantir PoC 진행</a:t>
            </a:r>
            <a:endParaRPr lang="en-US" sz="1163" dirty="0"/>
          </a:p>
        </p:txBody>
      </p:sp>
      <p:sp>
        <p:nvSpPr>
          <p:cNvPr id="61" name="Text 21"/>
          <p:cNvSpPr/>
          <p:nvPr/>
        </p:nvSpPr>
        <p:spPr>
          <a:xfrm>
            <a:off x="4220105" y="2788152"/>
            <a:ext cx="1326221" cy="3027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✅ 확인된 사실</a:t>
            </a:r>
            <a:endParaRPr lang="en-US" sz="1163" dirty="0"/>
          </a:p>
        </p:txBody>
      </p:sp>
      <p:sp>
        <p:nvSpPr>
          <p:cNvPr id="62" name="Text 22"/>
          <p:cNvSpPr/>
          <p:nvPr/>
        </p:nvSpPr>
        <p:spPr>
          <a:xfrm>
            <a:off x="609600" y="3090933"/>
            <a:ext cx="713056" cy="48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Q3 2024</a:t>
            </a:r>
            <a:endParaRPr lang="en-US" sz="1163" dirty="0"/>
          </a:p>
        </p:txBody>
      </p:sp>
      <p:sp>
        <p:nvSpPr>
          <p:cNvPr id="63" name="Text 23"/>
          <p:cNvSpPr/>
          <p:nvPr/>
        </p:nvSpPr>
        <p:spPr>
          <a:xfrm>
            <a:off x="1608409" y="3090933"/>
            <a:ext cx="2421196" cy="48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고객 대면 서비스 rollout →</a:t>
            </a:r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Microsoft 선정, Palantir 미채택</a:t>
            </a:r>
            <a:endParaRPr lang="en-US" sz="1163" dirty="0"/>
          </a:p>
        </p:txBody>
      </p:sp>
      <p:sp>
        <p:nvSpPr>
          <p:cNvPr id="64" name="Text 24"/>
          <p:cNvSpPr/>
          <p:nvPr/>
        </p:nvSpPr>
        <p:spPr>
          <a:xfrm>
            <a:off x="4220105" y="3090933"/>
            <a:ext cx="1326221" cy="48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✅ 확인된 사실</a:t>
            </a:r>
            <a:endParaRPr lang="en-US" sz="1163" dirty="0"/>
          </a:p>
        </p:txBody>
      </p:sp>
      <p:sp>
        <p:nvSpPr>
          <p:cNvPr id="65" name="Text 25"/>
          <p:cNvSpPr/>
          <p:nvPr/>
        </p:nvSpPr>
        <p:spPr>
          <a:xfrm>
            <a:off x="609600" y="3580774"/>
            <a:ext cx="713056" cy="48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2025</a:t>
            </a:r>
            <a:endParaRPr lang="en-US" sz="1163" dirty="0"/>
          </a:p>
        </p:txBody>
      </p:sp>
      <p:sp>
        <p:nvSpPr>
          <p:cNvPr id="66" name="Text 26"/>
          <p:cNvSpPr/>
          <p:nvPr/>
        </p:nvSpPr>
        <p:spPr>
          <a:xfrm>
            <a:off x="1608409" y="3580774"/>
            <a:ext cx="2421196" cy="48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Samsung AI Forum — agentic AI,</a:t>
            </a:r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digital twin 공개 발표</a:t>
            </a:r>
            <a:endParaRPr lang="en-US" sz="1163" dirty="0"/>
          </a:p>
        </p:txBody>
      </p:sp>
      <p:sp>
        <p:nvSpPr>
          <p:cNvPr id="67" name="Text 27"/>
          <p:cNvSpPr/>
          <p:nvPr/>
        </p:nvSpPr>
        <p:spPr>
          <a:xfrm>
            <a:off x="4220105" y="3580774"/>
            <a:ext cx="1207623" cy="48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✅ 공개 발표</a:t>
            </a:r>
            <a:endParaRPr lang="en-US" sz="1163" dirty="0"/>
          </a:p>
        </p:txBody>
      </p:sp>
      <p:sp>
        <p:nvSpPr>
          <p:cNvPr id="68" name="Text 28"/>
          <p:cNvSpPr/>
          <p:nvPr/>
        </p:nvSpPr>
        <p:spPr>
          <a:xfrm>
            <a:off x="609600" y="4070615"/>
            <a:ext cx="713056" cy="48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2025</a:t>
            </a:r>
            <a:endParaRPr lang="en-US" sz="1163" dirty="0"/>
          </a:p>
        </p:txBody>
      </p:sp>
      <p:sp>
        <p:nvSpPr>
          <p:cNvPr id="69" name="Text 29"/>
          <p:cNvSpPr/>
          <p:nvPr/>
        </p:nvSpPr>
        <p:spPr>
          <a:xfrm>
            <a:off x="1608409" y="4070615"/>
            <a:ext cx="2421196" cy="48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삼성 파운드리 2nm 수율 일부 개선</a:t>
            </a:r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보고</a:t>
            </a:r>
            <a:endParaRPr lang="en-US" sz="1163" dirty="0"/>
          </a:p>
        </p:txBody>
      </p:sp>
      <p:sp>
        <p:nvSpPr>
          <p:cNvPr id="70" name="Text 30"/>
          <p:cNvSpPr/>
          <p:nvPr/>
        </p:nvSpPr>
        <p:spPr>
          <a:xfrm>
            <a:off x="4220105" y="4070615"/>
            <a:ext cx="1207623" cy="48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⚠️ Palantir 기여</a:t>
            </a:r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    여부 미확인</a:t>
            </a:r>
            <a:endParaRPr lang="en-US" sz="1163" dirty="0"/>
          </a:p>
        </p:txBody>
      </p:sp>
      <p:sp>
        <p:nvSpPr>
          <p:cNvPr id="71" name="Text 31"/>
          <p:cNvSpPr/>
          <p:nvPr/>
        </p:nvSpPr>
        <p:spPr>
          <a:xfrm>
            <a:off x="609600" y="4560457"/>
            <a:ext cx="713056" cy="48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2026</a:t>
            </a:r>
            <a:endParaRPr lang="en-US" sz="1163" dirty="0"/>
          </a:p>
        </p:txBody>
      </p:sp>
      <p:sp>
        <p:nvSpPr>
          <p:cNvPr id="72" name="Text 32"/>
          <p:cNvSpPr/>
          <p:nvPr/>
        </p:nvSpPr>
        <p:spPr>
          <a:xfrm>
            <a:off x="1608409" y="4560457"/>
            <a:ext cx="2421196" cy="48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DS AI Center 채용공고 —</a:t>
            </a:r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ontology·KG·Palantir ontology 명시</a:t>
            </a:r>
            <a:endParaRPr lang="en-US" sz="1163" dirty="0"/>
          </a:p>
        </p:txBody>
      </p:sp>
      <p:sp>
        <p:nvSpPr>
          <p:cNvPr id="73" name="Text 33"/>
          <p:cNvSpPr/>
          <p:nvPr/>
        </p:nvSpPr>
        <p:spPr>
          <a:xfrm>
            <a:off x="4220105" y="4560457"/>
            <a:ext cx="1207623" cy="48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⚠️ 내부 도입</a:t>
            </a:r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1453"/>
              </a:lnSpc>
              <a:buNone/>
            </a:pPr>
            <a:r>
              <a:rPr lang="en-US" sz="1163" dirty="0">
                <a:solidFill>
                  <a:srgbClr val="000000"/>
                </a:solidFill>
              </a:rPr>
              <a:t>    검토 신호</a:t>
            </a:r>
            <a:endParaRPr lang="en-US" sz="1163" dirty="0"/>
          </a:p>
        </p:txBody>
      </p:sp>
      <p:sp>
        <p:nvSpPr>
          <p:cNvPr id="74" name="Text 34"/>
          <p:cNvSpPr/>
          <p:nvPr/>
        </p:nvSpPr>
        <p:spPr>
          <a:xfrm>
            <a:off x="0" y="742950"/>
            <a:ext cx="12192000" cy="2848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4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2025-2026 제조 AI 경쟁은 chatbot이 아니라 ontology-workflow-digital twin-operations intelligence로 이동 중</a:t>
            </a:r>
            <a:endParaRPr lang="en-US" sz="1725" dirty="0"/>
          </a:p>
        </p:txBody>
      </p:sp>
      <p:sp>
        <p:nvSpPr>
          <p:cNvPr id="75" name="Text 35"/>
          <p:cNvSpPr/>
          <p:nvPr/>
        </p:nvSpPr>
        <p:spPr>
          <a:xfrm>
            <a:off x="228600" y="123825"/>
            <a:ext cx="11963400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70"/>
              </a:lnSpc>
              <a:buNone/>
            </a:pPr>
            <a:r>
              <a:rPr lang="en-US" sz="24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Slide 2 of 4 | 경쟁사·시장 신호와 Samsung 흐름</a:t>
            </a:r>
            <a:endParaRPr lang="en-US" sz="2475" dirty="0"/>
          </a:p>
        </p:txBody>
      </p:sp>
      <p:sp>
        <p:nvSpPr>
          <p:cNvPr id="76" name="Text 36"/>
          <p:cNvSpPr/>
          <p:nvPr/>
        </p:nvSpPr>
        <p:spPr>
          <a:xfrm>
            <a:off x="714375" y="5334000"/>
            <a:ext cx="1107567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판단: Signal ≠ Proof. 삼성 수율 개선을 Palantir 효과로 단정 불가.</a:t>
            </a:r>
            <a:endParaRPr lang="en-US" sz="1425" dirty="0"/>
          </a:p>
        </p:txBody>
      </p:sp>
      <p:sp>
        <p:nvSpPr>
          <p:cNvPr id="77" name="Text 37"/>
          <p:cNvSpPr/>
          <p:nvPr/>
        </p:nvSpPr>
        <p:spPr>
          <a:xfrm>
            <a:off x="6686550" y="4467225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[시장 시사점]</a:t>
            </a:r>
            <a:endParaRPr lang="en-US" sz="1500" dirty="0"/>
          </a:p>
        </p:txBody>
      </p:sp>
      <p:sp>
        <p:nvSpPr>
          <p:cNvPr id="78" name="Text 38"/>
          <p:cNvSpPr/>
          <p:nvPr/>
        </p:nvSpPr>
        <p:spPr>
          <a:xfrm>
            <a:off x="6219825" y="5410200"/>
            <a:ext cx="597217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LGD는 공개 레퍼런스를 보유한 경쟁사 대비 의사결정 속도 부족</a:t>
            </a:r>
            <a:endParaRPr lang="en-US" sz="1350" dirty="0"/>
          </a:p>
        </p:txBody>
      </p:sp>
      <p:sp>
        <p:nvSpPr>
          <p:cNvPr id="79" name="Text 39"/>
          <p:cNvSpPr/>
          <p:nvPr/>
        </p:nvSpPr>
        <p:spPr>
          <a:xfrm>
            <a:off x="6324600" y="5715000"/>
            <a:ext cx="58674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※ Signal vs Proof: Signal = 채용공고+내부 PoC 등 간접 지표. Proof = 공개 계약+공식 발표.</a:t>
            </a:r>
            <a:endParaRPr lang="en-US" sz="1125" dirty="0"/>
          </a:p>
        </p:txBody>
      </p:sp>
      <p:sp>
        <p:nvSpPr>
          <p:cNvPr id="80" name="Text 40"/>
          <p:cNvSpPr/>
          <p:nvPr/>
        </p:nvSpPr>
        <p:spPr>
          <a:xfrm>
            <a:off x="6471196" y="5867400"/>
            <a:ext cx="572080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※ 삼성 2nm 수율 개선은 공정 최적화+장비 교체 등 복수 요인 포함. Palantir 단독 기여 불가.</a:t>
            </a:r>
            <a:endParaRPr lang="en-US" sz="1125" dirty="0"/>
          </a:p>
        </p:txBody>
      </p:sp>
      <p:sp>
        <p:nvSpPr>
          <p:cNvPr id="81" name="Text 41"/>
          <p:cNvSpPr/>
          <p:nvPr/>
        </p:nvSpPr>
        <p:spPr>
          <a:xfrm>
            <a:off x="6686550" y="6019800"/>
            <a:ext cx="48006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※ LG CNS 레퍼런스는 LGD 직접 계약 아님.</a:t>
            </a:r>
            <a:endParaRPr lang="en-US" sz="1125" dirty="0"/>
          </a:p>
        </p:txBody>
      </p:sp>
      <p:sp>
        <p:nvSpPr>
          <p:cNvPr id="82" name="Text 42"/>
          <p:cNvSpPr/>
          <p:nvPr/>
        </p:nvSpPr>
        <p:spPr>
          <a:xfrm>
            <a:off x="6686550" y="4867275"/>
            <a:ext cx="5458718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제조 AI 경쟁의 초점: 챗봇 도입 → ontology-workflow-digital twin</a:t>
            </a:r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인프라 구축으로 이동</a:t>
            </a:r>
            <a:endParaRPr lang="en-US" sz="1350" dirty="0"/>
          </a:p>
        </p:txBody>
      </p:sp>
      <p:sp>
        <p:nvSpPr>
          <p:cNvPr id="83" name="Text 43"/>
          <p:cNvSpPr/>
          <p:nvPr/>
        </p:nvSpPr>
        <p:spPr>
          <a:xfrm>
            <a:off x="6387405" y="5286375"/>
            <a:ext cx="580459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- 2026 GTC 발표: agentic AI + digital twin이 제조 운행 핵심 축으로 부상</a:t>
            </a:r>
            <a:endParaRPr lang="en-US" sz="1125" dirty="0"/>
          </a:p>
        </p:txBody>
      </p:sp>
      <p:sp>
        <p:nvSpPr>
          <p:cNvPr id="84" name="Text 44"/>
          <p:cNvSpPr/>
          <p:nvPr/>
        </p:nvSpPr>
        <p:spPr>
          <a:xfrm>
            <a:off x="2088803" y="1733550"/>
            <a:ext cx="2032546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삼성 — Signal 타임라인</a:t>
            </a:r>
            <a:endParaRPr lang="en-US" sz="1500" dirty="0"/>
          </a:p>
        </p:txBody>
      </p:sp>
      <p:sp>
        <p:nvSpPr>
          <p:cNvPr id="85" name="Text 45"/>
          <p:cNvSpPr/>
          <p:nvPr/>
        </p:nvSpPr>
        <p:spPr>
          <a:xfrm>
            <a:off x="7262813" y="1733550"/>
            <a:ext cx="3457575" cy="1736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LG / HD Hyundai — Public Reference</a:t>
            </a:r>
            <a:endParaRPr lang="en-US" sz="1200" dirty="0"/>
          </a:p>
        </p:txBody>
      </p:sp>
      <p:sp>
        <p:nvSpPr>
          <p:cNvPr id="86" name="Text 46"/>
          <p:cNvSpPr/>
          <p:nvPr/>
        </p:nvSpPr>
        <p:spPr>
          <a:xfrm>
            <a:off x="5813524" y="6705600"/>
            <a:ext cx="55527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7878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| PUBLIC |</a:t>
            </a:r>
            <a:endParaRPr lang="en-US" sz="750" dirty="0"/>
          </a:p>
        </p:txBody>
      </p:sp>
      <p:sp>
        <p:nvSpPr>
          <p:cNvPr id="87" name="Text 47"/>
          <p:cNvSpPr/>
          <p:nvPr/>
        </p:nvSpPr>
        <p:spPr>
          <a:xfrm>
            <a:off x="1337221" y="6419850"/>
            <a:ext cx="1085463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4040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Sources: LG CNS-Palantir 파트너십 공개발표 2025; HD Hyundai-Palantir 계약 공개발표 2025; Samsung AI Forum 2025; DS AI Center 채용공고 2026; Palantir GTC 발표 2026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467" y="2599134"/>
            <a:ext cx="889992" cy="91886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286" y="2372767"/>
            <a:ext cx="1584871" cy="149497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75" y="5596086"/>
            <a:ext cx="353467" cy="30852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675" y="5157192"/>
            <a:ext cx="353467" cy="342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675" y="4677073"/>
            <a:ext cx="353467" cy="34974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675" y="4279255"/>
            <a:ext cx="341263" cy="32905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7467" y="2873425"/>
            <a:ext cx="792361" cy="562273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28600" y="123825"/>
            <a:ext cx="11963400" cy="3519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72"/>
              </a:lnSpc>
              <a:buNone/>
            </a:pPr>
            <a:r>
              <a:rPr lang="en-US" sz="24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LG 계열사별 도입 Readiness 진단 및 엔터프라이즈 비용 구조 검토 Outline</a:t>
            </a:r>
            <a:endParaRPr lang="en-US" sz="2475" dirty="0"/>
          </a:p>
        </p:txBody>
      </p:sp>
      <p:sp>
        <p:nvSpPr>
          <p:cNvPr id="12" name="Text 1"/>
          <p:cNvSpPr/>
          <p:nvPr/>
        </p:nvSpPr>
        <p:spPr>
          <a:xfrm>
            <a:off x="0" y="742950"/>
            <a:ext cx="12192000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계열사 readiness는 동일하지 않다. 현 단계에서는 stage·문제영역·비용구조를 함께 보는 working outline이 필요하다</a:t>
            </a:r>
            <a:endParaRPr lang="en-US" sz="1800" dirty="0"/>
          </a:p>
        </p:txBody>
      </p:sp>
      <p:sp>
        <p:nvSpPr>
          <p:cNvPr id="13" name="Text 2"/>
          <p:cNvSpPr/>
          <p:nvPr/>
        </p:nvSpPr>
        <p:spPr>
          <a:xfrm>
            <a:off x="714375" y="4305300"/>
            <a:ext cx="3604171" cy="12882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36"/>
              </a:lnSpc>
              <a:buNone/>
            </a:pPr>
            <a:r>
              <a:rPr lang="en-US" sz="157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LG CNS: 공식 파트너십 (PoC→본계약)</a:t>
            </a:r>
            <a:pPr indent="0" marL="0">
              <a:lnSpc>
                <a:spcPts val="2536"/>
              </a:lnSpc>
              <a:buNone/>
            </a:pPr>
            <a:r>
              <a:rPr lang="en-US" sz="157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536"/>
              </a:lnSpc>
              <a:buNone/>
            </a:pPr>
            <a:r>
              <a:rPr lang="en-US" sz="157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LG 에너지솔루션: PoC 진척 추정</a:t>
            </a:r>
            <a:pPr indent="0" marL="0">
              <a:lnSpc>
                <a:spcPts val="2536"/>
              </a:lnSpc>
              <a:buNone/>
            </a:pPr>
            <a:r>
              <a:rPr lang="en-US" sz="157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536"/>
              </a:lnSpc>
              <a:buNone/>
            </a:pPr>
            <a:r>
              <a:rPr lang="en-US" sz="157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LG 이노텍: PoC 후 미도입 추정</a:t>
            </a:r>
            <a:pPr indent="0" marL="0">
              <a:lnSpc>
                <a:spcPts val="2536"/>
              </a:lnSpc>
              <a:buNone/>
            </a:pPr>
            <a:r>
              <a:rPr lang="en-US" sz="157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536"/>
              </a:lnSpc>
              <a:buNone/>
            </a:pPr>
            <a:r>
              <a:rPr lang="en-US" sz="157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자사 (LGD): 사업 검토 전 단계</a:t>
            </a:r>
            <a:endParaRPr lang="en-US" sz="1575" dirty="0"/>
          </a:p>
        </p:txBody>
      </p:sp>
      <p:sp>
        <p:nvSpPr>
          <p:cNvPr id="14" name="Text 3"/>
          <p:cNvSpPr/>
          <p:nvPr/>
        </p:nvSpPr>
        <p:spPr>
          <a:xfrm>
            <a:off x="4572000" y="4305300"/>
            <a:ext cx="3457575" cy="17484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42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정찰가(Seat price) 없음: 포괄 협상</a:t>
            </a:r>
            <a:pPr indent="0" marL="0">
              <a:lnSpc>
                <a:spcPts val="2294"/>
              </a:lnSpc>
              <a:buNone/>
            </a:pPr>
            <a:r>
              <a:rPr lang="en-US" sz="142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42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비용 구성: 플랫폼 License + 구축 파트너 +</a:t>
            </a:r>
            <a:pPr indent="0" marL="0">
              <a:lnSpc>
                <a:spcPts val="2294"/>
              </a:lnSpc>
              <a:buNone/>
            </a:pPr>
            <a:r>
              <a:rPr lang="en-US" sz="142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42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이노텍 PoC 추정 비용: ~8억 원 (내부 회의</a:t>
            </a:r>
            <a:pPr indent="0" marL="0">
              <a:lnSpc>
                <a:spcPts val="2294"/>
              </a:lnSpc>
              <a:buNone/>
            </a:pPr>
            <a:r>
              <a:rPr lang="en-US" sz="142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42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추정치)</a:t>
            </a:r>
            <a:pPr indent="0" marL="0">
              <a:lnSpc>
                <a:spcPts val="2294"/>
              </a:lnSpc>
              <a:buNone/>
            </a:pPr>
            <a:r>
              <a:rPr lang="en-US" sz="142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42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KPI 연동 계약 부위 설계가 실질 비용 효율</a:t>
            </a:r>
            <a:pPr indent="0" marL="0">
              <a:lnSpc>
                <a:spcPts val="2294"/>
              </a:lnSpc>
              <a:buNone/>
            </a:pPr>
            <a:r>
              <a:rPr lang="en-US" sz="142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425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결정 핵심</a:t>
            </a:r>
            <a:endParaRPr lang="en-US" sz="1425" dirty="0"/>
          </a:p>
        </p:txBody>
      </p:sp>
      <p:sp>
        <p:nvSpPr>
          <p:cNvPr id="15" name="Text 4"/>
          <p:cNvSpPr/>
          <p:nvPr/>
        </p:nvSpPr>
        <p:spPr>
          <a:xfrm>
            <a:off x="8420100" y="4152900"/>
            <a:ext cx="3488978" cy="2208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74"/>
              </a:lnSpc>
              <a:buNone/>
            </a:pPr>
            <a:r>
              <a:rPr lang="en-US" sz="1350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보안 요건: 고위험 제조데이터 보안 및 폐쇄</a:t>
            </a:r>
            <a:pPr indent="0" marL="0">
              <a:lnSpc>
                <a:spcPts val="2174"/>
              </a:lnSpc>
              <a:buNone/>
            </a:pPr>
            <a:r>
              <a:rPr lang="en-US" sz="1350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174"/>
              </a:lnSpc>
              <a:buNone/>
            </a:pPr>
            <a:r>
              <a:rPr lang="en-US" sz="1350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구조 요구</a:t>
            </a:r>
            <a:pPr indent="0" marL="0">
              <a:lnSpc>
                <a:spcPts val="2174"/>
              </a:lnSpc>
              <a:buNone/>
            </a:pPr>
            <a:r>
              <a:rPr lang="en-US" sz="1350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174"/>
              </a:lnSpc>
              <a:buNone/>
            </a:pPr>
            <a:r>
              <a:rPr lang="en-US" sz="1350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우선 대상: 품질·공정·안전 영역 (Narrow</a:t>
            </a:r>
            <a:pPr indent="0" marL="0">
              <a:lnSpc>
                <a:spcPts val="2174"/>
              </a:lnSpc>
              <a:buNone/>
            </a:pPr>
            <a:r>
              <a:rPr lang="en-US" sz="1350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174"/>
              </a:lnSpc>
              <a:buNone/>
            </a:pPr>
            <a:r>
              <a:rPr lang="en-US" sz="1350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approach)</a:t>
            </a:r>
            <a:pPr indent="0" marL="0">
              <a:lnSpc>
                <a:spcPts val="2174"/>
              </a:lnSpc>
              <a:buNone/>
            </a:pPr>
            <a:r>
              <a:rPr lang="en-US" sz="1350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174"/>
              </a:lnSpc>
              <a:buNone/>
            </a:pPr>
            <a:r>
              <a:rPr lang="en-US" sz="1350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핵심 전제: 온톨로지 재사용 및 데이터 반출</a:t>
            </a:r>
            <a:pPr indent="0" marL="0">
              <a:lnSpc>
                <a:spcPts val="2174"/>
              </a:lnSpc>
              <a:buNone/>
            </a:pPr>
            <a:r>
              <a:rPr lang="en-US" sz="1350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174"/>
              </a:lnSpc>
              <a:buNone/>
            </a:pPr>
            <a:r>
              <a:rPr lang="en-US" sz="1350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통제 필수</a:t>
            </a:r>
            <a:pPr indent="0" marL="0">
              <a:lnSpc>
                <a:spcPts val="2174"/>
              </a:lnSpc>
              <a:buNone/>
            </a:pPr>
            <a:r>
              <a:rPr lang="en-US" sz="1350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174"/>
              </a:lnSpc>
              <a:buNone/>
            </a:pPr>
            <a:r>
              <a:rPr lang="en-US" sz="1350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Working Outline 활용: Stage·문제·비용</a:t>
            </a:r>
            <a:pPr indent="0" marL="0">
              <a:lnSpc>
                <a:spcPts val="2174"/>
              </a:lnSpc>
              <a:buNone/>
            </a:pPr>
            <a:r>
              <a:rPr lang="en-US" sz="1350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2174"/>
              </a:lnSpc>
              <a:buNone/>
            </a:pPr>
            <a:r>
              <a:rPr lang="en-US" sz="1350" b="1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통합 데이터로 경영진 의사결정 지원</a:t>
            </a:r>
            <a:endParaRPr lang="en-US" sz="1350" dirty="0"/>
          </a:p>
        </p:txBody>
      </p:sp>
      <p:sp>
        <p:nvSpPr>
          <p:cNvPr id="16" name="Text 5"/>
          <p:cNvSpPr/>
          <p:nvPr/>
        </p:nvSpPr>
        <p:spPr>
          <a:xfrm>
            <a:off x="1363861" y="1695450"/>
            <a:ext cx="1843980" cy="1900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계열사별 Readiness</a:t>
            </a:r>
            <a:endParaRPr lang="en-US" sz="1425" dirty="0"/>
          </a:p>
        </p:txBody>
      </p:sp>
      <p:sp>
        <p:nvSpPr>
          <p:cNvPr id="17" name="Text 6"/>
          <p:cNvSpPr/>
          <p:nvPr/>
        </p:nvSpPr>
        <p:spPr>
          <a:xfrm>
            <a:off x="5109567" y="1695450"/>
            <a:ext cx="2001143" cy="1900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협상형 Enterprise 계약</a:t>
            </a:r>
            <a:endParaRPr lang="en-US" sz="1425" dirty="0"/>
          </a:p>
        </p:txBody>
      </p:sp>
      <p:sp>
        <p:nvSpPr>
          <p:cNvPr id="18" name="Text 7"/>
          <p:cNvSpPr/>
          <p:nvPr/>
        </p:nvSpPr>
        <p:spPr>
          <a:xfrm>
            <a:off x="8932962" y="1695450"/>
            <a:ext cx="1917353" cy="1800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18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LGD 특수성 및 활용방안</a:t>
            </a:r>
            <a:endParaRPr lang="en-US" sz="1350" dirty="0"/>
          </a:p>
        </p:txBody>
      </p:sp>
      <p:sp>
        <p:nvSpPr>
          <p:cNvPr id="19" name="Text 8"/>
          <p:cNvSpPr/>
          <p:nvPr/>
        </p:nvSpPr>
        <p:spPr>
          <a:xfrm>
            <a:off x="5814417" y="6657975"/>
            <a:ext cx="534293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92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PUBLIC</a:t>
            </a:r>
            <a:endParaRPr lang="en-US" sz="975" dirty="0"/>
          </a:p>
        </p:txBody>
      </p:sp>
      <p:sp>
        <p:nvSpPr>
          <p:cNvPr id="20" name="Text 9"/>
          <p:cNvSpPr/>
          <p:nvPr/>
        </p:nvSpPr>
        <p:spPr>
          <a:xfrm>
            <a:off x="1143000" y="6467475"/>
            <a:ext cx="1104900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5"/>
              </a:lnSpc>
              <a:buNone/>
            </a:pPr>
            <a:r>
              <a:rPr lang="en-US" sz="975" dirty="0">
                <a:solidFill>
                  <a:srgbClr val="3636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Sources: 내부 계열사 분석 회의 메모 2026-04-16 (비공개); Palantir 기업 전문 계약 구조 (Deploy Everywhere).</a:t>
            </a:r>
            <a:endParaRPr lang="en-US" sz="975" dirty="0"/>
          </a:p>
        </p:txBody>
      </p:sp>
      <p:sp>
        <p:nvSpPr>
          <p:cNvPr id="21" name="Text 10"/>
          <p:cNvSpPr/>
          <p:nvPr/>
        </p:nvSpPr>
        <p:spPr>
          <a:xfrm>
            <a:off x="7927628" y="6248400"/>
            <a:ext cx="4264223" cy="3223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69"/>
              </a:lnSpc>
              <a:buNone/>
            </a:pPr>
            <a:r>
              <a:rPr lang="en-US" sz="900" dirty="0">
                <a:solidFill>
                  <a:srgbClr val="003D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※ 'Enterprise Contract': Bootcamp·온톨로지 모델링·데이터 통합을 포함하는</a:t>
            </a:r>
            <a:pPr indent="0" marL="0">
              <a:lnSpc>
                <a:spcPts val="1269"/>
              </a:lnSpc>
              <a:buNone/>
            </a:pPr>
            <a:r>
              <a:rPr lang="en-US" sz="900" dirty="0">
                <a:solidFill>
                  <a:srgbClr val="003D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1269"/>
              </a:lnSpc>
              <a:buNone/>
            </a:pPr>
            <a:r>
              <a:rPr lang="en-US" sz="900" dirty="0">
                <a:solidFill>
                  <a:srgbClr val="003D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협상형 계약 구조.</a:t>
            </a:r>
            <a:endParaRPr lang="en-US" sz="900" dirty="0"/>
          </a:p>
        </p:txBody>
      </p:sp>
      <p:sp>
        <p:nvSpPr>
          <p:cNvPr id="22" name="Text 11"/>
          <p:cNvSpPr/>
          <p:nvPr/>
        </p:nvSpPr>
        <p:spPr>
          <a:xfrm>
            <a:off x="7972425" y="6467475"/>
            <a:ext cx="4170015" cy="3223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69"/>
              </a:lnSpc>
              <a:buNone/>
            </a:pPr>
            <a:r>
              <a:rPr lang="en-US" sz="900" dirty="0">
                <a:solidFill>
                  <a:srgbClr val="003D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※ 비용 추정 메모: 내부 회의 기반 추정치이며 실제 계약 조건에 따라 차이 가능.</a:t>
            </a:r>
            <a:pPr indent="0" marL="0">
              <a:lnSpc>
                <a:spcPts val="1269"/>
              </a:lnSpc>
              <a:buNone/>
            </a:pPr>
            <a:r>
              <a:rPr lang="en-US" sz="900" dirty="0">
                <a:solidFill>
                  <a:srgbClr val="003D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indent="0" marL="0">
              <a:lnSpc>
                <a:spcPts val="1269"/>
              </a:lnSpc>
              <a:buNone/>
            </a:pPr>
            <a:r>
              <a:rPr lang="en-US" sz="900" dirty="0">
                <a:solidFill>
                  <a:srgbClr val="003D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추가 검증 필요.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67" y="1810494"/>
            <a:ext cx="5059561" cy="563463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67" y="1810494"/>
            <a:ext cx="919907" cy="438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8173" y="1810494"/>
            <a:ext cx="2575768" cy="4381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3942" y="1810494"/>
            <a:ext cx="1563886" cy="4381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267" y="2248644"/>
            <a:ext cx="919907" cy="5524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8173" y="2248644"/>
            <a:ext cx="2575768" cy="5524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3942" y="2248644"/>
            <a:ext cx="1563886" cy="5524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267" y="2801094"/>
            <a:ext cx="919907" cy="781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8173" y="2801094"/>
            <a:ext cx="2575768" cy="781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3942" y="2801094"/>
            <a:ext cx="1563886" cy="781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267" y="3582144"/>
            <a:ext cx="919907" cy="7810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78173" y="3582144"/>
            <a:ext cx="2575768" cy="7810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53942" y="3582144"/>
            <a:ext cx="1563886" cy="7810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267" y="4363194"/>
            <a:ext cx="919907" cy="5524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78173" y="4363194"/>
            <a:ext cx="2575768" cy="5524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53942" y="4363194"/>
            <a:ext cx="1563886" cy="5524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267" y="4915644"/>
            <a:ext cx="919907" cy="7810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78173" y="4915644"/>
            <a:ext cx="2575768" cy="7810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53942" y="4915644"/>
            <a:ext cx="1563886" cy="7810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8267" y="5696694"/>
            <a:ext cx="919907" cy="55245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78173" y="5696694"/>
            <a:ext cx="2575768" cy="55245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53942" y="5696694"/>
            <a:ext cx="1563886" cy="55245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8267" y="6249144"/>
            <a:ext cx="919907" cy="643533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78173" y="6249144"/>
            <a:ext cx="2575768" cy="643533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153942" y="6249144"/>
            <a:ext cx="1563886" cy="643533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8267" y="6892677"/>
            <a:ext cx="919907" cy="55245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78173" y="6892677"/>
            <a:ext cx="2575768" cy="55245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153942" y="6892677"/>
            <a:ext cx="1563886" cy="55245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242298" y="1810494"/>
            <a:ext cx="5339953" cy="2523679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242298" y="1810494"/>
            <a:ext cx="1577578" cy="4191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19876" y="1810494"/>
            <a:ext cx="733425" cy="41910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553301" y="1810494"/>
            <a:ext cx="733425" cy="41910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286726" y="1810494"/>
            <a:ext cx="733425" cy="41910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020151" y="1810494"/>
            <a:ext cx="781050" cy="41910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801201" y="1810494"/>
            <a:ext cx="781050" cy="41910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242298" y="2229594"/>
            <a:ext cx="1577578" cy="296317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819876" y="2229594"/>
            <a:ext cx="733425" cy="296317"/>
          </a:xfrm>
          <a:prstGeom prst="rect">
            <a:avLst/>
          </a:prstGeom>
        </p:spPr>
      </p:pic>
      <p:pic>
        <p:nvPicPr>
          <p:cNvPr id="4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553301" y="2229594"/>
            <a:ext cx="733425" cy="296317"/>
          </a:xfrm>
          <a:prstGeom prst="rect">
            <a:avLst/>
          </a:prstGeom>
        </p:spPr>
      </p:pic>
      <p:pic>
        <p:nvPicPr>
          <p:cNvPr id="41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286726" y="2229594"/>
            <a:ext cx="733425" cy="296317"/>
          </a:xfrm>
          <a:prstGeom prst="rect">
            <a:avLst/>
          </a:prstGeom>
        </p:spPr>
      </p:pic>
      <p:pic>
        <p:nvPicPr>
          <p:cNvPr id="4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020151" y="2229594"/>
            <a:ext cx="781050" cy="296317"/>
          </a:xfrm>
          <a:prstGeom prst="rect">
            <a:avLst/>
          </a:prstGeom>
        </p:spPr>
      </p:pic>
      <p:pic>
        <p:nvPicPr>
          <p:cNvPr id="43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801201" y="2229594"/>
            <a:ext cx="781050" cy="296317"/>
          </a:xfrm>
          <a:prstGeom prst="rect">
            <a:avLst/>
          </a:prstGeom>
        </p:spPr>
      </p:pic>
      <p:pic>
        <p:nvPicPr>
          <p:cNvPr id="44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242298" y="2525911"/>
            <a:ext cx="1577578" cy="495002"/>
          </a:xfrm>
          <a:prstGeom prst="rect">
            <a:avLst/>
          </a:prstGeom>
        </p:spPr>
      </p:pic>
      <p:pic>
        <p:nvPicPr>
          <p:cNvPr id="45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819876" y="2525911"/>
            <a:ext cx="733425" cy="495002"/>
          </a:xfrm>
          <a:prstGeom prst="rect">
            <a:avLst/>
          </a:prstGeom>
        </p:spPr>
      </p:pic>
      <p:pic>
        <p:nvPicPr>
          <p:cNvPr id="4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553301" y="2525911"/>
            <a:ext cx="733425" cy="495002"/>
          </a:xfrm>
          <a:prstGeom prst="rect">
            <a:avLst/>
          </a:prstGeom>
        </p:spPr>
      </p:pic>
      <p:pic>
        <p:nvPicPr>
          <p:cNvPr id="47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286726" y="2525911"/>
            <a:ext cx="733425" cy="495002"/>
          </a:xfrm>
          <a:prstGeom prst="rect">
            <a:avLst/>
          </a:prstGeom>
        </p:spPr>
      </p:pic>
      <p:pic>
        <p:nvPicPr>
          <p:cNvPr id="48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020151" y="2525911"/>
            <a:ext cx="781050" cy="495002"/>
          </a:xfrm>
          <a:prstGeom prst="rect">
            <a:avLst/>
          </a:prstGeom>
        </p:spPr>
      </p:pic>
      <p:pic>
        <p:nvPicPr>
          <p:cNvPr id="49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801201" y="2525911"/>
            <a:ext cx="781050" cy="495002"/>
          </a:xfrm>
          <a:prstGeom prst="rect">
            <a:avLst/>
          </a:prstGeom>
        </p:spPr>
      </p:pic>
      <p:pic>
        <p:nvPicPr>
          <p:cNvPr id="50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242298" y="3020913"/>
            <a:ext cx="1577578" cy="451991"/>
          </a:xfrm>
          <a:prstGeom prst="rect">
            <a:avLst/>
          </a:prstGeom>
        </p:spPr>
      </p:pic>
      <p:pic>
        <p:nvPicPr>
          <p:cNvPr id="51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819876" y="3020913"/>
            <a:ext cx="733425" cy="451991"/>
          </a:xfrm>
          <a:prstGeom prst="rect">
            <a:avLst/>
          </a:prstGeom>
        </p:spPr>
      </p:pic>
      <p:pic>
        <p:nvPicPr>
          <p:cNvPr id="5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553301" y="3020913"/>
            <a:ext cx="733425" cy="451991"/>
          </a:xfrm>
          <a:prstGeom prst="rect">
            <a:avLst/>
          </a:prstGeom>
        </p:spPr>
      </p:pic>
      <p:pic>
        <p:nvPicPr>
          <p:cNvPr id="5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286726" y="3020913"/>
            <a:ext cx="733425" cy="451991"/>
          </a:xfrm>
          <a:prstGeom prst="rect">
            <a:avLst/>
          </a:prstGeom>
        </p:spPr>
      </p:pic>
      <p:pic>
        <p:nvPicPr>
          <p:cNvPr id="54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0020151" y="3020913"/>
            <a:ext cx="781050" cy="451991"/>
          </a:xfrm>
          <a:prstGeom prst="rect">
            <a:avLst/>
          </a:prstGeom>
        </p:spPr>
      </p:pic>
      <p:pic>
        <p:nvPicPr>
          <p:cNvPr id="55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0801201" y="3020913"/>
            <a:ext cx="781050" cy="451991"/>
          </a:xfrm>
          <a:prstGeom prst="rect">
            <a:avLst/>
          </a:prstGeom>
        </p:spPr>
      </p:pic>
      <p:pic>
        <p:nvPicPr>
          <p:cNvPr id="56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242298" y="3472904"/>
            <a:ext cx="1577578" cy="269081"/>
          </a:xfrm>
          <a:prstGeom prst="rect">
            <a:avLst/>
          </a:prstGeom>
        </p:spPr>
      </p:pic>
      <p:pic>
        <p:nvPicPr>
          <p:cNvPr id="57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819876" y="3472904"/>
            <a:ext cx="733425" cy="269081"/>
          </a:xfrm>
          <a:prstGeom prst="rect">
            <a:avLst/>
          </a:prstGeom>
        </p:spPr>
      </p:pic>
      <p:pic>
        <p:nvPicPr>
          <p:cNvPr id="58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553301" y="3472904"/>
            <a:ext cx="733425" cy="269081"/>
          </a:xfrm>
          <a:prstGeom prst="rect">
            <a:avLst/>
          </a:prstGeom>
        </p:spPr>
      </p:pic>
      <p:pic>
        <p:nvPicPr>
          <p:cNvPr id="59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286726" y="3472904"/>
            <a:ext cx="733425" cy="269081"/>
          </a:xfrm>
          <a:prstGeom prst="rect">
            <a:avLst/>
          </a:prstGeom>
        </p:spPr>
      </p:pic>
      <p:pic>
        <p:nvPicPr>
          <p:cNvPr id="60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0020151" y="3472904"/>
            <a:ext cx="781050" cy="269081"/>
          </a:xfrm>
          <a:prstGeom prst="rect">
            <a:avLst/>
          </a:prstGeom>
        </p:spPr>
      </p:pic>
      <p:pic>
        <p:nvPicPr>
          <p:cNvPr id="61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0801201" y="3472904"/>
            <a:ext cx="781050" cy="269081"/>
          </a:xfrm>
          <a:prstGeom prst="rect">
            <a:avLst/>
          </a:prstGeom>
        </p:spPr>
      </p:pic>
      <p:pic>
        <p:nvPicPr>
          <p:cNvPr id="62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6242298" y="3741986"/>
            <a:ext cx="1577578" cy="269081"/>
          </a:xfrm>
          <a:prstGeom prst="rect">
            <a:avLst/>
          </a:prstGeom>
        </p:spPr>
      </p:pic>
      <p:pic>
        <p:nvPicPr>
          <p:cNvPr id="63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7819876" y="3741986"/>
            <a:ext cx="733425" cy="269081"/>
          </a:xfrm>
          <a:prstGeom prst="rect">
            <a:avLst/>
          </a:prstGeom>
        </p:spPr>
      </p:pic>
      <p:pic>
        <p:nvPicPr>
          <p:cNvPr id="64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8553301" y="3741986"/>
            <a:ext cx="733425" cy="269081"/>
          </a:xfrm>
          <a:prstGeom prst="rect">
            <a:avLst/>
          </a:prstGeom>
        </p:spPr>
      </p:pic>
      <p:pic>
        <p:nvPicPr>
          <p:cNvPr id="65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9286726" y="3741986"/>
            <a:ext cx="733425" cy="269081"/>
          </a:xfrm>
          <a:prstGeom prst="rect">
            <a:avLst/>
          </a:prstGeom>
        </p:spPr>
      </p:pic>
      <p:pic>
        <p:nvPicPr>
          <p:cNvPr id="66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0020151" y="3741986"/>
            <a:ext cx="781050" cy="269081"/>
          </a:xfrm>
          <a:prstGeom prst="rect">
            <a:avLst/>
          </a:prstGeom>
        </p:spPr>
      </p:pic>
      <p:pic>
        <p:nvPicPr>
          <p:cNvPr id="67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0801201" y="3741986"/>
            <a:ext cx="781050" cy="269081"/>
          </a:xfrm>
          <a:prstGeom prst="rect">
            <a:avLst/>
          </a:prstGeom>
        </p:spPr>
      </p:pic>
      <p:pic>
        <p:nvPicPr>
          <p:cNvPr id="68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6242298" y="4011067"/>
            <a:ext cx="1577578" cy="323106"/>
          </a:xfrm>
          <a:prstGeom prst="rect">
            <a:avLst/>
          </a:prstGeom>
        </p:spPr>
      </p:pic>
      <p:pic>
        <p:nvPicPr>
          <p:cNvPr id="69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7819876" y="4011067"/>
            <a:ext cx="733425" cy="323106"/>
          </a:xfrm>
          <a:prstGeom prst="rect">
            <a:avLst/>
          </a:prstGeom>
        </p:spPr>
      </p:pic>
      <p:pic>
        <p:nvPicPr>
          <p:cNvPr id="70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8553301" y="4011067"/>
            <a:ext cx="733425" cy="323106"/>
          </a:xfrm>
          <a:prstGeom prst="rect">
            <a:avLst/>
          </a:prstGeom>
        </p:spPr>
      </p:pic>
      <p:pic>
        <p:nvPicPr>
          <p:cNvPr id="71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9286726" y="4011067"/>
            <a:ext cx="733425" cy="323106"/>
          </a:xfrm>
          <a:prstGeom prst="rect">
            <a:avLst/>
          </a:prstGeom>
        </p:spPr>
      </p:pic>
      <p:pic>
        <p:nvPicPr>
          <p:cNvPr id="72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0020151" y="4011067"/>
            <a:ext cx="781050" cy="323106"/>
          </a:xfrm>
          <a:prstGeom prst="rect">
            <a:avLst/>
          </a:prstGeom>
        </p:spPr>
      </p:pic>
      <p:pic>
        <p:nvPicPr>
          <p:cNvPr id="73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10801201" y="4011067"/>
            <a:ext cx="781050" cy="323106"/>
          </a:xfrm>
          <a:prstGeom prst="rect">
            <a:avLst/>
          </a:prstGeom>
        </p:spPr>
      </p:pic>
      <p:pic>
        <p:nvPicPr>
          <p:cNvPr id="74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sp>
        <p:nvSpPr>
          <p:cNvPr id="75" name="Text 0"/>
          <p:cNvSpPr/>
          <p:nvPr/>
        </p:nvSpPr>
        <p:spPr>
          <a:xfrm>
            <a:off x="658267" y="1810494"/>
            <a:ext cx="82465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#</a:t>
            </a:r>
            <a:endParaRPr lang="en-US" sz="1350" dirty="0"/>
          </a:p>
        </p:txBody>
      </p:sp>
      <p:sp>
        <p:nvSpPr>
          <p:cNvPr id="76" name="Text 1"/>
          <p:cNvSpPr/>
          <p:nvPr/>
        </p:nvSpPr>
        <p:spPr>
          <a:xfrm>
            <a:off x="1578173" y="1810494"/>
            <a:ext cx="24805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평가기준</a:t>
            </a:r>
            <a:endParaRPr lang="en-US" sz="1350" dirty="0"/>
          </a:p>
        </p:txBody>
      </p:sp>
      <p:sp>
        <p:nvSpPr>
          <p:cNvPr id="77" name="Text 2"/>
          <p:cNvSpPr/>
          <p:nvPr/>
        </p:nvSpPr>
        <p:spPr>
          <a:xfrm>
            <a:off x="4153942" y="1810494"/>
            <a:ext cx="146863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판단 질문</a:t>
            </a:r>
            <a:endParaRPr lang="en-US" sz="1350" dirty="0"/>
          </a:p>
        </p:txBody>
      </p:sp>
      <p:sp>
        <p:nvSpPr>
          <p:cNvPr id="78" name="Text 3"/>
          <p:cNvSpPr/>
          <p:nvPr/>
        </p:nvSpPr>
        <p:spPr>
          <a:xfrm>
            <a:off x="658267" y="2248644"/>
            <a:ext cx="72940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79" name="Text 4"/>
          <p:cNvSpPr/>
          <p:nvPr/>
        </p:nvSpPr>
        <p:spPr>
          <a:xfrm>
            <a:off x="1578173" y="2248644"/>
            <a:ext cx="23852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효과성</a:t>
            </a:r>
            <a:endParaRPr lang="en-US" sz="1200" dirty="0"/>
          </a:p>
        </p:txBody>
      </p:sp>
      <p:sp>
        <p:nvSpPr>
          <p:cNvPr id="80" name="Text 5"/>
          <p:cNvSpPr/>
          <p:nvPr/>
        </p:nvSpPr>
        <p:spPr>
          <a:xfrm>
            <a:off x="4153942" y="2248644"/>
            <a:ext cx="137338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spc="-30" kern="0" dirty="0">
                <a:solidFill>
                  <a:srgbClr val="000000"/>
                </a:solidFill>
              </a:rPr>
              <a:t>측정 가능한 운영지표 개선이 기대되는가?</a:t>
            </a:r>
            <a:endParaRPr lang="en-US" sz="1200" dirty="0"/>
          </a:p>
        </p:txBody>
      </p:sp>
      <p:sp>
        <p:nvSpPr>
          <p:cNvPr id="81" name="Text 6"/>
          <p:cNvSpPr/>
          <p:nvPr/>
        </p:nvSpPr>
        <p:spPr>
          <a:xfrm>
            <a:off x="658267" y="2801094"/>
            <a:ext cx="729407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2</a:t>
            </a:r>
            <a:endParaRPr lang="en-US" sz="1200" dirty="0"/>
          </a:p>
        </p:txBody>
      </p:sp>
      <p:sp>
        <p:nvSpPr>
          <p:cNvPr id="82" name="Text 7"/>
          <p:cNvSpPr/>
          <p:nvPr/>
        </p:nvSpPr>
        <p:spPr>
          <a:xfrm>
            <a:off x="1578173" y="2801094"/>
            <a:ext cx="238526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검증 가능성</a:t>
            </a:r>
            <a:endParaRPr lang="en-US" sz="1200" dirty="0"/>
          </a:p>
        </p:txBody>
      </p:sp>
      <p:sp>
        <p:nvSpPr>
          <p:cNvPr id="83" name="Text 8"/>
          <p:cNvSpPr/>
          <p:nvPr/>
        </p:nvSpPr>
        <p:spPr>
          <a:xfrm>
            <a:off x="4153942" y="2801094"/>
            <a:ext cx="137338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spc="-30" kern="0" dirty="0">
                <a:solidFill>
                  <a:srgbClr val="000000"/>
                </a:solidFill>
              </a:rPr>
              <a:t>3~6개월 내 결과를 숫자로 보여줄 수 있는가?</a:t>
            </a:r>
            <a:endParaRPr lang="en-US" sz="1200" dirty="0"/>
          </a:p>
        </p:txBody>
      </p:sp>
      <p:sp>
        <p:nvSpPr>
          <p:cNvPr id="84" name="Text 9"/>
          <p:cNvSpPr/>
          <p:nvPr/>
        </p:nvSpPr>
        <p:spPr>
          <a:xfrm>
            <a:off x="658267" y="3582144"/>
            <a:ext cx="729407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3</a:t>
            </a:r>
            <a:endParaRPr lang="en-US" sz="1200" dirty="0"/>
          </a:p>
        </p:txBody>
      </p:sp>
      <p:sp>
        <p:nvSpPr>
          <p:cNvPr id="85" name="Text 10"/>
          <p:cNvSpPr/>
          <p:nvPr/>
        </p:nvSpPr>
        <p:spPr>
          <a:xfrm>
            <a:off x="1578173" y="3582144"/>
            <a:ext cx="238526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데이터 준비도</a:t>
            </a:r>
            <a:endParaRPr lang="en-US" sz="1200" dirty="0"/>
          </a:p>
        </p:txBody>
      </p:sp>
      <p:sp>
        <p:nvSpPr>
          <p:cNvPr id="86" name="Text 11"/>
          <p:cNvSpPr/>
          <p:nvPr/>
        </p:nvSpPr>
        <p:spPr>
          <a:xfrm>
            <a:off x="4153942" y="3582144"/>
            <a:ext cx="137338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spc="-30" kern="0" dirty="0">
                <a:solidFill>
                  <a:srgbClr val="000000"/>
                </a:solidFill>
              </a:rPr>
              <a:t>해당 영역 데이터가 충분히 구조화되어 있는가?</a:t>
            </a:r>
            <a:endParaRPr lang="en-US" sz="1200" dirty="0"/>
          </a:p>
        </p:txBody>
      </p:sp>
      <p:sp>
        <p:nvSpPr>
          <p:cNvPr id="87" name="Text 12"/>
          <p:cNvSpPr/>
          <p:nvPr/>
        </p:nvSpPr>
        <p:spPr>
          <a:xfrm>
            <a:off x="658267" y="4363194"/>
            <a:ext cx="72940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4</a:t>
            </a:r>
            <a:endParaRPr lang="en-US" sz="1200" dirty="0"/>
          </a:p>
        </p:txBody>
      </p:sp>
      <p:sp>
        <p:nvSpPr>
          <p:cNvPr id="88" name="Text 13"/>
          <p:cNvSpPr/>
          <p:nvPr/>
        </p:nvSpPr>
        <p:spPr>
          <a:xfrm>
            <a:off x="1578173" y="4363194"/>
            <a:ext cx="23852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보안 적합성</a:t>
            </a:r>
            <a:endParaRPr lang="en-US" sz="1200" dirty="0"/>
          </a:p>
        </p:txBody>
      </p:sp>
      <p:sp>
        <p:nvSpPr>
          <p:cNvPr id="89" name="Text 14"/>
          <p:cNvSpPr/>
          <p:nvPr/>
        </p:nvSpPr>
        <p:spPr>
          <a:xfrm>
            <a:off x="4153942" y="4363194"/>
            <a:ext cx="137338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spc="-30" kern="0" dirty="0">
                <a:solidFill>
                  <a:srgbClr val="000000"/>
                </a:solidFill>
              </a:rPr>
              <a:t>On-prem/격리 환경에서 운영 가능한가?</a:t>
            </a:r>
            <a:endParaRPr lang="en-US" sz="1200" dirty="0"/>
          </a:p>
        </p:txBody>
      </p:sp>
      <p:sp>
        <p:nvSpPr>
          <p:cNvPr id="90" name="Text 15"/>
          <p:cNvSpPr/>
          <p:nvPr/>
        </p:nvSpPr>
        <p:spPr>
          <a:xfrm>
            <a:off x="658267" y="4915644"/>
            <a:ext cx="729407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5</a:t>
            </a:r>
            <a:endParaRPr lang="en-US" sz="1200" dirty="0"/>
          </a:p>
        </p:txBody>
      </p:sp>
      <p:sp>
        <p:nvSpPr>
          <p:cNvPr id="91" name="Text 16"/>
          <p:cNvSpPr/>
          <p:nvPr/>
        </p:nvSpPr>
        <p:spPr>
          <a:xfrm>
            <a:off x="1578173" y="4915644"/>
            <a:ext cx="238526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확장성</a:t>
            </a:r>
            <a:endParaRPr lang="en-US" sz="1200" dirty="0"/>
          </a:p>
        </p:txBody>
      </p:sp>
      <p:sp>
        <p:nvSpPr>
          <p:cNvPr id="92" name="Text 17"/>
          <p:cNvSpPr/>
          <p:nvPr/>
        </p:nvSpPr>
        <p:spPr>
          <a:xfrm>
            <a:off x="4153942" y="4915644"/>
            <a:ext cx="137338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spc="-30" kern="0" dirty="0">
                <a:solidFill>
                  <a:srgbClr val="000000"/>
                </a:solidFill>
              </a:rPr>
              <a:t>PoC 성공 시 타 공정·계열사 확장 가능한가?</a:t>
            </a:r>
            <a:endParaRPr lang="en-US" sz="1200" dirty="0"/>
          </a:p>
        </p:txBody>
      </p:sp>
      <p:sp>
        <p:nvSpPr>
          <p:cNvPr id="93" name="Text 18"/>
          <p:cNvSpPr/>
          <p:nvPr/>
        </p:nvSpPr>
        <p:spPr>
          <a:xfrm>
            <a:off x="658267" y="5696694"/>
            <a:ext cx="72940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6</a:t>
            </a:r>
            <a:endParaRPr lang="en-US" sz="1200" dirty="0"/>
          </a:p>
        </p:txBody>
      </p:sp>
      <p:sp>
        <p:nvSpPr>
          <p:cNvPr id="94" name="Text 19"/>
          <p:cNvSpPr/>
          <p:nvPr/>
        </p:nvSpPr>
        <p:spPr>
          <a:xfrm>
            <a:off x="1578173" y="5696694"/>
            <a:ext cx="23852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비용 부담</a:t>
            </a:r>
            <a:endParaRPr lang="en-US" sz="1200" dirty="0"/>
          </a:p>
        </p:txBody>
      </p:sp>
      <p:sp>
        <p:nvSpPr>
          <p:cNvPr id="95" name="Text 20"/>
          <p:cNvSpPr/>
          <p:nvPr/>
        </p:nvSpPr>
        <p:spPr>
          <a:xfrm>
            <a:off x="4153942" y="5696694"/>
            <a:ext cx="137338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spc="-30" kern="0" dirty="0">
                <a:solidFill>
                  <a:srgbClr val="000000"/>
                </a:solidFill>
              </a:rPr>
              <a:t>PoC 단계 투자 대비 학습 가치가 있는가?</a:t>
            </a:r>
            <a:endParaRPr lang="en-US" sz="1200" dirty="0"/>
          </a:p>
        </p:txBody>
      </p:sp>
      <p:sp>
        <p:nvSpPr>
          <p:cNvPr id="96" name="Text 21"/>
          <p:cNvSpPr/>
          <p:nvPr/>
        </p:nvSpPr>
        <p:spPr>
          <a:xfrm>
            <a:off x="658267" y="6249144"/>
            <a:ext cx="729407" cy="6435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7</a:t>
            </a:r>
            <a:endParaRPr lang="en-US" sz="1200" dirty="0"/>
          </a:p>
        </p:txBody>
      </p:sp>
      <p:sp>
        <p:nvSpPr>
          <p:cNvPr id="97" name="Text 22"/>
          <p:cNvSpPr/>
          <p:nvPr/>
        </p:nvSpPr>
        <p:spPr>
          <a:xfrm>
            <a:off x="1578173" y="6249144"/>
            <a:ext cx="2385268" cy="6435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Ontology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재사용성</a:t>
            </a:r>
            <a:endParaRPr lang="en-US" sz="1200" dirty="0"/>
          </a:p>
        </p:txBody>
      </p:sp>
      <p:sp>
        <p:nvSpPr>
          <p:cNvPr id="98" name="Text 23"/>
          <p:cNvSpPr/>
          <p:nvPr/>
        </p:nvSpPr>
        <p:spPr>
          <a:xfrm>
            <a:off x="4153942" y="6249144"/>
            <a:ext cx="1373386" cy="6435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spc="-30" kern="0" dirty="0">
                <a:solidFill>
                  <a:srgbClr val="000000"/>
                </a:solidFill>
              </a:rPr>
              <a:t>구축한 ontology를 다른 도메인에 재활용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spc="-30" kern="0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spc="-30" kern="0" dirty="0">
                <a:solidFill>
                  <a:srgbClr val="000000"/>
                </a:solidFill>
              </a:rPr>
              <a:t>가능한가?</a:t>
            </a:r>
            <a:endParaRPr lang="en-US" sz="1200" dirty="0"/>
          </a:p>
        </p:txBody>
      </p:sp>
      <p:sp>
        <p:nvSpPr>
          <p:cNvPr id="99" name="Text 24"/>
          <p:cNvSpPr/>
          <p:nvPr/>
        </p:nvSpPr>
        <p:spPr>
          <a:xfrm>
            <a:off x="658267" y="6892677"/>
            <a:ext cx="72940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8</a:t>
            </a:r>
            <a:endParaRPr lang="en-US" sz="1200" dirty="0"/>
          </a:p>
        </p:txBody>
      </p:sp>
      <p:sp>
        <p:nvSpPr>
          <p:cNvPr id="100" name="Text 25"/>
          <p:cNvSpPr/>
          <p:nvPr/>
        </p:nvSpPr>
        <p:spPr>
          <a:xfrm>
            <a:off x="1578173" y="6892677"/>
            <a:ext cx="23852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조직 수용성</a:t>
            </a:r>
            <a:endParaRPr lang="en-US" sz="1200" dirty="0"/>
          </a:p>
        </p:txBody>
      </p:sp>
      <p:sp>
        <p:nvSpPr>
          <p:cNvPr id="101" name="Text 26"/>
          <p:cNvSpPr/>
          <p:nvPr/>
        </p:nvSpPr>
        <p:spPr>
          <a:xfrm>
            <a:off x="4153942" y="6892677"/>
            <a:ext cx="137338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spc="-30" kern="0" dirty="0">
                <a:solidFill>
                  <a:srgbClr val="000000"/>
                </a:solidFill>
              </a:rPr>
              <a:t>현장 실무팀이 수용 가능한 변화 수준인가?</a:t>
            </a:r>
            <a:endParaRPr lang="en-US" sz="1200" dirty="0"/>
          </a:p>
        </p:txBody>
      </p:sp>
      <p:sp>
        <p:nvSpPr>
          <p:cNvPr id="102" name="Text 27"/>
          <p:cNvSpPr/>
          <p:nvPr/>
        </p:nvSpPr>
        <p:spPr>
          <a:xfrm>
            <a:off x="6242298" y="1810494"/>
            <a:ext cx="155852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</a:rPr>
              <a:t>후보 영역</a:t>
            </a:r>
            <a:endParaRPr lang="en-US" sz="1125" dirty="0"/>
          </a:p>
        </p:txBody>
      </p:sp>
      <p:sp>
        <p:nvSpPr>
          <p:cNvPr id="103" name="Text 28"/>
          <p:cNvSpPr/>
          <p:nvPr/>
        </p:nvSpPr>
        <p:spPr>
          <a:xfrm>
            <a:off x="7819876" y="1810494"/>
            <a:ext cx="714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</a:rPr>
              <a:t>효과성</a:t>
            </a:r>
            <a:endParaRPr lang="en-US" sz="1125" dirty="0"/>
          </a:p>
        </p:txBody>
      </p:sp>
      <p:sp>
        <p:nvSpPr>
          <p:cNvPr id="104" name="Text 29"/>
          <p:cNvSpPr/>
          <p:nvPr/>
        </p:nvSpPr>
        <p:spPr>
          <a:xfrm>
            <a:off x="8553301" y="1810494"/>
            <a:ext cx="714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</a:rPr>
              <a:t>검증가능성</a:t>
            </a:r>
            <a:endParaRPr lang="en-US" sz="1125" dirty="0"/>
          </a:p>
        </p:txBody>
      </p:sp>
      <p:sp>
        <p:nvSpPr>
          <p:cNvPr id="105" name="Text 30"/>
          <p:cNvSpPr/>
          <p:nvPr/>
        </p:nvSpPr>
        <p:spPr>
          <a:xfrm>
            <a:off x="9286726" y="1810494"/>
            <a:ext cx="714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</a:rPr>
              <a:t>데이터준비도</a:t>
            </a:r>
            <a:endParaRPr lang="en-US" sz="1125" dirty="0"/>
          </a:p>
        </p:txBody>
      </p:sp>
      <p:sp>
        <p:nvSpPr>
          <p:cNvPr id="106" name="Text 31"/>
          <p:cNvSpPr/>
          <p:nvPr/>
        </p:nvSpPr>
        <p:spPr>
          <a:xfrm>
            <a:off x="10020151" y="1810494"/>
            <a:ext cx="76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</a:rPr>
              <a:t>보안적합성</a:t>
            </a:r>
            <a:endParaRPr lang="en-US" sz="1125" dirty="0"/>
          </a:p>
        </p:txBody>
      </p:sp>
      <p:sp>
        <p:nvSpPr>
          <p:cNvPr id="107" name="Text 32"/>
          <p:cNvSpPr/>
          <p:nvPr/>
        </p:nvSpPr>
        <p:spPr>
          <a:xfrm>
            <a:off x="10801201" y="1810494"/>
            <a:ext cx="76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</a:rPr>
              <a:t>Shortlist</a:t>
            </a:r>
            <a:endParaRPr lang="en-US" sz="1125" dirty="0"/>
          </a:p>
        </p:txBody>
      </p:sp>
      <p:sp>
        <p:nvSpPr>
          <p:cNvPr id="108" name="Text 33"/>
          <p:cNvSpPr/>
          <p:nvPr/>
        </p:nvSpPr>
        <p:spPr>
          <a:xfrm>
            <a:off x="6337548" y="2229594"/>
            <a:ext cx="1715147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0000"/>
                </a:solidFill>
              </a:rPr>
              <a:t>품질 / Q-Cost</a:t>
            </a:r>
            <a:endParaRPr lang="en-US" sz="1125" dirty="0"/>
          </a:p>
        </p:txBody>
      </p:sp>
      <p:sp>
        <p:nvSpPr>
          <p:cNvPr id="109" name="Text 34"/>
          <p:cNvSpPr/>
          <p:nvPr/>
        </p:nvSpPr>
        <p:spPr>
          <a:xfrm>
            <a:off x="7819876" y="2229594"/>
            <a:ext cx="638175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★★★</a:t>
            </a:r>
            <a:endParaRPr lang="en-US" sz="1125" dirty="0"/>
          </a:p>
        </p:txBody>
      </p:sp>
      <p:sp>
        <p:nvSpPr>
          <p:cNvPr id="110" name="Text 35"/>
          <p:cNvSpPr/>
          <p:nvPr/>
        </p:nvSpPr>
        <p:spPr>
          <a:xfrm>
            <a:off x="8553301" y="2229594"/>
            <a:ext cx="638175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★★★</a:t>
            </a:r>
            <a:endParaRPr lang="en-US" sz="1125" dirty="0"/>
          </a:p>
        </p:txBody>
      </p:sp>
      <p:sp>
        <p:nvSpPr>
          <p:cNvPr id="111" name="Text 36"/>
          <p:cNvSpPr/>
          <p:nvPr/>
        </p:nvSpPr>
        <p:spPr>
          <a:xfrm>
            <a:off x="9286726" y="2229594"/>
            <a:ext cx="638175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★★★</a:t>
            </a:r>
            <a:endParaRPr lang="en-US" sz="1125" dirty="0"/>
          </a:p>
        </p:txBody>
      </p:sp>
      <p:sp>
        <p:nvSpPr>
          <p:cNvPr id="112" name="Text 37"/>
          <p:cNvSpPr/>
          <p:nvPr/>
        </p:nvSpPr>
        <p:spPr>
          <a:xfrm>
            <a:off x="10379273" y="2277666"/>
            <a:ext cx="626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CAF50"/>
                </a:solidFill>
              </a:rPr>
              <a:t>✅</a:t>
            </a:r>
            <a:endParaRPr lang="en-US" sz="1350" dirty="0"/>
          </a:p>
        </p:txBody>
      </p:sp>
      <p:sp>
        <p:nvSpPr>
          <p:cNvPr id="113" name="Text 38"/>
          <p:cNvSpPr/>
          <p:nvPr/>
        </p:nvSpPr>
        <p:spPr>
          <a:xfrm>
            <a:off x="10801201" y="2229594"/>
            <a:ext cx="685800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CAF50"/>
                </a:solidFill>
              </a:rPr>
              <a:t>✅</a:t>
            </a:r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 1순위</a:t>
            </a:r>
            <a:endParaRPr lang="en-US" sz="1125" dirty="0"/>
          </a:p>
        </p:txBody>
      </p:sp>
      <p:sp>
        <p:nvSpPr>
          <p:cNvPr id="114" name="Text 39"/>
          <p:cNvSpPr/>
          <p:nvPr/>
        </p:nvSpPr>
        <p:spPr>
          <a:xfrm>
            <a:off x="6337548" y="2525911"/>
            <a:ext cx="1434703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0000"/>
                </a:solidFill>
              </a:rPr>
              <a:t>공정 이상탐지+원인분석</a:t>
            </a:r>
            <a:endParaRPr lang="en-US" sz="1125" dirty="0"/>
          </a:p>
        </p:txBody>
      </p:sp>
      <p:sp>
        <p:nvSpPr>
          <p:cNvPr id="115" name="Text 40"/>
          <p:cNvSpPr/>
          <p:nvPr/>
        </p:nvSpPr>
        <p:spPr>
          <a:xfrm>
            <a:off x="7819876" y="2525911"/>
            <a:ext cx="638175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★★★</a:t>
            </a:r>
            <a:endParaRPr lang="en-US" sz="1125" dirty="0"/>
          </a:p>
        </p:txBody>
      </p:sp>
      <p:sp>
        <p:nvSpPr>
          <p:cNvPr id="116" name="Text 41"/>
          <p:cNvSpPr/>
          <p:nvPr/>
        </p:nvSpPr>
        <p:spPr>
          <a:xfrm>
            <a:off x="8553301" y="2525911"/>
            <a:ext cx="638175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★★★</a:t>
            </a:r>
            <a:endParaRPr lang="en-US" sz="1125" dirty="0"/>
          </a:p>
        </p:txBody>
      </p:sp>
      <p:sp>
        <p:nvSpPr>
          <p:cNvPr id="117" name="Text 42"/>
          <p:cNvSpPr/>
          <p:nvPr/>
        </p:nvSpPr>
        <p:spPr>
          <a:xfrm>
            <a:off x="9286726" y="2525911"/>
            <a:ext cx="638175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★★</a:t>
            </a:r>
            <a:endParaRPr lang="en-US" sz="1125" dirty="0"/>
          </a:p>
        </p:txBody>
      </p:sp>
      <p:sp>
        <p:nvSpPr>
          <p:cNvPr id="118" name="Text 43"/>
          <p:cNvSpPr/>
          <p:nvPr/>
        </p:nvSpPr>
        <p:spPr>
          <a:xfrm>
            <a:off x="10379273" y="2673400"/>
            <a:ext cx="626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CAF50"/>
                </a:solidFill>
              </a:rPr>
              <a:t>✅</a:t>
            </a:r>
            <a:endParaRPr lang="en-US" sz="1350" dirty="0"/>
          </a:p>
        </p:txBody>
      </p:sp>
      <p:sp>
        <p:nvSpPr>
          <p:cNvPr id="119" name="Text 44"/>
          <p:cNvSpPr/>
          <p:nvPr/>
        </p:nvSpPr>
        <p:spPr>
          <a:xfrm>
            <a:off x="10801201" y="2525911"/>
            <a:ext cx="685800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CAF50"/>
                </a:solidFill>
              </a:rPr>
              <a:t>✅</a:t>
            </a:r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 2순위</a:t>
            </a:r>
            <a:endParaRPr lang="en-US" sz="1125" dirty="0"/>
          </a:p>
        </p:txBody>
      </p:sp>
      <p:sp>
        <p:nvSpPr>
          <p:cNvPr id="120" name="Text 45"/>
          <p:cNvSpPr/>
          <p:nvPr/>
        </p:nvSpPr>
        <p:spPr>
          <a:xfrm>
            <a:off x="6337548" y="3020913"/>
            <a:ext cx="1434703" cy="4519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0000"/>
                </a:solidFill>
              </a:rPr>
              <a:t>안전 leading indicator</a:t>
            </a:r>
            <a:endParaRPr lang="en-US" sz="1125" dirty="0"/>
          </a:p>
        </p:txBody>
      </p:sp>
      <p:sp>
        <p:nvSpPr>
          <p:cNvPr id="121" name="Text 46"/>
          <p:cNvSpPr/>
          <p:nvPr/>
        </p:nvSpPr>
        <p:spPr>
          <a:xfrm>
            <a:off x="7819876" y="3020913"/>
            <a:ext cx="638175" cy="4519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★★★</a:t>
            </a:r>
            <a:endParaRPr lang="en-US" sz="1125" dirty="0"/>
          </a:p>
        </p:txBody>
      </p:sp>
      <p:sp>
        <p:nvSpPr>
          <p:cNvPr id="122" name="Text 47"/>
          <p:cNvSpPr/>
          <p:nvPr/>
        </p:nvSpPr>
        <p:spPr>
          <a:xfrm>
            <a:off x="8553301" y="3020913"/>
            <a:ext cx="638175" cy="4519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★★</a:t>
            </a:r>
            <a:endParaRPr lang="en-US" sz="1125" dirty="0"/>
          </a:p>
        </p:txBody>
      </p:sp>
      <p:sp>
        <p:nvSpPr>
          <p:cNvPr id="123" name="Text 48"/>
          <p:cNvSpPr/>
          <p:nvPr/>
        </p:nvSpPr>
        <p:spPr>
          <a:xfrm>
            <a:off x="9286726" y="3020913"/>
            <a:ext cx="638175" cy="4519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★★</a:t>
            </a:r>
            <a:endParaRPr lang="en-US" sz="1125" dirty="0"/>
          </a:p>
        </p:txBody>
      </p:sp>
      <p:sp>
        <p:nvSpPr>
          <p:cNvPr id="124" name="Text 49"/>
          <p:cNvSpPr/>
          <p:nvPr/>
        </p:nvSpPr>
        <p:spPr>
          <a:xfrm>
            <a:off x="10379273" y="3146822"/>
            <a:ext cx="626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CAF50"/>
                </a:solidFill>
              </a:rPr>
              <a:t>✅</a:t>
            </a:r>
            <a:endParaRPr lang="en-US" sz="1350" dirty="0"/>
          </a:p>
        </p:txBody>
      </p:sp>
      <p:sp>
        <p:nvSpPr>
          <p:cNvPr id="125" name="Text 50"/>
          <p:cNvSpPr/>
          <p:nvPr/>
        </p:nvSpPr>
        <p:spPr>
          <a:xfrm>
            <a:off x="10801201" y="3020913"/>
            <a:ext cx="685800" cy="4519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CAF50"/>
                </a:solidFill>
              </a:rPr>
              <a:t>✅</a:t>
            </a:r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 3순위</a:t>
            </a:r>
            <a:endParaRPr lang="en-US" sz="1125" dirty="0"/>
          </a:p>
        </p:txBody>
      </p:sp>
      <p:sp>
        <p:nvSpPr>
          <p:cNvPr id="126" name="Text 51"/>
          <p:cNvSpPr/>
          <p:nvPr/>
        </p:nvSpPr>
        <p:spPr>
          <a:xfrm>
            <a:off x="6337548" y="3472904"/>
            <a:ext cx="1434703" cy="269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0000"/>
                </a:solidFill>
              </a:rPr>
              <a:t>설비 예지보전</a:t>
            </a:r>
            <a:endParaRPr lang="en-US" sz="1125" dirty="0"/>
          </a:p>
        </p:txBody>
      </p:sp>
      <p:sp>
        <p:nvSpPr>
          <p:cNvPr id="127" name="Text 52"/>
          <p:cNvSpPr/>
          <p:nvPr/>
        </p:nvSpPr>
        <p:spPr>
          <a:xfrm>
            <a:off x="7819876" y="3472904"/>
            <a:ext cx="638175" cy="269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★★</a:t>
            </a:r>
            <a:endParaRPr lang="en-US" sz="1125" dirty="0"/>
          </a:p>
        </p:txBody>
      </p:sp>
      <p:sp>
        <p:nvSpPr>
          <p:cNvPr id="128" name="Text 53"/>
          <p:cNvSpPr/>
          <p:nvPr/>
        </p:nvSpPr>
        <p:spPr>
          <a:xfrm>
            <a:off x="8553301" y="3472904"/>
            <a:ext cx="638175" cy="269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★★</a:t>
            </a:r>
            <a:endParaRPr lang="en-US" sz="1125" dirty="0"/>
          </a:p>
        </p:txBody>
      </p:sp>
      <p:sp>
        <p:nvSpPr>
          <p:cNvPr id="129" name="Text 54"/>
          <p:cNvSpPr/>
          <p:nvPr/>
        </p:nvSpPr>
        <p:spPr>
          <a:xfrm>
            <a:off x="9286726" y="3472904"/>
            <a:ext cx="638175" cy="269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★★</a:t>
            </a:r>
            <a:endParaRPr lang="en-US" sz="1125" dirty="0"/>
          </a:p>
        </p:txBody>
      </p:sp>
      <p:sp>
        <p:nvSpPr>
          <p:cNvPr id="130" name="Text 55"/>
          <p:cNvSpPr/>
          <p:nvPr/>
        </p:nvSpPr>
        <p:spPr>
          <a:xfrm>
            <a:off x="10379273" y="3507432"/>
            <a:ext cx="626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CAF50"/>
                </a:solidFill>
              </a:rPr>
              <a:t>✅</a:t>
            </a:r>
            <a:endParaRPr lang="en-US" sz="1350" dirty="0"/>
          </a:p>
        </p:txBody>
      </p:sp>
      <p:sp>
        <p:nvSpPr>
          <p:cNvPr id="131" name="Text 56"/>
          <p:cNvSpPr/>
          <p:nvPr/>
        </p:nvSpPr>
        <p:spPr>
          <a:xfrm>
            <a:off x="10801201" y="3472904"/>
            <a:ext cx="685800" cy="269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차기 검토</a:t>
            </a:r>
            <a:endParaRPr lang="en-US" sz="1125" dirty="0"/>
          </a:p>
        </p:txBody>
      </p:sp>
      <p:sp>
        <p:nvSpPr>
          <p:cNvPr id="132" name="Text 57"/>
          <p:cNvSpPr/>
          <p:nvPr/>
        </p:nvSpPr>
        <p:spPr>
          <a:xfrm>
            <a:off x="6337548" y="3741986"/>
            <a:ext cx="1715147" cy="269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0000"/>
                </a:solidFill>
              </a:rPr>
              <a:t>SCM / 병목 대응</a:t>
            </a:r>
            <a:endParaRPr lang="en-US" sz="1125" dirty="0"/>
          </a:p>
        </p:txBody>
      </p:sp>
      <p:sp>
        <p:nvSpPr>
          <p:cNvPr id="133" name="Text 58"/>
          <p:cNvSpPr/>
          <p:nvPr/>
        </p:nvSpPr>
        <p:spPr>
          <a:xfrm>
            <a:off x="7819876" y="3741986"/>
            <a:ext cx="638175" cy="269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★★</a:t>
            </a:r>
            <a:endParaRPr lang="en-US" sz="1125" dirty="0"/>
          </a:p>
        </p:txBody>
      </p:sp>
      <p:sp>
        <p:nvSpPr>
          <p:cNvPr id="134" name="Text 59"/>
          <p:cNvSpPr/>
          <p:nvPr/>
        </p:nvSpPr>
        <p:spPr>
          <a:xfrm>
            <a:off x="8553301" y="3741986"/>
            <a:ext cx="638175" cy="269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★★</a:t>
            </a:r>
            <a:endParaRPr lang="en-US" sz="1125" dirty="0"/>
          </a:p>
        </p:txBody>
      </p:sp>
      <p:sp>
        <p:nvSpPr>
          <p:cNvPr id="135" name="Text 60"/>
          <p:cNvSpPr/>
          <p:nvPr/>
        </p:nvSpPr>
        <p:spPr>
          <a:xfrm>
            <a:off x="9286726" y="3741986"/>
            <a:ext cx="638175" cy="269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</a:t>
            </a:r>
            <a:endParaRPr lang="en-US" sz="1125" dirty="0"/>
          </a:p>
        </p:txBody>
      </p:sp>
      <p:sp>
        <p:nvSpPr>
          <p:cNvPr id="136" name="Text 61"/>
          <p:cNvSpPr/>
          <p:nvPr/>
        </p:nvSpPr>
        <p:spPr>
          <a:xfrm>
            <a:off x="10379273" y="3776514"/>
            <a:ext cx="626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CAF50"/>
                </a:solidFill>
              </a:rPr>
              <a:t>✅</a:t>
            </a:r>
            <a:endParaRPr lang="en-US" sz="1350" dirty="0"/>
          </a:p>
        </p:txBody>
      </p:sp>
      <p:sp>
        <p:nvSpPr>
          <p:cNvPr id="137" name="Text 62"/>
          <p:cNvSpPr/>
          <p:nvPr/>
        </p:nvSpPr>
        <p:spPr>
          <a:xfrm>
            <a:off x="10801201" y="3741986"/>
            <a:ext cx="685800" cy="269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차기 검토</a:t>
            </a:r>
            <a:endParaRPr lang="en-US" sz="1125" dirty="0"/>
          </a:p>
        </p:txBody>
      </p:sp>
      <p:sp>
        <p:nvSpPr>
          <p:cNvPr id="138" name="Text 63"/>
          <p:cNvSpPr/>
          <p:nvPr/>
        </p:nvSpPr>
        <p:spPr>
          <a:xfrm>
            <a:off x="6337548" y="4011067"/>
            <a:ext cx="2026992" cy="3231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0000"/>
                </a:solidFill>
              </a:rPr>
              <a:t>R&amp;D / 실험지식 연결</a:t>
            </a:r>
            <a:endParaRPr lang="en-US" sz="1125" dirty="0"/>
          </a:p>
        </p:txBody>
      </p:sp>
      <p:sp>
        <p:nvSpPr>
          <p:cNvPr id="139" name="Text 64"/>
          <p:cNvSpPr/>
          <p:nvPr/>
        </p:nvSpPr>
        <p:spPr>
          <a:xfrm>
            <a:off x="7819876" y="4011067"/>
            <a:ext cx="638175" cy="3231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★★</a:t>
            </a:r>
            <a:endParaRPr lang="en-US" sz="1125" dirty="0"/>
          </a:p>
        </p:txBody>
      </p:sp>
      <p:sp>
        <p:nvSpPr>
          <p:cNvPr id="140" name="Text 65"/>
          <p:cNvSpPr/>
          <p:nvPr/>
        </p:nvSpPr>
        <p:spPr>
          <a:xfrm>
            <a:off x="8553301" y="4011067"/>
            <a:ext cx="638175" cy="3231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</a:t>
            </a:r>
            <a:endParaRPr lang="en-US" sz="1125" dirty="0"/>
          </a:p>
        </p:txBody>
      </p:sp>
      <p:sp>
        <p:nvSpPr>
          <p:cNvPr id="141" name="Text 66"/>
          <p:cNvSpPr/>
          <p:nvPr/>
        </p:nvSpPr>
        <p:spPr>
          <a:xfrm>
            <a:off x="9286726" y="4011067"/>
            <a:ext cx="638175" cy="3231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★</a:t>
            </a:r>
            <a:endParaRPr lang="en-US" sz="1125" dirty="0"/>
          </a:p>
        </p:txBody>
      </p:sp>
      <p:sp>
        <p:nvSpPr>
          <p:cNvPr id="142" name="Text 67"/>
          <p:cNvSpPr/>
          <p:nvPr/>
        </p:nvSpPr>
        <p:spPr>
          <a:xfrm>
            <a:off x="10324951" y="4096345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C107"/>
                </a:solidFill>
              </a:rPr>
              <a:t>⚠️</a:t>
            </a:r>
            <a:endParaRPr lang="en-US" sz="1350" dirty="0"/>
          </a:p>
        </p:txBody>
      </p:sp>
      <p:sp>
        <p:nvSpPr>
          <p:cNvPr id="143" name="Text 68"/>
          <p:cNvSpPr/>
          <p:nvPr/>
        </p:nvSpPr>
        <p:spPr>
          <a:xfrm>
            <a:off x="10801201" y="4011067"/>
            <a:ext cx="685800" cy="3231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</a:rPr>
              <a:t>장기 검토</a:t>
            </a:r>
            <a:endParaRPr lang="en-US" sz="1125" dirty="0"/>
          </a:p>
        </p:txBody>
      </p:sp>
      <p:sp>
        <p:nvSpPr>
          <p:cNvPr id="144" name="Text 69"/>
          <p:cNvSpPr/>
          <p:nvPr/>
        </p:nvSpPr>
        <p:spPr>
          <a:xfrm>
            <a:off x="228600" y="123825"/>
            <a:ext cx="11963400" cy="3967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24"/>
              </a:lnSpc>
              <a:buNone/>
            </a:pPr>
            <a:r>
              <a:rPr lang="en-US" sz="262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Slide 4 of 4 | LGD 자사 도입방안 &amp; PoC 선정 프레임</a:t>
            </a:r>
            <a:endParaRPr lang="en-US" sz="2625" dirty="0"/>
          </a:p>
        </p:txBody>
      </p:sp>
      <p:sp>
        <p:nvSpPr>
          <p:cNvPr id="145" name="Text 70"/>
          <p:cNvSpPr/>
          <p:nvPr/>
        </p:nvSpPr>
        <p:spPr>
          <a:xfrm>
            <a:off x="714375" y="1343025"/>
            <a:ext cx="4373880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09"/>
              </a:lnSpc>
              <a:buNone/>
            </a:pPr>
            <a:r>
              <a:rPr lang="en-US" sz="2100" b="1" dirty="0">
                <a:solidFill>
                  <a:srgbClr val="B512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PoC 평가기준 8개 축</a:t>
            </a:r>
            <a:endParaRPr lang="en-US" sz="2100" dirty="0"/>
          </a:p>
        </p:txBody>
      </p:sp>
      <p:sp>
        <p:nvSpPr>
          <p:cNvPr id="146" name="Text 71"/>
          <p:cNvSpPr/>
          <p:nvPr/>
        </p:nvSpPr>
        <p:spPr>
          <a:xfrm>
            <a:off x="6324600" y="1343025"/>
            <a:ext cx="5867400" cy="331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2"/>
              </a:lnSpc>
              <a:buNone/>
            </a:pPr>
            <a:r>
              <a:rPr lang="en-US" sz="2025" b="1" dirty="0">
                <a:solidFill>
                  <a:srgbClr val="B512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후보 영역 Candidate Matrix</a:t>
            </a:r>
            <a:endParaRPr lang="en-US" sz="2025" dirty="0"/>
          </a:p>
        </p:txBody>
      </p:sp>
      <p:sp>
        <p:nvSpPr>
          <p:cNvPr id="147" name="Text 72"/>
          <p:cNvSpPr/>
          <p:nvPr/>
        </p:nvSpPr>
        <p:spPr>
          <a:xfrm>
            <a:off x="6324600" y="4924425"/>
            <a:ext cx="44767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B512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Shortlist 3개 요약</a:t>
            </a:r>
            <a:endParaRPr lang="en-US" sz="1875" dirty="0"/>
          </a:p>
        </p:txBody>
      </p:sp>
      <p:sp>
        <p:nvSpPr>
          <p:cNvPr id="148" name="Text 73"/>
          <p:cNvSpPr/>
          <p:nvPr/>
        </p:nvSpPr>
        <p:spPr>
          <a:xfrm>
            <a:off x="0" y="742950"/>
            <a:ext cx="12192000" cy="3400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도입 판단의 핵심은 어디에서 가장 빨리, 가장 안전하게, 가장 설명 가능한 운영 성과를 증명할 수 있는가다</a:t>
            </a:r>
            <a:endParaRPr lang="en-US" sz="2250" dirty="0"/>
          </a:p>
        </p:txBody>
      </p:sp>
      <p:sp>
        <p:nvSpPr>
          <p:cNvPr id="149" name="Text 74"/>
          <p:cNvSpPr/>
          <p:nvPr/>
        </p:nvSpPr>
        <p:spPr>
          <a:xfrm>
            <a:off x="6320284" y="5324475"/>
            <a:ext cx="94208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50" name="Text 75"/>
          <p:cNvSpPr/>
          <p:nvPr/>
        </p:nvSpPr>
        <p:spPr>
          <a:xfrm>
            <a:off x="6629400" y="5324475"/>
            <a:ext cx="5562600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품질/Q-Cost: 측정지표 명확, 데이터 기존 축적, ontology 재사용성 최고</a:t>
            </a:r>
            <a:endParaRPr lang="en-US" sz="1500" dirty="0"/>
          </a:p>
        </p:txBody>
      </p:sp>
      <p:sp>
        <p:nvSpPr>
          <p:cNvPr id="151" name="Text 76"/>
          <p:cNvSpPr/>
          <p:nvPr/>
        </p:nvSpPr>
        <p:spPr>
          <a:xfrm>
            <a:off x="6320284" y="5657850"/>
            <a:ext cx="94208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152" name="Text 77"/>
          <p:cNvSpPr/>
          <p:nvPr/>
        </p:nvSpPr>
        <p:spPr>
          <a:xfrm>
            <a:off x="6596955" y="5657850"/>
            <a:ext cx="5595045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공정 이상탐지+원인분석: 고위험 공정에서 즉각 효과, on-prem 보안 적합</a:t>
            </a:r>
            <a:endParaRPr lang="en-US" sz="1650" dirty="0"/>
          </a:p>
        </p:txBody>
      </p:sp>
      <p:sp>
        <p:nvSpPr>
          <p:cNvPr id="153" name="Text 78"/>
          <p:cNvSpPr/>
          <p:nvPr/>
        </p:nvSpPr>
        <p:spPr>
          <a:xfrm>
            <a:off x="6320284" y="5905500"/>
            <a:ext cx="94208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154" name="Text 79"/>
          <p:cNvSpPr/>
          <p:nvPr/>
        </p:nvSpPr>
        <p:spPr>
          <a:xfrm>
            <a:off x="6629400" y="5905500"/>
            <a:ext cx="5562600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안전 leading indicator: 경연진 실행력 및 사회적 가치 높음</a:t>
            </a:r>
            <a:endParaRPr lang="en-US" sz="1425" dirty="0"/>
          </a:p>
        </p:txBody>
      </p:sp>
      <p:sp>
        <p:nvSpPr>
          <p:cNvPr id="155" name="Text 80"/>
          <p:cNvSpPr/>
          <p:nvPr/>
        </p:nvSpPr>
        <p:spPr>
          <a:xfrm>
            <a:off x="6167438" y="4371975"/>
            <a:ext cx="602456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※ R&amp;D/실험지식 연결은 IP 보호 이슈로 보안 설계 별도 검토 필요. 현 단계 shortlist 제외</a:t>
            </a:r>
            <a:endParaRPr lang="en-US" sz="1350" dirty="0"/>
          </a:p>
        </p:txBody>
      </p:sp>
      <p:sp>
        <p:nvSpPr>
          <p:cNvPr id="156" name="Text 81"/>
          <p:cNvSpPr/>
          <p:nvPr/>
        </p:nvSpPr>
        <p:spPr>
          <a:xfrm>
            <a:off x="6324600" y="6172200"/>
            <a:ext cx="586740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※ 전사 rollout 제안 아님. PoC 결과 확인 후 확장 여부 재판단.</a:t>
            </a:r>
            <a:endParaRPr lang="en-US" sz="1350" dirty="0"/>
          </a:p>
        </p:txBody>
      </p:sp>
      <p:sp>
        <p:nvSpPr>
          <p:cNvPr id="157" name="Text 82"/>
          <p:cNvSpPr/>
          <p:nvPr/>
        </p:nvSpPr>
        <p:spPr>
          <a:xfrm>
            <a:off x="6324600" y="4895850"/>
            <a:ext cx="322326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B512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Shortlist 3개 요약</a:t>
            </a:r>
            <a:endParaRPr lang="en-US" sz="1350" dirty="0"/>
          </a:p>
        </p:txBody>
      </p:sp>
      <p:sp>
        <p:nvSpPr>
          <p:cNvPr id="158" name="Text 83"/>
          <p:cNvSpPr/>
          <p:nvPr/>
        </p:nvSpPr>
        <p:spPr>
          <a:xfrm>
            <a:off x="6320284" y="5324475"/>
            <a:ext cx="94208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59" name="Text 84"/>
          <p:cNvSpPr/>
          <p:nvPr/>
        </p:nvSpPr>
        <p:spPr>
          <a:xfrm>
            <a:off x="6629400" y="5324475"/>
            <a:ext cx="5562600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품질/Q-Cost: 측정지표 명확, 데이터 기존 축적, ontology 재사용성 최고</a:t>
            </a:r>
            <a:endParaRPr lang="en-US" sz="1500" dirty="0"/>
          </a:p>
        </p:txBody>
      </p:sp>
      <p:sp>
        <p:nvSpPr>
          <p:cNvPr id="160" name="Text 85"/>
          <p:cNvSpPr/>
          <p:nvPr/>
        </p:nvSpPr>
        <p:spPr>
          <a:xfrm>
            <a:off x="6320284" y="5657850"/>
            <a:ext cx="94208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161" name="Text 86"/>
          <p:cNvSpPr/>
          <p:nvPr/>
        </p:nvSpPr>
        <p:spPr>
          <a:xfrm>
            <a:off x="6596955" y="5657850"/>
            <a:ext cx="5595045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공정 이상탐지+원인분석: 고위험 공정에서 즉각 효과, on-prem 보안 적합</a:t>
            </a:r>
            <a:endParaRPr lang="en-US" sz="1650" dirty="0"/>
          </a:p>
        </p:txBody>
      </p:sp>
      <p:sp>
        <p:nvSpPr>
          <p:cNvPr id="162" name="Text 87"/>
          <p:cNvSpPr/>
          <p:nvPr/>
        </p:nvSpPr>
        <p:spPr>
          <a:xfrm>
            <a:off x="6320284" y="5905500"/>
            <a:ext cx="94208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163" name="Text 88"/>
          <p:cNvSpPr/>
          <p:nvPr/>
        </p:nvSpPr>
        <p:spPr>
          <a:xfrm>
            <a:off x="6629400" y="5905500"/>
            <a:ext cx="5562600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안전 leading indicator: 경연진 실행력 및 사회적 가치 높음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2026-04-15T19:24:04Z</dcterms:created>
  <dcterms:modified xsi:type="dcterms:W3CDTF">2026-04-15T19:24:04Z</dcterms:modified>
</cp:coreProperties>
</file>