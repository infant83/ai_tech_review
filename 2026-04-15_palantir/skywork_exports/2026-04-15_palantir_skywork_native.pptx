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6825" y="1647825"/>
            <a:ext cx="10925175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59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Palantir 검토 및 자사 적용 가능성 사전 브리핑</a:t>
            </a:r>
            <a:endParaRPr lang="en-US" sz="3075" dirty="0"/>
          </a:p>
        </p:txBody>
      </p:sp>
      <p:sp>
        <p:nvSpPr>
          <p:cNvPr id="4" name="Text 1"/>
          <p:cNvSpPr/>
          <p:nvPr/>
        </p:nvSpPr>
        <p:spPr>
          <a:xfrm>
            <a:off x="1266825" y="2286000"/>
            <a:ext cx="1092517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77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Palantir Review and Pre-briefing on Internal Applicability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1266825" y="3752850"/>
            <a:ext cx="961263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 사전 보고: 선별적 POC 중심의 전략적 제안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1266825" y="4295775"/>
            <a:ext cx="10925175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보고서는 2026-04-27 경영진 미팅 대비 Palantir 도입 가능성 사전 검토 자료입니다.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266825" y="5505450"/>
            <a:ext cx="665988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i="1" dirty="0">
                <a:solidFill>
                  <a:srgbClr val="004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*Signal vs Proof 기반의 신중한 해석 필요</a:t>
            </a:r>
            <a:endParaRPr lang="en-US" sz="1425" dirty="0"/>
          </a:p>
        </p:txBody>
      </p:sp>
      <p:sp>
        <p:nvSpPr>
          <p:cNvPr id="8" name="Text 5"/>
          <p:cNvSpPr/>
          <p:nvPr/>
        </p:nvSpPr>
        <p:spPr>
          <a:xfrm>
            <a:off x="10344150" y="6496050"/>
            <a:ext cx="1718221" cy="1543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기준일: 2026-04-15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5813971" y="6715125"/>
            <a:ext cx="544711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8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66725" y="6467475"/>
            <a:ext cx="1714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263" y="4512469"/>
            <a:ext cx="572988" cy="3976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4298" y="3086100"/>
            <a:ext cx="755898" cy="38397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5796" y="1803648"/>
            <a:ext cx="816769" cy="58965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69" y="3504307"/>
            <a:ext cx="4815780" cy="170750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93292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품질/Q-Cost 중심의 POC-First 접근 권고</a:t>
            </a:r>
            <a:endParaRPr lang="en-US" sz="2700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914400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63"/>
              </a:lnSpc>
              <a:buNone/>
            </a:pPr>
            <a:r>
              <a:rPr lang="en-US" sz="187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도입 보류 및 POC 우선 추진을 통한 리스크 최소화</a:t>
            </a:r>
            <a:endParaRPr lang="en-US" sz="1875" dirty="0"/>
          </a:p>
        </p:txBody>
      </p:sp>
      <p:sp>
        <p:nvSpPr>
          <p:cNvPr id="10" name="Text 2"/>
          <p:cNvSpPr/>
          <p:nvPr/>
        </p:nvSpPr>
        <p:spPr>
          <a:xfrm>
            <a:off x="714375" y="1838325"/>
            <a:ext cx="9201150" cy="3373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5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도입 보류, 품질/Q-Cost 영역 한정 POC 우선 진행</a:t>
            </a:r>
            <a:endParaRPr lang="en-US" sz="1725" dirty="0"/>
          </a:p>
        </p:txBody>
      </p:sp>
      <p:sp>
        <p:nvSpPr>
          <p:cNvPr id="11" name="Text 3"/>
          <p:cNvSpPr/>
          <p:nvPr/>
        </p:nvSpPr>
        <p:spPr>
          <a:xfrm>
            <a:off x="6448425" y="1838325"/>
            <a:ext cx="5520690" cy="2519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성공 지표 및 정량적 목표 설정</a:t>
            </a:r>
            <a:endParaRPr lang="en-US" sz="1725" dirty="0"/>
          </a:p>
        </p:txBody>
      </p:sp>
      <p:sp>
        <p:nvSpPr>
          <p:cNvPr id="12" name="Text 4"/>
          <p:cNvSpPr/>
          <p:nvPr/>
        </p:nvSpPr>
        <p:spPr>
          <a:xfrm>
            <a:off x="6448425" y="3190875"/>
            <a:ext cx="5743575" cy="2519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HD현대 그룹 확장 계약 (조선·정유 등 전 계열사)</a:t>
            </a:r>
            <a:endParaRPr lang="en-US" sz="1725" dirty="0"/>
          </a:p>
        </p:txBody>
      </p:sp>
      <p:sp>
        <p:nvSpPr>
          <p:cNvPr id="13" name="Text 5"/>
          <p:cNvSpPr/>
          <p:nvPr/>
        </p:nvSpPr>
        <p:spPr>
          <a:xfrm>
            <a:off x="6448425" y="4648200"/>
            <a:ext cx="5743575" cy="2519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CNS 품질 PoC 성공 → 본계약 전환 확인</a:t>
            </a:r>
            <a:endParaRPr lang="en-US" sz="1725" dirty="0"/>
          </a:p>
        </p:txBody>
      </p:sp>
      <p:sp>
        <p:nvSpPr>
          <p:cNvPr id="14" name="Text 6"/>
          <p:cNvSpPr/>
          <p:nvPr/>
        </p:nvSpPr>
        <p:spPr>
          <a:xfrm>
            <a:off x="6810375" y="742950"/>
            <a:ext cx="5381625" cy="2620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삼성은 신호(Signal) 단계, 공식 Proof 미확인</a:t>
            </a:r>
            <a:endParaRPr lang="en-US" sz="1575" dirty="0"/>
          </a:p>
        </p:txBody>
      </p:sp>
      <p:sp>
        <p:nvSpPr>
          <p:cNvPr id="15" name="Text 7"/>
          <p:cNvSpPr/>
          <p:nvPr/>
        </p:nvSpPr>
        <p:spPr>
          <a:xfrm>
            <a:off x="714375" y="2228850"/>
            <a:ext cx="5752058" cy="8757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전사 도입에 따른 비용 및 운영 리스크를 최소화하고, 투자 대비</a:t>
            </a:r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효용성(ROI)을 사전 검증하기 위해 가장 직접적인 개선 효과가</a:t>
            </a:r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 품질 및 Q-Cost 관리 분야에 한정하여 POC를 우선적으로</a:t>
            </a:r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추진할 것을 권고함.</a:t>
            </a:r>
            <a:endParaRPr lang="en-US" sz="1425" dirty="0"/>
          </a:p>
        </p:txBody>
      </p:sp>
      <p:sp>
        <p:nvSpPr>
          <p:cNvPr id="16" name="Text 8"/>
          <p:cNvSpPr/>
          <p:nvPr/>
        </p:nvSpPr>
        <p:spPr>
          <a:xfrm>
            <a:off x="6397823" y="2190750"/>
            <a:ext cx="5794028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불량률 15% 이상 감소 목표 (POC 기간 내)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불량 발생 원인 분석 시간 50% 이상 단축 (인공지능 기반 예측 및 분석)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345436" y="3524250"/>
            <a:ext cx="5846415" cy="6634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1월 로이터(Reuters) 보도. 수천억 원 규모의 대규모 계약으로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Palantir Ontology 및 Palantir Ontology 기반 기술을 그룹 전체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현 현장 및 운영에 적용하기 위한 확장 계약 체결.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448425" y="4933950"/>
            <a:ext cx="5710238" cy="6634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3월 공식 발표. LG CNS 자체 품질 PoC를 통해 Palantir의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감소 및 운영효율 개선 효과를 검증 완료하고 본계약으로 전환.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가장 신뢰도 높은 리퍼런스.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010275" y="1066800"/>
            <a:ext cx="6181725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2B5F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*주의: 온톨로지 채용 공고 및 GTC 발표 등은 Palantir 기술 내재화 신호로 해석 가능하나,</a:t>
            </a:r>
            <a:pPr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2B5F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2B5F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 생산 현장의 공식적인 Palantir 도입 및 수용을 개선 사례로는 확인되지 않음.</a:t>
            </a:r>
            <a:endParaRPr lang="en-US" sz="1125" dirty="0"/>
          </a:p>
        </p:txBody>
      </p:sp>
      <p:sp>
        <p:nvSpPr>
          <p:cNvPr id="20" name="Text 12"/>
          <p:cNvSpPr/>
          <p:nvPr/>
        </p:nvSpPr>
        <p:spPr>
          <a:xfrm>
            <a:off x="7298978" y="6486525"/>
            <a:ext cx="489302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0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Reuters 보도 (2026.01), LG CNS 공식 발표 (2026.03), 업계 동향 분석.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5870674" y="6705600"/>
            <a:ext cx="555278" cy="985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76"/>
              </a:lnSpc>
              <a:buNone/>
            </a:pPr>
            <a:r>
              <a:rPr lang="en-US" sz="825" dirty="0">
                <a:solidFill>
                  <a:srgbClr val="B9B9B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" y="123825"/>
            <a:ext cx="1196340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Frame: 이번 미팅의 핵심 질문과 판단 기준</a:t>
            </a:r>
            <a:endParaRPr lang="en-US" sz="2475" dirty="0"/>
          </a:p>
        </p:txBody>
      </p:sp>
      <p:sp>
        <p:nvSpPr>
          <p:cNvPr id="5" name="Text 1"/>
          <p:cNvSpPr/>
          <p:nvPr/>
        </p:nvSpPr>
        <p:spPr>
          <a:xfrm>
            <a:off x="771525" y="1647825"/>
            <a:ext cx="5715000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핵심 질문 및 판단 원칙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619625" y="1647825"/>
            <a:ext cx="4686300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기술 및 보안 검증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8458200" y="1647825"/>
            <a:ext cx="373380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성과 및 비용 기준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352425" y="742950"/>
            <a:ext cx="600075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PoC를 위한 핵심 고려 사항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771525" y="2457450"/>
            <a:ext cx="2849761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질문: 도입 여부가 아닌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우선순위</a:t>
            </a:r>
            <a:endParaRPr lang="en-US" sz="1725" dirty="0"/>
          </a:p>
        </p:txBody>
      </p:sp>
      <p:sp>
        <p:nvSpPr>
          <p:cNvPr id="10" name="Text 6"/>
          <p:cNvSpPr/>
          <p:nvPr/>
        </p:nvSpPr>
        <p:spPr>
          <a:xfrm>
            <a:off x="771525" y="3105150"/>
            <a:ext cx="3488978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도입 결정이 아닌, 어떤 문제를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방식으로 검증할지가 이번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미팅의 핵심입니다.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771525" y="4210050"/>
            <a:ext cx="3006923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원칙: 미적인 사실 배제,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정보 기반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771525" y="4848225"/>
            <a:ext cx="3572768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발표 기반으로만 의사결정하며,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 수율 개선 등 미적인 정보는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근거에서 배제 합니다.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4619625" y="2457450"/>
            <a:ext cx="3216473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판단 기준: 배포 모델(On-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premise 등) 실효성 확인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4619625" y="3105150"/>
            <a:ext cx="3132683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규제 및 보안 정책에 맞춘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반출 통제와 권한 체계를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검증해야 합니다.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4619625" y="4210050"/>
            <a:ext cx="3048893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적용 기준: 품질/Q-Cost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범위 설정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4619625" y="4848225"/>
            <a:ext cx="3300413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내 측정 가능한 성과 범위를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정의하고, 내부 데이터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준비도를 점검합니다.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8458200" y="2457450"/>
            <a:ext cx="332124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 기준: LG·HD현대 KPI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 확보</a:t>
            </a:r>
            <a:endParaRPr lang="en-US" sz="1725" dirty="0"/>
          </a:p>
        </p:txBody>
      </p:sp>
      <p:sp>
        <p:nvSpPr>
          <p:cNvPr id="18" name="Text 14"/>
          <p:cNvSpPr/>
          <p:nvPr/>
        </p:nvSpPr>
        <p:spPr>
          <a:xfrm>
            <a:off x="8458200" y="3105150"/>
            <a:ext cx="3132683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성공사례에서 실제 운영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개선 수치를 확인하는 것이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판단 근거입니다.</a:t>
            </a:r>
            <a:endParaRPr lang="en-US" sz="1725" dirty="0"/>
          </a:p>
        </p:txBody>
      </p:sp>
      <p:sp>
        <p:nvSpPr>
          <p:cNvPr id="19" name="Text 15"/>
          <p:cNvSpPr/>
          <p:nvPr/>
        </p:nvSpPr>
        <p:spPr>
          <a:xfrm>
            <a:off x="8458200" y="4210050"/>
            <a:ext cx="3080296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기준: PoC→본계약 전환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 파악</a:t>
            </a:r>
            <a:endParaRPr lang="en-US" sz="1725" dirty="0"/>
          </a:p>
        </p:txBody>
      </p:sp>
      <p:sp>
        <p:nvSpPr>
          <p:cNvPr id="20" name="Text 16"/>
          <p:cNvSpPr/>
          <p:nvPr/>
        </p:nvSpPr>
        <p:spPr>
          <a:xfrm>
            <a:off x="8458200" y="4800600"/>
            <a:ext cx="3310830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PoC 비용과 Cost Ladder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(본계약 전환 시 비용 상승 단계)를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구체적으로 확인합니다.</a:t>
            </a:r>
            <a:endParaRPr lang="en-US" sz="1725" dirty="0"/>
          </a:p>
        </p:txBody>
      </p:sp>
      <p:sp>
        <p:nvSpPr>
          <p:cNvPr id="21" name="Text 17"/>
          <p:cNvSpPr/>
          <p:nvPr/>
        </p:nvSpPr>
        <p:spPr>
          <a:xfrm>
            <a:off x="5813971" y="6705600"/>
            <a:ext cx="544711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5" y="1604665"/>
            <a:ext cx="11338471" cy="46496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Palantir Actually Is: 운영 의사결정 플랫폼으로서의 정의</a:t>
            </a: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394335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352425" y="1085850"/>
            <a:ext cx="1156716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팔란티어의 본질은 데이터 통합, 온톨로지, 워크플로우를 결합한 운영 OS입니다.</a:t>
            </a:r>
            <a:endParaRPr lang="en-US" sz="1725" dirty="0"/>
          </a:p>
        </p:txBody>
      </p:sp>
      <p:sp>
        <p:nvSpPr>
          <p:cNvPr id="8" name="Text 3"/>
          <p:cNvSpPr/>
          <p:nvPr/>
        </p:nvSpPr>
        <p:spPr>
          <a:xfrm>
            <a:off x="5813524" y="6705600"/>
            <a:ext cx="55527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228600" y="6429375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Deployment: 배포 모델과 데이터 주권 검증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52425" y="1314450"/>
            <a:ext cx="228600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데이터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686550" y="1314450"/>
            <a:ext cx="400050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모델 및 실행 타당성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352425" y="742950"/>
            <a:ext cx="768096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보안 및 자사 운영 환경 부합성 검토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38200" y="2181225"/>
            <a:ext cx="4903440" cy="1032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외부 반출 차단 구조 확인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보안 정책에 부합하는 데이터의 외부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유출 방지 기술 구조 검증 필수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38200" y="3448050"/>
            <a:ext cx="5071021" cy="1721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세분화된 역할 기반 접근 제어(RBAC) 지원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*RBAC: 세분화된 접근 권한 관리 핵심 기술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Palantir는 세분화된 RBAC을 제공하므로,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이를 자사의 보안 정책과 연계하여 정합성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810375" y="2181225"/>
            <a:ext cx="5039618" cy="13769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배포 모델: 온프레임 vs. 프라이빗 클라우드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대형 제조 고객은 주로 On-prem 또는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Private Cloud 방식을 선택하므로, 자사의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적합성 검토 필요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810375" y="3724275"/>
            <a:ext cx="4997648" cy="1032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기술적 구축 제약 검토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 구축 시 인프라 요건, 운영 인력,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유지비용 등 실제적인 제약 사항 면밀히 검토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10375" y="4924425"/>
            <a:ext cx="5081588" cy="1032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경영진 미팅 핵심 질의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고객사의 주요 배포 모델과 데이터 접근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통제 범위 Palantir 측 직접 확인 필요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775" y="6438900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813524" y="6696075"/>
            <a:ext cx="555278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05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157" y="4368403"/>
            <a:ext cx="755898" cy="8091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565" y="2530525"/>
            <a:ext cx="743694" cy="84340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23825"/>
            <a:ext cx="11963400" cy="3734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0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Structure: 협상형 엔터프라이즈 계약 및 운영 전환 비용 구조</a:t>
            </a:r>
            <a:endParaRPr lang="en-US" sz="2625" dirty="0"/>
          </a:p>
        </p:txBody>
      </p:sp>
      <p:sp>
        <p:nvSpPr>
          <p:cNvPr id="7" name="Text 1"/>
          <p:cNvSpPr/>
          <p:nvPr/>
        </p:nvSpPr>
        <p:spPr>
          <a:xfrm>
            <a:off x="1663898" y="1428750"/>
            <a:ext cx="3206055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구성 요소 및 협상 전략</a:t>
            </a:r>
            <a:endParaRPr lang="en-US" sz="2025" dirty="0"/>
          </a:p>
        </p:txBody>
      </p:sp>
      <p:sp>
        <p:nvSpPr>
          <p:cNvPr id="8" name="Text 2"/>
          <p:cNvSpPr/>
          <p:nvPr/>
        </p:nvSpPr>
        <p:spPr>
          <a:xfrm>
            <a:off x="7133183" y="1495425"/>
            <a:ext cx="3583186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8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Bootcamp (단기 PoC)</a:t>
            </a:r>
            <a:endParaRPr lang="en-US" sz="1950" dirty="0"/>
          </a:p>
        </p:txBody>
      </p:sp>
      <p:sp>
        <p:nvSpPr>
          <p:cNvPr id="9" name="Text 3"/>
          <p:cNvSpPr/>
          <p:nvPr/>
        </p:nvSpPr>
        <p:spPr>
          <a:xfrm>
            <a:off x="6464052" y="3333750"/>
            <a:ext cx="489287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8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본계약 (Enterprise Agreement)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6798469" y="5295900"/>
            <a:ext cx="4243388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8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지속적 TCO 관리 및 운영 전환</a:t>
            </a:r>
            <a:endParaRPr lang="en-US" sz="1950" dirty="0"/>
          </a:p>
        </p:txBody>
      </p:sp>
      <p:sp>
        <p:nvSpPr>
          <p:cNvPr id="11" name="Text 5"/>
          <p:cNvSpPr/>
          <p:nvPr/>
        </p:nvSpPr>
        <p:spPr>
          <a:xfrm>
            <a:off x="352425" y="742950"/>
            <a:ext cx="11839575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TCO(총 소유 비용) 관점의 협상형 계약 및 운영 전환 비용 구조 분석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14375" y="1943100"/>
            <a:ext cx="237744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비용 성격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3333750" y="1943100"/>
            <a:ext cx="267462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TCO 및 ROI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076325" y="2362200"/>
            <a:ext cx="1896368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협상형 계약: 단순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 구독료 아닌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협상 기반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 계약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3705225" y="2362200"/>
            <a:ext cx="2011561" cy="14458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비용 핵심: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모델링 및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유지보수를 위한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전문가 내부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 투입 필요</a:t>
            </a:r>
            <a:endParaRPr lang="en-US" sz="1725" dirty="0"/>
          </a:p>
        </p:txBody>
      </p:sp>
      <p:sp>
        <p:nvSpPr>
          <p:cNvPr id="16" name="Text 10"/>
          <p:cNvSpPr/>
          <p:nvPr/>
        </p:nvSpPr>
        <p:spPr>
          <a:xfrm>
            <a:off x="1076325" y="3638550"/>
            <a:ext cx="2315468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비용 범위: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라이선스, 초기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서비스, 기술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및 확장 비용 포함</a:t>
            </a:r>
            <a:endParaRPr lang="en-US" sz="1725" dirty="0"/>
          </a:p>
        </p:txBody>
      </p:sp>
      <p:sp>
        <p:nvSpPr>
          <p:cNvPr id="17" name="Text 11"/>
          <p:cNvSpPr/>
          <p:nvPr/>
        </p:nvSpPr>
        <p:spPr>
          <a:xfrm>
            <a:off x="3705225" y="3857625"/>
            <a:ext cx="2011561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변화관리 비용: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교육 및 업무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 전환 비용 사전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산정 필요</a:t>
            </a:r>
            <a:endParaRPr lang="en-US" sz="1725" dirty="0"/>
          </a:p>
        </p:txBody>
      </p:sp>
      <p:sp>
        <p:nvSpPr>
          <p:cNvPr id="18" name="Text 12"/>
          <p:cNvSpPr/>
          <p:nvPr/>
        </p:nvSpPr>
        <p:spPr>
          <a:xfrm>
            <a:off x="598587" y="5162550"/>
            <a:ext cx="5270153" cy="9465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평가 기준</a:t>
            </a:r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‘어떤 문제를 얼마 만에 해결하는가’로 비용 정당화</a:t>
            </a:r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*(개별 협상에 따라 ACV 및 조건 상이)</a:t>
            </a:r>
            <a:endParaRPr lang="en-US" sz="1725" dirty="0"/>
          </a:p>
        </p:txBody>
      </p:sp>
      <p:sp>
        <p:nvSpPr>
          <p:cNvPr id="19" name="Text 13"/>
          <p:cNvSpPr/>
          <p:nvPr/>
        </p:nvSpPr>
        <p:spPr>
          <a:xfrm>
            <a:off x="6324600" y="1885950"/>
            <a:ext cx="5238750" cy="5783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검증 및 가능성 확인 중심의 소규모 예산 투자</a:t>
            </a:r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(e.g., &lt;$K)</a:t>
            </a:r>
            <a:endParaRPr lang="en-US" sz="1725" dirty="0"/>
          </a:p>
        </p:txBody>
      </p:sp>
      <p:sp>
        <p:nvSpPr>
          <p:cNvPr id="20" name="Text 14"/>
          <p:cNvSpPr/>
          <p:nvPr/>
        </p:nvSpPr>
        <p:spPr>
          <a:xfrm>
            <a:off x="6596509" y="3724275"/>
            <a:ext cx="4704308" cy="5783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성공 후 7-figure ACV 규모 본계약 전환</a:t>
            </a:r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*(Q3 2024 사례 확인 / 계약 조건 상이)</a:t>
            </a:r>
            <a:endParaRPr lang="en-US" sz="1725" dirty="0"/>
          </a:p>
        </p:txBody>
      </p:sp>
      <p:sp>
        <p:nvSpPr>
          <p:cNvPr id="21" name="Text 15"/>
          <p:cNvSpPr/>
          <p:nvPr/>
        </p:nvSpPr>
        <p:spPr>
          <a:xfrm>
            <a:off x="6065490" y="5676900"/>
            <a:ext cx="5699671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인력 내재화 및 온톨로지 고도화를 통한 비용 관리</a:t>
            </a:r>
            <a:endParaRPr lang="en-US" sz="1725" dirty="0"/>
          </a:p>
        </p:txBody>
      </p:sp>
      <p:sp>
        <p:nvSpPr>
          <p:cNvPr id="22" name="Text 16"/>
          <p:cNvSpPr/>
          <p:nvPr/>
        </p:nvSpPr>
        <p:spPr>
          <a:xfrm>
            <a:off x="228600" y="6467475"/>
            <a:ext cx="2057400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10"/>
              </a:lnSpc>
              <a:buNone/>
            </a:pPr>
            <a:r>
              <a:rPr lang="en-US" sz="1350" b="1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811000" y="6515100"/>
            <a:ext cx="94208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75" dirty="0"/>
          </a:p>
        </p:txBody>
      </p:sp>
      <p:sp>
        <p:nvSpPr>
          <p:cNvPr id="24" name="Text 18"/>
          <p:cNvSpPr/>
          <p:nvPr/>
        </p:nvSpPr>
        <p:spPr>
          <a:xfrm>
            <a:off x="5940177" y="6734175"/>
            <a:ext cx="282773" cy="75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94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714375" y="6238875"/>
            <a:ext cx="718185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자료: Palantir 협상 및 사례 분석, 시장 동향 (2026-04-15)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146548"/>
            <a:ext cx="707082" cy="7542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353" y="5157192"/>
            <a:ext cx="877788" cy="91201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0" y="190500"/>
            <a:ext cx="1219200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4"/>
              </a:lnSpc>
              <a:buNone/>
            </a:pPr>
            <a:r>
              <a:rPr lang="en-US" sz="23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Samsung Timeline: 전략적 신호(ignal)와 확인된 사실(Proof)의 분리</a:t>
            </a:r>
            <a:endParaRPr lang="en-US" sz="2325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39433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8" name="Text 2"/>
          <p:cNvSpPr/>
          <p:nvPr/>
        </p:nvSpPr>
        <p:spPr>
          <a:xfrm>
            <a:off x="1076325" y="2590800"/>
            <a:ext cx="1111567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57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vs. Proof 구분 원칙: 전략적 신호와 확인된 사실을 엄격히 분리하여 분석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1076325" y="2933700"/>
            <a:ext cx="980694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57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2026.02: Strong Signal - 온톨로지 채용 공고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1076325" y="3276600"/>
            <a:ext cx="7383780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DS부문 AI센터, '팔란티어 온톨로지' 명시 채용 공고 확인</a:t>
            </a:r>
            <a:endParaRPr lang="en-US" sz="1425" dirty="0"/>
          </a:p>
        </p:txBody>
      </p:sp>
      <p:sp>
        <p:nvSpPr>
          <p:cNvPr id="11" name="Text 5"/>
          <p:cNvSpPr/>
          <p:nvPr/>
        </p:nvSpPr>
        <p:spPr>
          <a:xfrm>
            <a:off x="1076325" y="4067175"/>
            <a:ext cx="11115675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00"/>
              </a:lnSpc>
              <a:buNone/>
            </a:pPr>
            <a:r>
              <a:rPr lang="en-US" sz="17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2026.03: Strong Signal - GTC 에이전트 AI 전략</a:t>
            </a:r>
            <a:endParaRPr lang="en-US" sz="1725" dirty="0"/>
          </a:p>
        </p:txBody>
      </p:sp>
      <p:sp>
        <p:nvSpPr>
          <p:cNvPr id="12" name="Text 6"/>
          <p:cNvSpPr/>
          <p:nvPr/>
        </p:nvSpPr>
        <p:spPr>
          <a:xfrm>
            <a:off x="1076325" y="4410075"/>
            <a:ext cx="9121140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트윈·에이전트 AI 전략 공식 발표, Palantir 직접 언급 없음</a:t>
            </a:r>
            <a:endParaRPr lang="en-US" sz="1425" dirty="0"/>
          </a:p>
        </p:txBody>
      </p:sp>
      <p:sp>
        <p:nvSpPr>
          <p:cNvPr id="13" name="Text 7"/>
          <p:cNvSpPr/>
          <p:nvPr/>
        </p:nvSpPr>
        <p:spPr>
          <a:xfrm>
            <a:off x="7058025" y="2933700"/>
            <a:ext cx="513397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57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2024.08: Proof - DX부문 PoC 진행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7058025" y="3276600"/>
            <a:ext cx="5133975" cy="994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783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ETNews 보도 기반, MS-Google-Palantir 3사 PoC 사실 확인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058025" y="3962400"/>
            <a:ext cx="51339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14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2024.09: Proof - 최종 파트너 MS 선정</a:t>
            </a:r>
            <a:endParaRPr lang="en-US" sz="1575" dirty="0"/>
          </a:p>
        </p:txBody>
      </p:sp>
      <p:sp>
        <p:nvSpPr>
          <p:cNvPr id="16" name="Text 10"/>
          <p:cNvSpPr/>
          <p:nvPr/>
        </p:nvSpPr>
        <p:spPr>
          <a:xfrm>
            <a:off x="7058025" y="4305300"/>
            <a:ext cx="5133975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고객응대 AI 프로젝트, Palantir 미션정 공식 확인</a:t>
            </a:r>
            <a:endParaRPr lang="en-US" sz="1425" dirty="0"/>
          </a:p>
        </p:txBody>
      </p:sp>
      <p:sp>
        <p:nvSpPr>
          <p:cNvPr id="17" name="Text 11"/>
          <p:cNvSpPr/>
          <p:nvPr/>
        </p:nvSpPr>
        <p:spPr>
          <a:xfrm>
            <a:off x="7058025" y="5038725"/>
            <a:ext cx="5133975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00"/>
              </a:lnSpc>
              <a:buNone/>
            </a:pPr>
            <a:r>
              <a:rPr lang="en-US" sz="1725" b="1" dirty="0">
                <a:solidFill>
                  <a:srgbClr val="C218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판단: 생산 도입 직접 증거 부재</a:t>
            </a:r>
            <a:endParaRPr lang="en-US" sz="1725" dirty="0"/>
          </a:p>
        </p:txBody>
      </p:sp>
      <p:sp>
        <p:nvSpPr>
          <p:cNvPr id="18" name="Text 12"/>
          <p:cNvSpPr/>
          <p:nvPr/>
        </p:nvSpPr>
        <p:spPr>
          <a:xfrm>
            <a:off x="7058025" y="5381625"/>
            <a:ext cx="5133975" cy="1049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수율 개선 성과를 Palantir 도입 결과로 단정할 공개 근거 없음</a:t>
            </a:r>
            <a:endParaRPr lang="en-US" sz="1425" dirty="0"/>
          </a:p>
        </p:txBody>
      </p:sp>
      <p:sp>
        <p:nvSpPr>
          <p:cNvPr id="19" name="Text 13"/>
          <p:cNvSpPr/>
          <p:nvPr/>
        </p:nvSpPr>
        <p:spPr>
          <a:xfrm>
            <a:off x="2095946" y="1733550"/>
            <a:ext cx="1875383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(전략적 신호)</a:t>
            </a:r>
            <a:endParaRPr lang="en-US" sz="1425" dirty="0"/>
          </a:p>
        </p:txBody>
      </p:sp>
      <p:sp>
        <p:nvSpPr>
          <p:cNvPr id="20" name="Text 14"/>
          <p:cNvSpPr/>
          <p:nvPr/>
        </p:nvSpPr>
        <p:spPr>
          <a:xfrm>
            <a:off x="8086725" y="1733550"/>
            <a:ext cx="188595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PROOF (확인된 사실)</a:t>
            </a:r>
            <a:endParaRPr lang="en-US" sz="1425" dirty="0"/>
          </a:p>
        </p:txBody>
      </p:sp>
      <p:sp>
        <p:nvSpPr>
          <p:cNvPr id="21" name="Text 15"/>
          <p:cNvSpPr/>
          <p:nvPr/>
        </p:nvSpPr>
        <p:spPr>
          <a:xfrm>
            <a:off x="1076325" y="3552825"/>
            <a:ext cx="542925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i="1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(주: 자사 파운드리 공정 내재화 의지 표출)</a:t>
            </a:r>
            <a:endParaRPr lang="en-US" sz="1425" dirty="0"/>
          </a:p>
        </p:txBody>
      </p:sp>
      <p:sp>
        <p:nvSpPr>
          <p:cNvPr id="22" name="Text 16"/>
          <p:cNvSpPr/>
          <p:nvPr/>
        </p:nvSpPr>
        <p:spPr>
          <a:xfrm>
            <a:off x="1076325" y="4676775"/>
            <a:ext cx="5029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(주: AI 인프라 고도화 방향성 제시)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58025" y="3552825"/>
            <a:ext cx="499491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i="1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(주: AI 플랫폼 성능 및 호환성 검증)</a:t>
            </a:r>
            <a:endParaRPr lang="en-US" sz="1425" dirty="0"/>
          </a:p>
        </p:txBody>
      </p:sp>
      <p:sp>
        <p:nvSpPr>
          <p:cNvPr id="24" name="Text 18"/>
          <p:cNvSpPr/>
          <p:nvPr/>
        </p:nvSpPr>
        <p:spPr>
          <a:xfrm>
            <a:off x="7058025" y="4581525"/>
            <a:ext cx="5133975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i="1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(주: 고객 경험 혁신을 위한 최적 파트너 선정)</a:t>
            </a:r>
            <a:endParaRPr lang="en-US" sz="1425" dirty="0"/>
          </a:p>
        </p:txBody>
      </p:sp>
      <p:sp>
        <p:nvSpPr>
          <p:cNvPr id="25" name="Text 19"/>
          <p:cNvSpPr/>
          <p:nvPr/>
        </p:nvSpPr>
        <p:spPr>
          <a:xfrm>
            <a:off x="7058025" y="5705475"/>
            <a:ext cx="5133975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i="1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(주: 투자 결정의 신중성 요구되는 핵심 판단 기준)</a:t>
            </a:r>
            <a:endParaRPr lang="en-US" sz="1425" dirty="0"/>
          </a:p>
        </p:txBody>
      </p:sp>
      <p:sp>
        <p:nvSpPr>
          <p:cNvPr id="26" name="Text 20"/>
          <p:cNvSpPr/>
          <p:nvPr/>
        </p:nvSpPr>
        <p:spPr>
          <a:xfrm>
            <a:off x="352425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813524" y="6705600"/>
            <a:ext cx="555278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52"/>
              </a:lnSpc>
              <a:buNone/>
            </a:pPr>
            <a:r>
              <a:rPr lang="en-US" sz="825" dirty="0">
                <a:solidFill>
                  <a:srgbClr val="BFBF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  <p:sp>
        <p:nvSpPr>
          <p:cNvPr id="28" name="Text 22"/>
          <p:cNvSpPr/>
          <p:nvPr/>
        </p:nvSpPr>
        <p:spPr>
          <a:xfrm>
            <a:off x="0" y="1085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시점별 전략적 행보와 공식적인 PoC/파트너 결과의 분리 분석 (Analyzing strategic steps vs. official PoC/partner results by time point)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142875"/>
            <a:ext cx="1126998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제조 사례: LG CNS 및 HD현대 중심 분석</a:t>
            </a:r>
            <a:endParaRPr lang="en-US" sz="2550" dirty="0"/>
          </a:p>
        </p:txBody>
      </p:sp>
      <p:sp>
        <p:nvSpPr>
          <p:cNvPr id="5" name="Text 1"/>
          <p:cNvSpPr/>
          <p:nvPr/>
        </p:nvSpPr>
        <p:spPr>
          <a:xfrm>
            <a:off x="771525" y="1495425"/>
            <a:ext cx="658368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CNS 품질관리 PoC 및 본계약 전환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572000" y="1495425"/>
            <a:ext cx="466344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HD현대 수천억 규모 그룹 계약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71525" y="2038350"/>
            <a:ext cx="517017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'26.03 공식 파트너십 발표</a:t>
            </a:r>
            <a:endParaRPr lang="en-US" sz="1725" dirty="0"/>
          </a:p>
        </p:txBody>
      </p:sp>
      <p:sp>
        <p:nvSpPr>
          <p:cNvPr id="8" name="Text 4"/>
          <p:cNvSpPr/>
          <p:nvPr/>
        </p:nvSpPr>
        <p:spPr>
          <a:xfrm>
            <a:off x="771525" y="2438400"/>
            <a:ext cx="578358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'FDE 조직 신설 및 그룹사 확장 추진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4572000" y="2038350"/>
            <a:ext cx="517017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'26.01 Reuters 보도</a:t>
            </a:r>
            <a:endParaRPr lang="en-US" sz="1725" dirty="0"/>
          </a:p>
        </p:txBody>
      </p:sp>
      <p:sp>
        <p:nvSpPr>
          <p:cNvPr id="10" name="Text 6"/>
          <p:cNvSpPr/>
          <p:nvPr/>
        </p:nvSpPr>
        <p:spPr>
          <a:xfrm>
            <a:off x="4572000" y="2438400"/>
            <a:ext cx="2996505" cy="652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'조선·정유·건설기계 계열사</a:t>
            </a:r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시스템 적용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8677275" y="1495425"/>
            <a:ext cx="351472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성과 패턴: 품질·운영 효율화 중심</a:t>
            </a:r>
            <a:endParaRPr lang="en-US" sz="1425" dirty="0"/>
          </a:p>
        </p:txBody>
      </p:sp>
      <p:sp>
        <p:nvSpPr>
          <p:cNvPr id="12" name="Text 8"/>
          <p:cNvSpPr/>
          <p:nvPr/>
        </p:nvSpPr>
        <p:spPr>
          <a:xfrm>
            <a:off x="8677275" y="2724150"/>
            <a:ext cx="3514725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→ 본계약 전환 구조 확인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77275" y="3857625"/>
            <a:ext cx="3514725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적용 시사점: LG 사례 벤치마크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677275" y="5086350"/>
            <a:ext cx="351472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제조업 도입 단계: 실험 → 본격 확산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8696325" y="1866900"/>
            <a:ext cx="2724150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'불량률 감소 및 운영 KPI 개선이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근거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696325" y="3067050"/>
            <a:ext cx="3227040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'Bootcamp 검증 후 연간 수십억 원대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Enterprise 계약 확장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696325" y="4238625"/>
            <a:ext cx="3352800" cy="4488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'품질/Q-Cost 영역 1순위 PoC 후보 설정</a:t>
            </a:r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'명확한 KPI 측정 및 검증 추진</a:t>
            </a:r>
            <a:endParaRPr lang="en-US" sz="1425" dirty="0"/>
          </a:p>
        </p:txBody>
      </p:sp>
      <p:sp>
        <p:nvSpPr>
          <p:cNvPr id="18" name="Text 14"/>
          <p:cNvSpPr/>
          <p:nvPr/>
        </p:nvSpPr>
        <p:spPr>
          <a:xfrm>
            <a:off x="8696325" y="5438775"/>
            <a:ext cx="3495675" cy="2424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'대형 제조사들의 본격적인 확산 단계 진입</a:t>
            </a:r>
            <a:endParaRPr lang="en-US" sz="1425" dirty="0"/>
          </a:p>
        </p:txBody>
      </p:sp>
      <p:sp>
        <p:nvSpPr>
          <p:cNvPr id="19" name="Text 15"/>
          <p:cNvSpPr/>
          <p:nvPr/>
        </p:nvSpPr>
        <p:spPr>
          <a:xfrm>
            <a:off x="962025" y="2771775"/>
            <a:ext cx="709422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2"/>
              </a:lnSpc>
              <a:buNone/>
            </a:pPr>
            <a:r>
              <a:rPr lang="en-US" sz="1425" i="1" dirty="0">
                <a:solidFill>
                  <a:srgbClr val="205F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*Forward Deployed Engineer 조직 신설</a:t>
            </a:r>
            <a:endParaRPr lang="en-US" sz="1425" dirty="0"/>
          </a:p>
        </p:txBody>
      </p:sp>
      <p:sp>
        <p:nvSpPr>
          <p:cNvPr id="20" name="Text 16"/>
          <p:cNvSpPr/>
          <p:nvPr/>
        </p:nvSpPr>
        <p:spPr>
          <a:xfrm>
            <a:off x="4733925" y="3067050"/>
            <a:ext cx="426720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500" i="1" dirty="0">
                <a:solidFill>
                  <a:srgbClr val="205F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*Palantir 귀속 표기 금지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1315105" y="3705225"/>
            <a:ext cx="219968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81352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467" y="2777430"/>
            <a:ext cx="780157" cy="76110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161" y="2777430"/>
            <a:ext cx="804565" cy="7542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467" y="2777430"/>
            <a:ext cx="804565" cy="74056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23825"/>
            <a:ext cx="11963400" cy="3734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0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Ontology &amp; Hiring Signal: 업계의 기술 내재화 흐름 분석</a:t>
            </a:r>
            <a:endParaRPr lang="en-US" sz="2625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8321040" cy="3491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9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경쟁사의 Palantir 기술 채용 신호 및 시사점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771525" y="2181225"/>
            <a:ext cx="806196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삼성 DS AI센터 공고 (2026.02)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4572000" y="2181225"/>
            <a:ext cx="622173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GraphRAG 기반 AI 구축 역량</a:t>
            </a:r>
            <a:endParaRPr lang="en-US" sz="1725" dirty="0"/>
          </a:p>
        </p:txBody>
      </p:sp>
      <p:sp>
        <p:nvSpPr>
          <p:cNvPr id="11" name="Text 4"/>
          <p:cNvSpPr/>
          <p:nvPr/>
        </p:nvSpPr>
        <p:spPr>
          <a:xfrm>
            <a:off x="8362950" y="2181225"/>
            <a:ext cx="382905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반도체 제조 AI 기술 정합성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771525" y="5143500"/>
            <a:ext cx="4118610" cy="2650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지원 자격 및 우대사항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4572000" y="5143500"/>
            <a:ext cx="3855720" cy="2650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시맨틱 레이어 모델링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8362950" y="5143500"/>
            <a:ext cx="3829050" cy="2650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7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자사 POC 방향 설정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895350" y="3990975"/>
            <a:ext cx="2944118" cy="524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팔란티어 온톨로지(Ontology)</a:t>
            </a:r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명시 확인</a:t>
            </a:r>
            <a:endParaRPr lang="en-US" sz="1575" dirty="0"/>
          </a:p>
        </p:txBody>
      </p:sp>
      <p:sp>
        <p:nvSpPr>
          <p:cNvPr id="16" name="Text 9"/>
          <p:cNvSpPr/>
          <p:nvPr/>
        </p:nvSpPr>
        <p:spPr>
          <a:xfrm>
            <a:off x="895350" y="5467350"/>
            <a:ext cx="3394621" cy="4991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지식 그래프(Knowledge Graph) 및</a:t>
            </a:r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모델링 역량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4772025" y="4438650"/>
            <a:ext cx="3237458" cy="524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지식 그래프 기반 RAG 구축 역량을</a:t>
            </a:r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직무로 요구</a:t>
            </a:r>
            <a:endParaRPr lang="en-US" sz="1575" dirty="0"/>
          </a:p>
        </p:txBody>
      </p:sp>
      <p:sp>
        <p:nvSpPr>
          <p:cNvPr id="18" name="Text 11"/>
          <p:cNvSpPr/>
          <p:nvPr/>
        </p:nvSpPr>
        <p:spPr>
          <a:xfrm>
            <a:off x="4772025" y="5467350"/>
            <a:ext cx="3384203" cy="524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제조 데이터의 시맨틱 데이터 모델링</a:t>
            </a:r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거버넌스</a:t>
            </a:r>
            <a:endParaRPr lang="en-US" sz="1575" dirty="0"/>
          </a:p>
        </p:txBody>
      </p:sp>
      <p:sp>
        <p:nvSpPr>
          <p:cNvPr id="19" name="Text 12"/>
          <p:cNvSpPr/>
          <p:nvPr/>
        </p:nvSpPr>
        <p:spPr>
          <a:xfrm>
            <a:off x="8648700" y="4438650"/>
            <a:ext cx="3017490" cy="4991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Palantir 핵심 기술과 삼성 반도체</a:t>
            </a:r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AI 전략의 연결 확인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648700" y="5467350"/>
            <a:ext cx="3090863" cy="4991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경쟁사의 자체 구축 흐름을 고려한</a:t>
            </a:r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POC 방향 재검토 필요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95350" y="4705350"/>
            <a:ext cx="6225540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7"/>
              </a:lnSpc>
              <a:buNone/>
            </a:pPr>
            <a:r>
              <a:rPr lang="en-US" sz="1425" b="1" i="1" dirty="0">
                <a:solidFill>
                  <a:srgbClr val="204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caveat: Palantir 도입 확정은 아님</a:t>
            </a:r>
            <a:endParaRPr lang="en-US" sz="1425" dirty="0"/>
          </a:p>
        </p:txBody>
      </p:sp>
      <p:sp>
        <p:nvSpPr>
          <p:cNvPr id="22" name="Text 15"/>
          <p:cNvSpPr/>
          <p:nvPr/>
        </p:nvSpPr>
        <p:spPr>
          <a:xfrm>
            <a:off x="1359694" y="1685925"/>
            <a:ext cx="1938337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공고 분석 (DS부문)</a:t>
            </a:r>
            <a:endParaRPr lang="en-US" sz="1275" dirty="0"/>
          </a:p>
        </p:txBody>
      </p:sp>
      <p:sp>
        <p:nvSpPr>
          <p:cNvPr id="23" name="Text 16"/>
          <p:cNvSpPr/>
          <p:nvPr/>
        </p:nvSpPr>
        <p:spPr>
          <a:xfrm>
            <a:off x="5339655" y="1685925"/>
            <a:ext cx="155064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요구사항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223921" y="1685925"/>
            <a:ext cx="1382911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전략적 합의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66725" y="6467475"/>
            <a:ext cx="205740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71525" y="6248400"/>
            <a:ext cx="6240780" cy="1573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삼성 DS부문 AI센터 채용 공고 (2026.02) 분석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876925" y="6715125"/>
            <a:ext cx="4191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6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60182"/>
            <a:ext cx="268188" cy="2399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" y="142875"/>
            <a:ext cx="1196340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적용 가능 영역 탐색 / Explore Internal Applicability Areas</a:t>
            </a:r>
            <a:endParaRPr lang="en-US" sz="2325" dirty="0"/>
          </a:p>
        </p:txBody>
      </p:sp>
      <p:sp>
        <p:nvSpPr>
          <p:cNvPr id="5" name="Text 1"/>
          <p:cNvSpPr/>
          <p:nvPr/>
        </p:nvSpPr>
        <p:spPr>
          <a:xfrm>
            <a:off x="714375" y="2295525"/>
            <a:ext cx="296510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품질 및 Q-Cost (Quality &amp;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Q-Cost): 1순위 타겟 영역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4533900" y="2295525"/>
            <a:ext cx="30908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SCM 병목 가시화 (SCM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Bottleneck Visualization):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8334375" y="2295525"/>
            <a:ext cx="3656558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영역별 재무 임팩트 비교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(Financial Impact Comparison):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14375" y="4305300"/>
            <a:ext cx="325844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생산 이상 탐지 및 원인 분석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(Anomaly Detection &amp; RCA):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533900" y="4305300"/>
            <a:ext cx="296510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설비 예지보전 (Predictive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Maintenance) 가능성: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334375" y="4371975"/>
            <a:ext cx="3268861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POC (Proof of Concept) 영역</a:t>
            </a:r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기준 요약: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3163639" y="1485900"/>
            <a:ext cx="5835848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적용 가능 영역 분석 (Key Applicability Areas Analysis)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962025" y="2867025"/>
            <a:ext cx="3405188" cy="1032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불량률 (Defect Rate) 및 재작업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(Rework) 비용 절감 효과 측정이 명확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LG CNS 제조 데이터 분석 사례와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연결 *데이터 품질 확보 필수*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4772025" y="2867025"/>
            <a:ext cx="3279428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자재·생산·납기 데이터 통합으로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구간 식별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재고 손실 최소화 및 효율 증대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*데이터 Silo 극복 과제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8696325" y="2867025"/>
            <a:ext cx="3279428" cy="11675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품질·생산 영역이 단기 ROI (Return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Investment) 최상위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SCM·R&amp;D는 데이터 준비도 부족으로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후순위 배정 *R&amp;D 데이터 보안 및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Ontology 구축 난이도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962025" y="4857750"/>
            <a:ext cx="3216473" cy="9828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공정 데이터 연계로 불량 근본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규명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수동 분석 대비 분석 시간 단축 기대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*다기종 설비 데이터 통합 난이도 고려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72025" y="4857750"/>
            <a:ext cx="3216473" cy="11675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센서 데이터 접근성 향호 영역에서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 검증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설비 다운타임 비용 절감 효과 증기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가능성 *센서 설치 및 데이터 신뢰성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필요</a:t>
            </a:r>
            <a:endParaRPr lang="en-US" sz="1425" dirty="0"/>
          </a:p>
        </p:txBody>
      </p:sp>
      <p:sp>
        <p:nvSpPr>
          <p:cNvPr id="17" name="Text 13"/>
          <p:cNvSpPr/>
          <p:nvPr/>
        </p:nvSpPr>
        <p:spPr>
          <a:xfrm>
            <a:off x="8696325" y="4857750"/>
            <a:ext cx="3373636" cy="12285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재무 임팩트, 단기 검증, 데이터 접근성,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 가능성 4개 축으로 우선순위 결정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신뢰성 및 변화 관리 역량 추가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 *성공적인 POC를 위한 핵심 성공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요인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6725" y="6248400"/>
            <a:ext cx="1172527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4848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[출처: Palantir 제품 사양서, LGD 내부 분석 자료 / Sources: Palantir Spec Sheet, LGD Internal Analysis]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466725" y="648652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75883" y="6715125"/>
            <a:ext cx="439936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988" y="4327327"/>
            <a:ext cx="329059" cy="4388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75" y="4327327"/>
            <a:ext cx="365671" cy="43889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988" y="4327327"/>
            <a:ext cx="304800" cy="4388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00025" y="123825"/>
            <a:ext cx="11991975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8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 Candidate Matrix: 품질/Q-Cost 중심의 POC 우선순위 제안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2172146" y="3276600"/>
            <a:ext cx="198983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98"/>
              </a:lnSpc>
              <a:buNone/>
            </a:pPr>
            <a:r>
              <a:rPr lang="en-US" sz="24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475" dirty="0"/>
          </a:p>
        </p:txBody>
      </p:sp>
      <p:sp>
        <p:nvSpPr>
          <p:cNvPr id="9" name="Text 2"/>
          <p:cNvSpPr/>
          <p:nvPr/>
        </p:nvSpPr>
        <p:spPr>
          <a:xfrm>
            <a:off x="6010275" y="3276600"/>
            <a:ext cx="209550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80"/>
              </a:lnSpc>
              <a:buNone/>
            </a:pPr>
            <a:r>
              <a:rPr lang="en-US" sz="25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3"/>
          <p:cNvSpPr/>
          <p:nvPr/>
        </p:nvSpPr>
        <p:spPr>
          <a:xfrm>
            <a:off x="9848255" y="3276600"/>
            <a:ext cx="219968" cy="3737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3"/>
              </a:lnSpc>
              <a:buNone/>
            </a:pPr>
            <a:r>
              <a:rPr lang="en-US" sz="27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700" dirty="0"/>
          </a:p>
        </p:txBody>
      </p:sp>
      <p:sp>
        <p:nvSpPr>
          <p:cNvPr id="11" name="Text 4"/>
          <p:cNvSpPr/>
          <p:nvPr/>
        </p:nvSpPr>
        <p:spPr>
          <a:xfrm>
            <a:off x="352425" y="742950"/>
            <a:ext cx="109956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임팩트 및 검증 가능성에 기반한 최우선 PoC 추진 영역 선정</a:t>
            </a:r>
            <a:endParaRPr lang="en-US" sz="1950" dirty="0"/>
          </a:p>
        </p:txBody>
      </p:sp>
      <p:sp>
        <p:nvSpPr>
          <p:cNvPr id="12" name="Text 5"/>
          <p:cNvSpPr/>
          <p:nvPr/>
        </p:nvSpPr>
        <p:spPr>
          <a:xfrm>
            <a:off x="4576763" y="1647825"/>
            <a:ext cx="303847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우선순위 제안 및 평가 기준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828080" y="2457450"/>
            <a:ext cx="294411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1순위: 품질/Q-Cost (최우선 권고)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5172075" y="2457450"/>
            <a:ext cx="188595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2순위: 생산 이상 탐지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689181" y="2457450"/>
            <a:ext cx="2462213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3순위 이하: 설비 예지보전 등</a:t>
            </a:r>
            <a:endParaRPr lang="en-US" sz="1425" dirty="0"/>
          </a:p>
        </p:txBody>
      </p:sp>
      <p:sp>
        <p:nvSpPr>
          <p:cNvPr id="16" name="Text 9"/>
          <p:cNvSpPr/>
          <p:nvPr/>
        </p:nvSpPr>
        <p:spPr>
          <a:xfrm>
            <a:off x="752921" y="4238625"/>
            <a:ext cx="1246733" cy="58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 보유</a:t>
            </a:r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(불량률 15%↓)</a:t>
            </a:r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제작업비 절감</a:t>
            </a:r>
            <a:endParaRPr lang="en-US" sz="1275" dirty="0"/>
          </a:p>
        </p:txBody>
      </p:sp>
      <p:sp>
        <p:nvSpPr>
          <p:cNvPr id="17" name="Text 10"/>
          <p:cNvSpPr/>
          <p:nvPr/>
        </p:nvSpPr>
        <p:spPr>
          <a:xfrm>
            <a:off x="4507706" y="4343400"/>
            <a:ext cx="1414463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임팩트 대</a:t>
            </a:r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연결성 중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399115" y="4343400"/>
            <a:ext cx="1299121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접근성 저</a:t>
            </a:r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검증 어려움</a:t>
            </a:r>
            <a:endParaRPr lang="en-US" sz="1275" dirty="0"/>
          </a:p>
        </p:txBody>
      </p:sp>
      <p:sp>
        <p:nvSpPr>
          <p:cNvPr id="19" name="Text 12"/>
          <p:cNvSpPr/>
          <p:nvPr/>
        </p:nvSpPr>
        <p:spPr>
          <a:xfrm>
            <a:off x="413742" y="5162550"/>
            <a:ext cx="3887093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성정 근거: 명확한 KPI, LG 외부 사례, 데이터 연결 용이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목표: 3개월 내 불량 15%, 원인 분석 시간 50%↓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인자 3개 이상 도출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366617" y="5162550"/>
            <a:ext cx="3258443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성정 근거: 재무 효과는 크나 실행 장벽 존재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목표: 생산 데이터 연동 및 원인 인자 도출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173789" y="5162550"/>
            <a:ext cx="33212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성정 근거: 낮은 데이터 준비도 또는 검증 가능성</a:t>
            </a:r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목표: 데이터 수집 및 분석 가능성 탐색</a:t>
            </a:r>
            <a:endParaRPr lang="en-US" sz="1125" dirty="0"/>
          </a:p>
        </p:txBody>
      </p:sp>
      <p:sp>
        <p:nvSpPr>
          <p:cNvPr id="22" name="Text 15"/>
          <p:cNvSpPr/>
          <p:nvPr/>
        </p:nvSpPr>
        <p:spPr>
          <a:xfrm>
            <a:off x="466725" y="6505575"/>
            <a:ext cx="1828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685925" y="6524625"/>
            <a:ext cx="475488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3"/>
              </a:lnSpc>
              <a:buNone/>
            </a:pPr>
            <a:r>
              <a:rPr lang="en-US" sz="97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LG CNS 품질관리 PoC 성공 사례 기반</a:t>
            </a:r>
            <a:endParaRPr lang="en-US" sz="975" dirty="0"/>
          </a:p>
        </p:txBody>
      </p:sp>
      <p:sp>
        <p:nvSpPr>
          <p:cNvPr id="24" name="Text 17"/>
          <p:cNvSpPr/>
          <p:nvPr/>
        </p:nvSpPr>
        <p:spPr>
          <a:xfrm>
            <a:off x="5876925" y="6715125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  <p:sp>
        <p:nvSpPr>
          <p:cNvPr id="25" name="Text 18"/>
          <p:cNvSpPr/>
          <p:nvPr/>
        </p:nvSpPr>
        <p:spPr>
          <a:xfrm>
            <a:off x="2698849" y="4695825"/>
            <a:ext cx="974378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*직접 연계 사례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6275933" y="4695825"/>
            <a:ext cx="1487686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*변화관리 부담 차선 배치</a:t>
            </a:r>
            <a:endParaRPr lang="en-US" sz="975" dirty="0"/>
          </a:p>
        </p:txBody>
      </p:sp>
      <p:sp>
        <p:nvSpPr>
          <p:cNvPr id="27" name="Text 20"/>
          <p:cNvSpPr/>
          <p:nvPr/>
        </p:nvSpPr>
        <p:spPr>
          <a:xfrm>
            <a:off x="10083998" y="4533900"/>
            <a:ext cx="1529655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(설비 예지보전, SCM, R&amp;D)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139363" y="4695825"/>
            <a:ext cx="136207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*단기 검증 불가 후순위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" y="123825"/>
            <a:ext cx="1196340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Meeting Ask &amp; Final Recommendation: 검증 중심의 미팅 운영 전략</a:t>
            </a:r>
            <a:endParaRPr lang="en-US" sz="2325" dirty="0"/>
          </a:p>
        </p:txBody>
      </p:sp>
      <p:sp>
        <p:nvSpPr>
          <p:cNvPr id="5" name="Text 1"/>
          <p:cNvSpPr/>
          <p:nvPr/>
        </p:nvSpPr>
        <p:spPr>
          <a:xfrm>
            <a:off x="1019175" y="2114550"/>
            <a:ext cx="480060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레퍼런스 성과 수치 요구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266825" y="2505075"/>
            <a:ext cx="4704308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LG/HD현대 사례의 공개 가능한 운영 KPI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수치 확인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019175" y="3343275"/>
            <a:ext cx="352044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배포 모델 명확화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266825" y="3724275"/>
            <a:ext cx="4997648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제조 고객의 On-prem/Private Cloud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이유 검증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019175" y="4600575"/>
            <a:ext cx="416052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내부 공수 실측 요청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266825" y="4991100"/>
            <a:ext cx="5060603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온톨로지 구축 시 고객사 내부 실제 투입 공수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 파악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448425" y="2114550"/>
            <a:ext cx="416052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비용 전환 구조 확인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686550" y="2505075"/>
            <a:ext cx="4934843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PoC→본계약 전환 기간 및 단계별 비용 상승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질의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6448425" y="3343275"/>
            <a:ext cx="5743575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품질/Q-Cost POC 성과 약속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86550" y="3724275"/>
            <a:ext cx="3960465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내 품질 영역에서 검증 가능한</a:t>
            </a:r>
            <a:pPr indent="0" marL="0">
              <a:lnSpc>
                <a:spcPts val="23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성과 범위 제시 요청</a:t>
            </a:r>
            <a:endParaRPr lang="en-US" sz="1875" dirty="0"/>
          </a:p>
        </p:txBody>
      </p:sp>
      <p:sp>
        <p:nvSpPr>
          <p:cNvPr id="15" name="Text 11"/>
          <p:cNvSpPr/>
          <p:nvPr/>
        </p:nvSpPr>
        <p:spPr>
          <a:xfrm>
            <a:off x="6448425" y="4600575"/>
            <a:ext cx="5743575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미팅 직후 POC 정의서 도출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686550" y="4991100"/>
            <a:ext cx="4358580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결과 기반으로 KPI·범위·기간 포함</a:t>
            </a:r>
            <a:pPr indent="0" marL="0">
              <a:lnSpc>
                <a:spcPts val="23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정의서 즉시 작성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352425" y="742950"/>
            <a:ext cx="5715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미팅 요청 및 향후 로드맵 제안</a:t>
            </a:r>
            <a:endParaRPr lang="en-US" sz="1875" dirty="0"/>
          </a:p>
        </p:txBody>
      </p:sp>
      <p:sp>
        <p:nvSpPr>
          <p:cNvPr id="18" name="Text 14"/>
          <p:cNvSpPr/>
          <p:nvPr/>
        </p:nvSpPr>
        <p:spPr>
          <a:xfrm>
            <a:off x="590550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13971" y="6715125"/>
            <a:ext cx="544711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590550" y="6153150"/>
            <a:ext cx="794385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1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LGD 내부 Palantir 검토 테스크포스 (2026-04-15)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2026-04-15T06:29:49Z</dcterms:created>
  <dcterms:modified xsi:type="dcterms:W3CDTF">2026-04-15T06:29:49Z</dcterms:modified>
</cp:coreProperties>
</file>