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225" y="466725"/>
            <a:ext cx="7093148" cy="10057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2026-04-10 AI Updates Weekly</a:t>
            </a:r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리뷰: 에이전트 운영 계층의 부상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933575" y="2047875"/>
            <a:ext cx="4222403" cy="9135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인텔리전스를 넘은 운영의 부상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변화의 본질은 에이전트 실행·관리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인프라의 성숙에 집중됨</a:t>
            </a:r>
            <a:endParaRPr lang="en-US" sz="1725" dirty="0"/>
          </a:p>
        </p:txBody>
      </p:sp>
      <p:sp>
        <p:nvSpPr>
          <p:cNvPr id="5" name="Text 2"/>
          <p:cNvSpPr/>
          <p:nvPr/>
        </p:nvSpPr>
        <p:spPr>
          <a:xfrm>
            <a:off x="1933575" y="3533775"/>
            <a:ext cx="4327178" cy="7545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High-Signal 4대 업데이트 집중 분석</a:t>
            </a:r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 Managed Agents, Claude +</a:t>
            </a:r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1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Microsoft 365 Connector, Cursor 3, Gemma 4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933575" y="5095875"/>
            <a:ext cx="3499396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조립형 스택의 성장 증거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MemPalace·Obsidian RAG·OpenClaw 등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 생태계의 급격한 확장</a:t>
            </a:r>
            <a:endParaRPr lang="en-US" sz="1275" dirty="0"/>
          </a:p>
        </p:txBody>
      </p:sp>
      <p:sp>
        <p:nvSpPr>
          <p:cNvPr id="7" name="Text 4"/>
          <p:cNvSpPr/>
          <p:nvPr/>
        </p:nvSpPr>
        <p:spPr>
          <a:xfrm>
            <a:off x="7620000" y="2047875"/>
            <a:ext cx="3572768" cy="7411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폐쇄형 전략과 거버넌스 리스크</a:t>
            </a:r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 Muse Spark 및 Anthropic Mythos Preview</a:t>
            </a:r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및 Pentagon Dispute가 시사하는 공급망</a:t>
            </a:r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우려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20000" y="3552825"/>
            <a:ext cx="3415605" cy="6750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노동시장 혼합 신호 균형 분석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감원 지속과 소프트웨어 채용 회복세의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공존 및 기술 역량 변화</a:t>
            </a:r>
            <a:endParaRPr lang="en-US" sz="1275" dirty="0"/>
          </a:p>
        </p:txBody>
      </p:sp>
      <p:sp>
        <p:nvSpPr>
          <p:cNvPr id="9" name="Text 6"/>
          <p:cNvSpPr/>
          <p:nvPr/>
        </p:nvSpPr>
        <p:spPr>
          <a:xfrm>
            <a:off x="7620000" y="5095875"/>
            <a:ext cx="3467993" cy="8340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30~90일 실무 대응 제언 포함</a:t>
            </a:r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엔지니어링·PM·전략팀별 구체적이고</a:t>
            </a:r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가능한 액션 아이템 제시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1933575" y="3886200"/>
            <a:ext cx="4410968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 Managed Agents, Claude +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Microsoft 365 Connector, Cursor 3, Gemma 4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 주요 기술 스택 변화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806505" y="6362700"/>
            <a:ext cx="538534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75"/>
              </a:lnSpc>
              <a:buNone/>
            </a:pPr>
            <a:r>
              <a:rPr lang="en-US" sz="975" i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참조: 주간 AI 뉴스 심층 분석 리포트 및 관련 기술 문서</a:t>
            </a:r>
            <a:pPr algn="r" indent="0" marL="0">
              <a:lnSpc>
                <a:spcPts val="975"/>
              </a:lnSpc>
              <a:buNone/>
            </a:pPr>
            <a:r>
              <a:rPr lang="en-US" sz="975" i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975"/>
              </a:lnSpc>
              <a:buNone/>
            </a:pPr>
            <a:r>
              <a:rPr lang="en-US" sz="975" i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(Source notes, Deep research report, Memo, Creator slide extract, Prompt packet)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0153650" y="6019800"/>
            <a:ext cx="148768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전체본부 / 2026. 04. 10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859" y="4039344"/>
            <a:ext cx="597396" cy="59650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165" y="4039344"/>
            <a:ext cx="597396" cy="56227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3" y="4100959"/>
            <a:ext cx="597396" cy="45258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859" y="1947565"/>
            <a:ext cx="597396" cy="56227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2165" y="1947565"/>
            <a:ext cx="585192" cy="56227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063" y="1968103"/>
            <a:ext cx="585192" cy="5143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142875"/>
            <a:ext cx="1190625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이번 주 변화 요약: 모델 성능에서 운영 인프라로의 전이 / Weekly Shift Summary</a:t>
            </a:r>
            <a:endParaRPr lang="en-US" sz="2325" dirty="0"/>
          </a:p>
        </p:txBody>
      </p:sp>
      <p:sp>
        <p:nvSpPr>
          <p:cNvPr id="11" name="Text 1"/>
          <p:cNvSpPr/>
          <p:nvPr/>
        </p:nvSpPr>
        <p:spPr>
          <a:xfrm>
            <a:off x="323850" y="781050"/>
            <a:ext cx="1186815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중심에서 '에이전트 운영'과 '엔터프라이즈 인프라'로의 핵심 전이</a:t>
            </a:r>
            <a:endParaRPr lang="en-US" sz="2100" dirty="0"/>
          </a:p>
        </p:txBody>
      </p:sp>
      <p:sp>
        <p:nvSpPr>
          <p:cNvPr id="12" name="Text 2"/>
          <p:cNvSpPr/>
          <p:nvPr/>
        </p:nvSpPr>
        <p:spPr>
          <a:xfrm>
            <a:off x="323850" y="1104900"/>
            <a:ext cx="1156716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88"/>
              </a:lnSpc>
              <a:buNone/>
            </a:pPr>
            <a:r>
              <a:rPr lang="en-US" sz="1725" b="1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Shift towards Agent Ops and Enterprise Infra</a:t>
            </a:r>
            <a:endParaRPr lang="en-US" sz="1725" dirty="0"/>
          </a:p>
        </p:txBody>
      </p:sp>
      <p:sp>
        <p:nvSpPr>
          <p:cNvPr id="13" name="Text 3"/>
          <p:cNvSpPr/>
          <p:nvPr/>
        </p:nvSpPr>
        <p:spPr>
          <a:xfrm>
            <a:off x="685800" y="2581275"/>
            <a:ext cx="3803303" cy="5640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Anthropic Managed Agents:</a:t>
            </a:r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1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호출에서 관리형 서비스로 전환</a:t>
            </a:r>
            <a:endParaRPr lang="en-US" sz="1575" dirty="0"/>
          </a:p>
        </p:txBody>
      </p:sp>
      <p:sp>
        <p:nvSpPr>
          <p:cNvPr id="14" name="Text 4"/>
          <p:cNvSpPr/>
          <p:nvPr/>
        </p:nvSpPr>
        <p:spPr>
          <a:xfrm>
            <a:off x="4495800" y="2581275"/>
            <a:ext cx="3038475" cy="926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Cursor 3: 코드 편집기에서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오케스트레이션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워크스페이스로 진화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8420100" y="2581275"/>
            <a:ext cx="3509963" cy="76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09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Muse Spark-Mythos Preview:</a:t>
            </a:r>
            <a:pPr indent="0" marL="0">
              <a:lnSpc>
                <a:spcPts val="2009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생태계 락인 및 고위험 시장</a:t>
            </a:r>
            <a:pPr indent="0" marL="0">
              <a:lnSpc>
                <a:spcPts val="2009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09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선점 시도</a:t>
            </a:r>
            <a:endParaRPr lang="en-US" sz="1425" dirty="0"/>
          </a:p>
        </p:txBody>
      </p:sp>
      <p:sp>
        <p:nvSpPr>
          <p:cNvPr id="16" name="Text 6"/>
          <p:cNvSpPr/>
          <p:nvPr/>
        </p:nvSpPr>
        <p:spPr>
          <a:xfrm>
            <a:off x="685800" y="4695825"/>
            <a:ext cx="3761333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Claude M365 커넥터: 업무 전용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연결로 기업 도입 교두보 마련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4495800" y="4695825"/>
            <a:ext cx="3604171" cy="8862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Gemma 4-MemPalace: 폐쇄형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대안으로 조립 가능한 로컬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생태계 성장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8420100" y="4695825"/>
            <a:ext cx="3258443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Pentagon 분쟁·감원 지속 속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SW 직군 채용 회복세 공존</a:t>
            </a:r>
            <a:endParaRPr lang="en-US" sz="1725" dirty="0"/>
          </a:p>
        </p:txBody>
      </p:sp>
      <p:sp>
        <p:nvSpPr>
          <p:cNvPr id="19" name="Text 9"/>
          <p:cNvSpPr/>
          <p:nvPr/>
        </p:nvSpPr>
        <p:spPr>
          <a:xfrm>
            <a:off x="285750" y="6467475"/>
            <a:ext cx="2171700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5"/>
              </a:lnSpc>
              <a:buNone/>
            </a:pPr>
            <a:r>
              <a:rPr lang="en-US" sz="142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425" dirty="0"/>
          </a:p>
        </p:txBody>
      </p:sp>
      <p:sp>
        <p:nvSpPr>
          <p:cNvPr id="20" name="Text 10"/>
          <p:cNvSpPr/>
          <p:nvPr/>
        </p:nvSpPr>
        <p:spPr>
          <a:xfrm>
            <a:off x="0" y="6105525"/>
            <a:ext cx="1219200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i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2026-04-10 주간 AI 업데이트 보고서 (Anthropic Managed Agents, Claude M365 Connector, Cursor 3, Gemma 4, Muse Spark 등)</a:t>
            </a:r>
            <a:endParaRPr lang="en-US" sz="1425" dirty="0"/>
          </a:p>
        </p:txBody>
      </p:sp>
      <p:sp>
        <p:nvSpPr>
          <p:cNvPr id="21" name="Text 11"/>
          <p:cNvSpPr/>
          <p:nvPr/>
        </p:nvSpPr>
        <p:spPr>
          <a:xfrm>
            <a:off x="5870674" y="6705600"/>
            <a:ext cx="55527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596" y="5349180"/>
            <a:ext cx="658267" cy="58965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596" y="3470077"/>
            <a:ext cx="658267" cy="6445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7263" y="1625203"/>
            <a:ext cx="585192" cy="60349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69" y="5650855"/>
            <a:ext cx="390079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361" y="5013127"/>
            <a:ext cx="438894" cy="411361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157" y="4327327"/>
            <a:ext cx="451098" cy="45943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0157" y="3607296"/>
            <a:ext cx="451098" cy="459432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23825"/>
            <a:ext cx="11963400" cy="3897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9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운영 계층(Agent Operating Layer)의 정의와 구성</a:t>
            </a:r>
            <a:endParaRPr lang="en-US" sz="2325" dirty="0"/>
          </a:p>
        </p:txBody>
      </p:sp>
      <p:sp>
        <p:nvSpPr>
          <p:cNvPr id="12" name="Text 1"/>
          <p:cNvSpPr/>
          <p:nvPr/>
        </p:nvSpPr>
        <p:spPr>
          <a:xfrm>
            <a:off x="352425" y="742950"/>
            <a:ext cx="713232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08"/>
              </a:lnSpc>
              <a:buNone/>
            </a:pPr>
            <a:r>
              <a:rPr lang="en-US" sz="19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지능의 현실 구현: 운영 인프라의 부상</a:t>
            </a:r>
            <a:endParaRPr lang="en-US" sz="1950" dirty="0"/>
          </a:p>
        </p:txBody>
      </p:sp>
      <p:sp>
        <p:nvSpPr>
          <p:cNvPr id="13" name="Text 2"/>
          <p:cNvSpPr/>
          <p:nvPr/>
        </p:nvSpPr>
        <p:spPr>
          <a:xfrm>
            <a:off x="771525" y="1495425"/>
            <a:ext cx="446913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계층의 정의 및 주요 역할</a:t>
            </a:r>
            <a:endParaRPr lang="en-US" sz="1725" dirty="0"/>
          </a:p>
        </p:txBody>
      </p:sp>
      <p:sp>
        <p:nvSpPr>
          <p:cNvPr id="14" name="Text 3"/>
          <p:cNvSpPr/>
          <p:nvPr/>
        </p:nvSpPr>
        <p:spPr>
          <a:xfrm>
            <a:off x="771525" y="3067050"/>
            <a:ext cx="289179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핵심 기능 상세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7296150" y="1562100"/>
            <a:ext cx="489585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모델 계층 (Model Layer)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7296150" y="3314700"/>
            <a:ext cx="489585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운영 계층 (Operating Layer)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7296150" y="5267325"/>
            <a:ext cx="4895850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애플리케이션 계층 (Application Layer)</a:t>
            </a:r>
            <a:endParaRPr lang="en-US" sz="1725" dirty="0"/>
          </a:p>
        </p:txBody>
      </p:sp>
      <p:sp>
        <p:nvSpPr>
          <p:cNvPr id="18" name="Text 7"/>
          <p:cNvSpPr/>
          <p:nvPr/>
        </p:nvSpPr>
        <p:spPr>
          <a:xfrm>
            <a:off x="771525" y="1905000"/>
            <a:ext cx="5584478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모델의 지능을 실제 작업으로 변환하는 기술 스택.</a:t>
            </a:r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에이전트의 안정적 작동과 스케일링을 위한 필수 인프라.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1381125" y="3552825"/>
            <a:ext cx="3908078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관리형 실행 (Managed Execution):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유지·실패 복구 자동화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1381125" y="4305300"/>
            <a:ext cx="3258443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계층 (Memory Layer):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장단기 기억 통합 관리</a:t>
            </a:r>
            <a:endParaRPr lang="en-US" sz="1650" dirty="0"/>
          </a:p>
        </p:txBody>
      </p:sp>
      <p:sp>
        <p:nvSpPr>
          <p:cNvPr id="21" name="Text 10"/>
          <p:cNvSpPr/>
          <p:nvPr/>
        </p:nvSpPr>
        <p:spPr>
          <a:xfrm>
            <a:off x="1381125" y="5057775"/>
            <a:ext cx="553212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연결 (API, DB, 파일 커넥터</a:t>
            </a:r>
            <a:endParaRPr lang="en-US" sz="1650" dirty="0"/>
          </a:p>
        </p:txBody>
      </p:sp>
      <p:sp>
        <p:nvSpPr>
          <p:cNvPr id="22" name="Text 11"/>
          <p:cNvSpPr/>
          <p:nvPr/>
        </p:nvSpPr>
        <p:spPr>
          <a:xfrm>
            <a:off x="1381125" y="5638800"/>
            <a:ext cx="4431953" cy="603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축 이동: 누가 더 안정적으로 에이전트를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운영·통제하는가가 승부처</a:t>
            </a:r>
            <a:endParaRPr lang="en-US" sz="1650" dirty="0"/>
          </a:p>
        </p:txBody>
      </p:sp>
      <p:sp>
        <p:nvSpPr>
          <p:cNvPr id="23" name="Text 12"/>
          <p:cNvSpPr/>
          <p:nvPr/>
        </p:nvSpPr>
        <p:spPr>
          <a:xfrm>
            <a:off x="7296150" y="1905000"/>
            <a:ext cx="4442371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지능 및 언어 처리 (e.g., Anthropic Managed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Agents, Claude 3)</a:t>
            </a:r>
            <a:endParaRPr lang="en-US" sz="1500" dirty="0"/>
          </a:p>
        </p:txBody>
      </p:sp>
      <p:sp>
        <p:nvSpPr>
          <p:cNvPr id="24" name="Text 13"/>
          <p:cNvSpPr/>
          <p:nvPr/>
        </p:nvSpPr>
        <p:spPr>
          <a:xfrm>
            <a:off x="7296150" y="3657600"/>
            <a:ext cx="3708946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통합 기능: 실행, 기억, 연결, 제어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세션 관리 및 오류 복구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접근 권한 제어 (최소 권한 적용)</a:t>
            </a:r>
            <a:endParaRPr lang="en-US" sz="1500" dirty="0"/>
          </a:p>
        </p:txBody>
      </p:sp>
      <p:sp>
        <p:nvSpPr>
          <p:cNvPr id="25" name="Text 14"/>
          <p:cNvSpPr/>
          <p:nvPr/>
        </p:nvSpPr>
        <p:spPr>
          <a:xfrm>
            <a:off x="7296150" y="5610225"/>
            <a:ext cx="310128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사용자 워크플로우 및 UI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(e.g., Cursor 3, Claude Code)</a:t>
            </a:r>
            <a:endParaRPr lang="en-US" sz="1500" dirty="0"/>
          </a:p>
        </p:txBody>
      </p:sp>
      <p:sp>
        <p:nvSpPr>
          <p:cNvPr id="26" name="Text 15"/>
          <p:cNvSpPr/>
          <p:nvPr/>
        </p:nvSpPr>
        <p:spPr>
          <a:xfrm>
            <a:off x="5838825" y="6705600"/>
            <a:ext cx="1028700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32"/>
              </a:lnSpc>
              <a:buNone/>
            </a:pPr>
            <a:r>
              <a:rPr lang="en-US" sz="675" dirty="0">
                <a:solidFill>
                  <a:srgbClr val="6E6E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  <p:sp>
        <p:nvSpPr>
          <p:cNvPr id="27" name="Text 16"/>
          <p:cNvSpPr/>
          <p:nvPr/>
        </p:nvSpPr>
        <p:spPr>
          <a:xfrm>
            <a:off x="104775" y="6467475"/>
            <a:ext cx="2286000" cy="1980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0"/>
              </a:lnSpc>
              <a:buNone/>
            </a:pPr>
            <a:r>
              <a:rPr lang="en-US" sz="15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8" name="Text 17"/>
          <p:cNvSpPr/>
          <p:nvPr/>
        </p:nvSpPr>
        <p:spPr>
          <a:xfrm>
            <a:off x="6314033" y="6524625"/>
            <a:ext cx="587781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53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출처: [1] 2026-04-10 AI Updates Weekly 심층 리뷰 [2] Anthropic technical documentation</a:t>
            </a:r>
            <a:pPr indent="0" marL="0">
              <a:lnSpc>
                <a:spcPts val="1053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053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[3] Cursor 3 release notes.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94" y="4875907"/>
            <a:ext cx="731490" cy="71318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894" y="3627834"/>
            <a:ext cx="731490" cy="70633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1357" y="2379613"/>
            <a:ext cx="658267" cy="74741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80" y="4917132"/>
            <a:ext cx="646063" cy="6377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973" y="3559225"/>
            <a:ext cx="767953" cy="77494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177" y="2379613"/>
            <a:ext cx="682675" cy="761107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 Managed Agents: 엔터프라이즈 에이전트의 표준화</a:t>
            </a: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352425" y="742950"/>
            <a:ext cx="118395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관리형 운영 인프라 및 과금 모델 도입으로 안정적 에이전트 실행 환경 제공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2077789" y="1562100"/>
            <a:ext cx="2273498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및 출시</a:t>
            </a:r>
            <a:endParaRPr lang="en-US" sz="2100" dirty="0"/>
          </a:p>
        </p:txBody>
      </p:sp>
      <p:sp>
        <p:nvSpPr>
          <p:cNvPr id="13" name="Text 3"/>
          <p:cNvSpPr/>
          <p:nvPr/>
        </p:nvSpPr>
        <p:spPr>
          <a:xfrm>
            <a:off x="7327106" y="1562100"/>
            <a:ext cx="3300413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 기능 및 영향</a:t>
            </a:r>
            <a:endParaRPr lang="en-US" sz="2100" dirty="0"/>
          </a:p>
        </p:txBody>
      </p:sp>
      <p:sp>
        <p:nvSpPr>
          <p:cNvPr id="14" name="Text 4"/>
          <p:cNvSpPr/>
          <p:nvPr/>
        </p:nvSpPr>
        <p:spPr>
          <a:xfrm>
            <a:off x="1752600" y="2457450"/>
            <a:ext cx="723138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2026-04-08 공개 베타 출시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1752600" y="3514725"/>
            <a:ext cx="594360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 저장 세션으로 장시간 작업 지원</a:t>
            </a:r>
            <a:endParaRPr lang="en-US" sz="1950" dirty="0"/>
          </a:p>
        </p:txBody>
      </p:sp>
      <p:sp>
        <p:nvSpPr>
          <p:cNvPr id="16" name="Text 6"/>
          <p:cNvSpPr/>
          <p:nvPr/>
        </p:nvSpPr>
        <p:spPr>
          <a:xfrm>
            <a:off x="1752600" y="4924425"/>
            <a:ext cx="65379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과금: 토큰 + 세션 $0.08/시간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7477125" y="2457450"/>
            <a:ext cx="4714875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Anthropic이 신뢰성·복구성 직접 보장</a:t>
            </a:r>
            <a:endParaRPr lang="en-US" sz="1875" dirty="0"/>
          </a:p>
        </p:txBody>
      </p:sp>
      <p:sp>
        <p:nvSpPr>
          <p:cNvPr id="18" name="Text 8"/>
          <p:cNvSpPr/>
          <p:nvPr/>
        </p:nvSpPr>
        <p:spPr>
          <a:xfrm>
            <a:off x="7477125" y="3667125"/>
            <a:ext cx="47148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 보안·모니터링 기반 마련</a:t>
            </a:r>
            <a:endParaRPr lang="en-US" sz="1950" dirty="0"/>
          </a:p>
        </p:txBody>
      </p:sp>
      <p:sp>
        <p:nvSpPr>
          <p:cNvPr id="19" name="Text 9"/>
          <p:cNvSpPr/>
          <p:nvPr/>
        </p:nvSpPr>
        <p:spPr>
          <a:xfrm>
            <a:off x="7477125" y="4924425"/>
            <a:ext cx="471487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API 호출에서 관리형 서비스로 패러다임 전환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1809750" y="3962400"/>
            <a:ext cx="600075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초기화 → 상태 유지 → 장시간 실행 → 완료</a:t>
            </a:r>
            <a:endParaRPr lang="en-US" sz="1575" dirty="0"/>
          </a:p>
        </p:txBody>
      </p:sp>
      <p:sp>
        <p:nvSpPr>
          <p:cNvPr id="21" name="Text 11"/>
          <p:cNvSpPr/>
          <p:nvPr/>
        </p:nvSpPr>
        <p:spPr>
          <a:xfrm>
            <a:off x="1724025" y="4333875"/>
            <a:ext cx="552069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중단 없는 다단계 작업 실행 및 상태 유지</a:t>
            </a:r>
            <a:endParaRPr lang="en-US" sz="1575" dirty="0"/>
          </a:p>
        </p:txBody>
      </p:sp>
      <p:sp>
        <p:nvSpPr>
          <p:cNvPr id="22" name="Text 12"/>
          <p:cNvSpPr/>
          <p:nvPr/>
        </p:nvSpPr>
        <p:spPr>
          <a:xfrm>
            <a:off x="1724025" y="5324475"/>
            <a:ext cx="576072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환경을 서비스로 제공하는 새 과금 구조</a:t>
            </a:r>
            <a:endParaRPr lang="en-US" sz="1575" dirty="0"/>
          </a:p>
        </p:txBody>
      </p:sp>
      <p:sp>
        <p:nvSpPr>
          <p:cNvPr id="23" name="Text 13"/>
          <p:cNvSpPr/>
          <p:nvPr/>
        </p:nvSpPr>
        <p:spPr>
          <a:xfrm>
            <a:off x="7543800" y="4019550"/>
            <a:ext cx="46482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환경 요구 사항을 충족하는 제어 기능 내장</a:t>
            </a:r>
            <a:endParaRPr lang="en-US" sz="1575" dirty="0"/>
          </a:p>
        </p:txBody>
      </p:sp>
      <p:sp>
        <p:nvSpPr>
          <p:cNvPr id="24" name="Text 14"/>
          <p:cNvSpPr/>
          <p:nvPr/>
        </p:nvSpPr>
        <p:spPr>
          <a:xfrm>
            <a:off x="7543800" y="5362575"/>
            <a:ext cx="4648200" cy="2379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4"/>
              </a:lnSpc>
              <a:buNone/>
            </a:pPr>
            <a:r>
              <a:rPr lang="en-US" sz="157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실행의 경쟁력이 운영 안정성으로 이동</a:t>
            </a:r>
            <a:endParaRPr lang="en-US" sz="1575" dirty="0"/>
          </a:p>
        </p:txBody>
      </p:sp>
      <p:sp>
        <p:nvSpPr>
          <p:cNvPr id="25" name="Text 15"/>
          <p:cNvSpPr/>
          <p:nvPr/>
        </p:nvSpPr>
        <p:spPr>
          <a:xfrm>
            <a:off x="895350" y="5876925"/>
            <a:ext cx="11296650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14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*참조: Anthropic Managed Agents 공식 문서 (beta), LGD 내부 분석 (2026-04)</a:t>
            </a:r>
            <a:endParaRPr lang="en-US" sz="1125" dirty="0"/>
          </a:p>
        </p:txBody>
      </p:sp>
      <p:sp>
        <p:nvSpPr>
          <p:cNvPr id="26" name="Text 16"/>
          <p:cNvSpPr/>
          <p:nvPr/>
        </p:nvSpPr>
        <p:spPr>
          <a:xfrm>
            <a:off x="6648450" y="5876925"/>
            <a:ext cx="5543550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14"/>
              </a:lnSpc>
              <a:buNone/>
            </a:pPr>
            <a:r>
              <a:rPr lang="en-US" sz="1125" dirty="0">
                <a:solidFill>
                  <a:srgbClr val="1C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*참조: Anthropic Managed Agents 공식 문서 (beta), LGD 내부 분석 (2026-04)</a:t>
            </a:r>
            <a:endParaRPr lang="en-US" sz="1125" dirty="0"/>
          </a:p>
        </p:txBody>
      </p:sp>
      <p:sp>
        <p:nvSpPr>
          <p:cNvPr id="27" name="Text 17"/>
          <p:cNvSpPr/>
          <p:nvPr/>
        </p:nvSpPr>
        <p:spPr>
          <a:xfrm>
            <a:off x="228600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8" name="Text 18"/>
          <p:cNvSpPr/>
          <p:nvPr/>
        </p:nvSpPr>
        <p:spPr>
          <a:xfrm>
            <a:off x="5882580" y="6705600"/>
            <a:ext cx="50289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279" y="1625203"/>
            <a:ext cx="707082" cy="67880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2463" y="3092946"/>
            <a:ext cx="1975098" cy="13029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67" y="1522363"/>
            <a:ext cx="572988" cy="54173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42875"/>
            <a:ext cx="1196340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데이터 연결: Claude + Microsoft 365 Connector</a:t>
            </a:r>
            <a:endParaRPr lang="en-US" sz="2325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86182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보안과 효율성을 모두 고려한 M365 데이터 연동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1323975" y="1581150"/>
            <a:ext cx="4800600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데이터 연결 및 활용</a:t>
            </a:r>
            <a:endParaRPr lang="en-US" sz="2100" dirty="0"/>
          </a:p>
        </p:txBody>
      </p:sp>
      <p:sp>
        <p:nvSpPr>
          <p:cNvPr id="10" name="Text 3"/>
          <p:cNvSpPr/>
          <p:nvPr/>
        </p:nvSpPr>
        <p:spPr>
          <a:xfrm>
            <a:off x="8763000" y="1581150"/>
            <a:ext cx="2095500" cy="7947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가치 및</a:t>
            </a:r>
            <a:pPr indent="0" marL="0">
              <a:lnSpc>
                <a:spcPts val="312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12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미래 로드맵</a:t>
            </a:r>
            <a:endParaRPr lang="en-US" sz="2100" dirty="0"/>
          </a:p>
        </p:txBody>
      </p:sp>
      <p:sp>
        <p:nvSpPr>
          <p:cNvPr id="11" name="Text 4"/>
          <p:cNvSpPr/>
          <p:nvPr/>
        </p:nvSpPr>
        <p:spPr>
          <a:xfrm>
            <a:off x="1019175" y="2314575"/>
            <a:ext cx="541674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입기 전용 접근으로 보안 장벽 최소화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M365 권한 모델 그대로 적용, 보안팀 설득 용이</a:t>
            </a:r>
            <a:endParaRPr lang="en-US" sz="1725" dirty="0"/>
          </a:p>
        </p:txBody>
      </p:sp>
      <p:sp>
        <p:nvSpPr>
          <p:cNvPr id="12" name="Text 5"/>
          <p:cNvSpPr/>
          <p:nvPr/>
        </p:nvSpPr>
        <p:spPr>
          <a:xfrm>
            <a:off x="1019175" y="3162300"/>
            <a:ext cx="5689253" cy="12358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대상: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SharePoint-OneDrive-Teams-Outlook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문서·이메일·채팅 기록을 Claude 컨텍스트로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활용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1019175" y="4429125"/>
            <a:ext cx="5154811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활용 가능한 저위험 Use Case 확보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지식 검색·회의록 요약·이메일 맥락 파악부터 시작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1019175" y="5276850"/>
            <a:ext cx="5395913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점진적 확장의 교두보 역할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'입기' 신뢰 축적 후 '쓰기·실행' 자동화로 단계적 확장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8943975" y="2724150"/>
            <a:ext cx="281835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지식 베이스 통합의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현실적 첫걸음</a:t>
            </a:r>
            <a:endParaRPr lang="en-US" sz="1725" dirty="0"/>
          </a:p>
        </p:txBody>
      </p:sp>
      <p:sp>
        <p:nvSpPr>
          <p:cNvPr id="16" name="Text 9"/>
          <p:cNvSpPr/>
          <p:nvPr/>
        </p:nvSpPr>
        <p:spPr>
          <a:xfrm>
            <a:off x="8943975" y="3429000"/>
            <a:ext cx="281835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빅뱅 자동화 대신 안전한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연결에서 도입 시작</a:t>
            </a:r>
            <a:endParaRPr lang="en-US" sz="1725" dirty="0"/>
          </a:p>
        </p:txBody>
      </p:sp>
      <p:sp>
        <p:nvSpPr>
          <p:cNvPr id="17" name="Text 10"/>
          <p:cNvSpPr/>
          <p:nvPr/>
        </p:nvSpPr>
        <p:spPr>
          <a:xfrm>
            <a:off x="8943975" y="4324350"/>
            <a:ext cx="2818358" cy="6179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엔터프라이즈 에이전트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도입 가속 기반 마련 🚀</a:t>
            </a:r>
            <a:endParaRPr lang="en-US" sz="1725" dirty="0"/>
          </a:p>
        </p:txBody>
      </p:sp>
      <p:sp>
        <p:nvSpPr>
          <p:cNvPr id="18" name="Text 11"/>
          <p:cNvSpPr/>
          <p:nvPr/>
        </p:nvSpPr>
        <p:spPr>
          <a:xfrm>
            <a:off x="8943975" y="5019675"/>
            <a:ext cx="2923133" cy="5908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Managed Agents와 결합 시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기업 내 에이전트 확산 가속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7905750" y="6229350"/>
            <a:ext cx="428625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*Source: Anthropic, Microsoft 2026 심층 리뷰 기반 분석</a:t>
            </a:r>
            <a:endParaRPr lang="en-US" sz="1125" dirty="0"/>
          </a:p>
        </p:txBody>
      </p:sp>
      <p:sp>
        <p:nvSpPr>
          <p:cNvPr id="20" name="Text 13"/>
          <p:cNvSpPr/>
          <p:nvPr/>
        </p:nvSpPr>
        <p:spPr>
          <a:xfrm>
            <a:off x="104775" y="646747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870674" y="6715125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B9B9B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96" y="1467594"/>
            <a:ext cx="11399490" cy="209847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66700" y="171450"/>
            <a:ext cx="11925300" cy="364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1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 위크플로우 재구성: Cursor 3와 Claude Code</a:t>
            </a:r>
            <a:endParaRPr lang="en-US" sz="217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11839575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8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 에이전트 중심 개발 환경 구축을 위한 전략적 업데이트 및 경쟁 지형 변화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6734175" y="4781550"/>
            <a:ext cx="2001143" cy="4113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Cursor 3 출시</a:t>
            </a:r>
            <a:pPr indent="0" marL="0">
              <a:lnSpc>
                <a:spcPts val="162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2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조정식 패러다임 전환</a:t>
            </a:r>
            <a:endParaRPr lang="en-US" sz="1125" dirty="0"/>
          </a:p>
        </p:txBody>
      </p:sp>
      <p:sp>
        <p:nvSpPr>
          <p:cNvPr id="8" name="Text 3"/>
          <p:cNvSpPr/>
          <p:nvPr/>
        </p:nvSpPr>
        <p:spPr>
          <a:xfrm>
            <a:off x="6734175" y="5295900"/>
            <a:ext cx="2399258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Unified Workspace</a:t>
            </a:r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IDE·티미빌·브라우저·문서 통합 구현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734175" y="5715000"/>
            <a:ext cx="166583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병렬 에이전트 실행</a:t>
            </a:r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및 원격 서버 동시 관리 및 자동화</a:t>
            </a:r>
            <a:endParaRPr lang="en-US" sz="750" dirty="0"/>
          </a:p>
        </p:txBody>
      </p:sp>
      <p:sp>
        <p:nvSpPr>
          <p:cNvPr id="10" name="Text 5"/>
          <p:cNvSpPr/>
          <p:nvPr/>
        </p:nvSpPr>
        <p:spPr>
          <a:xfrm>
            <a:off x="9277350" y="4781550"/>
            <a:ext cx="2461260" cy="2332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6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개발자 역할 변화</a:t>
            </a:r>
            <a:endParaRPr lang="en-US" sz="1275" dirty="0"/>
          </a:p>
        </p:txBody>
      </p:sp>
      <p:sp>
        <p:nvSpPr>
          <p:cNvPr id="11" name="Text 6"/>
          <p:cNvSpPr/>
          <p:nvPr/>
        </p:nvSpPr>
        <p:spPr>
          <a:xfrm>
            <a:off x="9277350" y="5267325"/>
            <a:ext cx="2849880" cy="2332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6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Claude Code</a:t>
            </a:r>
            <a:endParaRPr lang="en-US" sz="1275" dirty="0"/>
          </a:p>
        </p:txBody>
      </p:sp>
      <p:sp>
        <p:nvSpPr>
          <p:cNvPr id="12" name="Text 7"/>
          <p:cNvSpPr/>
          <p:nvPr/>
        </p:nvSpPr>
        <p:spPr>
          <a:xfrm>
            <a:off x="9277350" y="5715000"/>
            <a:ext cx="1950720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2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경쟁 축 이동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933575" y="4438650"/>
            <a:ext cx="390906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74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위크플로우 한계 및 도전 과제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7620000" y="4438650"/>
            <a:ext cx="4572000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업데이트: Cursor 3 &amp; Claude Code</a:t>
            </a:r>
            <a:endParaRPr lang="en-US" sz="1275" dirty="0"/>
          </a:p>
        </p:txBody>
      </p:sp>
      <p:sp>
        <p:nvSpPr>
          <p:cNvPr id="15" name="Text 10"/>
          <p:cNvSpPr/>
          <p:nvPr/>
        </p:nvSpPr>
        <p:spPr>
          <a:xfrm>
            <a:off x="638175" y="4857750"/>
            <a:ext cx="4714875" cy="1227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1. 작성 중심 수동 코딩 (Authoring-Centric)</a:t>
            </a:r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2. 도구 스택 파편화 (Siloed Tool Stack: IDE, Terminal,</a:t>
            </a:r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Browser, Doc separate)</a:t>
            </a:r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1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3. 수동 에이전트 운용 (Manual Agent Management)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9277350" y="4991100"/>
            <a:ext cx="2504033" cy="13296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4. 개발자 역할 변화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 → 에이전트 활용 및 조율 관리자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5. Claude Code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실행형 에이전트화 (파일 시스템·셀·앱 연결)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6. 경쟁 축 이동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4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에디터 → 에이전트 오케스트레이션 UX</a:t>
            </a:r>
            <a:endParaRPr lang="en-US" sz="975" dirty="0"/>
          </a:p>
        </p:txBody>
      </p:sp>
      <p:sp>
        <p:nvSpPr>
          <p:cNvPr id="17" name="Text 12"/>
          <p:cNvSpPr/>
          <p:nvPr/>
        </p:nvSpPr>
        <p:spPr>
          <a:xfrm>
            <a:off x="3865215" y="6467475"/>
            <a:ext cx="444237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i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2026-04-02 공식 발표, Anthropic 기술 블로그, Cursor 블로그 등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824538" y="6715125"/>
            <a:ext cx="52387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55984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059" y="5314950"/>
            <a:ext cx="938659" cy="61719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5577" y="3504307"/>
            <a:ext cx="1024086" cy="5965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0188" y="5335488"/>
            <a:ext cx="524173" cy="55542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7984" y="3497461"/>
            <a:ext cx="2535882" cy="9806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6667" y="5623471"/>
            <a:ext cx="292596" cy="27429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2659" y="5513784"/>
            <a:ext cx="402282" cy="38397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188" y="5445175"/>
            <a:ext cx="475357" cy="45258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6290" y="5376565"/>
            <a:ext cx="560784" cy="52119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35796" y="3483769"/>
            <a:ext cx="463153" cy="52119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3600" y="3483769"/>
            <a:ext cx="487561" cy="50735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4086" y="3504307"/>
            <a:ext cx="792361" cy="452586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228600" y="123825"/>
            <a:ext cx="11963400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7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Gemma 4와 오픈/로컬 에이전트 스택의 확장</a:t>
            </a:r>
            <a:endParaRPr lang="en-US" sz="3000" dirty="0"/>
          </a:p>
        </p:txBody>
      </p:sp>
      <p:sp>
        <p:nvSpPr>
          <p:cNvPr id="16" name="Text 1"/>
          <p:cNvSpPr/>
          <p:nvPr/>
        </p:nvSpPr>
        <p:spPr>
          <a:xfrm>
            <a:off x="4058543" y="1466850"/>
            <a:ext cx="4170015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Gemma 4 기반의 오픈 에이전트 생태계</a:t>
            </a:r>
            <a:endParaRPr lang="en-US" sz="1800" dirty="0"/>
          </a:p>
        </p:txBody>
      </p:sp>
      <p:sp>
        <p:nvSpPr>
          <p:cNvPr id="17" name="Text 2"/>
          <p:cNvSpPr/>
          <p:nvPr/>
        </p:nvSpPr>
        <p:spPr>
          <a:xfrm>
            <a:off x="352425" y="742950"/>
            <a:ext cx="11839575" cy="3829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15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Gemma 4 출시로 엔터프라이즈급 로컬 에이전트 스택 구축의 현실성 확보</a:t>
            </a:r>
            <a:endParaRPr lang="en-US" sz="2250" dirty="0"/>
          </a:p>
        </p:txBody>
      </p:sp>
      <p:sp>
        <p:nvSpPr>
          <p:cNvPr id="18" name="Text 3"/>
          <p:cNvSpPr/>
          <p:nvPr/>
        </p:nvSpPr>
        <p:spPr>
          <a:xfrm>
            <a:off x="895350" y="2181225"/>
            <a:ext cx="50482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핵심 성능 및 모델 라인업</a:t>
            </a:r>
            <a:endParaRPr lang="en-US" sz="1875" dirty="0"/>
          </a:p>
        </p:txBody>
      </p:sp>
      <p:sp>
        <p:nvSpPr>
          <p:cNvPr id="19" name="Text 4"/>
          <p:cNvSpPr/>
          <p:nvPr/>
        </p:nvSpPr>
        <p:spPr>
          <a:xfrm>
            <a:off x="4676775" y="2181225"/>
            <a:ext cx="476250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아키텍처 및 생태계 통합</a:t>
            </a:r>
            <a:endParaRPr lang="en-US" sz="1875" dirty="0"/>
          </a:p>
        </p:txBody>
      </p:sp>
      <p:sp>
        <p:nvSpPr>
          <p:cNvPr id="20" name="Text 5"/>
          <p:cNvSpPr/>
          <p:nvPr/>
        </p:nvSpPr>
        <p:spPr>
          <a:xfrm>
            <a:off x="8515350" y="2181225"/>
            <a:ext cx="3676650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비즈니스 및 전략적 가치</a:t>
            </a:r>
            <a:endParaRPr lang="en-US" sz="1875" dirty="0"/>
          </a:p>
        </p:txBody>
      </p:sp>
      <p:sp>
        <p:nvSpPr>
          <p:cNvPr id="21" name="Text 6"/>
          <p:cNvSpPr/>
          <p:nvPr/>
        </p:nvSpPr>
        <p:spPr>
          <a:xfrm>
            <a:off x="771525" y="2800350"/>
            <a:ext cx="238884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멀티모달, 함수 호출,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256K 컨텍스트</a:t>
            </a:r>
            <a:endParaRPr lang="en-US" sz="1725" dirty="0"/>
          </a:p>
        </p:txBody>
      </p:sp>
      <p:sp>
        <p:nvSpPr>
          <p:cNvPr id="22" name="Text 7"/>
          <p:cNvSpPr/>
          <p:nvPr/>
        </p:nvSpPr>
        <p:spPr>
          <a:xfrm>
            <a:off x="771525" y="4648200"/>
            <a:ext cx="352038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E2B, E4B, 26B MoE,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31B Dense (경량~고성능 4종)</a:t>
            </a:r>
            <a:endParaRPr lang="en-US" sz="1725" dirty="0"/>
          </a:p>
        </p:txBody>
      </p:sp>
      <p:sp>
        <p:nvSpPr>
          <p:cNvPr id="23" name="Text 8"/>
          <p:cNvSpPr/>
          <p:nvPr/>
        </p:nvSpPr>
        <p:spPr>
          <a:xfrm>
            <a:off x="4552950" y="2800350"/>
            <a:ext cx="3541365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계층형 하이브리드 아키텍처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구현 가능 (일상 작업/추론 분리)</a:t>
            </a:r>
            <a:endParaRPr lang="en-US" sz="1725" dirty="0"/>
          </a:p>
        </p:txBody>
      </p:sp>
      <p:sp>
        <p:nvSpPr>
          <p:cNvPr id="24" name="Text 9"/>
          <p:cNvSpPr/>
          <p:nvPr/>
        </p:nvSpPr>
        <p:spPr>
          <a:xfrm>
            <a:off x="4552950" y="4648200"/>
            <a:ext cx="3185071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OpenClaw v2026.4.7 등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 프로젝트 즉시 연동</a:t>
            </a:r>
            <a:endParaRPr lang="en-US" sz="1725" dirty="0"/>
          </a:p>
        </p:txBody>
      </p:sp>
      <p:sp>
        <p:nvSpPr>
          <p:cNvPr id="25" name="Text 10"/>
          <p:cNvSpPr/>
          <p:nvPr/>
        </p:nvSpPr>
        <p:spPr>
          <a:xfrm>
            <a:off x="8391525" y="2800350"/>
            <a:ext cx="314325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Apache 2.0 라이선스로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상업적 활용 및 내재화 용이</a:t>
            </a:r>
            <a:endParaRPr lang="en-US" sz="1725" dirty="0"/>
          </a:p>
        </p:txBody>
      </p:sp>
      <p:sp>
        <p:nvSpPr>
          <p:cNvPr id="26" name="Text 11"/>
          <p:cNvSpPr/>
          <p:nvPr/>
        </p:nvSpPr>
        <p:spPr>
          <a:xfrm>
            <a:off x="8391525" y="4648200"/>
            <a:ext cx="286032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■ 비용 절감 및 온프레미스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프라이버시 강화</a:t>
            </a:r>
            <a:endParaRPr lang="en-US" sz="1725" dirty="0"/>
          </a:p>
        </p:txBody>
      </p:sp>
      <p:sp>
        <p:nvSpPr>
          <p:cNvPr id="27" name="Text 12"/>
          <p:cNvSpPr/>
          <p:nvPr/>
        </p:nvSpPr>
        <p:spPr>
          <a:xfrm>
            <a:off x="9372600" y="4067175"/>
            <a:ext cx="259080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Apache 2.0</a:t>
            </a:r>
            <a:endParaRPr lang="en-US" sz="1500" dirty="0"/>
          </a:p>
        </p:txBody>
      </p:sp>
      <p:sp>
        <p:nvSpPr>
          <p:cNvPr id="28" name="Text 13"/>
          <p:cNvSpPr/>
          <p:nvPr/>
        </p:nvSpPr>
        <p:spPr>
          <a:xfrm>
            <a:off x="5467350" y="5505450"/>
            <a:ext cx="502920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OpenClaw v2026.4.7</a:t>
            </a:r>
            <a:endParaRPr lang="en-US" sz="1500" dirty="0"/>
          </a:p>
        </p:txBody>
      </p:sp>
      <p:sp>
        <p:nvSpPr>
          <p:cNvPr id="29" name="Text 14"/>
          <p:cNvSpPr/>
          <p:nvPr/>
        </p:nvSpPr>
        <p:spPr>
          <a:xfrm>
            <a:off x="925711" y="4010025"/>
            <a:ext cx="2053530" cy="6849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멀티모달 및</a:t>
            </a:r>
            <a:pPr algn="ctr" indent="0" marL="0">
              <a:lnSpc>
                <a:spcPts val="179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9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함수 호출</a:t>
            </a:r>
            <a:pPr algn="ctr" indent="0" marL="0">
              <a:lnSpc>
                <a:spcPts val="179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98"/>
              </a:lnSpc>
              <a:buNone/>
            </a:pPr>
            <a:r>
              <a:rPr lang="en-US" sz="12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endParaRPr lang="en-US" sz="1275" dirty="0"/>
          </a:p>
        </p:txBody>
      </p:sp>
      <p:sp>
        <p:nvSpPr>
          <p:cNvPr id="30" name="Text 15"/>
          <p:cNvSpPr/>
          <p:nvPr/>
        </p:nvSpPr>
        <p:spPr>
          <a:xfrm>
            <a:off x="7296150" y="6353175"/>
            <a:ext cx="489585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Anthropic &amp; Open Source Community Updates (2026)</a:t>
            </a:r>
            <a:endParaRPr lang="en-US" sz="1125" dirty="0"/>
          </a:p>
        </p:txBody>
      </p:sp>
      <p:sp>
        <p:nvSpPr>
          <p:cNvPr id="31" name="Text 16"/>
          <p:cNvSpPr/>
          <p:nvPr/>
        </p:nvSpPr>
        <p:spPr>
          <a:xfrm>
            <a:off x="228600" y="646747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32" name="Text 17"/>
          <p:cNvSpPr/>
          <p:nvPr/>
        </p:nvSpPr>
        <p:spPr>
          <a:xfrm>
            <a:off x="5876925" y="6715125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875" y="2461915"/>
            <a:ext cx="792361" cy="74741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957" y="2455069"/>
            <a:ext cx="853380" cy="7679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6282" y="2455069"/>
            <a:ext cx="658267" cy="77494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0" y="228600"/>
            <a:ext cx="12192000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2"/>
              </a:lnSpc>
              <a:buNone/>
            </a:pPr>
            <a:r>
              <a:rPr lang="en-US" sz="3075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조립형 메모리 스택: MemPalace, Obsidian RAG, Graphify</a:t>
            </a:r>
            <a:endParaRPr lang="en-US" sz="3075" dirty="0"/>
          </a:p>
        </p:txBody>
      </p:sp>
      <p:sp>
        <p:nvSpPr>
          <p:cNvPr id="8" name="Text 1"/>
          <p:cNvSpPr/>
          <p:nvPr/>
        </p:nvSpPr>
        <p:spPr>
          <a:xfrm>
            <a:off x="742950" y="1571625"/>
            <a:ext cx="3426023" cy="7027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MemPalace: 원본 대화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보존 기억 구조</a:t>
            </a:r>
            <a:endParaRPr lang="en-US" sz="2325" dirty="0"/>
          </a:p>
        </p:txBody>
      </p:sp>
      <p:sp>
        <p:nvSpPr>
          <p:cNvPr id="9" name="Text 2"/>
          <p:cNvSpPr/>
          <p:nvPr/>
        </p:nvSpPr>
        <p:spPr>
          <a:xfrm>
            <a:off x="4572000" y="1571625"/>
            <a:ext cx="3164086" cy="7027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Obsidian RAG: 벡터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없는 로컬 검색</a:t>
            </a:r>
            <a:endParaRPr lang="en-US" sz="2325" dirty="0"/>
          </a:p>
        </p:txBody>
      </p:sp>
      <p:sp>
        <p:nvSpPr>
          <p:cNvPr id="10" name="Text 3"/>
          <p:cNvSpPr/>
          <p:nvPr/>
        </p:nvSpPr>
        <p:spPr>
          <a:xfrm>
            <a:off x="8458200" y="1571625"/>
            <a:ext cx="2891730" cy="7027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Graphify: 자동 지식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그래프 생성 도구</a:t>
            </a:r>
            <a:endParaRPr lang="en-US" sz="2325" dirty="0"/>
          </a:p>
        </p:txBody>
      </p:sp>
      <p:sp>
        <p:nvSpPr>
          <p:cNvPr id="11" name="Text 4"/>
          <p:cNvSpPr/>
          <p:nvPr/>
        </p:nvSpPr>
        <p:spPr>
          <a:xfrm>
            <a:off x="742950" y="4991100"/>
            <a:ext cx="708660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4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기억 = 검색 + 구조화 + 위크플로</a:t>
            </a:r>
            <a:endParaRPr lang="en-US" sz="2325" dirty="0"/>
          </a:p>
        </p:txBody>
      </p:sp>
      <p:sp>
        <p:nvSpPr>
          <p:cNvPr id="12" name="Text 5"/>
          <p:cNvSpPr/>
          <p:nvPr/>
        </p:nvSpPr>
        <p:spPr>
          <a:xfrm>
            <a:off x="6381750" y="4991100"/>
            <a:ext cx="531495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4"/>
              </a:lnSpc>
              <a:buNone/>
            </a:pPr>
            <a:r>
              <a:rPr lang="en-US" sz="23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우선 전략의 이중 효과</a:t>
            </a:r>
            <a:endParaRPr lang="en-US" sz="2325" dirty="0"/>
          </a:p>
        </p:txBody>
      </p:sp>
      <p:sp>
        <p:nvSpPr>
          <p:cNvPr id="13" name="Text 6"/>
          <p:cNvSpPr/>
          <p:nvPr/>
        </p:nvSpPr>
        <p:spPr>
          <a:xfrm>
            <a:off x="742950" y="3429000"/>
            <a:ext cx="3206055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ChromaDB + SQLite로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손실 없이 전체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컨텍스트 저장</a:t>
            </a:r>
            <a:endParaRPr lang="en-US" sz="1875" dirty="0"/>
          </a:p>
        </p:txBody>
      </p:sp>
      <p:sp>
        <p:nvSpPr>
          <p:cNvPr id="14" name="Text 7"/>
          <p:cNvSpPr/>
          <p:nvPr/>
        </p:nvSpPr>
        <p:spPr>
          <a:xfrm>
            <a:off x="4572000" y="3429000"/>
            <a:ext cx="3027908" cy="8916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마크다운 노트를 즉시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기억으로 활용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8458200" y="3429000"/>
            <a:ext cx="3017490" cy="8228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'pip install graphify'로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코드베이스 관계 시각화,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효율 71.5배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742950" y="5400675"/>
            <a:ext cx="5322540" cy="594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모델 파라미터 문제가 아닌 로컬 조립형 설계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문제로 재정의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6381750" y="5400675"/>
            <a:ext cx="5605463" cy="594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개인화된 에이전트 경험과 데이터 프라이버시를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동시에 충족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871567" y="6715125"/>
            <a:ext cx="534293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6161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855" y="2729359"/>
            <a:ext cx="877788" cy="8572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6957" y="2729359"/>
            <a:ext cx="877788" cy="857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0855" y="2729359"/>
            <a:ext cx="902196" cy="843409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90500"/>
            <a:ext cx="119634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5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데스크톱 및 브라우저 자동화 경쟁: OpenClaw, OpenAgents, Hermes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394335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9" name="Text 2"/>
          <p:cNvSpPr/>
          <p:nvPr/>
        </p:nvSpPr>
        <p:spPr>
          <a:xfrm>
            <a:off x="1720155" y="1676400"/>
            <a:ext cx="113154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OpenClaw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5420618" y="1676400"/>
            <a:ext cx="144586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OpenAgents</a:t>
            </a:r>
            <a:endParaRPr lang="en-US" sz="1500" dirty="0"/>
          </a:p>
        </p:txBody>
      </p:sp>
      <p:sp>
        <p:nvSpPr>
          <p:cNvPr id="11" name="Text 4"/>
          <p:cNvSpPr/>
          <p:nvPr/>
        </p:nvSpPr>
        <p:spPr>
          <a:xfrm>
            <a:off x="9485858" y="1676400"/>
            <a:ext cx="859036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Hermes</a:t>
            </a:r>
            <a:endParaRPr lang="en-US" sz="1425" dirty="0"/>
          </a:p>
        </p:txBody>
      </p:sp>
      <p:sp>
        <p:nvSpPr>
          <p:cNvPr id="12" name="Text 5"/>
          <p:cNvSpPr/>
          <p:nvPr/>
        </p:nvSpPr>
        <p:spPr>
          <a:xfrm>
            <a:off x="691455" y="2076450"/>
            <a:ext cx="3227040" cy="2695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2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데스크톱 자동화 오픈소스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4732437" y="2076450"/>
            <a:ext cx="2755553" cy="2695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2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에이전트 협업 플랫폼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8374856" y="2076450"/>
            <a:ext cx="3090863" cy="2695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2"/>
              </a:lnSpc>
              <a:buNone/>
            </a:pPr>
            <a:r>
              <a:rPr lang="en-US" sz="172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개선형 오픈소스 에이전트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771525" y="4591050"/>
            <a:ext cx="3227040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v2026.4.7 업데이트: Gemma 4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지원 및 플러그인 확장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771525" y="5162550"/>
            <a:ext cx="3258443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실제 컴퓨터 조작: 예약, 파일 정리,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실행 등 (탈-채팅 UI)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619625" y="4591050"/>
            <a:ext cx="3520380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컨텍스트 실시간 공유: 브라우저, 파일,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채팅 컨텍스트를 다수 에이전트가 공유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4619625" y="5162550"/>
            <a:ext cx="3467993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오론 아키텍처: 밴더 비종속, 커뮤니티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주도 실험 가속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8458200" y="4591050"/>
            <a:ext cx="3027908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자기 학습 &amp; 수정: 실패 도구 호출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검토 및 프롬프트 자동 수정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8458200" y="5162550"/>
            <a:ext cx="3059311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운영 효율화: 재현성, 비용 추적 등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과제 해결 시도</a:t>
            </a:r>
            <a:endParaRPr lang="en-US" sz="1650" dirty="0"/>
          </a:p>
        </p:txBody>
      </p:sp>
      <p:sp>
        <p:nvSpPr>
          <p:cNvPr id="21" name="Text 14"/>
          <p:cNvSpPr/>
          <p:nvPr/>
        </p:nvSpPr>
        <p:spPr>
          <a:xfrm>
            <a:off x="833438" y="4191000"/>
            <a:ext cx="2828925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데스크톱 자동화 오픈소스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715000" y="4191000"/>
            <a:ext cx="8382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공유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8332440" y="4191000"/>
            <a:ext cx="2765971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5C5C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 개선형 오픈소스 에이전트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515350" y="6372225"/>
            <a:ext cx="3572768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AI Updates Weekly 심층 리뷰 텍 자료 기반</a:t>
            </a:r>
            <a:endParaRPr lang="en-US" sz="1125" dirty="0"/>
          </a:p>
        </p:txBody>
      </p:sp>
      <p:sp>
        <p:nvSpPr>
          <p:cNvPr id="25" name="Text 18"/>
          <p:cNvSpPr/>
          <p:nvPr/>
        </p:nvSpPr>
        <p:spPr>
          <a:xfrm>
            <a:off x="104775" y="646747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26" name="Text 19"/>
          <p:cNvSpPr/>
          <p:nvPr/>
        </p:nvSpPr>
        <p:spPr>
          <a:xfrm>
            <a:off x="5876925" y="6715125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867" y="2235696"/>
            <a:ext cx="2450455" cy="340146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498" y="2201317"/>
            <a:ext cx="2584698" cy="33877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33350"/>
            <a:ext cx="11963400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통제된 폐쇄형 전략: Meta Muse Spark 및 Anthropıc Mythos Preview</a:t>
            </a:r>
            <a:endParaRPr lang="en-US" sz="2325" dirty="0"/>
          </a:p>
        </p:txBody>
      </p:sp>
      <p:sp>
        <p:nvSpPr>
          <p:cNvPr id="7" name="Text 1"/>
          <p:cNvSpPr/>
          <p:nvPr/>
        </p:nvSpPr>
        <p:spPr>
          <a:xfrm>
            <a:off x="285750" y="742950"/>
            <a:ext cx="1190625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지능 경쟁을 넘어 특정 생태계 및 고위험 영역의 통제된 폐쇄형 운영 전략 부상</a:t>
            </a:r>
            <a:endParaRPr lang="en-US" sz="2100" dirty="0"/>
          </a:p>
        </p:txBody>
      </p:sp>
      <p:sp>
        <p:nvSpPr>
          <p:cNvPr id="8" name="Text 2"/>
          <p:cNvSpPr/>
          <p:nvPr/>
        </p:nvSpPr>
        <p:spPr>
          <a:xfrm>
            <a:off x="1818680" y="1733550"/>
            <a:ext cx="252501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 Muse Spark 전략 분석</a:t>
            </a:r>
            <a:endParaRPr lang="en-US" sz="1350" dirty="0"/>
          </a:p>
        </p:txBody>
      </p:sp>
      <p:sp>
        <p:nvSpPr>
          <p:cNvPr id="9" name="Text 3"/>
          <p:cNvSpPr/>
          <p:nvPr/>
        </p:nvSpPr>
        <p:spPr>
          <a:xfrm>
            <a:off x="7365206" y="1733550"/>
            <a:ext cx="330041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Anthropıc Mythos Preview 전략 분석</a:t>
            </a:r>
            <a:endParaRPr lang="en-US" sz="1275" dirty="0"/>
          </a:p>
        </p:txBody>
      </p:sp>
      <p:sp>
        <p:nvSpPr>
          <p:cNvPr id="10" name="Text 4"/>
          <p:cNvSpPr/>
          <p:nvPr/>
        </p:nvSpPr>
        <p:spPr>
          <a:xfrm>
            <a:off x="838200" y="2238375"/>
            <a:ext cx="2671763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자사 생태계 수직 통합: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 AI, Instagram 등 Meta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제품군 내 소형 고 모델로 통합.</a:t>
            </a:r>
            <a:endParaRPr lang="en-US" sz="1350" dirty="0"/>
          </a:p>
        </p:txBody>
      </p:sp>
      <p:sp>
        <p:nvSpPr>
          <p:cNvPr id="11" name="Text 5"/>
          <p:cNvSpPr/>
          <p:nvPr/>
        </p:nvSpPr>
        <p:spPr>
          <a:xfrm>
            <a:off x="838200" y="3228975"/>
            <a:ext cx="2483048" cy="9530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사용자 락인(Lock-in) 강화: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차별화된 온디바이스 및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응답 속도로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유지.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838200" y="4514850"/>
            <a:ext cx="2430661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소비자 제품 경험 최적화: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시장 타겟의 성능 및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지연 효율 추구.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71525" y="5467350"/>
            <a:ext cx="2744986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*오픈 스텍 긴장 속 해자 구축*,</a:t>
            </a:r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*벤더 종속 리스크 평가 필요*.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810375" y="2238375"/>
            <a:ext cx="2409825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제한된 고위험 시장 타겟: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사이버보안, 인프라 보호 등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영역 특화.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810375" y="3228975"/>
            <a:ext cx="2284065" cy="9530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엄격한 접근 통제: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파트너에게만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허용, 능력 공개보다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통제 우선.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6810375" y="4514850"/>
            <a:ext cx="1948755" cy="7148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전문 보안 시장 선점: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폐쇄형 기술력 기반의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독점적 지위 구축.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6753225" y="5467350"/>
            <a:ext cx="3122265" cy="51077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*고위험 영역 통제된 접근 전략*,</a:t>
            </a:r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*기술 주권 및 공급망 리스크 고려*.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876925" y="6715125"/>
            <a:ext cx="419100" cy="75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94"/>
              </a:lnSpc>
              <a:buNone/>
            </a:pPr>
            <a:r>
              <a:rPr lang="en-US" sz="6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765" y="4841677"/>
            <a:ext cx="719286" cy="72687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765" y="3552379"/>
            <a:ext cx="731490" cy="699492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765" y="2249388"/>
            <a:ext cx="719286" cy="69949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80" y="4827984"/>
            <a:ext cx="731490" cy="74056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65" y="3518148"/>
            <a:ext cx="792361" cy="76795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7953" y="2208163"/>
            <a:ext cx="828973" cy="781794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및 공급망 리스크: Pentagon Dispute 사례 분석</a:t>
            </a: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352425" y="742950"/>
            <a:ext cx="624078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공급망의 새로운 위험과 대응 전략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1752600" y="2152650"/>
            <a:ext cx="53492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Pentagon 분쟁 사건 개요: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1752600" y="3467100"/>
            <a:ext cx="3447008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리스크의 부상:</a:t>
            </a:r>
            <a:endParaRPr lang="en-US" sz="1950" dirty="0"/>
          </a:p>
        </p:txBody>
      </p:sp>
      <p:sp>
        <p:nvSpPr>
          <p:cNvPr id="14" name="Text 4"/>
          <p:cNvSpPr/>
          <p:nvPr/>
        </p:nvSpPr>
        <p:spPr>
          <a:xfrm>
            <a:off x="1752600" y="4781550"/>
            <a:ext cx="4327178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투명성 요구 증가: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7543800" y="2152650"/>
            <a:ext cx="3897511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벤더 종속 위험:</a:t>
            </a:r>
            <a:endParaRPr lang="en-US" sz="1950" dirty="0"/>
          </a:p>
        </p:txBody>
      </p:sp>
      <p:sp>
        <p:nvSpPr>
          <p:cNvPr id="16" name="Text 6"/>
          <p:cNvSpPr/>
          <p:nvPr/>
        </p:nvSpPr>
        <p:spPr>
          <a:xfrm>
            <a:off x="7543800" y="3467100"/>
            <a:ext cx="4264223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다변화 필요성: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7543800" y="4781550"/>
            <a:ext cx="38633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역량이 경쟁력:</a:t>
            </a:r>
            <a:endParaRPr lang="en-US" sz="1950" dirty="0"/>
          </a:p>
        </p:txBody>
      </p:sp>
      <p:sp>
        <p:nvSpPr>
          <p:cNvPr id="18" name="Text 8"/>
          <p:cNvSpPr/>
          <p:nvPr/>
        </p:nvSpPr>
        <p:spPr>
          <a:xfrm>
            <a:off x="2340769" y="1438275"/>
            <a:ext cx="172878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쟁점 및 리스크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8517731" y="1438275"/>
            <a:ext cx="99536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제언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8515350" y="6296025"/>
            <a:ext cx="3426023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75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LGD Internal Analysis; AI Policy Institute (2026)</a:t>
            </a:r>
            <a:endParaRPr lang="en-US" sz="975" dirty="0"/>
          </a:p>
        </p:txBody>
      </p:sp>
      <p:sp>
        <p:nvSpPr>
          <p:cNvPr id="21" name="Text 11"/>
          <p:cNvSpPr/>
          <p:nvPr/>
        </p:nvSpPr>
        <p:spPr>
          <a:xfrm>
            <a:off x="466725" y="64484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22" name="Text 12"/>
          <p:cNvSpPr/>
          <p:nvPr/>
        </p:nvSpPr>
        <p:spPr>
          <a:xfrm>
            <a:off x="587067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9859" y="5164038"/>
            <a:ext cx="707082" cy="63088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988" y="4203948"/>
            <a:ext cx="828973" cy="61719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396" y="3182094"/>
            <a:ext cx="780157" cy="75426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396" y="2221855"/>
            <a:ext cx="780157" cy="76110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0753" y="5054203"/>
            <a:ext cx="1401961" cy="7063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5" y="4251871"/>
            <a:ext cx="694879" cy="72003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565" y="2660898"/>
            <a:ext cx="694879" cy="73372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28600" y="123825"/>
            <a:ext cx="11963400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52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노동 시장 신호: 대규모 해고와 소프트웨어 채용 회복의 공존</a:t>
            </a:r>
            <a:endParaRPr lang="en-US" sz="3075" dirty="0"/>
          </a:p>
        </p:txBody>
      </p:sp>
      <p:sp>
        <p:nvSpPr>
          <p:cNvPr id="12" name="Text 1"/>
          <p:cNvSpPr/>
          <p:nvPr/>
        </p:nvSpPr>
        <p:spPr>
          <a:xfrm>
            <a:off x="285750" y="742950"/>
            <a:ext cx="11906250" cy="4015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62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운영 계층 부상에 따른 기술 인력 역할의 대전환</a:t>
            </a:r>
            <a:endParaRPr lang="en-US" sz="2550" dirty="0"/>
          </a:p>
        </p:txBody>
      </p:sp>
      <p:sp>
        <p:nvSpPr>
          <p:cNvPr id="13" name="Text 2"/>
          <p:cNvSpPr/>
          <p:nvPr/>
        </p:nvSpPr>
        <p:spPr>
          <a:xfrm>
            <a:off x="838200" y="1581150"/>
            <a:ext cx="6035040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2"/>
              </a:lnSpc>
              <a:buNone/>
            </a:pPr>
            <a:r>
              <a:rPr lang="en-US" sz="18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시장 신호 (Market Signals)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6686550" y="1581150"/>
            <a:ext cx="5505450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12"/>
              </a:lnSpc>
              <a:buNone/>
            </a:pPr>
            <a:r>
              <a:rPr lang="en-US" sz="172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구조의 변화 (Structural Changes in Roles)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771525" y="2181225"/>
            <a:ext cx="6400800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감원 지속: 테크 업계 구조조정 지속</a:t>
            </a:r>
            <a:endParaRPr lang="en-US" sz="2100" dirty="0"/>
          </a:p>
        </p:txBody>
      </p:sp>
      <p:sp>
        <p:nvSpPr>
          <p:cNvPr id="16" name="Text 5"/>
          <p:cNvSpPr/>
          <p:nvPr/>
        </p:nvSpPr>
        <p:spPr>
          <a:xfrm>
            <a:off x="771525" y="3724275"/>
            <a:ext cx="7147560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 채용 공고 약 30% 회복세</a:t>
            </a:r>
            <a:endParaRPr lang="en-US" sz="2100" dirty="0"/>
          </a:p>
        </p:txBody>
      </p:sp>
      <p:sp>
        <p:nvSpPr>
          <p:cNvPr id="17" name="Text 6"/>
          <p:cNvSpPr/>
          <p:nvPr/>
        </p:nvSpPr>
        <p:spPr>
          <a:xfrm>
            <a:off x="1628775" y="2619375"/>
            <a:ext cx="368046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테크 업계 감원 추세 지속</a:t>
            </a:r>
            <a:endParaRPr lang="en-US" sz="1725" dirty="0"/>
          </a:p>
        </p:txBody>
      </p:sp>
      <p:sp>
        <p:nvSpPr>
          <p:cNvPr id="18" name="Text 7"/>
          <p:cNvSpPr/>
          <p:nvPr/>
        </p:nvSpPr>
        <p:spPr>
          <a:xfrm>
            <a:off x="1628775" y="4210050"/>
            <a:ext cx="31546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소프트웨어 채용 회복세</a:t>
            </a:r>
            <a:endParaRPr lang="en-US" sz="1725" dirty="0"/>
          </a:p>
        </p:txBody>
      </p:sp>
      <p:sp>
        <p:nvSpPr>
          <p:cNvPr id="19" name="Text 8"/>
          <p:cNvSpPr/>
          <p:nvPr/>
        </p:nvSpPr>
        <p:spPr>
          <a:xfrm>
            <a:off x="7667625" y="2181225"/>
            <a:ext cx="446913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업무 역할 축소 암박 심화</a:t>
            </a:r>
            <a:endParaRPr lang="en-US" sz="1725" dirty="0"/>
          </a:p>
        </p:txBody>
      </p:sp>
      <p:sp>
        <p:nvSpPr>
          <p:cNvPr id="20" name="Text 9"/>
          <p:cNvSpPr/>
          <p:nvPr/>
        </p:nvSpPr>
        <p:spPr>
          <a:xfrm>
            <a:off x="7667625" y="3133725"/>
            <a:ext cx="452437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고숙련 AI 협업 엔지니어 수요 증가</a:t>
            </a:r>
            <a:endParaRPr lang="en-US" sz="1725" dirty="0"/>
          </a:p>
        </p:txBody>
      </p:sp>
      <p:sp>
        <p:nvSpPr>
          <p:cNvPr id="21" name="Text 10"/>
          <p:cNvSpPr/>
          <p:nvPr/>
        </p:nvSpPr>
        <p:spPr>
          <a:xfrm>
            <a:off x="7667625" y="4133850"/>
            <a:ext cx="452437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대전환: 총량 감소보다 재편이 핵심</a:t>
            </a:r>
            <a:endParaRPr lang="en-US" sz="1725" dirty="0"/>
          </a:p>
        </p:txBody>
      </p:sp>
      <p:sp>
        <p:nvSpPr>
          <p:cNvPr id="22" name="Text 11"/>
          <p:cNvSpPr/>
          <p:nvPr/>
        </p:nvSpPr>
        <p:spPr>
          <a:xfrm>
            <a:off x="7667625" y="5086350"/>
            <a:ext cx="452437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운용 역량이 채용 필수 스킬</a:t>
            </a:r>
            <a:endParaRPr lang="en-US" sz="1725" dirty="0"/>
          </a:p>
        </p:txBody>
      </p:sp>
      <p:sp>
        <p:nvSpPr>
          <p:cNvPr id="23" name="Text 12"/>
          <p:cNvSpPr/>
          <p:nvPr/>
        </p:nvSpPr>
        <p:spPr>
          <a:xfrm>
            <a:off x="1628775" y="2924175"/>
            <a:ext cx="4274790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layoffs.fyi 데이터 기준 2026년에도 감원 추세 지속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글로벌 빅테크 및 스타트업 전반의 구조조정 압박</a:t>
            </a:r>
            <a:endParaRPr lang="en-US" sz="1500" dirty="0"/>
          </a:p>
        </p:txBody>
      </p:sp>
      <p:sp>
        <p:nvSpPr>
          <p:cNvPr id="24" name="Text 13"/>
          <p:cNvSpPr/>
          <p:nvPr/>
        </p:nvSpPr>
        <p:spPr>
          <a:xfrm>
            <a:off x="1628775" y="4505325"/>
            <a:ext cx="4536728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TrueUp 데이터 기준 전년 대비 회복 확인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에이전트 기반 개발 환경에 최적화된 엔지니어 수요 상승</a:t>
            </a:r>
            <a:endParaRPr lang="en-US" sz="1500" dirty="0"/>
          </a:p>
        </p:txBody>
      </p:sp>
      <p:sp>
        <p:nvSpPr>
          <p:cNvPr id="25" name="Text 14"/>
          <p:cNvSpPr/>
          <p:nvPr/>
        </p:nvSpPr>
        <p:spPr>
          <a:xfrm>
            <a:off x="7667625" y="2495550"/>
            <a:ext cx="4138613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단순 코딩·데이터 라벨링 등 자동화 용이 직군 위축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LLM 코딩 생성 품질 향상에 따른 단순 작업 역할 축소</a:t>
            </a:r>
            <a:endParaRPr lang="en-US" sz="1500" dirty="0"/>
          </a:p>
        </p:txBody>
      </p:sp>
      <p:sp>
        <p:nvSpPr>
          <p:cNvPr id="26" name="Text 15"/>
          <p:cNvSpPr/>
          <p:nvPr/>
        </p:nvSpPr>
        <p:spPr>
          <a:xfrm>
            <a:off x="7623721" y="3448050"/>
            <a:ext cx="4568130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에이전트 설계 및 운영 역량 보유자 수요 상승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복합적 AI 워크플로우 최적화 및 거버넌스 관리 역량 중시</a:t>
            </a:r>
            <a:endParaRPr lang="en-US" sz="1500" dirty="0"/>
          </a:p>
        </p:txBody>
      </p:sp>
      <p:sp>
        <p:nvSpPr>
          <p:cNvPr id="27" name="Text 16"/>
          <p:cNvSpPr/>
          <p:nvPr/>
        </p:nvSpPr>
        <p:spPr>
          <a:xfrm>
            <a:off x="7667625" y="4410075"/>
            <a:ext cx="3803303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단선적 일자리 감소보다 역할 구조 변화로 해석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신규 생성되는 고부가가치 AI 직무로의 인력 이동 촉진</a:t>
            </a:r>
            <a:endParaRPr lang="en-US" sz="1500" dirty="0"/>
          </a:p>
        </p:txBody>
      </p:sp>
      <p:sp>
        <p:nvSpPr>
          <p:cNvPr id="28" name="Text 17"/>
          <p:cNvSpPr/>
          <p:nvPr/>
        </p:nvSpPr>
        <p:spPr>
          <a:xfrm>
            <a:off x="7592318" y="5362575"/>
            <a:ext cx="4599533" cy="76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에이전트 운영 역량이 채용 기준으로 부상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조직 전체의 AI 활용 능력이 개인 및 조직 핵심 경쟁력으로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작용</a:t>
            </a:r>
            <a:endParaRPr lang="en-US" sz="1500" dirty="0"/>
          </a:p>
        </p:txBody>
      </p:sp>
      <p:sp>
        <p:nvSpPr>
          <p:cNvPr id="29" name="Text 18"/>
          <p:cNvSpPr/>
          <p:nvPr/>
        </p:nvSpPr>
        <p:spPr>
          <a:xfrm>
            <a:off x="3514725" y="5886450"/>
            <a:ext cx="554736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i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layoffs.fyi (감원), TrueUp (채용)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8486" y="3298627"/>
            <a:ext cx="694879" cy="69264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0180" y="3284934"/>
            <a:ext cx="731490" cy="72003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486" y="3298627"/>
            <a:ext cx="694879" cy="692646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42875"/>
            <a:ext cx="1196340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30~90일 실무 제안: 엔지니어링 및 전략 로드맵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4200525" y="1628775"/>
            <a:ext cx="3771900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30~90일 주요 실무 제언 (로드맵)</a:t>
            </a:r>
            <a:endParaRPr lang="en-US" sz="1650" dirty="0"/>
          </a:p>
        </p:txBody>
      </p:sp>
      <p:sp>
        <p:nvSpPr>
          <p:cNvPr id="9" name="Text 2"/>
          <p:cNvSpPr/>
          <p:nvPr/>
        </p:nvSpPr>
        <p:spPr>
          <a:xfrm>
            <a:off x="352425" y="742950"/>
            <a:ext cx="377190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650" dirty="0"/>
          </a:p>
        </p:txBody>
      </p:sp>
      <p:sp>
        <p:nvSpPr>
          <p:cNvPr id="10" name="Text 3"/>
          <p:cNvSpPr/>
          <p:nvPr/>
        </p:nvSpPr>
        <p:spPr>
          <a:xfrm>
            <a:off x="823913" y="4495800"/>
            <a:ext cx="3038475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워크플로우 실현 우선 착수</a:t>
            </a:r>
            <a:endParaRPr lang="en-US" sz="1350" dirty="0"/>
          </a:p>
        </p:txBody>
      </p:sp>
      <p:sp>
        <p:nvSpPr>
          <p:cNvPr id="11" name="Text 4"/>
          <p:cNvSpPr/>
          <p:nvPr/>
        </p:nvSpPr>
        <p:spPr>
          <a:xfrm>
            <a:off x="4904333" y="4495800"/>
            <a:ext cx="2535436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일기 전용 데이터 연동으로 시작</a:t>
            </a:r>
            <a:endParaRPr lang="en-US" sz="1350" dirty="0"/>
          </a:p>
        </p:txBody>
      </p:sp>
      <p:sp>
        <p:nvSpPr>
          <p:cNvPr id="12" name="Text 5"/>
          <p:cNvSpPr/>
          <p:nvPr/>
        </p:nvSpPr>
        <p:spPr>
          <a:xfrm>
            <a:off x="8910042" y="4495800"/>
            <a:ext cx="2001143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공급망 리스크 평가 실시</a:t>
            </a:r>
            <a:endParaRPr lang="en-US" sz="1350" dirty="0"/>
          </a:p>
        </p:txBody>
      </p:sp>
      <p:sp>
        <p:nvSpPr>
          <p:cNvPr id="13" name="Text 6"/>
          <p:cNvSpPr/>
          <p:nvPr/>
        </p:nvSpPr>
        <p:spPr>
          <a:xfrm>
            <a:off x="901005" y="2743200"/>
            <a:ext cx="280794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워크플로우 &amp; 스택 전략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864894" y="2743200"/>
            <a:ext cx="256698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연동 &amp; 프로토타입 구축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636794" y="2743200"/>
            <a:ext cx="256698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 평가 &amp; 워크플로우 통합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1459111" y="5238750"/>
            <a:ext cx="163443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스택 전략 수립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065365" y="5238750"/>
            <a:ext cx="2137321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스택 프로토타입 구축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836819" y="5238750"/>
            <a:ext cx="2147888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 삽입 지점 발굴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2055465" y="2381250"/>
            <a:ext cx="460921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1125" dirty="0"/>
          </a:p>
        </p:txBody>
      </p:sp>
      <p:sp>
        <p:nvSpPr>
          <p:cNvPr id="20" name="Text 13"/>
          <p:cNvSpPr/>
          <p:nvPr/>
        </p:nvSpPr>
        <p:spPr>
          <a:xfrm>
            <a:off x="5884515" y="2381250"/>
            <a:ext cx="460921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1125" dirty="0"/>
          </a:p>
        </p:txBody>
      </p:sp>
      <p:sp>
        <p:nvSpPr>
          <p:cNvPr id="21" name="Text 14"/>
          <p:cNvSpPr/>
          <p:nvPr/>
        </p:nvSpPr>
        <p:spPr>
          <a:xfrm>
            <a:off x="9675465" y="2381250"/>
            <a:ext cx="460921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1125" dirty="0"/>
          </a:p>
        </p:txBody>
      </p:sp>
      <p:sp>
        <p:nvSpPr>
          <p:cNvPr id="22" name="Text 15"/>
          <p:cNvSpPr/>
          <p:nvPr/>
        </p:nvSpPr>
        <p:spPr>
          <a:xfrm>
            <a:off x="657225" y="4800600"/>
            <a:ext cx="335280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1"/>
              </a:lnSpc>
              <a:buNone/>
            </a:pPr>
            <a:r>
              <a:rPr lang="en-US" sz="9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재현성·로깅·권한 설계·비용 추적을 모델 성능보다 먼저 검토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64815" y="5543550"/>
            <a:ext cx="3185071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프론티어 모델과 오픈/로컬 스택을 목적별로 혼합 운영</a:t>
            </a:r>
            <a:endParaRPr lang="en-US" sz="975" dirty="0"/>
          </a:p>
        </p:txBody>
      </p:sp>
      <p:sp>
        <p:nvSpPr>
          <p:cNvPr id="24" name="Text 17"/>
          <p:cNvSpPr/>
          <p:nvPr/>
        </p:nvSpPr>
        <p:spPr>
          <a:xfrm>
            <a:off x="4329559" y="4800600"/>
            <a:ext cx="365655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M365 Connector처럼 저위험 연동으로 신뢰 확보 후 점진적 확장</a:t>
            </a:r>
            <a:endParaRPr lang="en-US" sz="975" dirty="0"/>
          </a:p>
        </p:txBody>
      </p:sp>
      <p:sp>
        <p:nvSpPr>
          <p:cNvPr id="25" name="Text 18"/>
          <p:cNvSpPr/>
          <p:nvPr/>
        </p:nvSpPr>
        <p:spPr>
          <a:xfrm>
            <a:off x="4330452" y="5543550"/>
            <a:ext cx="3635573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Gemma 4 + 로컬 벡터 DB로 사내 데이터 기반 자동화 시범 운영</a:t>
            </a:r>
            <a:endParaRPr lang="en-US" sz="975" dirty="0"/>
          </a:p>
        </p:txBody>
      </p:sp>
      <p:sp>
        <p:nvSpPr>
          <p:cNvPr id="26" name="Text 19"/>
          <p:cNvSpPr/>
          <p:nvPr/>
        </p:nvSpPr>
        <p:spPr>
          <a:xfrm>
            <a:off x="8142833" y="4800600"/>
            <a:ext cx="358318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1"/>
              </a:lnSpc>
              <a:buNone/>
            </a:pPr>
            <a:r>
              <a:rPr lang="en-US" sz="9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밴더 의존도 점검 및 정책·거버넌스 리스크를 로드맵에 반영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8144768" y="5543550"/>
            <a:ext cx="354136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업무 흐름 내 자동화 가능 지점을 우선 식별해 단계적 적용</a:t>
            </a:r>
            <a:endParaRPr lang="en-US" sz="975" dirty="0"/>
          </a:p>
        </p:txBody>
      </p:sp>
      <p:sp>
        <p:nvSpPr>
          <p:cNvPr id="28" name="Text 21"/>
          <p:cNvSpPr/>
          <p:nvPr/>
        </p:nvSpPr>
        <p:spPr>
          <a:xfrm>
            <a:off x="104775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5834509" y="6715125"/>
            <a:ext cx="51330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157" y="1686967"/>
            <a:ext cx="10655796" cy="4128492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38125" y="14287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결론: 모델 지능을 넘어 운영의 시대로</a:t>
            </a: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11839575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Updates 심층 리뷰 요약: 모델 지능에서 운영 인프라로의 구조적 전이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6686550" y="6019800"/>
            <a:ext cx="550545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*출처: LG Display AI 전략 리포트 2026 Q2, Anthropic Managed Agents technical paper.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2026-04-13T17:17:35Z</dcterms:created>
  <dcterms:modified xsi:type="dcterms:W3CDTF">2026-04-13T17:17:35Z</dcterms:modified>
</cp:coreProperties>
</file>