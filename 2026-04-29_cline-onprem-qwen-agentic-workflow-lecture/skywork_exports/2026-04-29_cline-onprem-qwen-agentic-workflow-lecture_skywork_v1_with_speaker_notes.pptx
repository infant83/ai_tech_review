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Title - 개인화 Agentic Workflow 강연</a:t>
            </a:r>
            <a:endParaRPr lang="ko-KR"/>
          </a:p>
          <a:p>
            <a:r>
              <a:rPr lang="ko-KR" dirty="0"/>
              <a:t>- 오늘 강연은 Cline 사용법 소개가 아니다. 개인의 반복 업무를 Cline이 참조하고 실행할 수 있는 구조로 만드는 방법을 다룬다. - 업무를 AI에게 넘기는 것이 아니라, AI와 사람이 같이 운영할 수 있는 절차로 재구성하는 관점이다.</a:t>
            </a:r>
            <a:endParaRPr lang="ko-KR"/>
          </a:p>
          <a:p>
            <a:r>
              <a:rPr lang="ko-KR" dirty="0"/>
              <a:t>슬라이드 본문 포인트: - VS Code + Cline + On-premise LLM - Markdown Rules와 Skillset으로 구성하는 업무 자동화 - daily office workflow를 agentic loop로 바꾸는 방법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오늘의 결론을 먼저 말하면</a:t>
            </a:r>
            <a:endParaRPr lang="ko-KR"/>
          </a:p>
          <a:p>
            <a:r>
              <a:rPr lang="ko-KR" dirty="0"/>
              <a:t>- 대통령과 Google DeepMind CEO Demis Hassabis의 짧은 대화를 opening hook으로 사용한다. AlphaGo와 Gemini의 높은 성능을 인정하면서도, Gemini가 때때로 지시하지 않은 일을 하는 문제를 묻는 장면이다. - 자동 자막이 완벽하지 않으므로 장문 인용으로 처리하지 않는다. 이 장면에서 가져올 질문은 단순하다. AI가 강력할수록 instruction, control, audit이 얼마나 구체적이어야 하는가. - 오늘의 중심 문장은 "AI가 참조할 수 있는 업무 운영체계를 만든다"이다. Cline의 rules, skills, workflows, `AGENTS.md`는 그 운영체계의 구체적인 파일 표면이다.</a:t>
            </a:r>
            <a:endParaRPr lang="ko-KR"/>
          </a:p>
          <a:p>
            <a:r>
              <a:rPr lang="ko-KR" dirty="0"/>
              <a:t>슬라이드 본문 포인트: - AI는 이미 충분히 강력하다. - 문제는 instruction과 control이 `specific enough`한가다. - 좋은 prompt보다 오래 남는 것은 좋은 workflow다. - 자동화보다 중요한 것은 검토 가능한 자동화다.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Specific enough란 얼마나 구체적인가</a:t>
            </a:r>
            <a:endParaRPr lang="ko-KR"/>
          </a:p>
          <a:p>
            <a:r>
              <a:rPr lang="ko-KR" dirty="0"/>
              <a:t>- `specific enough`를 감으로 말하면 추상적이다. 최근 Claude Code source-level 분석은 이 질문에 꽤 강한 힌트를 준다. - 연구진은 Claude Code의 공개 TypeScript source code를 분석했고, GitHub README는 98.4%가 deterministic infrastructure, 1.6%가 AI decision logic이라는 framing을 제시한다. 이 수치를 모든 agent에 일반화하면 안 되지만, agent 제품의 실체가 model call 주변의 permission, context, tool routing, recovery logic에 있다는 점은 강한 시사점이다. - Cline 강연에서도 같은 구조를 개인 업무 규모로 낮춰 설명한다. Global Rules, Local Rules,</a:t>
            </a:r>
            <a:endParaRPr lang="ko-KR"/>
          </a:p>
          <a:p>
            <a:r>
              <a:rPr lang="ko-KR" dirty="0"/>
              <a:t>Skillset, Workflow, `AGENTS.md`, working notes가 바로 작은 규모의 harness다.</a:t>
            </a:r>
            <a:endParaRPr lang="ko-KR"/>
          </a:p>
          <a:p>
            <a:r>
              <a:rPr lang="ko-KR" dirty="0"/>
              <a:t>슬라이드 본문 포인트: - Claude Code 분석: `1.6% AI / 98.4% infrastructure` - permission, context, compaction, tools, recovery가 agent를 움직임 - core loop는 단순하지만 주변 harness가 복잡함 - Cline에서도 rules와 workflow가 부가 기능이 아니라 운영층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가능성의 반대편: AI-assisted discovery</a:t>
            </a:r>
            <a:endParaRPr lang="ko-KR"/>
          </a:p>
          <a:p>
            <a:r>
              <a:rPr lang="ko-KR" dirty="0"/>
              <a:t>- 인트로는 공포나 통제만으로 끝내면 안 된다. AI는 실제로 새로운 경로를 제안할 수 있다. - Erdős Problem #1196 사례는 Liam Price, GPT-5.4 Pro, Terence Tao와 Jared Duker Lichtman의 논의, formalization/refinement가 결합된 사례로 설명한다. `AI가 혼자 난제를 풀었다`고 과장하지 않는다. - 이 사례가 보여주는 것은 가능성이다. 동시에 그 가능성은 human review, proof audit, provenance가 붙을 때 신뢰 가능한 결과가 된다. - 이제 이 질문을 연구소의 일상 업무로 가져온다. 이메일, 보고서, Git, Obsidian, OpenProject도 작지만 같은 구조를 가진다.</a:t>
            </a:r>
            <a:endParaRPr lang="ko-KR"/>
          </a:p>
          <a:p>
            <a:r>
              <a:rPr lang="ko-KR" dirty="0"/>
              <a:t>슬라이드 본문 포인트: - Erdős #1196: AI-assisted mathematical discovery 사례 - prompt, model exploration, expert verification, formalization이 결합 - 강력한 AI일수록 provenance와 audit이 중요 - 오늘의 질문: 이 힘을 daily office workflow에 안전하게 연결하는 법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System Overview</a:t>
            </a:r>
            <a:endParaRPr lang="ko-KR"/>
          </a:p>
          <a:p>
            <a:r>
              <a:rPr lang="ko-KR" dirty="0"/>
              <a:t>- Cline은 VS Code 안에서 작업 공간과 연결된다. 모델은 reasoning을 담당하지만, 실제 업무성은 files, terminal, Git, notes 같은 주변 시스템과 연결될 때 생긴다.</a:t>
            </a:r>
            <a:endParaRPr lang="ko-KR"/>
          </a:p>
          <a:p>
            <a:r>
              <a:rPr lang="ko-KR" dirty="0"/>
              <a:t>슬라이드 본문 포인트: - User -&gt; VS Code -&gt; Cline -&gt; On-premise LLM - Tools: files, terminal, Git, browser, MCP - Notes: Markdown, Obsidian, project docs - Review: 사람이 승인하고 수정하는 checkpoint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Cline의 역할을 다시 정의하기</a:t>
            </a:r>
            <a:endParaRPr lang="ko-KR"/>
          </a:p>
          <a:p>
            <a:r>
              <a:rPr lang="ko-KR" dirty="0"/>
              <a:t>- Cline은 코드를 작성하는 도구로 시작하지만, rule과 workflow를 구성하면 daily work assistant가 된다. - 중요한 것은 Cline이 내 업무 스타일을 추측하게 두는 것이 아니라, 읽을 수 있는 지침으로 제공하는 것이다.</a:t>
            </a:r>
            <a:endParaRPr lang="ko-KR"/>
          </a:p>
          <a:p>
            <a:r>
              <a:rPr lang="ko-KR" dirty="0"/>
              <a:t>슬라이드 본문 포인트: - coding assistant - tool-using agent - workflow assistant - personal workflow harness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Cline이 실제로 다루는 작업 표면</a:t>
            </a:r>
            <a:endParaRPr lang="ko-KR"/>
          </a:p>
          <a:p>
            <a:r>
              <a:rPr lang="ko-KR" dirty="0"/>
              <a:t>- 공식 repository 설명 기준 Cline은 파일, terminal, browser, MCP와 연결된다. 이것은 강력하지만 통제가 필요하다는 뜻이기도 하다.</a:t>
            </a:r>
            <a:endParaRPr lang="ko-KR"/>
          </a:p>
          <a:p>
            <a:r>
              <a:rPr lang="ko-KR" dirty="0"/>
              <a:t>슬라이드 본문 포인트: - file structure와 source code context - terminal command 결과 - browser 및 web tool - MCP 기반 custom tool - diff 기반 file edit와 human review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왜 On-premise LLM인가</a:t>
            </a:r>
            <a:endParaRPr lang="ko-KR"/>
          </a:p>
          <a:p>
            <a:r>
              <a:rPr lang="ko-KR" dirty="0"/>
              <a:t>- 온프레미스 환경은 내부 데이터 처리 관점에서 유리한 선택지다. 그러나 모델이 내부에 있다고 해서 자동으로 안전한 workflow가 되는 것은 아니다. - 어떤 파일을 읽을 수 있는지, 어떤 명령을 실행할 수 있는지, 무엇을 저장하는지까지 설계해야 한다.</a:t>
            </a:r>
            <a:endParaRPr lang="ko-KR"/>
          </a:p>
          <a:p>
            <a:r>
              <a:rPr lang="ko-KR" dirty="0"/>
              <a:t>슬라이드 본문 포인트: - 내부 자료와 연구 데이터 보호 - governance와 audit 요구 - 재현 가능한 운영 환경 - 외부 SaaS 의존도 조절 - 단, on-premise만으로 안전이 완성되지는 않음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Qwen 계열 모델을 말할 때의 주의점</a:t>
            </a:r>
            <a:endParaRPr lang="ko-KR"/>
          </a:p>
          <a:p>
            <a:r>
              <a:rPr lang="ko-KR" dirty="0"/>
              <a:t>- Qwen 관련 설명은 정확성이 중요하다. 외부 자료에서 확인한 수치가 내부 모델을 의미하지 않는다. - 내부 심층 리서치 원문이 확보되면 모델명을 확정하고, 지금 단계에서는 Qwen 계열 온프레미스 LLM이라고 표현한다.</a:t>
            </a:r>
            <a:endParaRPr lang="ko-KR"/>
          </a:p>
          <a:p>
            <a:r>
              <a:rPr lang="ko-KR" dirty="0"/>
              <a:t>슬라이드 본문 포인트: - 내부 모델명과 파라미터 수는 확인된 자료 기준으로만 표현 - Qwen3-Coder-Next 외부 자료는 agentic coding trend anchor로 사용 - local development와 coding agent 최적화 흐름은 발표 맥락과 연결 가능 - 내부 endpoint와 운영 정보는 placeholder 처리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Cloud LLM vs On-premise LLM Governance 비교</a:t>
            </a:r>
            <a:endParaRPr lang="ko-KR"/>
          </a:p>
          <a:p>
            <a:r>
              <a:rPr lang="ko-KR" dirty="0"/>
              <a:t>- 어느 쪽이 절대적으로 좋다고 말하기보다, governance surface가 어디에 있는지 비교한다. - 온프레미스는 데이터 통제에 강점이 있지만, 운영 책임이 내부로 들어온다.</a:t>
            </a:r>
            <a:endParaRPr lang="ko-KR"/>
          </a:p>
          <a:p>
            <a:r>
              <a:rPr lang="ko-KR" dirty="0"/>
              <a:t>슬라이드 본문 포인트: - 데이터 이동 경로 - 접근 제어와 audit - 모델/인프라 운영 책임 - latency와 availability - 비용과 확장성 trade-off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Prompt Engineering에서 Workflow Engineering으로</a:t>
            </a:r>
            <a:endParaRPr lang="ko-KR"/>
          </a:p>
          <a:p>
            <a:r>
              <a:rPr lang="ko-KR" dirty="0"/>
              <a:t>- prompt만 잘 써서는 매번 새로 시작한다. workflow는 작업 절차 자체를 asset으로 만든다. - 최근 agent trend도 이 방향으로 이동하고 있다. 모델 표면보다 harness interface가 중요해진다.</a:t>
            </a:r>
            <a:endParaRPr lang="ko-KR"/>
          </a:p>
          <a:p>
            <a:r>
              <a:rPr lang="ko-KR" dirty="0"/>
              <a:t>슬라이드 본문 포인트: - Prompt: 한 번의 요청을 잘 쓰는 기술 - Workflow: 반복 가능한 작업 절차를 설계하는 기술 - Harness: model, tools, rules, memory를 묶는 실행 구조 - 좋은 workflow는 다음 작업에 재사용됨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Human-readable + AI-readable Markdown</a:t>
            </a:r>
            <a:endParaRPr lang="ko-KR"/>
          </a:p>
          <a:p>
            <a:r>
              <a:rPr lang="ko-KR" dirty="0"/>
              <a:t>- Markdown은 단순 문서 형식이 아니다. 사람과 agent가 같이 읽는 업무 interface가 된다. - 문서가 사람이 읽기 어려우면 유지되지 않고, agent가 읽기 어려우면 실행되지 않는다.</a:t>
            </a:r>
            <a:endParaRPr lang="ko-KR"/>
          </a:p>
          <a:p>
            <a:r>
              <a:rPr lang="ko-KR" dirty="0"/>
              <a:t>슬라이드 본문 포인트: - 사람은 읽고 고칠 수 있어야 함 - Cline은 그대로 context로 읽을 수 있어야 함 - rule, workflow, note, template이 같은 문법을 공유 - Markdown은 업무 절차를 지식 자산으로 남김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Working Notes가 중요한 이유</a:t>
            </a:r>
            <a:endParaRPr lang="ko-KR"/>
          </a:p>
          <a:p>
            <a:r>
              <a:rPr lang="ko-KR" dirty="0"/>
              <a:t>- Cline이 잘 동작하려면 과거 작업 맥락이 필요하다. 그 맥락은 chat history에만 있으면 약하다. - Markdown working note로 남겨야 다음 작업에서 다시 참조할 수 있다.</a:t>
            </a:r>
            <a:endParaRPr lang="ko-KR"/>
          </a:p>
          <a:p>
            <a:r>
              <a:rPr lang="ko-KR" dirty="0"/>
              <a:t>슬라이드 본문 포인트: - agent output을 작업 이력으로 남김 - 다음 보고서와 회의 준비의 source가 됨 - context switching 비용 감소 - 개인 업무 기억을 project memory로 전환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Agentic Workflow의 기본 구성요소</a:t>
            </a:r>
            <a:endParaRPr lang="ko-KR"/>
          </a:p>
          <a:p>
            <a:r>
              <a:rPr lang="ko-KR" dirty="0"/>
              <a:t>- 이 다섯 가지가 없으면 agent는 좋은 답변은 할 수 있어도 안정적인 업무 수행자는 되기 어렵다.</a:t>
            </a:r>
            <a:endParaRPr lang="ko-KR"/>
          </a:p>
          <a:p>
            <a:r>
              <a:rPr lang="ko-KR" dirty="0"/>
              <a:t>슬라이드 본문 포인트: - Instruction: 무엇을 우선할 것인가 - Context: 어떤 자료를 볼 것인가 - Tool: 어떤 행동을 할 수 있는가 - Boundary: 어디서 멈출 것인가 - Memory: 무엇을 남길 것인가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Harness Engineering 트렌드</a:t>
            </a:r>
            <a:endParaRPr lang="ko-KR"/>
          </a:p>
          <a:p>
            <a:r>
              <a:rPr lang="ko-KR" dirty="0"/>
              <a:t>- 최근 흐름은 "더 똑똑한 모델"만의 문제가 아니다. agent가 어떤 환경에서 어떤 권한으로 움직이는지가 중요해진다. - 개인 업무에서도 같은 원리가 적용된다.</a:t>
            </a:r>
            <a:endParaRPr lang="ko-KR"/>
          </a:p>
          <a:p>
            <a:r>
              <a:rPr lang="ko-KR" dirty="0"/>
              <a:t>슬라이드 본문 포인트: - model selection을 넘어 agent operating layer로 이동 - MCP, Skills, `AGENTS.md`, sandbox, tool permission - 업무별 domain logic이 경쟁력이 됨 - 조직에서는 governance와 실행성을 동시에 봐야 함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Global Rules란 무엇인가</a:t>
            </a:r>
            <a:endParaRPr lang="ko-KR"/>
          </a:p>
          <a:p>
            <a:r>
              <a:rPr lang="ko-KR" dirty="0"/>
              <a:t>- Global Rules는 내 일하는 방식의 기본값이다. 예를 들어 "민감 정보는 generic placeholder로 바꿔라", "destructive command 전에는 반드시 확인하라" 같은 원칙이다.</a:t>
            </a:r>
            <a:endParaRPr lang="ko-KR"/>
          </a:p>
          <a:p>
            <a:r>
              <a:rPr lang="ko-KR" dirty="0"/>
              <a:t>슬라이드 본문 포인트: - 모든 project에 적용되는 개인 기본 원칙 - 말투, 보고 형식, 보안 기본선 - 승인 없이 하지 말아야 할 작업 - 반복 업무의 기본 처리 방식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Local Rules란 무엇인가</a:t>
            </a:r>
            <a:endParaRPr lang="ko-KR"/>
          </a:p>
          <a:p>
            <a:r>
              <a:rPr lang="ko-KR" dirty="0"/>
              <a:t>- Local Rules는 project-specific context다. 같은 Git workflow라도 프로젝트마다 test command, report format, 금지 경로가 다르다.</a:t>
            </a:r>
            <a:endParaRPr lang="ko-KR"/>
          </a:p>
          <a:p>
            <a:r>
              <a:rPr lang="ko-KR" dirty="0"/>
              <a:t>슬라이드 본문 포인트: - 특정 repository 또는 project에 붙는 규칙 - build/test/deploy 절차 - commit convention과 branch 전략 - 연구노트, 보고서, data path 규칙 - Global Rules와 충돌하면 local context를 우선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`AGENTS.md`의 의미</a:t>
            </a:r>
            <a:endParaRPr lang="ko-KR"/>
          </a:p>
          <a:p>
            <a:r>
              <a:rPr lang="ko-KR" dirty="0"/>
              <a:t>- `AGENTS.md`는 agent에게만 주는 비밀 prompt가 아니다. 프로젝트에서 agent가 어떻게 행동해야 하는지를 사람이 함께 검토할 수 있는 문서다.</a:t>
            </a:r>
            <a:endParaRPr lang="ko-KR"/>
          </a:p>
          <a:p>
            <a:r>
              <a:rPr lang="ko-KR" dirty="0"/>
              <a:t>슬라이드 본문 포인트: - repository에 함께 남는 agent instruction surface - cross-tool compatibility를 고려한 지침 파일 - 사람이 리뷰할 수 있는 업무 계약서 - project onboarding 문서로도 활용 가능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Skillset은 언제 필요한가</a:t>
            </a:r>
            <a:endParaRPr lang="ko-KR"/>
          </a:p>
          <a:p>
            <a:r>
              <a:rPr lang="ko-KR" dirty="0"/>
              <a:t>- Skillset은 모든 상황에 넣는 지침이 아니다. 필요할 때 로드되는 전문 절차다. - 예를 들어 "OpenProject 업데이트", "Obsidian 회의록 정리", "Git release note 작성"은 skill로 분리하기 좋다.</a:t>
            </a:r>
            <a:endParaRPr lang="ko-KR"/>
          </a:p>
          <a:p>
            <a:r>
              <a:rPr lang="ko-KR" dirty="0"/>
              <a:t>슬라이드 본문 포인트: - 항상 로드하기에는 긴 전문 절차 - 특정 업무에서만 필요한 domain knowledge - 분석, 문서화, 배포, 보안 검토 같은 역할별 절차 - 재사용 가능한 업무 능력 단위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Workflow는 언제 필요한가</a:t>
            </a:r>
            <a:endParaRPr lang="ko-KR"/>
          </a:p>
          <a:p>
            <a:r>
              <a:rPr lang="ko-KR" dirty="0"/>
              <a:t>- workflow는 "매번 설명하기 싫은 절차"를 파일로 만든 것이다. - daily report, release prep, issue sync, paper review intake 같은 업무가 여기에 맞다.</a:t>
            </a:r>
            <a:endParaRPr lang="ko-KR"/>
          </a:p>
          <a:p>
            <a:r>
              <a:rPr lang="ko-KR" dirty="0"/>
              <a:t>슬라이드 본문 포인트: - 반복되는 multi-step process - 순서와 중단 조건이 중요한 업무 - tool call과 human checkpoint가 섞인 작업 - slash command로 호출 가능한 절차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Rule, Skill, Workflow를 나누는 기준</a:t>
            </a:r>
            <a:endParaRPr lang="ko-KR"/>
          </a:p>
          <a:p>
            <a:r>
              <a:rPr lang="ko-KR" dirty="0"/>
              <a:t>- 이 구분이 흐려지면 모든 지침이 한 파일에 쌓인다. 그러면 사람이 유지하기도 어렵고 agent도 필요한 맥락을 놓친다.</a:t>
            </a:r>
            <a:endParaRPr lang="ko-KR"/>
          </a:p>
          <a:p>
            <a:r>
              <a:rPr lang="ko-KR" dirty="0"/>
              <a:t>슬라이드 본문 포인트: - Rule: 항상 지켜야 하는 방식 - Skill: 필요할 때 꺼내 쓰는 전문성 - Workflow: 순서대로 실행할 절차 - Note: 결과와 맥락을 남기는 기록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예시: 내 업무용 Cline harness 구성</a:t>
            </a:r>
            <a:endParaRPr lang="ko-KR"/>
          </a:p>
          <a:p>
            <a:r>
              <a:rPr lang="ko-KR" dirty="0"/>
              <a:t>- 여기서부터는 개념이 아니라 운영 구조를 본다. Cline을 매번 설득하는 대신, Cline이 읽을 수 있는 업무 환경을 만든다.</a:t>
            </a:r>
            <a:endParaRPr lang="ko-KR"/>
          </a:p>
          <a:p>
            <a:r>
              <a:rPr lang="ko-KR" dirty="0"/>
              <a:t>슬라이드 본문 포인트: - Global Rules: 보안, 말투, 보고 기본값 - Local Rules: project별 build/test/report 규칙 - Workflows: daily checkup, daily report, Git update - Skills: Obsidian, OpenProject, research memo - Notes: 작업 결과와 다음 action 저장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Demo 1 - Email summarization / daily checkup</a:t>
            </a:r>
            <a:endParaRPr lang="ko-KR"/>
          </a:p>
          <a:p>
            <a:r>
              <a:rPr lang="ko-KR" dirty="0"/>
              <a:t>- 이메일 요약은 단순 요약으로 끝나면 가치가 작다. action item과 다음 작업으로 연결되어야 한다. - Cline이 할 일은 요약 초안과 분류이고, 사람이 할 일은 외부 발송과 민감 판단이다.</a:t>
            </a:r>
            <a:endParaRPr lang="ko-KR"/>
          </a:p>
          <a:p>
            <a:r>
              <a:rPr lang="ko-KR" dirty="0"/>
              <a:t>슬라이드 본문 포인트: - 오늘 확인할 email과 일정 확인 - action item, deadline, reply-needed 분류 - 민감한 reply는 사람이 검토 - 결과를 daily note로 저장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Demo 2 - Daily report preparation</a:t>
            </a:r>
            <a:endParaRPr lang="ko-KR"/>
          </a:p>
          <a:p>
            <a:r>
              <a:rPr lang="ko-KR" dirty="0"/>
              <a:t>- daily report는 하루가 끝날 때 새로 쓰는 문서가 아니라, 하루 동안 쌓인 working note를 재구성하는 결과물이어야 한다.</a:t>
            </a:r>
            <a:endParaRPr lang="ko-KR"/>
          </a:p>
          <a:p>
            <a:r>
              <a:rPr lang="ko-KR" dirty="0"/>
              <a:t>슬라이드 본문 포인트: - 오늘 한 일 - 진행 중인 일 - blocker - tomorrow plan - Obsidian 또는 Markdown report 저장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Demo 3 - Git / DevOps workflow</a:t>
            </a:r>
            <a:endParaRPr lang="ko-KR"/>
          </a:p>
          <a:p>
            <a:r>
              <a:rPr lang="ko-KR" dirty="0"/>
              <a:t>- Git workflow는 Cline이 강력하게 도와줄 수 있지만 위험도도 있다. 그래서 command boundary와 approval rule이 필요하다.</a:t>
            </a:r>
            <a:endParaRPr lang="ko-KR"/>
          </a:p>
          <a:p>
            <a:r>
              <a:rPr lang="ko-KR" dirty="0"/>
              <a:t>슬라이드 본문 포인트: - repository status 확인 - diff summary 생성 - commit message 초안 작성 - issue 또는 OpenProject update 연결 - push/merge는 human approval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Daily office workflow loop</a:t>
            </a:r>
            <a:endParaRPr lang="ko-KR"/>
          </a:p>
          <a:p>
            <a:r>
              <a:rPr lang="ko-KR" dirty="0"/>
              <a:t>- 세 데모를 따로 보면 작은 자동화처럼 보인다. 묶어서 보면 업무 루프가 된다. - 이 루프가 반복될수록 agent가 참조할 context가 늘어난다.</a:t>
            </a:r>
            <a:endParaRPr lang="ko-KR"/>
          </a:p>
          <a:p>
            <a:r>
              <a:rPr lang="ko-KR" dirty="0"/>
              <a:t>슬라이드 본문 포인트: - Email -&gt; Summary - Summary -&gt; Daily Note - Daily Note -&gt; Report - Report -&gt; Git/Project Update - Update -&gt; Next Task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Agent output은 끝이 아니라 input이다</a:t>
            </a:r>
            <a:endParaRPr lang="ko-KR"/>
          </a:p>
          <a:p>
            <a:r>
              <a:rPr lang="ko-KR" dirty="0"/>
              <a:t>- AI output을 복사해서 버리면 축적이 없다. Markdown으로 저장하고 다음 workflow가 읽게 해야 한다.</a:t>
            </a:r>
            <a:endParaRPr lang="ko-KR"/>
          </a:p>
          <a:p>
            <a:r>
              <a:rPr lang="ko-KR" dirty="0"/>
              <a:t>슬라이드 본문 포인트: - 요약은 다음 회의 준비의 source - report는 project tracking의 source - Git summary는 release note의 source - working note는 다음 Cline task의 context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Human-in-the-loop feedback cycle</a:t>
            </a:r>
            <a:endParaRPr lang="ko-KR"/>
          </a:p>
          <a:p>
            <a:r>
              <a:rPr lang="ko-KR" dirty="0"/>
              <a:t>- 사람이 매번 agent를 통제한다는 뜻이 아니다. 사람이 경계를 정하고, 잘못된 결과를 rule이나 workflow 개선으로 되돌린다는 뜻이다.</a:t>
            </a:r>
            <a:endParaRPr lang="ko-KR"/>
          </a:p>
          <a:p>
            <a:r>
              <a:rPr lang="ko-KR" dirty="0"/>
              <a:t>슬라이드 본문 포인트: - Request - Agent action - Human review - Refined instruction - Saved workflow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실패한 output을 어떻게 자산으로 바꾸는가</a:t>
            </a:r>
            <a:endParaRPr lang="ko-KR"/>
          </a:p>
          <a:p>
            <a:r>
              <a:rPr lang="ko-KR" dirty="0"/>
              <a:t>- 실패한 agent output은 낭비가 아니다. 반복되는 실패는 지침이 부족하다는 신호다.</a:t>
            </a:r>
            <a:endParaRPr lang="ko-KR"/>
          </a:p>
          <a:p>
            <a:r>
              <a:rPr lang="ko-KR" dirty="0"/>
              <a:t>슬라이드 본문 포인트: - 왜 실패했는지 기록 - rule로 바꿀지 workflow로 바꿀지 결정 - 예외와 중단 조건을 추가 - 다음 실행에서 재검증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Governance, Boundaries, Risk Management</a:t>
            </a:r>
            <a:endParaRPr lang="ko-KR"/>
          </a:p>
          <a:p>
            <a:r>
              <a:rPr lang="ko-KR" dirty="0"/>
              <a:t>- 내부 모델을 쓴다고 보안 문제가 사라지지 않는다. agent에게 어떤 권한을 줄지, 어디서 멈출지를 문서와 도구 수준에서 설계해야 한다.</a:t>
            </a:r>
            <a:endParaRPr lang="ko-KR"/>
          </a:p>
          <a:p>
            <a:r>
              <a:rPr lang="ko-KR" dirty="0"/>
              <a:t>슬라이드 본문 포인트: - On-premise LLM도 무제한 접근을 의미하지 않음 - 민감 파일과 개인정보는 접근 제외 - destructive command와 외부 전송은 승인 필요 - 사람은 최종 책임자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Conclusion &amp; Q&amp;A</a:t>
            </a:r>
            <a:endParaRPr lang="ko-KR"/>
          </a:p>
          <a:p>
            <a:r>
              <a:rPr lang="ko-KR" dirty="0"/>
              <a:t>- 마지막으로 도구보다 구조를 강조한다. 오늘 이후 바로 할 수 있는 일은 거창한 agent를 만드는 것이 아니라, 내 업무의 첫 workflow와 첫 rule을 쓰는 것이다.</a:t>
            </a:r>
            <a:endParaRPr lang="ko-KR"/>
          </a:p>
          <a:p>
            <a:r>
              <a:rPr lang="ko-KR" dirty="0"/>
              <a:t>슬라이드 본문 포인트: - Cline은 personal workflow harness로 확장 가능 - Markdown Rules와 Skillset은 사람과 AI가 공유하는 업무 운영체계 - 좋은 자동화는 검토 가능하고 반복 가능해야 함 - 질문: 내 업무에서 가장 먼저 workflow로 만들 수 있는 것은 무엇인가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Appendix - Example Global Rule</a:t>
            </a:r>
            <a:endParaRPr lang="ko-KR"/>
          </a:p>
          <a:p>
            <a:r>
              <a:rPr lang="ko-KR" dirty="0"/>
              <a:t>부록 슬라이드입니다. Appendix - Example Global Rule의 예시를 보여주며, 실제 업무 환경에서는 보안 정책과 프로젝트 규칙에 맞게 항목을 조정해야 합니다.</a:t>
            </a:r>
            <a:endParaRPr lang="ko-KR"/>
          </a:p>
          <a:p>
            <a:r>
              <a:rPr lang="ko-KR" dirty="0"/>
              <a:t>- 보안 기본 원칙 - 대외 발송 금지 - 민감 정보 placeholder 처리 - destructive command approval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Appendix - Example Local Rule</a:t>
            </a:r>
            <a:endParaRPr lang="ko-KR"/>
          </a:p>
          <a:p>
            <a:r>
              <a:rPr lang="ko-KR" dirty="0"/>
              <a:t>부록 슬라이드입니다. Appendix - Example Local Rule의 예시를 보여주며, 실제 업무 환경에서는 보안 정책과 프로젝트 규칙에 맞게 항목을 조정해야 합니다.</a:t>
            </a:r>
            <a:endParaRPr lang="ko-KR"/>
          </a:p>
          <a:p>
            <a:r>
              <a:rPr lang="ko-KR" dirty="0"/>
              <a:t>- project 목적 - build/test command - report format - forbidden paths - commit convention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Appendix - Example Daily Report Template</a:t>
            </a:r>
            <a:endParaRPr lang="ko-KR"/>
          </a:p>
          <a:p>
            <a:r>
              <a:rPr lang="ko-KR" dirty="0"/>
              <a:t>부록 슬라이드입니다. Appendix - Example Daily Report Template의 예시를 보여주며, 실제 업무 환경에서는 보안 정책과 프로젝트 규칙에 맞게 항목을 조정해야 합니다.</a:t>
            </a:r>
            <a:endParaRPr lang="ko-KR"/>
          </a:p>
          <a:p>
            <a:r>
              <a:rPr lang="ko-KR" dirty="0"/>
              <a:t>- Done - In progress - Blockers - Tomorrow - Links / Evidence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Appendix - Example Git Workflow Instruction</a:t>
            </a:r>
            <a:endParaRPr lang="ko-KR"/>
          </a:p>
          <a:p>
            <a:r>
              <a:rPr lang="ko-KR" dirty="0"/>
              <a:t>부록 슬라이드입니다. Appendix - Example Git Workflow Instruction의 예시를 보여주며, 실제 업무 환경에서는 보안 정책과 프로젝트 규칙에 맞게 항목을 조정해야 합니다.</a:t>
            </a:r>
            <a:endParaRPr lang="ko-KR"/>
          </a:p>
          <a:p>
            <a:r>
              <a:rPr lang="ko-KR" dirty="0"/>
              <a:t>- Check status - Summarize diff - Propose commit message - Ask before commit - Link issue or OpenProject item</a:t>
            </a:r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image" Target="../media/image-22-22.png"/><Relationship Id="rId23" Type="http://schemas.openxmlformats.org/officeDocument/2006/relationships/image" Target="../media/image-22-23.png"/><Relationship Id="rId24" Type="http://schemas.openxmlformats.org/officeDocument/2006/relationships/image" Target="../media/image-22-24.png"/><Relationship Id="rId25" Type="http://schemas.openxmlformats.org/officeDocument/2006/relationships/image" Target="../media/image-22-25.png"/><Relationship Id="rId26" Type="http://schemas.openxmlformats.org/officeDocument/2006/relationships/image" Target="../media/image-22-26.png"/><Relationship Id="rId27" Type="http://schemas.openxmlformats.org/officeDocument/2006/relationships/image" Target="../media/image-22-27.png"/><Relationship Id="rId28" Type="http://schemas.openxmlformats.org/officeDocument/2006/relationships/image" Target="../media/image-22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pn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pn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png"/><Relationship Id="rId23" Type="http://schemas.openxmlformats.org/officeDocument/2006/relationships/image" Target="../media/image-27-23.png"/><Relationship Id="rId24" Type="http://schemas.openxmlformats.org/officeDocument/2006/relationships/image" Target="../media/image-27-24.png"/><Relationship Id="rId25" Type="http://schemas.openxmlformats.org/officeDocument/2006/relationships/image" Target="../media/image-27-25.png"/><Relationship Id="rId26" Type="http://schemas.openxmlformats.org/officeDocument/2006/relationships/image" Target="../media/image-27-26.png"/><Relationship Id="rId27" Type="http://schemas.openxmlformats.org/officeDocument/2006/relationships/image" Target="../media/image-27-27.png"/><Relationship Id="rId28" Type="http://schemas.openxmlformats.org/officeDocument/2006/relationships/image" Target="../media/image-27-28.png"/><Relationship Id="rId29" Type="http://schemas.openxmlformats.org/officeDocument/2006/relationships/image" Target="../media/image-27-29.png"/><Relationship Id="rId30" Type="http://schemas.openxmlformats.org/officeDocument/2006/relationships/image" Target="../media/image-27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pn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png"/><Relationship Id="rId21" Type="http://schemas.openxmlformats.org/officeDocument/2006/relationships/image" Target="../media/image-30-21.png"/><Relationship Id="rId22" Type="http://schemas.openxmlformats.org/officeDocument/2006/relationships/image" Target="../media/image-30-22.png"/><Relationship Id="rId23" Type="http://schemas.openxmlformats.org/officeDocument/2006/relationships/image" Target="../media/image-30-23.png"/><Relationship Id="rId24" Type="http://schemas.openxmlformats.org/officeDocument/2006/relationships/image" Target="../media/image-30-24.png"/><Relationship Id="rId25" Type="http://schemas.openxmlformats.org/officeDocument/2006/relationships/image" Target="../media/image-30-25.png"/><Relationship Id="rId26" Type="http://schemas.openxmlformats.org/officeDocument/2006/relationships/image" Target="../media/image-30-26.png"/><Relationship Id="rId27" Type="http://schemas.openxmlformats.org/officeDocument/2006/relationships/image" Target="../media/image-30-27.png"/><Relationship Id="rId28" Type="http://schemas.openxmlformats.org/officeDocument/2006/relationships/image" Target="../media/image-30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pn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png"/><Relationship Id="rId22" Type="http://schemas.openxmlformats.org/officeDocument/2006/relationships/image" Target="../media/image-31-22.png"/><Relationship Id="rId23" Type="http://schemas.openxmlformats.org/officeDocument/2006/relationships/image" Target="../media/image-31-23.png"/><Relationship Id="rId24" Type="http://schemas.openxmlformats.org/officeDocument/2006/relationships/image" Target="../media/image-31-24.png"/><Relationship Id="rId25" Type="http://schemas.openxmlformats.org/officeDocument/2006/relationships/image" Target="../media/image-31-25.png"/><Relationship Id="rId26" Type="http://schemas.openxmlformats.org/officeDocument/2006/relationships/image" Target="../media/image-31-26.png"/><Relationship Id="rId27" Type="http://schemas.openxmlformats.org/officeDocument/2006/relationships/image" Target="../media/image-31-27.png"/><Relationship Id="rId28" Type="http://schemas.openxmlformats.org/officeDocument/2006/relationships/image" Target="../media/image-31-28.png"/><Relationship Id="rId29" Type="http://schemas.openxmlformats.org/officeDocument/2006/relationships/image" Target="../media/image-3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1582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535436"/>
            <a:ext cx="10668000" cy="230326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05500"/>
            <a:ext cx="10668000" cy="381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47750" y="571500"/>
            <a:ext cx="1038225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spc="-58" kern="0" dirty="0">
                <a:solidFill>
                  <a:srgbClr val="212529"/>
                </a:solidFill>
              </a:rPr>
              <a:t>From Prompt to Workflow: VS Code + Cline + On-premise LLM을 활용한 일상 업무 자동화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047750" y="1811536"/>
            <a:ext cx="1114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6C757D"/>
                </a:solidFill>
              </a:rPr>
              <a:t>VS Code 확장 Cline을 활용한 개인화 Agentic Workflow 구축과 일상 업무 자동화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762000" y="5314950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DATE</a:t>
            </a:r>
            <a:endParaRPr lang="en-US" sz="1050" dirty="0"/>
          </a:p>
        </p:txBody>
      </p:sp>
      <p:sp>
        <p:nvSpPr>
          <p:cNvPr id="10" name="Text 3"/>
          <p:cNvSpPr/>
          <p:nvPr/>
        </p:nvSpPr>
        <p:spPr>
          <a:xfrm>
            <a:off x="762000" y="5553075"/>
            <a:ext cx="35661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2026. 04. 28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2124075" y="5314950"/>
            <a:ext cx="2362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DURATION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2124075" y="5553075"/>
            <a:ext cx="60350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90 Minutes Technical Session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867275" y="5314950"/>
            <a:ext cx="2400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CATEGORY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867275" y="5553075"/>
            <a:ext cx="57607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Agentic Workflow Engineering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76300" y="6029325"/>
            <a:ext cx="50025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본 세션은 실무 방법론 중심의 기술 가이드를 제공합니다.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572125" cy="254436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561207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73996"/>
            <a:ext cx="5572125" cy="260300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4184898"/>
            <a:ext cx="2857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139130"/>
            <a:ext cx="5572125" cy="2619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450032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8905" y="245358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1780" y="2625030"/>
            <a:ext cx="28575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585" y="2907953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38890" y="245358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1765" y="2625030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95570" y="2907953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18874" y="245358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1749" y="2625030"/>
            <a:ext cx="285750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3949005"/>
            <a:ext cx="5572125" cy="252799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362896"/>
            <a:ext cx="28575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AI 성능의 역설: 강력한 모델일수록 하네스가 필요한 이유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대통령과 데미스 허사비스의 대화를 통해 AI의 놀라운 성능 이면에 존재하는 통제 가능성과 지시 구체성의 중요성을 논의합니다.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619125" y="1974205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YouTube Shorts 대화의 시사점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809625" y="2374255"/>
            <a:ext cx="774590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대통령과 Demis Hassabis(Google DeepMind CEO)의 대화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809625" y="2694236"/>
            <a:ext cx="66896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AI의 비약적 성능(AlphaGo, Gemini) 이면의 통제력 문제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809625" y="3014216"/>
            <a:ext cx="49292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지시하지 않은 행동을 하는 모델에 대한 철학적 질문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19125" y="4597896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핵심 질문: 에이전트의 표류(Drift)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809625" y="4997946"/>
            <a:ext cx="66896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"지시(Instruction)가 구체적이지 않을 때 어디로 가는가?"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09625" y="5317927"/>
            <a:ext cx="545734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"감사(Audit) 시스템이 없을 때 결과의 신뢰성은?"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809625" y="5637907"/>
            <a:ext cx="51052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성능이 높을수록 예기치 못한 경로로 이탈할 확률 증가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19125" y="6053138"/>
            <a:ext cx="8122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1B5E20"/>
                </a:solidFill>
              </a:rPr>
              <a:t>* Drift: AI 에이전트가 의도된 목표에서 벗어나 비효율적이거나 위험한 작업을 수행하는 현상</a:t>
            </a:r>
            <a:endParaRPr lang="en-US" sz="975" dirty="0"/>
          </a:p>
        </p:txBody>
      </p:sp>
      <p:sp>
        <p:nvSpPr>
          <p:cNvPr id="32" name="Text 11"/>
          <p:cNvSpPr/>
          <p:nvPr/>
        </p:nvSpPr>
        <p:spPr>
          <a:xfrm>
            <a:off x="6477000" y="1863030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Harness Engineering의 필요성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835080" y="3120330"/>
            <a:ext cx="8191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강력한 AI 모델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(Raw Power)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8429327" y="3120330"/>
            <a:ext cx="1190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정교한 하네스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(Control Harness)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10209312" y="3120330"/>
            <a:ext cx="1190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신뢰 가능한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Agentic Workflow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477000" y="4775895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결론: 통제 가능한 AI 시스템</a:t>
            </a:r>
            <a:endParaRPr lang="en-US" sz="1500" dirty="0"/>
          </a:p>
        </p:txBody>
      </p:sp>
      <p:sp>
        <p:nvSpPr>
          <p:cNvPr id="37" name="Text 16"/>
          <p:cNvSpPr/>
          <p:nvPr/>
        </p:nvSpPr>
        <p:spPr>
          <a:xfrm>
            <a:off x="6667500" y="5175945"/>
            <a:ext cx="55245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강력한 모델일수록 이를 담는 '그릇(Harness)'이 중요함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667500" y="5495925"/>
            <a:ext cx="55245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Harness는 AI의 활동 경계를 설정하고 출처를 추적함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667500" y="5815905"/>
            <a:ext cx="49053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단순 채팅을 넘어 실행 가능한 시스템으로의 전환점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7067550" y="6496050"/>
            <a:ext cx="512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YouTube Shorts Dialogue (President &amp; Demis Hassabis) / Analysis on Agentic Drift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811000" cy="7771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20080"/>
            <a:ext cx="5286375" cy="265911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399133"/>
            <a:ext cx="214313" cy="1753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69693"/>
            <a:ext cx="5286375" cy="238824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248745"/>
            <a:ext cx="214313" cy="175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1120080"/>
            <a:ext cx="5857875" cy="523785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721048"/>
            <a:ext cx="5286375" cy="6143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5141" y="2564011"/>
            <a:ext cx="273844" cy="2248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3017490"/>
            <a:ext cx="5286375" cy="61436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5141" y="3860453"/>
            <a:ext cx="273844" cy="22487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4313932"/>
            <a:ext cx="5286375" cy="7286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4812" y="4492079"/>
            <a:ext cx="238125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40005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에이전트의 표류: 구체적인 지시와 감사의 부재</a:t>
            </a:r>
            <a:endParaRPr lang="en-US" sz="2100" dirty="0"/>
          </a:p>
        </p:txBody>
      </p:sp>
      <p:sp>
        <p:nvSpPr>
          <p:cNvPr id="16" name="Text 1"/>
          <p:cNvSpPr/>
          <p:nvPr/>
        </p:nvSpPr>
        <p:spPr>
          <a:xfrm>
            <a:off x="762000" y="74860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지시와 감사가 충분히 구체적이지 않을 때 AI 에이전트가 목표에서 벗어나 표류하게 되는 현상과 그 위험성을 진단합니다.</a:t>
            </a:r>
            <a:endParaRPr lang="en-US" sz="1050" dirty="0"/>
          </a:p>
        </p:txBody>
      </p:sp>
      <p:sp>
        <p:nvSpPr>
          <p:cNvPr id="17" name="Text 2"/>
          <p:cNvSpPr/>
          <p:nvPr/>
        </p:nvSpPr>
        <p:spPr>
          <a:xfrm>
            <a:off x="928688" y="1358205"/>
            <a:ext cx="4810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Agentic Drift의 주요 원인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809625" y="1786830"/>
            <a:ext cx="5486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지시의 불확실성 (Lack of Specificity)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809625" y="2040136"/>
            <a:ext cx="475488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맥락 없는 프롬프트는 에이전트의 판단 범위를 과도하게 넓힘</a:t>
            </a:r>
            <a:endParaRPr lang="en-US" sz="975" dirty="0"/>
          </a:p>
        </p:txBody>
      </p:sp>
      <p:sp>
        <p:nvSpPr>
          <p:cNvPr id="20" name="Text 5"/>
          <p:cNvSpPr/>
          <p:nvPr/>
        </p:nvSpPr>
        <p:spPr>
          <a:xfrm>
            <a:off x="809625" y="2381101"/>
            <a:ext cx="4754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감사 메커니즘 부재 (Lack of Audit)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809625" y="2634407"/>
            <a:ext cx="475488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실행 단계별 검증 절차가 없으면 오류가 누적되어 목표 이탈</a:t>
            </a:r>
            <a:endParaRPr lang="en-US" sz="975" dirty="0"/>
          </a:p>
        </p:txBody>
      </p:sp>
      <p:sp>
        <p:nvSpPr>
          <p:cNvPr id="22" name="Text 7"/>
          <p:cNvSpPr/>
          <p:nvPr/>
        </p:nvSpPr>
        <p:spPr>
          <a:xfrm>
            <a:off x="809625" y="2975372"/>
            <a:ext cx="4754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자율성의 역설 (Autonomy Paradox)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809625" y="3228677"/>
            <a:ext cx="57950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높은 자율성은 정교한 제어 시스템(Harness) 없이는 무질서로 귀결</a:t>
            </a:r>
            <a:endParaRPr lang="en-US" sz="975" dirty="0"/>
          </a:p>
        </p:txBody>
      </p:sp>
      <p:sp>
        <p:nvSpPr>
          <p:cNvPr id="24" name="Text 9"/>
          <p:cNvSpPr/>
          <p:nvPr/>
        </p:nvSpPr>
        <p:spPr>
          <a:xfrm>
            <a:off x="928688" y="4207818"/>
            <a:ext cx="4810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표류(Drift)의 치명적 결과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809625" y="4607868"/>
            <a:ext cx="526911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의도하지 않은 도구(Tool)의 오남용 및 데이터 오염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809625" y="4965948"/>
            <a:ext cx="667421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보안 경계(Security Boundary) 침범 및 권한 탈취 위험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809625" y="5324029"/>
            <a:ext cx="46196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결과물의 재현 가능성 상실 및 기술적 부채 증가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381750" y="1806773"/>
            <a:ext cx="5000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Vague Instruction</a:t>
            </a:r>
            <a:endParaRPr lang="en-US" sz="1350" dirty="0"/>
          </a:p>
        </p:txBody>
      </p:sp>
      <p:sp>
        <p:nvSpPr>
          <p:cNvPr id="29" name="Text 14"/>
          <p:cNvSpPr/>
          <p:nvPr/>
        </p:nvSpPr>
        <p:spPr>
          <a:xfrm>
            <a:off x="6381750" y="2063948"/>
            <a:ext cx="5000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"내 업무를 좀 도와줘" (추상적 명령)</a:t>
            </a:r>
            <a:endParaRPr lang="en-US" sz="975" dirty="0"/>
          </a:p>
        </p:txBody>
      </p:sp>
      <p:sp>
        <p:nvSpPr>
          <p:cNvPr id="30" name="Text 15"/>
          <p:cNvSpPr/>
          <p:nvPr/>
        </p:nvSpPr>
        <p:spPr>
          <a:xfrm>
            <a:off x="6381750" y="3103215"/>
            <a:ext cx="5000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Execution without Audit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381750" y="3360390"/>
            <a:ext cx="5000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검토 없이 파일 수정 및 메일 발송 수행</a:t>
            </a:r>
            <a:endParaRPr lang="en-US" sz="975" dirty="0"/>
          </a:p>
        </p:txBody>
      </p:sp>
      <p:sp>
        <p:nvSpPr>
          <p:cNvPr id="32" name="Text 17"/>
          <p:cNvSpPr/>
          <p:nvPr/>
        </p:nvSpPr>
        <p:spPr>
          <a:xfrm>
            <a:off x="8262938" y="4428232"/>
            <a:ext cx="307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 AGENTIC DRIFT</a:t>
            </a:r>
            <a:endParaRPr lang="en-US" sz="1500" dirty="0"/>
          </a:p>
        </p:txBody>
      </p:sp>
      <p:sp>
        <p:nvSpPr>
          <p:cNvPr id="33" name="Text 18"/>
          <p:cNvSpPr/>
          <p:nvPr/>
        </p:nvSpPr>
        <p:spPr>
          <a:xfrm>
            <a:off x="6429375" y="4742557"/>
            <a:ext cx="4905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</a:rPr>
              <a:t>목표 경로에서 이탈: 예상치 못한 비용 발생 및 보안 리스크 노출</a:t>
            </a:r>
            <a:endParaRPr lang="en-US" sz="975" dirty="0"/>
          </a:p>
        </p:txBody>
      </p:sp>
      <p:sp>
        <p:nvSpPr>
          <p:cNvPr id="34" name="Text 19"/>
          <p:cNvSpPr/>
          <p:nvPr/>
        </p:nvSpPr>
        <p:spPr>
          <a:xfrm>
            <a:off x="7158038" y="5328345"/>
            <a:ext cx="3448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"에이전트는 어디로 표류하는가?"</a:t>
            </a:r>
            <a:endParaRPr lang="en-US" sz="1125" dirty="0"/>
          </a:p>
        </p:txBody>
      </p:sp>
      <p:sp>
        <p:nvSpPr>
          <p:cNvPr id="35" name="Text 20"/>
          <p:cNvSpPr/>
          <p:nvPr/>
        </p:nvSpPr>
        <p:spPr>
          <a:xfrm>
            <a:off x="7158038" y="5571232"/>
            <a:ext cx="3448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 Specific Instruction과 Audit Trail이 부재한 경우의 필연적 결과</a:t>
            </a:r>
            <a:endParaRPr lang="en-US" sz="975" dirty="0"/>
          </a:p>
        </p:txBody>
      </p:sp>
      <p:sp>
        <p:nvSpPr>
          <p:cNvPr id="36" name="Text 21"/>
          <p:cNvSpPr/>
          <p:nvPr/>
        </p:nvSpPr>
        <p:spPr>
          <a:xfrm>
            <a:off x="0" y="6586538"/>
            <a:ext cx="1143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AI Agent Safety &amp; Control Case Studies (2025) | Harness Engineering Framework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5857875" cy="553789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194" y="1513284"/>
            <a:ext cx="166688" cy="1372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722090"/>
            <a:ext cx="5286375" cy="3810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5627340"/>
            <a:ext cx="5286375" cy="5619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5760095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1015305"/>
            <a:ext cx="5286375" cy="269274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3225" y="119628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6569" y="129912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3860453"/>
            <a:ext cx="5286375" cy="269274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4041428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6569" y="4144268"/>
            <a:ext cx="214313" cy="17532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22860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Claude Code 사례 연구: Harness Engineering의 가치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코드베이스 분석을 통해 본 AI 에이전트 시스템의 실체와 시스템 설계의 중요성</a:t>
            </a:r>
            <a:endParaRPr lang="en-US" sz="1050" dirty="0"/>
          </a:p>
        </p:txBody>
      </p:sp>
      <p:sp>
        <p:nvSpPr>
          <p:cNvPr id="18" name="Text 2"/>
          <p:cNvSpPr/>
          <p:nvPr/>
        </p:nvSpPr>
        <p:spPr>
          <a:xfrm>
            <a:off x="2097881" y="1474440"/>
            <a:ext cx="38552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Iceberg Metaphor: AI Agent Codebase</a:t>
            </a:r>
            <a:endParaRPr lang="en-US" sz="1050" dirty="0"/>
          </a:p>
        </p:txBody>
      </p:sp>
      <p:sp>
        <p:nvSpPr>
          <p:cNvPr id="19" name="Text 3"/>
          <p:cNvSpPr/>
          <p:nvPr/>
        </p:nvSpPr>
        <p:spPr>
          <a:xfrm>
            <a:off x="964406" y="5627340"/>
            <a:ext cx="5000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 본 수치는 Claude Code 사례 분석 결과이며, 모든 에이전트에 적용되는 보편적 법칙은 아님에 유의하십시오.</a:t>
            </a:r>
            <a:endParaRPr lang="en-US" sz="975" dirty="0"/>
          </a:p>
        </p:txBody>
      </p:sp>
      <p:sp>
        <p:nvSpPr>
          <p:cNvPr id="20" name="Text 4"/>
          <p:cNvSpPr/>
          <p:nvPr/>
        </p:nvSpPr>
        <p:spPr>
          <a:xfrm>
            <a:off x="7248525" y="1258193"/>
            <a:ext cx="4943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98.4% Deterministic Infrastructure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6896100" y="1701105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Harness Engineering: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모델을 통제하는 시스템적 틀</a:t>
            </a:r>
            <a:endParaRPr lang="en-US" sz="1125" dirty="0"/>
          </a:p>
        </p:txBody>
      </p:sp>
      <p:sp>
        <p:nvSpPr>
          <p:cNvPr id="22" name="Text 6"/>
          <p:cNvSpPr/>
          <p:nvPr/>
        </p:nvSpPr>
        <p:spPr>
          <a:xfrm>
            <a:off x="6896100" y="1991618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권한 관리(Permission Gates) 및 보안 거버넌스</a:t>
            </a:r>
            <a:endParaRPr lang="en-US" sz="1125" dirty="0"/>
          </a:p>
        </p:txBody>
      </p:sp>
      <p:sp>
        <p:nvSpPr>
          <p:cNvPr id="23" name="Text 7"/>
          <p:cNvSpPr/>
          <p:nvPr/>
        </p:nvSpPr>
        <p:spPr>
          <a:xfrm>
            <a:off x="6896100" y="2282130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컨텍스트 관리 및 도구 라우팅(Tool Routing) 로직</a:t>
            </a:r>
            <a:endParaRPr lang="en-US" sz="1125" dirty="0"/>
          </a:p>
        </p:txBody>
      </p:sp>
      <p:sp>
        <p:nvSpPr>
          <p:cNvPr id="24" name="Text 8"/>
          <p:cNvSpPr/>
          <p:nvPr/>
        </p:nvSpPr>
        <p:spPr>
          <a:xfrm>
            <a:off x="6896100" y="2572643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오류 처리, 재시도 메커니즘 및 로깅 시스템</a:t>
            </a:r>
            <a:endParaRPr lang="en-US" sz="1125" dirty="0"/>
          </a:p>
        </p:txBody>
      </p:sp>
      <p:sp>
        <p:nvSpPr>
          <p:cNvPr id="25" name="Text 9"/>
          <p:cNvSpPr/>
          <p:nvPr/>
        </p:nvSpPr>
        <p:spPr>
          <a:xfrm>
            <a:off x="7248525" y="4103340"/>
            <a:ext cx="4800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1.6% AI Decision Logic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896100" y="4546253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실제 LLM 모델 호출 및 추론 프로세스</a:t>
            </a:r>
            <a:endParaRPr lang="en-US" sz="1125" dirty="0"/>
          </a:p>
        </p:txBody>
      </p:sp>
      <p:sp>
        <p:nvSpPr>
          <p:cNvPr id="27" name="Text 11"/>
          <p:cNvSpPr/>
          <p:nvPr/>
        </p:nvSpPr>
        <p:spPr>
          <a:xfrm>
            <a:off x="6896100" y="4836765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고수준의 의사 결정 및 전략 수립 영역</a:t>
            </a:r>
            <a:endParaRPr lang="en-US" sz="1125" dirty="0"/>
          </a:p>
        </p:txBody>
      </p:sp>
      <p:sp>
        <p:nvSpPr>
          <p:cNvPr id="28" name="Text 12"/>
          <p:cNvSpPr/>
          <p:nvPr/>
        </p:nvSpPr>
        <p:spPr>
          <a:xfrm>
            <a:off x="6896100" y="5127278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시사점: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에이전트의 성공은 모델 자체보다 이를 둘러싼 하네스의 정교함에 달려 있음</a:t>
            </a:r>
            <a:endParaRPr lang="en-US" sz="1125" dirty="0"/>
          </a:p>
        </p:txBody>
      </p:sp>
      <p:sp>
        <p:nvSpPr>
          <p:cNvPr id="29" name="Text 13"/>
          <p:cNvSpPr/>
          <p:nvPr/>
        </p:nvSpPr>
        <p:spPr>
          <a:xfrm>
            <a:off x="9448800" y="6510338"/>
            <a:ext cx="2743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Claude Code Case Study Analysis (2024)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11430000" cy="200382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142488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275" y="159633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800" y="2062014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825" y="142488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5700" y="1596330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8225" y="2062014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0" y="142488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125" y="159633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5650" y="206201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7675" y="142488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0550" y="159633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3075" y="2062014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5100" y="142488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67975" y="1596330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3428702"/>
            <a:ext cx="7334250" cy="236964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9125" y="3763417"/>
            <a:ext cx="214313" cy="17532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9125" y="4406354"/>
            <a:ext cx="214313" cy="1753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9125" y="5049292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05750" y="3428702"/>
            <a:ext cx="3905250" cy="2369641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3875" y="3666827"/>
            <a:ext cx="914400" cy="247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3875" y="4057352"/>
            <a:ext cx="3429000" cy="609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43875" y="4809827"/>
            <a:ext cx="166688" cy="1333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43875" y="5091708"/>
            <a:ext cx="166688" cy="1333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43875" y="5373588"/>
            <a:ext cx="166688" cy="1333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Erdős 1196 발견 사례: 협업을 통한 난제 해결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381000" y="653355"/>
            <a:ext cx="1181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GPT-5.4 Pro가 인간의 프롬프트, 탐색, 검증, 공식화 과정을 거쳐 60년 된 수학 난제를 해결한 협업 프로세스를 분석합니다.</a:t>
            </a:r>
            <a:endParaRPr lang="en-US" sz="1050" dirty="0"/>
          </a:p>
        </p:txBody>
      </p:sp>
      <p:sp>
        <p:nvSpPr>
          <p:cNvPr id="32" name="Text 2"/>
          <p:cNvSpPr/>
          <p:nvPr/>
        </p:nvSpPr>
        <p:spPr>
          <a:xfrm>
            <a:off x="1271588" y="2139255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Problem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1066800" y="2510730"/>
            <a:ext cx="10287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60년 된 Erdős 난제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문제 정의 및 프롬프팅</a:t>
            </a:r>
            <a:endParaRPr lang="en-US" sz="975" dirty="0"/>
          </a:p>
        </p:txBody>
      </p:sp>
      <p:sp>
        <p:nvSpPr>
          <p:cNvPr id="34" name="Text 4"/>
          <p:cNvSpPr/>
          <p:nvPr/>
        </p:nvSpPr>
        <p:spPr>
          <a:xfrm>
            <a:off x="3324225" y="213925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AI Exploration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3357563" y="2510730"/>
            <a:ext cx="9620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GPT-5.4 Pro 기반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증명 전략 반복 탐색</a:t>
            </a:r>
            <a:endParaRPr lang="en-US" sz="975" dirty="0"/>
          </a:p>
        </p:txBody>
      </p:sp>
      <p:sp>
        <p:nvSpPr>
          <p:cNvPr id="36" name="Text 6"/>
          <p:cNvSpPr/>
          <p:nvPr/>
        </p:nvSpPr>
        <p:spPr>
          <a:xfrm>
            <a:off x="5562600" y="213925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Expert Review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5700713" y="2510730"/>
            <a:ext cx="7905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인간 전문가의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논리적 비약 검증</a:t>
            </a:r>
            <a:endParaRPr lang="en-US" sz="975" dirty="0"/>
          </a:p>
        </p:txBody>
      </p:sp>
      <p:sp>
        <p:nvSpPr>
          <p:cNvPr id="38" name="Text 8"/>
          <p:cNvSpPr/>
          <p:nvPr/>
        </p:nvSpPr>
        <p:spPr>
          <a:xfrm>
            <a:off x="7853362" y="213925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Formalization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905750" y="2510730"/>
            <a:ext cx="8953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수학적 공식화 및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증명 아티팩트 생성</a:t>
            </a:r>
            <a:endParaRPr lang="en-US" sz="975" dirty="0"/>
          </a:p>
        </p:txBody>
      </p:sp>
      <p:sp>
        <p:nvSpPr>
          <p:cNvPr id="40" name="Text 10"/>
          <p:cNvSpPr/>
          <p:nvPr/>
        </p:nvSpPr>
        <p:spPr>
          <a:xfrm>
            <a:off x="9958388" y="213925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Reusable Method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10215563" y="2510730"/>
            <a:ext cx="7905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방법론 저장 및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타 문제로의 확장</a:t>
            </a:r>
            <a:endParaRPr lang="en-US" sz="975" dirty="0"/>
          </a:p>
        </p:txBody>
      </p:sp>
      <p:sp>
        <p:nvSpPr>
          <p:cNvPr id="42" name="Text 12"/>
          <p:cNvSpPr/>
          <p:nvPr/>
        </p:nvSpPr>
        <p:spPr>
          <a:xfrm>
            <a:off x="976312" y="3744367"/>
            <a:ext cx="3895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압도적인 해결 속도</a:t>
            </a:r>
            <a:endParaRPr lang="en-US" sz="1125" dirty="0"/>
          </a:p>
        </p:txBody>
      </p:sp>
      <p:sp>
        <p:nvSpPr>
          <p:cNvPr id="43" name="Text 13"/>
          <p:cNvSpPr/>
          <p:nvPr/>
        </p:nvSpPr>
        <p:spPr>
          <a:xfrm>
            <a:off x="976312" y="3996779"/>
            <a:ext cx="3895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약 80분 만에 전체 증명 아티팩트 생성 완료 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(인간 단독 수행 시 수개월 소요 예상)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976312" y="4387304"/>
            <a:ext cx="3600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정확한 수학적 도달</a:t>
            </a:r>
            <a:endParaRPr lang="en-US" sz="1125" dirty="0"/>
          </a:p>
        </p:txBody>
      </p:sp>
      <p:sp>
        <p:nvSpPr>
          <p:cNvPr id="45" name="Text 15"/>
          <p:cNvSpPr/>
          <p:nvPr/>
        </p:nvSpPr>
        <p:spPr>
          <a:xfrm>
            <a:off x="976312" y="4639717"/>
            <a:ext cx="7894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정확한 주항(Main Term) 1 + O(1/log x) 도달 및 수학적 엄밀성 확보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976312" y="5030242"/>
            <a:ext cx="4972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협업의 정수 (Human-AI Loop)</a:t>
            </a:r>
            <a:endParaRPr lang="en-US" sz="1125" dirty="0"/>
          </a:p>
        </p:txBody>
      </p:sp>
      <p:sp>
        <p:nvSpPr>
          <p:cNvPr id="47" name="Text 17"/>
          <p:cNvSpPr/>
          <p:nvPr/>
        </p:nvSpPr>
        <p:spPr>
          <a:xfrm>
            <a:off x="976312" y="5282654"/>
            <a:ext cx="11215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단순 자율 해결이 아닌 'Human Prompt + AI Exploration + Expert Verification'의 결합체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8239125" y="3666827"/>
            <a:ext cx="11944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49" name="Text 19"/>
          <p:cNvSpPr/>
          <p:nvPr/>
        </p:nvSpPr>
        <p:spPr>
          <a:xfrm>
            <a:off x="8143875" y="4057352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강력한 AI일수록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필요한 것은 '통제'</a:t>
            </a:r>
            <a:endParaRPr lang="en-US" sz="1350" dirty="0"/>
          </a:p>
        </p:txBody>
      </p:sp>
      <p:sp>
        <p:nvSpPr>
          <p:cNvPr id="50" name="Text 20"/>
          <p:cNvSpPr/>
          <p:nvPr/>
        </p:nvSpPr>
        <p:spPr>
          <a:xfrm>
            <a:off x="8386763" y="4809827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자율적 해결보다 중요한 것은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출처(Provenance)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확인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8386763" y="5091708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인간의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이 가능한 단계별 워크플로우 설계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8386763" y="5373588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결과값의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Formalization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을 통한 재현성 확보</a:t>
            </a:r>
            <a:endParaRPr lang="en-US" sz="1050" dirty="0"/>
          </a:p>
        </p:txBody>
      </p:sp>
      <p:sp>
        <p:nvSpPr>
          <p:cNvPr id="53" name="Text 23"/>
          <p:cNvSpPr/>
          <p:nvPr/>
        </p:nvSpPr>
        <p:spPr>
          <a:xfrm>
            <a:off x="381000" y="6179344"/>
            <a:ext cx="1143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AI-assisted discovery path case study (GPT-5.4 Pro analysis)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11811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20130"/>
            <a:ext cx="5619750" cy="22002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805880"/>
            <a:ext cx="5048250" cy="523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80588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1908721"/>
            <a:ext cx="214313" cy="175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520255"/>
            <a:ext cx="190500" cy="1568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863155"/>
            <a:ext cx="190500" cy="1568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3206055"/>
            <a:ext cx="190500" cy="15686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1520130"/>
            <a:ext cx="5619750" cy="22002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805880"/>
            <a:ext cx="5048250" cy="5238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80588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0344" y="1908721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520255"/>
            <a:ext cx="190500" cy="15686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863155"/>
            <a:ext cx="190500" cy="15686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3206055"/>
            <a:ext cx="190500" cy="15686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4006155"/>
            <a:ext cx="3683050" cy="173057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550" y="4006155"/>
            <a:ext cx="3683050" cy="173057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8099" y="4006155"/>
            <a:ext cx="3683050" cy="1730573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62000" y="66675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오프닝 결론: 통제와 감사가 가능한 AI 시스템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762000" y="103435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강력한 AI일수록 인간의 검토와 출처 확인이 가능하도록 설계된 하네스 시스템이 필수적임을 정리합니다.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1190625" y="185350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원시 모델 중심 (Raw Model)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952500" y="2520255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모호한 지시로 인한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목표 표류(Drift)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발생 가능성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52500" y="286315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블랙박스 형태의 의사결정으로 사후 감사 불가능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952500" y="3206055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인간의 개입이 단절된 자율적 오류 확산 위험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000875" y="185350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하네스 시스템 중심 (Harness)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6762750" y="2520255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구체적 실행 경계 설정을 통한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통제 가능성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확보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762750" y="286315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작업 이력 및 출처(Provenance)의 투명한 기록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762750" y="320605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Human-in-the-loop: 인간의 검토와 승인 필수화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571500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CONTROL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571500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통제 가능한 자율성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571500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모델의 높은 성능이 오작동으로 이어지지 않도록 명확한 Rules와 Boundaries를 정의합니다.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4445050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AUDIT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4445050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투명한 감사 체계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4445050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AI가 내린 모든 결정과 도구 사용 이력을 추적하여 신뢰할 수 있는 결과물을 보장합니다.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4445050" y="5360491"/>
            <a:ext cx="4705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 Provenance: 데이터 및 의사결정의 기원 추적</a:t>
            </a:r>
            <a:endParaRPr lang="en-US" sz="975" dirty="0"/>
          </a:p>
        </p:txBody>
      </p:sp>
      <p:sp>
        <p:nvSpPr>
          <p:cNvPr id="38" name="Text 17"/>
          <p:cNvSpPr/>
          <p:nvPr/>
        </p:nvSpPr>
        <p:spPr>
          <a:xfrm>
            <a:off x="8318599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REVIEW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318599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인간 중심 검증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8318599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에이전트의 단독 실행이 아닌, 인간의 Refine 과정이 포함된 워크플로우를 지향합니다.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381000" y="6305550"/>
            <a:ext cx="1143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Claude Code Case Study &amp; Erdős #1196 Discovery Path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600700" cy="4609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67730"/>
            <a:ext cx="5143500" cy="4286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96305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24955"/>
            <a:ext cx="166688" cy="1372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686943"/>
            <a:ext cx="166688" cy="1372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577530"/>
            <a:ext cx="166688" cy="14585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376738"/>
            <a:ext cx="5143500" cy="1143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389" y="4736753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9673" y="4872038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4045" y="4736753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2229" y="4872038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4700" y="4736753"/>
            <a:ext cx="214313" cy="17532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139130"/>
            <a:ext cx="5600700" cy="460920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1367730"/>
            <a:ext cx="5143500" cy="4286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1396305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2024955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2686943"/>
            <a:ext cx="166688" cy="14585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801368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900" y="4376738"/>
            <a:ext cx="5143500" cy="1143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7044" y="4736753"/>
            <a:ext cx="214313" cy="1753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9513" y="4872038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12931" y="4736753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20163" y="4872038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98819" y="4736753"/>
            <a:ext cx="214313" cy="17532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301288" y="4872038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79944" y="4736753"/>
            <a:ext cx="214313" cy="17532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0" y="5976938"/>
            <a:ext cx="11430000" cy="500063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에이전틱 워크플로우의 이해: 단순 채팅을 넘어서</a:t>
            </a:r>
            <a:endParaRPr lang="en-US" sz="2100" dirty="0"/>
          </a:p>
        </p:txBody>
      </p:sp>
      <p:sp>
        <p:nvSpPr>
          <p:cNvPr id="33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일회성 문답인 채팅과 도구를 사용해 자율적으로 다단계 단계를 수행하는 에이전틱 워크플로우의 근본적인 차이</a:t>
            </a:r>
            <a:endParaRPr lang="en-US" sz="1050" dirty="0"/>
          </a:p>
        </p:txBody>
      </p:sp>
      <p:sp>
        <p:nvSpPr>
          <p:cNvPr id="34" name="Text 2"/>
          <p:cNvSpPr/>
          <p:nvPr/>
        </p:nvSpPr>
        <p:spPr>
          <a:xfrm>
            <a:off x="1009650" y="136773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Chatting (One-off Interaction)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890588" y="1986855"/>
            <a:ext cx="47434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일회성 문답 (Stateless Response)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사용자의 프롬프트에 대해 모델이 즉각적인 텍스트 답변을 생성하고 종료합니다.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890588" y="2648843"/>
            <a:ext cx="486251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수동적 실행 (Passive Execution)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모델은 정보를 제공할 뿐, 실제 파일을 수정하거나 코드를 실행하는 권한이 없습니다.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890588" y="3539430"/>
            <a:ext cx="486251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인간 중심의 반복 (Human-driven Loop)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답변이 불만족스러울 경우 인간이 다시 프롬프트를 수정하여 입력을 시도해야 합니다.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1018133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사용자 입력</a:t>
            </a:r>
            <a:endParaRPr lang="en-US" sz="900" dirty="0"/>
          </a:p>
        </p:txBody>
      </p:sp>
      <p:sp>
        <p:nvSpPr>
          <p:cNvPr id="39" name="Text 7"/>
          <p:cNvSpPr/>
          <p:nvPr/>
        </p:nvSpPr>
        <p:spPr>
          <a:xfrm>
            <a:off x="2966889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LLM 추론</a:t>
            </a:r>
            <a:endParaRPr lang="en-US" sz="900" dirty="0"/>
          </a:p>
        </p:txBody>
      </p:sp>
      <p:sp>
        <p:nvSpPr>
          <p:cNvPr id="40" name="Text 8"/>
          <p:cNvSpPr/>
          <p:nvPr/>
        </p:nvSpPr>
        <p:spPr>
          <a:xfrm>
            <a:off x="4839444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텍스트 출력</a:t>
            </a:r>
            <a:endParaRPr lang="en-US" sz="900" dirty="0"/>
          </a:p>
        </p:txBody>
      </p:sp>
      <p:sp>
        <p:nvSpPr>
          <p:cNvPr id="41" name="Text 9"/>
          <p:cNvSpPr/>
          <p:nvPr/>
        </p:nvSpPr>
        <p:spPr>
          <a:xfrm>
            <a:off x="6838950" y="1367730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Agentic Workflow (Systemic Execution)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6719888" y="1986855"/>
            <a:ext cx="47434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자율적 다단계 수행 (Multi-step Autonomy)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복잡한 목표를 하부 태스크로 분해하고 순차적으로 계획을 수립하여 실행합니다.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719888" y="2648843"/>
            <a:ext cx="4862513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도구 활용 및 환경 제어 (Tool-use)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파일 읽기/쓰기, 터미널 명령 실행, 웹 브라우징 등 실제 환경에 물리적인 변화를 줍니다.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Cline은 VS Code의 권한을 활용하여 안전한 도구 호출을 수행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6719888" y="3763268"/>
            <a:ext cx="48577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자기 성찰 및 루프 (Self-correction)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실행 결과가 오류일 경우, 스스로 원인을 분석하고 해결책을 찾아 다시 시도합니다.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6729413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목표 설정</a:t>
            </a:r>
            <a:endParaRPr lang="en-US" sz="900" dirty="0"/>
          </a:p>
        </p:txBody>
      </p:sp>
      <p:sp>
        <p:nvSpPr>
          <p:cNvPr id="46" name="Text 14"/>
          <p:cNvSpPr/>
          <p:nvPr/>
        </p:nvSpPr>
        <p:spPr>
          <a:xfrm>
            <a:off x="8110537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계획/실행</a:t>
            </a:r>
            <a:endParaRPr lang="en-US" sz="900" dirty="0"/>
          </a:p>
        </p:txBody>
      </p:sp>
      <p:sp>
        <p:nvSpPr>
          <p:cNvPr id="47" name="Text 15"/>
          <p:cNvSpPr/>
          <p:nvPr/>
        </p:nvSpPr>
        <p:spPr>
          <a:xfrm>
            <a:off x="9501188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결과 검증</a:t>
            </a:r>
            <a:endParaRPr lang="en-US" sz="900" dirty="0"/>
          </a:p>
        </p:txBody>
      </p:sp>
      <p:sp>
        <p:nvSpPr>
          <p:cNvPr id="48" name="Text 16"/>
          <p:cNvSpPr/>
          <p:nvPr/>
        </p:nvSpPr>
        <p:spPr>
          <a:xfrm>
            <a:off x="10882313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최종 완료</a:t>
            </a:r>
            <a:endParaRPr lang="en-US" sz="900" dirty="0"/>
          </a:p>
        </p:txBody>
      </p:sp>
      <p:sp>
        <p:nvSpPr>
          <p:cNvPr id="49" name="Text 17"/>
          <p:cNvSpPr/>
          <p:nvPr/>
        </p:nvSpPr>
        <p:spPr>
          <a:xfrm>
            <a:off x="381000" y="5976938"/>
            <a:ext cx="109537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핵심 차이: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D700"/>
                </a:solidFill>
              </a:rPr>
              <a:t>"말하는 AI(Talking AI)"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에서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D700"/>
                </a:solidFill>
              </a:rPr>
              <a:t>"행동하는 시스템(Acting System)"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으로의 진화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88678"/>
            <a:ext cx="11430000" cy="5391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088678"/>
            <a:ext cx="2286000" cy="6762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1088678"/>
            <a:ext cx="4572000" cy="6762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2327" y="1336179"/>
            <a:ext cx="261937" cy="2134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1088678"/>
            <a:ext cx="4572000" cy="676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5882" y="1336179"/>
            <a:ext cx="261937" cy="2134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1764953"/>
            <a:ext cx="2286000" cy="8477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1764953"/>
            <a:ext cx="4572000" cy="8477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0" y="1764953"/>
            <a:ext cx="4572000" cy="8477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612678"/>
            <a:ext cx="11430000" cy="8477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612678"/>
            <a:ext cx="2286000" cy="8477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000" y="2612678"/>
            <a:ext cx="4572000" cy="8477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2612678"/>
            <a:ext cx="4572000" cy="8477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3460403"/>
            <a:ext cx="2286000" cy="8477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67000" y="3460403"/>
            <a:ext cx="4572000" cy="8477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0" y="3460403"/>
            <a:ext cx="4572000" cy="8477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308128"/>
            <a:ext cx="11430000" cy="84772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4308128"/>
            <a:ext cx="2286000" cy="84772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67000" y="4308128"/>
            <a:ext cx="4572000" cy="84772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0" y="4308128"/>
            <a:ext cx="4572000" cy="84772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5155853"/>
            <a:ext cx="2286000" cy="132397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67000" y="5155853"/>
            <a:ext cx="4572000" cy="132397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0" y="5155853"/>
            <a:ext cx="4572000" cy="1323975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Chat vs Agentic Workflow 비교 분석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텍스트 생성을 넘어 실행력과 도구 활용 능력을 갖춘 워크플로우 중심 시스템의 특징을 비교하여 제시합니다.</a:t>
            </a:r>
            <a:endParaRPr lang="en-US" sz="1050" dirty="0"/>
          </a:p>
        </p:txBody>
      </p:sp>
      <p:sp>
        <p:nvSpPr>
          <p:cNvPr id="30" name="Text 2"/>
          <p:cNvSpPr/>
          <p:nvPr/>
        </p:nvSpPr>
        <p:spPr>
          <a:xfrm>
            <a:off x="381000" y="1088678"/>
            <a:ext cx="18288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구분</a:t>
            </a:r>
            <a:endParaRPr lang="en-US" sz="1650" dirty="0"/>
          </a:p>
        </p:txBody>
      </p:sp>
      <p:sp>
        <p:nvSpPr>
          <p:cNvPr id="31" name="Text 3"/>
          <p:cNvSpPr/>
          <p:nvPr/>
        </p:nvSpPr>
        <p:spPr>
          <a:xfrm>
            <a:off x="4354264" y="1088678"/>
            <a:ext cx="242753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 Chat-based AI</a:t>
            </a:r>
            <a:endParaRPr lang="en-US" sz="1650" dirty="0"/>
          </a:p>
        </p:txBody>
      </p:sp>
      <p:sp>
        <p:nvSpPr>
          <p:cNvPr id="32" name="Text 4"/>
          <p:cNvSpPr/>
          <p:nvPr/>
        </p:nvSpPr>
        <p:spPr>
          <a:xfrm>
            <a:off x="8747820" y="1088678"/>
            <a:ext cx="260598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 Agentic Workflow</a:t>
            </a:r>
            <a:endParaRPr lang="en-US" sz="1650" dirty="0"/>
          </a:p>
        </p:txBody>
      </p:sp>
      <p:sp>
        <p:nvSpPr>
          <p:cNvPr id="33" name="Text 5"/>
          <p:cNvSpPr/>
          <p:nvPr/>
        </p:nvSpPr>
        <p:spPr>
          <a:xfrm>
            <a:off x="381000" y="1764953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상호작용 모델</a:t>
            </a:r>
            <a:endParaRPr lang="en-US" sz="1275" dirty="0"/>
          </a:p>
        </p:txBody>
      </p:sp>
      <p:sp>
        <p:nvSpPr>
          <p:cNvPr id="34" name="Text 6"/>
          <p:cNvSpPr/>
          <p:nvPr/>
        </p:nvSpPr>
        <p:spPr>
          <a:xfrm>
            <a:off x="2895600" y="176495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단발성 문답 (One-off response)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사용자의 매 질문마다 세션 초기화 가능성</a:t>
            </a:r>
            <a:endParaRPr lang="en-US" sz="1275" dirty="0"/>
          </a:p>
        </p:txBody>
      </p:sp>
      <p:sp>
        <p:nvSpPr>
          <p:cNvPr id="35" name="Text 7"/>
          <p:cNvSpPr/>
          <p:nvPr/>
        </p:nvSpPr>
        <p:spPr>
          <a:xfrm>
            <a:off x="7467600" y="176495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자율적 다단계 수행 (Multi-step execution)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목표 달성을 위한 연속적 루프 수행</a:t>
            </a:r>
            <a:endParaRPr lang="en-US" sz="1275" dirty="0"/>
          </a:p>
        </p:txBody>
      </p:sp>
      <p:sp>
        <p:nvSpPr>
          <p:cNvPr id="36" name="Text 8"/>
          <p:cNvSpPr/>
          <p:nvPr/>
        </p:nvSpPr>
        <p:spPr>
          <a:xfrm>
            <a:off x="381000" y="2612678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도구 활용 및 실행</a:t>
            </a:r>
            <a:endParaRPr lang="en-US" sz="1275" dirty="0"/>
          </a:p>
        </p:txBody>
      </p:sp>
      <p:sp>
        <p:nvSpPr>
          <p:cNvPr id="37" name="Text 9"/>
          <p:cNvSpPr/>
          <p:nvPr/>
        </p:nvSpPr>
        <p:spPr>
          <a:xfrm>
            <a:off x="2895600" y="261267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텍스트 생성 및 지식 요약 위주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외부 시스템에 대한 직접적 영향력 부재</a:t>
            </a:r>
            <a:endParaRPr lang="en-US" sz="1275" dirty="0"/>
          </a:p>
        </p:txBody>
      </p:sp>
      <p:sp>
        <p:nvSpPr>
          <p:cNvPr id="38" name="Text 10"/>
          <p:cNvSpPr/>
          <p:nvPr/>
        </p:nvSpPr>
        <p:spPr>
          <a:xfrm>
            <a:off x="7467600" y="261267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파일 시스템, 터미널, Git, API 직접 제어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실제 환경에서의 변화(Action) 유도</a:t>
            </a:r>
            <a:endParaRPr lang="en-US" sz="1275" dirty="0"/>
          </a:p>
        </p:txBody>
      </p:sp>
      <p:sp>
        <p:nvSpPr>
          <p:cNvPr id="39" name="Text 11"/>
          <p:cNvSpPr/>
          <p:nvPr/>
        </p:nvSpPr>
        <p:spPr>
          <a:xfrm>
            <a:off x="381000" y="3460403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컨텍스트 관리</a:t>
            </a:r>
            <a:endParaRPr lang="en-US" sz="1275" dirty="0"/>
          </a:p>
        </p:txBody>
      </p:sp>
      <p:sp>
        <p:nvSpPr>
          <p:cNvPr id="40" name="Text 12"/>
          <p:cNvSpPr/>
          <p:nvPr/>
        </p:nvSpPr>
        <p:spPr>
          <a:xfrm>
            <a:off x="2895600" y="346040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대화 이력(History) 기반 컨텍스트 유지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작업 중간 상태를 기억하기 어려움</a:t>
            </a:r>
            <a:endParaRPr lang="en-US" sz="1275" dirty="0"/>
          </a:p>
        </p:txBody>
      </p:sp>
      <p:sp>
        <p:nvSpPr>
          <p:cNvPr id="41" name="Text 13"/>
          <p:cNvSpPr/>
          <p:nvPr/>
        </p:nvSpPr>
        <p:spPr>
          <a:xfrm>
            <a:off x="7467600" y="346040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Working Notes 및 상태(State) 관리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장기적 업무 맥락과 중간 산출물 보존</a:t>
            </a:r>
            <a:endParaRPr lang="en-US" sz="1275" dirty="0"/>
          </a:p>
        </p:txBody>
      </p:sp>
      <p:sp>
        <p:nvSpPr>
          <p:cNvPr id="42" name="Text 14"/>
          <p:cNvSpPr/>
          <p:nvPr/>
        </p:nvSpPr>
        <p:spPr>
          <a:xfrm>
            <a:off x="381000" y="4308128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오류 수정 방식</a:t>
            </a:r>
            <a:endParaRPr lang="en-US" sz="1275" dirty="0"/>
          </a:p>
        </p:txBody>
      </p:sp>
      <p:sp>
        <p:nvSpPr>
          <p:cNvPr id="43" name="Text 15"/>
          <p:cNvSpPr/>
          <p:nvPr/>
        </p:nvSpPr>
        <p:spPr>
          <a:xfrm>
            <a:off x="2895600" y="430812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사용자가 직접 결과 확인 후 재지시 필요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할루시네이션 발생 시 교정 주체는 인간</a:t>
            </a:r>
            <a:endParaRPr lang="en-US" sz="1275" dirty="0"/>
          </a:p>
        </p:txBody>
      </p:sp>
      <p:sp>
        <p:nvSpPr>
          <p:cNvPr id="44" name="Text 16"/>
          <p:cNvSpPr/>
          <p:nvPr/>
        </p:nvSpPr>
        <p:spPr>
          <a:xfrm>
            <a:off x="7467600" y="430812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자율적 시행착오 및 검증(Self-correction)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Human-in-the-loop 기반의 정교한 감사</a:t>
            </a:r>
            <a:endParaRPr lang="en-US" sz="1275" dirty="0"/>
          </a:p>
        </p:txBody>
      </p:sp>
      <p:sp>
        <p:nvSpPr>
          <p:cNvPr id="45" name="Text 17"/>
          <p:cNvSpPr/>
          <p:nvPr/>
        </p:nvSpPr>
        <p:spPr>
          <a:xfrm>
            <a:off x="381000" y="5155853"/>
            <a:ext cx="1828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결과물의 성격</a:t>
            </a:r>
            <a:endParaRPr lang="en-US" sz="1275" dirty="0"/>
          </a:p>
        </p:txBody>
      </p:sp>
      <p:sp>
        <p:nvSpPr>
          <p:cNvPr id="46" name="Text 18"/>
          <p:cNvSpPr/>
          <p:nvPr/>
        </p:nvSpPr>
        <p:spPr>
          <a:xfrm>
            <a:off x="2895600" y="5155853"/>
            <a:ext cx="4114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정보성 답변 (Information/Answer)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읽기 위한 텍스트 형태의 데이터</a:t>
            </a:r>
            <a:endParaRPr lang="en-US" sz="1275" dirty="0"/>
          </a:p>
        </p:txBody>
      </p:sp>
      <p:sp>
        <p:nvSpPr>
          <p:cNvPr id="47" name="Text 19"/>
          <p:cNvSpPr/>
          <p:nvPr/>
        </p:nvSpPr>
        <p:spPr>
          <a:xfrm>
            <a:off x="7467600" y="5155853"/>
            <a:ext cx="4114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완결된 작업 결과물 (Artifact/Task Done)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실행 가능한 코드, 문서, 워크플로우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B5E20"/>
                </a:solidFill>
              </a:rPr>
              <a:t>[Annotation] 에이전틱 워크플로우는 단순 지능(Intelligence)이 아닌 실행력(Agency)의 확장임.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25736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3" y="1431578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03315"/>
            <a:ext cx="4457700" cy="257368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3" y="4195763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139130"/>
            <a:ext cx="3248025" cy="241652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1603474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1755874"/>
            <a:ext cx="33337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1139130"/>
            <a:ext cx="3248025" cy="241652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1238" y="1603474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20300" y="1755874"/>
            <a:ext cx="3333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4450" y="3746153"/>
            <a:ext cx="3248025" cy="241652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2713" y="4210496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1775" y="4362896"/>
            <a:ext cx="3333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62975" y="3746153"/>
            <a:ext cx="3248025" cy="241652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1238" y="4210348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4362748"/>
            <a:ext cx="33337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왜 VS Code인가? 풍부한 컨텍스트의 작업장</a:t>
            </a:r>
            <a:endParaRPr lang="en-US" sz="2100" dirty="0"/>
          </a:p>
        </p:txBody>
      </p:sp>
      <p:sp>
        <p:nvSpPr>
          <p:cNvPr id="2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활동하기에 가장 풍부한 컨텍스트를 제공하는 통합 작업장(Workshop)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1009650" y="1367730"/>
            <a:ext cx="2057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통합 데이터 환경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800100" y="1767780"/>
            <a:ext cx="3831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코드, 문서, 설정 파일이 한 곳에 집약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00100" y="2072580"/>
            <a:ext cx="452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에이전트가 프로젝트 전체 구조를 즉시 파악 가능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609600" y="2415480"/>
            <a:ext cx="58940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LLM의 컨텍스트 윈도우를 가장 효율적으로 채울 수 있는 정보 밀도</a:t>
            </a:r>
            <a:endParaRPr lang="en-US" sz="975" dirty="0"/>
          </a:p>
        </p:txBody>
      </p:sp>
      <p:sp>
        <p:nvSpPr>
          <p:cNvPr id="26" name="Text 6"/>
          <p:cNvSpPr/>
          <p:nvPr/>
        </p:nvSpPr>
        <p:spPr>
          <a:xfrm>
            <a:off x="1009650" y="4131915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실행 및 검증 능력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800100" y="4531965"/>
            <a:ext cx="4005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터미널을 통한 직접적인 도구(CLI) 실행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00100" y="4836765"/>
            <a:ext cx="4180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수행 결과에 대한 즉각적인 피드백 루프 형성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800100" y="5141565"/>
            <a:ext cx="5050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에이전트가 '생각'하고 '실행'하며 '검증'하는 장소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205538" y="2317849"/>
            <a:ext cx="1085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Source Code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5967413" y="2717899"/>
            <a:ext cx="15621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구문 강조 및 심볼 정의를 통한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정교한 코드 맥락 제공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9344025" y="2317849"/>
            <a:ext cx="1685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Integrated Terminal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9272588" y="2717899"/>
            <a:ext cx="18288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직접 명령어를 입력하고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시스템과 상호작용하는 통로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086475" y="4924871"/>
            <a:ext cx="1323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Version Control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5986463" y="5324921"/>
            <a:ext cx="1524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히스토리를 통한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작업의 의도와 변경 이력 추적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9539288" y="4924723"/>
            <a:ext cx="1295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Documentation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9315450" y="5324773"/>
            <a:ext cx="174307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기반의 규칙과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지식 베이스(Rules, Notes) 통합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5124450" y="6305550"/>
            <a:ext cx="668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VS Code Extension API &amp; Agentic Workflow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091505"/>
            <a:ext cx="5143500" cy="904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27248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1391543"/>
            <a:ext cx="3810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091505"/>
            <a:ext cx="5143500" cy="9048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0" y="127248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224980"/>
            <a:ext cx="11430000" cy="287178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224980"/>
            <a:ext cx="171450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0" y="2224980"/>
            <a:ext cx="485775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0" y="2224980"/>
            <a:ext cx="485775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682180"/>
            <a:ext cx="1714500" cy="44291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2682180"/>
            <a:ext cx="4857750" cy="44291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3250" y="2682180"/>
            <a:ext cx="4857750" cy="44291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3125093"/>
            <a:ext cx="1714500" cy="44291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500" y="3125093"/>
            <a:ext cx="4857750" cy="44291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0" y="3125093"/>
            <a:ext cx="4857750" cy="44291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3568005"/>
            <a:ext cx="1714500" cy="44291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95500" y="3568005"/>
            <a:ext cx="4857750" cy="44291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3250" y="3568005"/>
            <a:ext cx="4857750" cy="442913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4010918"/>
            <a:ext cx="1714500" cy="64293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95500" y="4010918"/>
            <a:ext cx="4857750" cy="64293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3250" y="4010918"/>
            <a:ext cx="4857750" cy="642938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4653855"/>
            <a:ext cx="1714500" cy="442913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95500" y="4653855"/>
            <a:ext cx="4857750" cy="442913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3250" y="4653855"/>
            <a:ext cx="4857750" cy="442913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1000" y="5325368"/>
            <a:ext cx="11430000" cy="73134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5548164"/>
            <a:ext cx="285750" cy="2857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2860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Prompting에서 Workflow Engineering으로의 이동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언어적 기법인 프롬프팅을 넘어 업무 절차와 도구 연결을 구조화하는 시스템 설계 기법으로의 패러다임 변화</a:t>
            </a:r>
            <a:endParaRPr lang="en-US" sz="1050" dirty="0"/>
          </a:p>
        </p:txBody>
      </p:sp>
      <p:sp>
        <p:nvSpPr>
          <p:cNvPr id="33" name="Text 2"/>
          <p:cNvSpPr/>
          <p:nvPr/>
        </p:nvSpPr>
        <p:spPr>
          <a:xfrm>
            <a:off x="1066800" y="1243905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Prompting Phase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666750" y="1643955"/>
            <a:ext cx="7680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AI를 '대화 상대'로 인식하여 질문의 기술(Art of asking)에 집중하던 단계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7162800" y="1243905"/>
            <a:ext cx="502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Workflow Engineering Phase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6762750" y="1643955"/>
            <a:ext cx="5429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AI를 '실행 엔진'으로 인식하여 시스템적 하네스(Harness)를 구축하는 단계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381000" y="2224980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구분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2095500" y="22249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Prompting (Linguistic)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953250" y="22249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Workflow Engineering (Systemic)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381000" y="2682180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핵심 목표</a:t>
            </a:r>
            <a:endParaRPr lang="en-US" sz="1125" dirty="0"/>
          </a:p>
        </p:txBody>
      </p:sp>
      <p:sp>
        <p:nvSpPr>
          <p:cNvPr id="41" name="Text 10"/>
          <p:cNvSpPr/>
          <p:nvPr/>
        </p:nvSpPr>
        <p:spPr>
          <a:xfrm>
            <a:off x="2286000" y="2682180"/>
            <a:ext cx="47400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모델의 응답 품질 최적화 (Output quality)</a:t>
            </a:r>
            <a:endParaRPr lang="en-US" sz="1125" dirty="0"/>
          </a:p>
        </p:txBody>
      </p:sp>
      <p:sp>
        <p:nvSpPr>
          <p:cNvPr id="42" name="Text 11"/>
          <p:cNvSpPr/>
          <p:nvPr/>
        </p:nvSpPr>
        <p:spPr>
          <a:xfrm>
            <a:off x="7143750" y="2815530"/>
            <a:ext cx="3086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업무 실행의 무결성과 재현성 확보</a:t>
            </a:r>
            <a:endParaRPr lang="en-US" sz="1125" dirty="0"/>
          </a:p>
        </p:txBody>
      </p:sp>
      <p:sp>
        <p:nvSpPr>
          <p:cNvPr id="43" name="Text 12"/>
          <p:cNvSpPr/>
          <p:nvPr/>
        </p:nvSpPr>
        <p:spPr>
          <a:xfrm>
            <a:off x="381000" y="3125093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접근 방식</a:t>
            </a:r>
            <a:endParaRPr lang="en-US" sz="1125" dirty="0"/>
          </a:p>
        </p:txBody>
      </p:sp>
      <p:sp>
        <p:nvSpPr>
          <p:cNvPr id="44" name="Text 13"/>
          <p:cNvSpPr/>
          <p:nvPr/>
        </p:nvSpPr>
        <p:spPr>
          <a:xfrm>
            <a:off x="2286000" y="3125093"/>
            <a:ext cx="4476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언어적 유도 및 문맥 주입 (Linguistic)</a:t>
            </a:r>
            <a:endParaRPr lang="en-US" sz="1125" dirty="0"/>
          </a:p>
        </p:txBody>
      </p:sp>
      <p:sp>
        <p:nvSpPr>
          <p:cNvPr id="45" name="Text 14"/>
          <p:cNvSpPr/>
          <p:nvPr/>
        </p:nvSpPr>
        <p:spPr>
          <a:xfrm>
            <a:off x="7143750" y="3125093"/>
            <a:ext cx="50482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절차, 도구, 규칙의 구조적 설계 (Engineering)</a:t>
            </a:r>
            <a:endParaRPr lang="en-US" sz="1125" dirty="0"/>
          </a:p>
        </p:txBody>
      </p:sp>
      <p:sp>
        <p:nvSpPr>
          <p:cNvPr id="46" name="Text 15"/>
          <p:cNvSpPr/>
          <p:nvPr/>
        </p:nvSpPr>
        <p:spPr>
          <a:xfrm>
            <a:off x="381000" y="3568005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주요 도구</a:t>
            </a:r>
            <a:endParaRPr lang="en-US" sz="1125" dirty="0"/>
          </a:p>
        </p:txBody>
      </p:sp>
      <p:sp>
        <p:nvSpPr>
          <p:cNvPr id="47" name="Text 16"/>
          <p:cNvSpPr/>
          <p:nvPr/>
        </p:nvSpPr>
        <p:spPr>
          <a:xfrm>
            <a:off x="2286000" y="3568005"/>
            <a:ext cx="505609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System Prompt, Few-shot Examples</a:t>
            </a:r>
            <a:endParaRPr lang="en-US" sz="1125" dirty="0"/>
          </a:p>
        </p:txBody>
      </p:sp>
      <p:sp>
        <p:nvSpPr>
          <p:cNvPr id="48" name="Text 17"/>
          <p:cNvSpPr/>
          <p:nvPr/>
        </p:nvSpPr>
        <p:spPr>
          <a:xfrm>
            <a:off x="7143750" y="3701355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Rules, Skills, Workflows, MCP Servers</a:t>
            </a:r>
            <a:endParaRPr lang="en-US" sz="1125" dirty="0"/>
          </a:p>
        </p:txBody>
      </p:sp>
      <p:sp>
        <p:nvSpPr>
          <p:cNvPr id="49" name="Text 18"/>
          <p:cNvSpPr/>
          <p:nvPr/>
        </p:nvSpPr>
        <p:spPr>
          <a:xfrm>
            <a:off x="381000" y="4010918"/>
            <a:ext cx="1333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통제 수준</a:t>
            </a:r>
            <a:endParaRPr lang="en-US" sz="1125" dirty="0"/>
          </a:p>
        </p:txBody>
      </p:sp>
      <p:sp>
        <p:nvSpPr>
          <p:cNvPr id="50" name="Text 19"/>
          <p:cNvSpPr/>
          <p:nvPr/>
        </p:nvSpPr>
        <p:spPr>
          <a:xfrm>
            <a:off x="2286000" y="4010918"/>
            <a:ext cx="44767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확률적 (모델의 답변에 의존)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Drift 발생 가능성 높음</a:t>
            </a:r>
            <a:endParaRPr lang="en-US" sz="1125" dirty="0"/>
          </a:p>
        </p:txBody>
      </p:sp>
      <p:sp>
        <p:nvSpPr>
          <p:cNvPr id="51" name="Text 20"/>
          <p:cNvSpPr/>
          <p:nvPr/>
        </p:nvSpPr>
        <p:spPr>
          <a:xfrm>
            <a:off x="7143750" y="4010918"/>
            <a:ext cx="44767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결정론적 (정의된 하네스 내에서 작동)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Audit 및 통제 가능성 확보</a:t>
            </a:r>
            <a:endParaRPr lang="en-US" sz="1125" dirty="0"/>
          </a:p>
        </p:txBody>
      </p:sp>
      <p:sp>
        <p:nvSpPr>
          <p:cNvPr id="52" name="Text 21"/>
          <p:cNvSpPr/>
          <p:nvPr/>
        </p:nvSpPr>
        <p:spPr>
          <a:xfrm>
            <a:off x="381000" y="4653855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확장성</a:t>
            </a:r>
            <a:endParaRPr lang="en-US" sz="1125" dirty="0"/>
          </a:p>
        </p:txBody>
      </p:sp>
      <p:sp>
        <p:nvSpPr>
          <p:cNvPr id="53" name="Text 22"/>
          <p:cNvSpPr/>
          <p:nvPr/>
        </p:nvSpPr>
        <p:spPr>
          <a:xfrm>
            <a:off x="2286000" y="4653855"/>
            <a:ext cx="4476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개별 작업 단위의 휘발성 최적화</a:t>
            </a:r>
            <a:endParaRPr lang="en-US" sz="1125" dirty="0"/>
          </a:p>
        </p:txBody>
      </p:sp>
      <p:sp>
        <p:nvSpPr>
          <p:cNvPr id="54" name="Text 23"/>
          <p:cNvSpPr/>
          <p:nvPr/>
        </p:nvSpPr>
        <p:spPr>
          <a:xfrm>
            <a:off x="7143750" y="4787205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모듈화된 프로세스의 자산화 및 재사용</a:t>
            </a:r>
            <a:endParaRPr lang="en-US" sz="1125" dirty="0"/>
          </a:p>
        </p:txBody>
      </p:sp>
      <p:sp>
        <p:nvSpPr>
          <p:cNvPr id="55" name="Text 24"/>
          <p:cNvSpPr/>
          <p:nvPr/>
        </p:nvSpPr>
        <p:spPr>
          <a:xfrm>
            <a:off x="1047750" y="5477768"/>
            <a:ext cx="105727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전환점: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이제는 "AI에게 어떻게 말할까?"가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"AI가 참조할 수 있는 나의 업무 맥락과 절차를 어떻게 구조화할까?"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를 고민해야 합니다. 모델은 엔진일 뿐, 전체 시스템(Harness)의 설계가 성패를 좌우합니다.</a:t>
            </a:r>
            <a:endParaRPr lang="en-US" sz="1200" dirty="0"/>
          </a:p>
        </p:txBody>
      </p:sp>
      <p:sp>
        <p:nvSpPr>
          <p:cNvPr id="56" name="Text 25"/>
          <p:cNvSpPr/>
          <p:nvPr/>
        </p:nvSpPr>
        <p:spPr>
          <a:xfrm>
            <a:off x="381000" y="6285309"/>
            <a:ext cx="1143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Methodology Guide (2026)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1398"/>
            <a:ext cx="5065514" cy="29542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67148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848148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450009"/>
            <a:ext cx="190500" cy="222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051870"/>
            <a:ext cx="190500" cy="1666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326136"/>
            <a:ext cx="5065514" cy="21085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4611886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4992886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5594747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2264" y="1522065"/>
            <a:ext cx="6078736" cy="457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4382" y="2950815"/>
            <a:ext cx="1714500" cy="1714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5882" y="3274665"/>
            <a:ext cx="5715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8514" y="1998315"/>
            <a:ext cx="1896368" cy="114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3823" y="221739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38382" y="1998315"/>
            <a:ext cx="1896368" cy="1143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43691" y="2217390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08514" y="4474815"/>
            <a:ext cx="1896368" cy="1143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3823" y="4693890"/>
            <a:ext cx="285750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38382" y="4474815"/>
            <a:ext cx="1896368" cy="1143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3691" y="4693890"/>
            <a:ext cx="285750" cy="2286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42882" y="2379315"/>
            <a:ext cx="2857500" cy="28575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Cline 소개: VS Code 안의 개인화 에이전트 하네스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코딩 어시스턴트를 넘어, 업무의 맥락과 절차를 실행 가능한 '하네스'로 통합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952500" y="1419523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Cline의 정의와 본질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904875" y="1848148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VS Code Native Integration: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IDE 환경에 깊숙이 통합되어 파일 시스템과 터미널에 직접 접근하는 오픈소스 확장 프로그램입니다.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04875" y="2450009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Agentic Harness: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  <a:highlight>
                  <a:srgbClr val="1B5E20"/>
                </a:highlight>
              </a:rPr>
              <a:t>Harness: 통제 장치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LLM의 지능을 실제 로컬 작업 환경과 안전하게 연결하는 실행 인프라 역할을 수행합니다.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04875" y="3051870"/>
            <a:ext cx="430351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Context Orchestration: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사용자의 프롬프트를 단순 실행하는 것을 넘어, 규칙(Rules)과 업무 맥락을 조합하여 자율적으로 목표를 달성합니다.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952500" y="4564261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개인화된 에이전트의 가치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904875" y="4992886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보안 및 거버넌스: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로컬 환경에서 실행되므로 데이터 유출 위험을 최소화하며 온프레미스 LLM과 연동 가능합니다.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904875" y="5594747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재사용 가능한 워크플로우: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한 번 정의된 규칙과 스킬은 마크다운 기반으로 관리되어 다른 프로젝트에서도 즉시 재사용됩니다.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8452545" y="3827115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CLINE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8328720" y="4170015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Agentic Harness</a:t>
            </a:r>
            <a:endParaRPr lang="en-US" sz="900" dirty="0"/>
          </a:p>
        </p:txBody>
      </p:sp>
      <p:sp>
        <p:nvSpPr>
          <p:cNvPr id="36" name="Text 11"/>
          <p:cNvSpPr/>
          <p:nvPr/>
        </p:nvSpPr>
        <p:spPr>
          <a:xfrm>
            <a:off x="6728073" y="2522190"/>
            <a:ext cx="85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File System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(Read/Write)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10005566" y="2522190"/>
            <a:ext cx="76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Terminal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(Execution)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6628061" y="4998690"/>
            <a:ext cx="1057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Rules &amp; Context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(Knowledge)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9938891" y="4998690"/>
            <a:ext cx="89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Browser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(Information)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8963025" y="6496050"/>
            <a:ext cx="3228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Cline Open Source Project Case Study (2025)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2714625" cy="49759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188" y="1552426"/>
            <a:ext cx="47625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25" y="1139130"/>
            <a:ext cx="2714625" cy="49759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5313" y="1552426"/>
            <a:ext cx="47625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1139130"/>
            <a:ext cx="2714625" cy="49759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0438" y="1552426"/>
            <a:ext cx="47625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6375" y="1139130"/>
            <a:ext cx="2714625" cy="49759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15563" y="1552426"/>
            <a:ext cx="476250" cy="381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Cline의 4대 핵심 역할과 기능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 코딩 보조를 넘어 실행 가능한 워크플로우 하네스로서의 진화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571500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Coding Agent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762000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로컬 코드베이스의 정밀 분석 및 컨텍스트 이해</a:t>
            </a:r>
            <a:endParaRPr lang="en-US" sz="1125" dirty="0"/>
          </a:p>
        </p:txBody>
      </p:sp>
      <p:sp>
        <p:nvSpPr>
          <p:cNvPr id="17" name="Text 4"/>
          <p:cNvSpPr/>
          <p:nvPr/>
        </p:nvSpPr>
        <p:spPr>
          <a:xfrm>
            <a:off x="762000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함수 단위 구현부터 전체 시스템 리팩토링 수행</a:t>
            </a:r>
            <a:endParaRPr lang="en-US" sz="1125" dirty="0"/>
          </a:p>
        </p:txBody>
      </p:sp>
      <p:sp>
        <p:nvSpPr>
          <p:cNvPr id="18" name="Text 5"/>
          <p:cNvSpPr/>
          <p:nvPr/>
        </p:nvSpPr>
        <p:spPr>
          <a:xfrm>
            <a:off x="762000" y="3949005"/>
            <a:ext cx="2991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버그 추적 및 자동 수정 패치 제안</a:t>
            </a:r>
            <a:endParaRPr lang="en-US" sz="1125" dirty="0"/>
          </a:p>
        </p:txBody>
      </p:sp>
      <p:sp>
        <p:nvSpPr>
          <p:cNvPr id="19" name="Text 6"/>
          <p:cNvSpPr/>
          <p:nvPr/>
        </p:nvSpPr>
        <p:spPr>
          <a:xfrm>
            <a:off x="571500" y="5643563"/>
            <a:ext cx="29222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#Codebase_Awareness</a:t>
            </a:r>
            <a:endParaRPr lang="en-US" sz="975" dirty="0"/>
          </a:p>
        </p:txBody>
      </p:sp>
      <p:sp>
        <p:nvSpPr>
          <p:cNvPr id="20" name="Text 7"/>
          <p:cNvSpPr/>
          <p:nvPr/>
        </p:nvSpPr>
        <p:spPr>
          <a:xfrm>
            <a:off x="3476625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Tool-using Agent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3667125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터미널 직접 제어를 통한 명령 실행 및 결과 검증</a:t>
            </a:r>
            <a:endParaRPr lang="en-US" sz="1125" dirty="0"/>
          </a:p>
        </p:txBody>
      </p:sp>
      <p:sp>
        <p:nvSpPr>
          <p:cNvPr id="22" name="Text 9"/>
          <p:cNvSpPr/>
          <p:nvPr/>
        </p:nvSpPr>
        <p:spPr>
          <a:xfrm>
            <a:off x="3667125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파일 시스템 CRUD 및 브라우저 자동화 활용</a:t>
            </a:r>
            <a:endParaRPr lang="en-US" sz="1125" dirty="0"/>
          </a:p>
        </p:txBody>
      </p:sp>
      <p:sp>
        <p:nvSpPr>
          <p:cNvPr id="23" name="Text 10"/>
          <p:cNvSpPr/>
          <p:nvPr/>
        </p:nvSpPr>
        <p:spPr>
          <a:xfrm>
            <a:off x="3667125" y="3949005"/>
            <a:ext cx="2143125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외부 API 및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  <a:highlight>
                  <a:srgbClr val="F8F9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서버 연동 스킬 확장</a:t>
            </a:r>
            <a:endParaRPr lang="en-US" sz="1125" dirty="0"/>
          </a:p>
        </p:txBody>
      </p:sp>
      <p:sp>
        <p:nvSpPr>
          <p:cNvPr id="24" name="Text 11"/>
          <p:cNvSpPr/>
          <p:nvPr/>
        </p:nvSpPr>
        <p:spPr>
          <a:xfrm>
            <a:off x="3476625" y="5643563"/>
            <a:ext cx="39624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*Model Context Protocol 지원</a:t>
            </a:r>
            <a:endParaRPr lang="en-US" sz="975" dirty="0"/>
          </a:p>
        </p:txBody>
      </p:sp>
      <p:sp>
        <p:nvSpPr>
          <p:cNvPr id="25" name="Text 12"/>
          <p:cNvSpPr/>
          <p:nvPr/>
        </p:nvSpPr>
        <p:spPr>
          <a:xfrm>
            <a:off x="6381750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Workflow Assistant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6572250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복잡한 다단계 업무의 순차적 상태 관리</a:t>
            </a:r>
            <a:endParaRPr lang="en-US" sz="1125" dirty="0"/>
          </a:p>
        </p:txBody>
      </p:sp>
      <p:sp>
        <p:nvSpPr>
          <p:cNvPr id="27" name="Text 14"/>
          <p:cNvSpPr/>
          <p:nvPr/>
        </p:nvSpPr>
        <p:spPr>
          <a:xfrm>
            <a:off x="6572250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중간 결과물 기록을 통한 지속적 작업 맥락 유지</a:t>
            </a:r>
            <a:endParaRPr lang="en-US" sz="1125" dirty="0"/>
          </a:p>
        </p:txBody>
      </p:sp>
      <p:sp>
        <p:nvSpPr>
          <p:cNvPr id="28" name="Text 15"/>
          <p:cNvSpPr/>
          <p:nvPr/>
        </p:nvSpPr>
        <p:spPr>
          <a:xfrm>
            <a:off x="6572250" y="3949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반복적인 비즈니스 로직의 절차적 자동화</a:t>
            </a:r>
            <a:endParaRPr lang="en-US" sz="1125" dirty="0"/>
          </a:p>
        </p:txBody>
      </p:sp>
      <p:sp>
        <p:nvSpPr>
          <p:cNvPr id="29" name="Text 16"/>
          <p:cNvSpPr/>
          <p:nvPr/>
        </p:nvSpPr>
        <p:spPr>
          <a:xfrm>
            <a:off x="6381750" y="5643563"/>
            <a:ext cx="32194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#Multi-step_Execution</a:t>
            </a:r>
            <a:endParaRPr lang="en-US" sz="975" dirty="0"/>
          </a:p>
        </p:txBody>
      </p:sp>
      <p:sp>
        <p:nvSpPr>
          <p:cNvPr id="30" name="Text 17"/>
          <p:cNvSpPr/>
          <p:nvPr/>
        </p:nvSpPr>
        <p:spPr>
          <a:xfrm>
            <a:off x="9286875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Personal Workflow Harness</a:t>
            </a:r>
            <a:endParaRPr lang="en-US" sz="1500" dirty="0"/>
          </a:p>
        </p:txBody>
      </p:sp>
      <p:sp>
        <p:nvSpPr>
          <p:cNvPr id="31" name="Text 18"/>
          <p:cNvSpPr/>
          <p:nvPr/>
        </p:nvSpPr>
        <p:spPr>
          <a:xfrm>
            <a:off x="9515475" y="2806005"/>
            <a:ext cx="2143125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  <a:highlight>
                  <a:srgbClr val="F8F9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.clinerules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기반의 사용자 정의 규칙 강제</a:t>
            </a:r>
            <a:endParaRPr lang="en-US" sz="1125" dirty="0"/>
          </a:p>
        </p:txBody>
      </p:sp>
      <p:sp>
        <p:nvSpPr>
          <p:cNvPr id="32" name="Text 19"/>
          <p:cNvSpPr/>
          <p:nvPr/>
        </p:nvSpPr>
        <p:spPr>
          <a:xfrm>
            <a:off x="9477375" y="3381226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On-premise 환경 연동을 통한 데이터 보안 게이트</a:t>
            </a:r>
            <a:endParaRPr lang="en-US" sz="1125" dirty="0"/>
          </a:p>
        </p:txBody>
      </p:sp>
      <p:sp>
        <p:nvSpPr>
          <p:cNvPr id="33" name="Text 20"/>
          <p:cNvSpPr/>
          <p:nvPr/>
        </p:nvSpPr>
        <p:spPr>
          <a:xfrm>
            <a:off x="9477375" y="3952726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인간의 검토(Review)를 필수 단계로 설정 가능</a:t>
            </a:r>
            <a:endParaRPr lang="en-US" sz="1125" dirty="0"/>
          </a:p>
        </p:txBody>
      </p:sp>
      <p:sp>
        <p:nvSpPr>
          <p:cNvPr id="34" name="Text 21"/>
          <p:cNvSpPr/>
          <p:nvPr/>
        </p:nvSpPr>
        <p:spPr>
          <a:xfrm>
            <a:off x="9286875" y="5643563"/>
            <a:ext cx="29051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#Governance_&amp;_Control</a:t>
            </a:r>
            <a:endParaRPr lang="en-US" sz="975" dirty="0"/>
          </a:p>
        </p:txBody>
      </p:sp>
      <p:sp>
        <p:nvSpPr>
          <p:cNvPr id="35" name="Text 22"/>
          <p:cNvSpPr/>
          <p:nvPr/>
        </p:nvSpPr>
        <p:spPr>
          <a:xfrm>
            <a:off x="0" y="649605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Cline Documentation &amp; Case Study Analysis (2026)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04800"/>
            <a:ext cx="11811000" cy="11086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89621"/>
            <a:ext cx="4892427" cy="156090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46796"/>
            <a:ext cx="3810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41030"/>
            <a:ext cx="4892427" cy="156090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498205"/>
            <a:ext cx="3810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992439"/>
            <a:ext cx="4892427" cy="15609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5249614"/>
            <a:ext cx="3810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9677" y="1489621"/>
            <a:ext cx="5870823" cy="506357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427" y="1768673"/>
            <a:ext cx="261937" cy="2134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427" y="2184946"/>
            <a:ext cx="5295900" cy="3448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5427" y="5753100"/>
            <a:ext cx="5299323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5427" y="5906244"/>
            <a:ext cx="166688" cy="13722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35427" y="6163419"/>
            <a:ext cx="166688" cy="13722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952500" y="609600"/>
            <a:ext cx="112395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On-premise LLM 연동의 필요성: Qwen 2.5 사례</a:t>
            </a:r>
            <a:endParaRPr lang="en-US" sz="2400" dirty="0"/>
          </a:p>
        </p:txBody>
      </p:sp>
      <p:sp>
        <p:nvSpPr>
          <p:cNvPr id="18" name="Text 1"/>
          <p:cNvSpPr/>
          <p:nvPr/>
        </p:nvSpPr>
        <p:spPr>
          <a:xfrm>
            <a:off x="952500" y="1032421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1M 컨텍스트를 지원하는 Qwen 2.5 등을 활용한 온프레미스 구축이 왜 현대적 업무 자동화에 필수적인지 논의합니다.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1323975" y="1718221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데이터 주권 및 보안 강화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800100" y="2118271"/>
            <a:ext cx="4435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사내 소스코드, 기밀 문서 및 고객 데이터의 외부 유출을 원천 차단합니다. 폐쇄망 환경에서도 에이전틱 워크플로우를 안전하게 실행할 수 있습니다. </a:t>
            </a:r>
            <a:pPr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  <a:highlight>
                  <a:srgbClr val="1B5E20"/>
                </a:highlight>
              </a:rPr>
              <a:t>기업 거버넌스 준수 핵심</a:t>
            </a:r>
            <a:endParaRPr lang="en-US" sz="1125" dirty="0"/>
          </a:p>
        </p:txBody>
      </p:sp>
      <p:sp>
        <p:nvSpPr>
          <p:cNvPr id="21" name="Text 4"/>
          <p:cNvSpPr/>
          <p:nvPr/>
        </p:nvSpPr>
        <p:spPr>
          <a:xfrm>
            <a:off x="1323975" y="3469630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지속 가능한 운영 비용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800100" y="3869680"/>
            <a:ext cx="443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토큰당 과금되는 Cloud LLM과 달리, 인프라 구축 후 추가 비용 없이 무제한으로 에이전트 루프를 수행합니다. 대량의 반복 작업에 최적화되어 있습니다.</a:t>
            </a:r>
            <a:endParaRPr lang="en-US" sz="1125" dirty="0"/>
          </a:p>
        </p:txBody>
      </p:sp>
      <p:sp>
        <p:nvSpPr>
          <p:cNvPr id="23" name="Text 6"/>
          <p:cNvSpPr/>
          <p:nvPr/>
        </p:nvSpPr>
        <p:spPr>
          <a:xfrm>
            <a:off x="1323975" y="5221039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맞춤형 에이전트 하네스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00100" y="5621089"/>
            <a:ext cx="443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Cline과 직접 연동하여 특정 업무 도메인에 최적화된 시스템 프롬프트와 도구 사용(Tool-use) 권한을 세밀하게 제어하고 관리할 수 있습니다.</a:t>
            </a:r>
            <a:endParaRPr lang="en-US" sz="1125" dirty="0"/>
          </a:p>
        </p:txBody>
      </p:sp>
      <p:sp>
        <p:nvSpPr>
          <p:cNvPr id="25" name="Text 8"/>
          <p:cNvSpPr/>
          <p:nvPr/>
        </p:nvSpPr>
        <p:spPr>
          <a:xfrm>
            <a:off x="6392614" y="1718221"/>
            <a:ext cx="57993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초거대 컨텍스트 활용 (Qwen 2.5 1M)</a:t>
            </a:r>
            <a:endParaRPr lang="en-US" sz="1650" dirty="0"/>
          </a:p>
        </p:txBody>
      </p:sp>
      <p:sp>
        <p:nvSpPr>
          <p:cNvPr id="26" name="Text 9"/>
          <p:cNvSpPr/>
          <p:nvPr/>
        </p:nvSpPr>
        <p:spPr>
          <a:xfrm>
            <a:off x="6316414" y="5867400"/>
            <a:ext cx="58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C757D"/>
                </a:solidFill>
              </a:rPr>
              <a:t>Long-context RAG: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별도의 분할 없이 대규모 프로젝트 전체 인덱싱 가능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316414" y="6124575"/>
            <a:ext cx="58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C757D"/>
                </a:solidFill>
              </a:rPr>
              <a:t>재현 가능성: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동일한 로컬 환경에서 에이전트의 추론 과정을 일관되게 유지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3657600" cy="49759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424880"/>
            <a:ext cx="308610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525042"/>
            <a:ext cx="3810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0826" y="2952452"/>
            <a:ext cx="1019175" cy="5042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139130"/>
            <a:ext cx="3657600" cy="49759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2950" y="1424880"/>
            <a:ext cx="30861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575" y="1525042"/>
            <a:ext cx="3810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5879" y="3211413"/>
            <a:ext cx="504825" cy="50423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1139130"/>
            <a:ext cx="3657600" cy="49759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9150" y="1424880"/>
            <a:ext cx="30861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6775" y="1525042"/>
            <a:ext cx="38100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8975" y="3211413"/>
            <a:ext cx="676275" cy="27116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온프레미스 구축의 핵심 가치: 거버넌스와 보안</a:t>
            </a:r>
            <a:endParaRPr lang="en-US" sz="2100" dirty="0"/>
          </a:p>
        </p:txBody>
      </p:sp>
      <p:sp>
        <p:nvSpPr>
          <p:cNvPr id="18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데이터 프라이버시, 보안 규정 준수, 결과의 재현 가능성 측면에서 온프레미스 LLM이 제공하는 이점을 강조합니다.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1257300" y="1496318"/>
            <a:ext cx="30175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Data Privacy</a:t>
            </a:r>
            <a:endParaRPr lang="en-US" sz="1650" dirty="0"/>
          </a:p>
        </p:txBody>
      </p:sp>
      <p:sp>
        <p:nvSpPr>
          <p:cNvPr id="20" name="Text 3"/>
          <p:cNvSpPr/>
          <p:nvPr/>
        </p:nvSpPr>
        <p:spPr>
          <a:xfrm>
            <a:off x="838200" y="2263080"/>
            <a:ext cx="30861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민감한 사내 비즈니스 데이터 및 사용자 쿼리의 외부 서버 전송을 원천적으로 차단합니다.</a:t>
            </a:r>
            <a:endParaRPr lang="en-US" sz="1275" dirty="0"/>
          </a:p>
        </p:txBody>
      </p:sp>
      <p:sp>
        <p:nvSpPr>
          <p:cNvPr id="21" name="Text 4"/>
          <p:cNvSpPr/>
          <p:nvPr/>
        </p:nvSpPr>
        <p:spPr>
          <a:xfrm>
            <a:off x="838200" y="2952452"/>
            <a:ext cx="308610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LLM 추론 및 캐싱 과정이 로컬 인프라 내에서만 수행되어 완벽한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Sovereignty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를 확보합니다.</a:t>
            </a:r>
            <a:endParaRPr lang="en-US" sz="1275" dirty="0"/>
          </a:p>
        </p:txBody>
      </p:sp>
      <p:sp>
        <p:nvSpPr>
          <p:cNvPr id="22" name="Text 5"/>
          <p:cNvSpPr/>
          <p:nvPr/>
        </p:nvSpPr>
        <p:spPr>
          <a:xfrm>
            <a:off x="666750" y="4159746"/>
            <a:ext cx="49034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[Security] 망 분리 환경 및 폐쇄망 구축 대응 가능</a:t>
            </a:r>
            <a:endParaRPr lang="en-US" sz="975" dirty="0"/>
          </a:p>
        </p:txBody>
      </p:sp>
      <p:sp>
        <p:nvSpPr>
          <p:cNvPr id="23" name="Text 6"/>
          <p:cNvSpPr/>
          <p:nvPr/>
        </p:nvSpPr>
        <p:spPr>
          <a:xfrm>
            <a:off x="5143500" y="1496318"/>
            <a:ext cx="2514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Compliance</a:t>
            </a:r>
            <a:endParaRPr lang="en-US" sz="1650" dirty="0"/>
          </a:p>
        </p:txBody>
      </p:sp>
      <p:sp>
        <p:nvSpPr>
          <p:cNvPr id="24" name="Text 7"/>
          <p:cNvSpPr/>
          <p:nvPr/>
        </p:nvSpPr>
        <p:spPr>
          <a:xfrm>
            <a:off x="4724400" y="2263080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기업 내부 IT 보안 가이드라인과 개인정보보호법 등 법적 규제 요구사항을 엄격히 준수할 수 있습니다.</a:t>
            </a:r>
            <a:endParaRPr lang="en-US" sz="1275" dirty="0"/>
          </a:p>
        </p:txBody>
      </p:sp>
      <p:sp>
        <p:nvSpPr>
          <p:cNvPr id="25" name="Text 8"/>
          <p:cNvSpPr/>
          <p:nvPr/>
        </p:nvSpPr>
        <p:spPr>
          <a:xfrm>
            <a:off x="4724400" y="3211413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자체 로깅 시스템을 통해 모든 AI 상호작용에 대한 실시간 모니터링 및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Trail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확보가 가능합니다.</a:t>
            </a:r>
            <a:endParaRPr lang="en-US" sz="1275" dirty="0"/>
          </a:p>
        </p:txBody>
      </p:sp>
      <p:sp>
        <p:nvSpPr>
          <p:cNvPr id="26" name="Text 9"/>
          <p:cNvSpPr/>
          <p:nvPr/>
        </p:nvSpPr>
        <p:spPr>
          <a:xfrm>
            <a:off x="4552950" y="4159746"/>
            <a:ext cx="53492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[Governance] 전용 감사 게이트웨이 및 IAM 연동 지원</a:t>
            </a:r>
            <a:endParaRPr lang="en-US" sz="975" dirty="0"/>
          </a:p>
        </p:txBody>
      </p:sp>
      <p:sp>
        <p:nvSpPr>
          <p:cNvPr id="27" name="Text 10"/>
          <p:cNvSpPr/>
          <p:nvPr/>
        </p:nvSpPr>
        <p:spPr>
          <a:xfrm>
            <a:off x="9029700" y="1496318"/>
            <a:ext cx="22631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Stability</a:t>
            </a:r>
            <a:endParaRPr lang="en-US" sz="1650" dirty="0"/>
          </a:p>
        </p:txBody>
      </p:sp>
      <p:sp>
        <p:nvSpPr>
          <p:cNvPr id="28" name="Text 11"/>
          <p:cNvSpPr/>
          <p:nvPr/>
        </p:nvSpPr>
        <p:spPr>
          <a:xfrm>
            <a:off x="8610600" y="2263080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클라우드 제공사의 모델 업데이트나 정책 변경에 영향을 받지 않고 고정된 성능을 지속적으로 유지합니다.</a:t>
            </a:r>
            <a:endParaRPr lang="en-US" sz="1275" dirty="0"/>
          </a:p>
        </p:txBody>
      </p:sp>
      <p:sp>
        <p:nvSpPr>
          <p:cNvPr id="29" name="Text 12"/>
          <p:cNvSpPr/>
          <p:nvPr/>
        </p:nvSpPr>
        <p:spPr>
          <a:xfrm>
            <a:off x="8610600" y="3211413"/>
            <a:ext cx="308610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외부 API의 지연 시간(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Latency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) 변동이나 네트워크 장애 리스크 없이 안정적인 자동화 루프를 운영합니다.</a:t>
            </a:r>
            <a:endParaRPr lang="en-US" sz="1275" dirty="0"/>
          </a:p>
        </p:txBody>
      </p:sp>
      <p:sp>
        <p:nvSpPr>
          <p:cNvPr id="30" name="Text 13"/>
          <p:cNvSpPr/>
          <p:nvPr/>
        </p:nvSpPr>
        <p:spPr>
          <a:xfrm>
            <a:off x="8439150" y="4418707"/>
            <a:ext cx="37528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[Reliability] 워크플로우 재현성 및 결과값 일관성 보장</a:t>
            </a:r>
            <a:endParaRPr lang="en-US" sz="975" dirty="0"/>
          </a:p>
        </p:txBody>
      </p:sp>
      <p:sp>
        <p:nvSpPr>
          <p:cNvPr id="31" name="Text 14"/>
          <p:cNvSpPr/>
          <p:nvPr/>
        </p:nvSpPr>
        <p:spPr>
          <a:xfrm>
            <a:off x="0" y="649605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Enterprise AI Governance Framework &amp; On-premise Infrastructure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1000"/>
            <a:ext cx="11715750" cy="11467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866305"/>
            <a:ext cx="11239500" cy="42433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866305"/>
            <a:ext cx="2023021" cy="600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271" y="1866305"/>
            <a:ext cx="4608165" cy="600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7436" y="1866305"/>
            <a:ext cx="4608314" cy="600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2466380"/>
            <a:ext cx="2023021" cy="7286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636" y="2759273"/>
            <a:ext cx="190500" cy="1428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9271" y="2466380"/>
            <a:ext cx="4608165" cy="72866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7436" y="2466380"/>
            <a:ext cx="4608314" cy="7286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3195042"/>
            <a:ext cx="2023021" cy="7286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723" y="3487936"/>
            <a:ext cx="190500" cy="1428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9271" y="3195042"/>
            <a:ext cx="4608165" cy="72866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7436" y="3195042"/>
            <a:ext cx="4608314" cy="72866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6250" y="3923705"/>
            <a:ext cx="2023021" cy="72866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6673" y="4216598"/>
            <a:ext cx="190500" cy="1428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99271" y="3923705"/>
            <a:ext cx="4608165" cy="72866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07436" y="3923705"/>
            <a:ext cx="4608314" cy="72866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250" y="4652367"/>
            <a:ext cx="2023021" cy="72866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0961" y="4945261"/>
            <a:ext cx="190500" cy="1428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99271" y="4652367"/>
            <a:ext cx="4608165" cy="728663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07436" y="4652367"/>
            <a:ext cx="4608314" cy="72866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6250" y="5381030"/>
            <a:ext cx="2023021" cy="728663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7636" y="5673923"/>
            <a:ext cx="190500" cy="14287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99271" y="5381030"/>
            <a:ext cx="4608165" cy="728663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07436" y="5381030"/>
            <a:ext cx="4608314" cy="728663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952500" y="762000"/>
            <a:ext cx="112395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Cloud LLM vs On-premise LLM 비교표</a:t>
            </a:r>
            <a:endParaRPr lang="en-US" sz="2400" dirty="0"/>
          </a:p>
        </p:txBody>
      </p:sp>
      <p:sp>
        <p:nvSpPr>
          <p:cNvPr id="30" name="Text 1"/>
          <p:cNvSpPr/>
          <p:nvPr/>
        </p:nvSpPr>
        <p:spPr>
          <a:xfrm>
            <a:off x="952500" y="1203871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비용, 보안, 속도, 규제 준수 등 주요 지표를 바탕으로 클라우드와 온프레미스 환경의 차이점을 상세히 비교합니다.</a:t>
            </a:r>
            <a:endParaRPr lang="en-US" sz="1200" dirty="0"/>
          </a:p>
        </p:txBody>
      </p:sp>
      <p:sp>
        <p:nvSpPr>
          <p:cNvPr id="31" name="Text 2"/>
          <p:cNvSpPr/>
          <p:nvPr/>
        </p:nvSpPr>
        <p:spPr>
          <a:xfrm>
            <a:off x="476250" y="1866305"/>
            <a:ext cx="168012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구분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2499271" y="1866305"/>
            <a:ext cx="426526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Cloud LLM (SaaS)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7107436" y="1866305"/>
            <a:ext cx="42654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On-premise LLM (Local)</a:t>
            </a:r>
            <a:endParaRPr lang="en-US" sz="1350" dirty="0"/>
          </a:p>
        </p:txBody>
      </p:sp>
      <p:sp>
        <p:nvSpPr>
          <p:cNvPr id="34" name="Text 5"/>
          <p:cNvSpPr/>
          <p:nvPr/>
        </p:nvSpPr>
        <p:spPr>
          <a:xfrm>
            <a:off x="1354336" y="2723555"/>
            <a:ext cx="533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비용 구조</a:t>
            </a:r>
            <a:endParaRPr lang="en-US" sz="1125" dirty="0"/>
          </a:p>
        </p:txBody>
      </p:sp>
      <p:sp>
        <p:nvSpPr>
          <p:cNvPr id="35" name="Text 6"/>
          <p:cNvSpPr/>
          <p:nvPr/>
        </p:nvSpPr>
        <p:spPr>
          <a:xfrm>
            <a:off x="2689771" y="2466380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가변 비용: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종량제 (Token 단위 과금)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대량 자동화 시 비용 예측 불확실성 증가</a:t>
            </a:r>
            <a:endParaRPr lang="en-US" sz="1125" dirty="0"/>
          </a:p>
        </p:txBody>
      </p:sp>
      <p:sp>
        <p:nvSpPr>
          <p:cNvPr id="36" name="Text 7"/>
          <p:cNvSpPr/>
          <p:nvPr/>
        </p:nvSpPr>
        <p:spPr>
          <a:xfrm>
            <a:off x="7297936" y="2466380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고정 비용: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인프라 구축 및 운영비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장기 사용 시 TCO(총소유비용) 절감 유리</a:t>
            </a:r>
            <a:endParaRPr lang="en-US" sz="1125" dirty="0"/>
          </a:p>
        </p:txBody>
      </p:sp>
      <p:sp>
        <p:nvSpPr>
          <p:cNvPr id="37" name="Text 8"/>
          <p:cNvSpPr/>
          <p:nvPr/>
        </p:nvSpPr>
        <p:spPr>
          <a:xfrm>
            <a:off x="1292423" y="3452217"/>
            <a:ext cx="657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데이터 보안</a:t>
            </a:r>
            <a:endParaRPr lang="en-US" sz="1125" dirty="0"/>
          </a:p>
        </p:txBody>
      </p:sp>
      <p:sp>
        <p:nvSpPr>
          <p:cNvPr id="38" name="Text 9"/>
          <p:cNvSpPr/>
          <p:nvPr/>
        </p:nvSpPr>
        <p:spPr>
          <a:xfrm>
            <a:off x="2689771" y="3195042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외부 서버 데이터 전송 (API 방식)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데이터 유출 리스크 및 거버넌스 제약</a:t>
            </a:r>
            <a:endParaRPr lang="en-US" sz="1125" dirty="0"/>
          </a:p>
        </p:txBody>
      </p:sp>
      <p:sp>
        <p:nvSpPr>
          <p:cNvPr id="39" name="Text 10"/>
          <p:cNvSpPr/>
          <p:nvPr/>
        </p:nvSpPr>
        <p:spPr>
          <a:xfrm>
            <a:off x="7297936" y="3195042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폐쇄망 내 처리: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데이터 외부 유출 원천 차단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사내 기밀 및 민감 정보 처리에 최적</a:t>
            </a:r>
            <a:endParaRPr lang="en-US" sz="1125" dirty="0"/>
          </a:p>
        </p:txBody>
      </p:sp>
      <p:sp>
        <p:nvSpPr>
          <p:cNvPr id="40" name="Text 11"/>
          <p:cNvSpPr/>
          <p:nvPr/>
        </p:nvSpPr>
        <p:spPr>
          <a:xfrm>
            <a:off x="1273373" y="4180880"/>
            <a:ext cx="695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성능 및 속도</a:t>
            </a:r>
            <a:endParaRPr lang="en-US" sz="1125" dirty="0"/>
          </a:p>
        </p:txBody>
      </p:sp>
      <p:sp>
        <p:nvSpPr>
          <p:cNvPr id="41" name="Text 12"/>
          <p:cNvSpPr/>
          <p:nvPr/>
        </p:nvSpPr>
        <p:spPr>
          <a:xfrm>
            <a:off x="2689771" y="3923705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인터넷 속도 및 서버 부하에 영향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네트워크 레이턴시 발생 가능성</a:t>
            </a:r>
            <a:endParaRPr lang="en-US" sz="1125" dirty="0"/>
          </a:p>
        </p:txBody>
      </p:sp>
      <p:sp>
        <p:nvSpPr>
          <p:cNvPr id="42" name="Text 13"/>
          <p:cNvSpPr/>
          <p:nvPr/>
        </p:nvSpPr>
        <p:spPr>
          <a:xfrm>
            <a:off x="7297936" y="3923705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초고속 응답: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내부망 대역폭 활용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실시간 에이전트 워크플로우 수행에 유리</a:t>
            </a:r>
            <a:endParaRPr lang="en-US" sz="1125" dirty="0"/>
          </a:p>
        </p:txBody>
      </p:sp>
      <p:sp>
        <p:nvSpPr>
          <p:cNvPr id="43" name="Text 14"/>
          <p:cNvSpPr/>
          <p:nvPr/>
        </p:nvSpPr>
        <p:spPr>
          <a:xfrm>
            <a:off x="1287661" y="4909542"/>
            <a:ext cx="666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재현성/관리</a:t>
            </a:r>
            <a:endParaRPr lang="en-US" sz="1125" dirty="0"/>
          </a:p>
        </p:txBody>
      </p:sp>
      <p:sp>
        <p:nvSpPr>
          <p:cNvPr id="44" name="Text 15"/>
          <p:cNvSpPr/>
          <p:nvPr/>
        </p:nvSpPr>
        <p:spPr>
          <a:xfrm>
            <a:off x="2689771" y="4652367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모델 업데이트 시 프롬프트 결과 변동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서비스 제공자의 정책에 종속됨</a:t>
            </a:r>
            <a:endParaRPr lang="en-US" sz="1125" dirty="0"/>
          </a:p>
        </p:txBody>
      </p:sp>
      <p:sp>
        <p:nvSpPr>
          <p:cNvPr id="45" name="Text 16"/>
          <p:cNvSpPr/>
          <p:nvPr/>
        </p:nvSpPr>
        <p:spPr>
          <a:xfrm>
            <a:off x="7297936" y="4652367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완전한 통제: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모델 버전 및 파라미터 고정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워크플로우의 일관된 결과 보장</a:t>
            </a:r>
            <a:endParaRPr lang="en-US" sz="1125" dirty="0"/>
          </a:p>
        </p:txBody>
      </p:sp>
      <p:sp>
        <p:nvSpPr>
          <p:cNvPr id="46" name="Text 17"/>
          <p:cNvSpPr/>
          <p:nvPr/>
        </p:nvSpPr>
        <p:spPr>
          <a:xfrm>
            <a:off x="1354336" y="5638205"/>
            <a:ext cx="533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규제 준수</a:t>
            </a:r>
            <a:endParaRPr lang="en-US" sz="1125" dirty="0"/>
          </a:p>
        </p:txBody>
      </p:sp>
      <p:sp>
        <p:nvSpPr>
          <p:cNvPr id="47" name="Text 18"/>
          <p:cNvSpPr/>
          <p:nvPr/>
        </p:nvSpPr>
        <p:spPr>
          <a:xfrm>
            <a:off x="2689771" y="5381030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국가별 데이터 주권 및 규제 충돌 위험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산업별 특수 보안 규정 준수 어려움</a:t>
            </a:r>
            <a:endParaRPr lang="en-US" sz="1125" dirty="0"/>
          </a:p>
        </p:txBody>
      </p:sp>
      <p:sp>
        <p:nvSpPr>
          <p:cNvPr id="48" name="Text 19"/>
          <p:cNvSpPr/>
          <p:nvPr/>
        </p:nvSpPr>
        <p:spPr>
          <a:xfrm>
            <a:off x="7297936" y="5381030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컴플라이언스: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내부 보안 정책 100% 준수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감사(Audit) 및 이력 관리 용이성</a:t>
            </a:r>
            <a:endParaRPr lang="en-US" sz="1125" dirty="0"/>
          </a:p>
        </p:txBody>
      </p:sp>
      <p:sp>
        <p:nvSpPr>
          <p:cNvPr id="49" name="Text 20"/>
          <p:cNvSpPr/>
          <p:nvPr/>
        </p:nvSpPr>
        <p:spPr>
          <a:xfrm>
            <a:off x="476250" y="6252567"/>
            <a:ext cx="1114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Internal Evaluation of On-premise LLM Governance (2026)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5572125" cy="164112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91" y="1245394"/>
            <a:ext cx="226219" cy="1867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808833"/>
            <a:ext cx="5572125" cy="164112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91" y="3038921"/>
            <a:ext cx="226219" cy="1867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02361"/>
            <a:ext cx="5572125" cy="164112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891" y="4832449"/>
            <a:ext cx="226219" cy="1867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1343471"/>
            <a:ext cx="5572125" cy="4572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4688" y="1400026"/>
            <a:ext cx="4000500" cy="514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5875" y="2057251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4688" y="2390626"/>
            <a:ext cx="4000500" cy="514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72413" y="257874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5875" y="3047851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24688" y="3381226"/>
            <a:ext cx="4000500" cy="5143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4625" y="4086076"/>
            <a:ext cx="5000625" cy="1458516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구조화된 업무 맥락: Markdown Rules의 의미</a:t>
            </a:r>
            <a:endParaRPr lang="en-US" sz="2100" dirty="0"/>
          </a:p>
        </p:txBody>
      </p:sp>
      <p:sp>
        <p:nvSpPr>
          <p:cNvPr id="20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AI가 참조할 수 있도록 나의 업무 지식과 절차를 마크다운 형식으로 구조화하는 방법론의 중요성</a:t>
            </a:r>
            <a:endParaRPr lang="en-US" sz="1050" dirty="0"/>
          </a:p>
        </p:txBody>
      </p:sp>
      <p:sp>
        <p:nvSpPr>
          <p:cNvPr id="21" name="Text 2"/>
          <p:cNvSpPr/>
          <p:nvPr/>
        </p:nvSpPr>
        <p:spPr>
          <a:xfrm>
            <a:off x="1028700" y="1203424"/>
            <a:ext cx="59664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AI 에이전트의 행동 강령 (Constitution)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800100" y="1562993"/>
            <a:ext cx="66245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프롬프팅의 휘발성을 극복하고 명확한 제약 조건과 절차를 영구적으로 제공합니다.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800100" y="1833414"/>
            <a:ext cx="80111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AI가 수행 가능한 작업의 범위(Scope)와 권한을 정의하는 "가드레일" 역할을 수행합니다.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609600" y="2237184"/>
            <a:ext cx="6035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명시적인 규칙은 AI의 할루시네이션(환각) 발생 확률을 획기적으로 낮춥니다.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1028700" y="2996952"/>
            <a:ext cx="32918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인간과 AI의 공통 인터페이스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00100" y="3356521"/>
            <a:ext cx="49244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Markdown은 사람이 읽기 쉽고(Human-readable), AI가 파싱하기 쉬운(Machine-readable) 최적의 포맷입니다.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800100" y="3840212"/>
            <a:ext cx="78570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Git을 통한 버전 관리가 용이하여, 업무 규칙의 변경 이력을 투명하게 추적할 수 있습니다.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1028700" y="4790480"/>
            <a:ext cx="2880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지식의 자산화 및 재사용성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800100" y="5150048"/>
            <a:ext cx="75489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일회성 채팅 기록이 아닌, 반복 가능한 워크플로우를 문서화하여 업무 효율을 극대화합니다.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800100" y="5420469"/>
            <a:ext cx="73948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복잡한 업무 맥락을 모듈화(Skills)하여 필요할 때만 AI에게 로드할 수 있습니다.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7024688" y="1400026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사용자 의도 (Human Intent)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8062913" y="2390626"/>
            <a:ext cx="2676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 Markdown Rules (Structure)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7024688" y="3381226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71C2"/>
                </a:solidFill>
              </a:rPr>
              <a:t>Cline Agent (Execution)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667500" y="4086076"/>
            <a:ext cx="4714875" cy="145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7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Role: Daily Report Assistant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9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Rules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Use 'Daily_Template.md' for all outputs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Group tasks by project category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EE7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[Critical]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Do not include internal URLs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9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Context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Workspace: /docs/reports/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Reference: AGENTS.md</a:t>
            </a:r>
            <a:endParaRPr lang="en-US" sz="825" dirty="0"/>
          </a:p>
        </p:txBody>
      </p:sp>
      <p:sp>
        <p:nvSpPr>
          <p:cNvPr id="35" name="Text 16"/>
          <p:cNvSpPr/>
          <p:nvPr/>
        </p:nvSpPr>
        <p:spPr>
          <a:xfrm>
            <a:off x="6924675" y="5687467"/>
            <a:ext cx="420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"AI를 잘 쓰는 것보다 중요한 것은, AI가 참조할 수 있는 업무 맥락과 절차를 잘 구조화하는 것이다."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0" y="6548438"/>
            <a:ext cx="114300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 | 내부 교육용 자료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15305"/>
            <a:ext cx="4457700" cy="151581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6770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4" y="1251496"/>
            <a:ext cx="214313" cy="1753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86805"/>
            <a:ext cx="1285875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788" y="268352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026420"/>
            <a:ext cx="4457700" cy="151581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78820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94" y="3262610"/>
            <a:ext cx="214313" cy="1753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700" y="3252639"/>
            <a:ext cx="790575" cy="1952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597920"/>
            <a:ext cx="221932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0788" y="469463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037534"/>
            <a:ext cx="4457700" cy="151581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189934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794" y="5273725"/>
            <a:ext cx="214313" cy="17532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609034"/>
            <a:ext cx="885825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450" y="1015305"/>
            <a:ext cx="6686550" cy="553789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2575" y="2219771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43563" y="2934146"/>
            <a:ext cx="142875" cy="114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2575" y="3296096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62575" y="4105721"/>
            <a:ext cx="166688" cy="1372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2575" y="4915346"/>
            <a:ext cx="166688" cy="1372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43563" y="5429696"/>
            <a:ext cx="142875" cy="1143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Markdown 규칙의 계층 구조: Global vs Local</a:t>
            </a:r>
            <a:endParaRPr lang="en-US" sz="2100" dirty="0"/>
          </a:p>
        </p:txBody>
      </p:sp>
      <p:sp>
        <p:nvSpPr>
          <p:cNvPr id="27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모든 작업에 적용되는 전역 원칙과 특정 프로젝트에 한정된 지역 규칙으로 구성된 계층적 관리 체계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1028700" y="1210568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Global Rules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647700" y="1586805"/>
            <a:ext cx="205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~/rules/global.md</a:t>
            </a:r>
            <a:endParaRPr lang="en-US" sz="900" dirty="0"/>
          </a:p>
        </p:txBody>
      </p:sp>
      <p:sp>
        <p:nvSpPr>
          <p:cNvPr id="30" name="Text 4"/>
          <p:cNvSpPr/>
          <p:nvPr/>
        </p:nvSpPr>
        <p:spPr>
          <a:xfrm>
            <a:off x="571500" y="1891605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모든 프로젝트와 세션에 공통 적용되는 기본 원칙. 개인의 코딩 철학 및 보안 가이드라인 정의.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028700" y="3221682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Local Rules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2228850" y="3252639"/>
            <a:ext cx="13981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High Priority</a:t>
            </a:r>
            <a:endParaRPr lang="en-US" sz="825" dirty="0"/>
          </a:p>
        </p:txBody>
      </p:sp>
      <p:sp>
        <p:nvSpPr>
          <p:cNvPr id="33" name="Text 7"/>
          <p:cNvSpPr/>
          <p:nvPr/>
        </p:nvSpPr>
        <p:spPr>
          <a:xfrm>
            <a:off x="647700" y="3597920"/>
            <a:ext cx="3959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./.clinerules (or .cursorrules)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571500" y="3902720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특정 프로젝트에 최적화된 기술 스택, 디렉토리 구조, 네이밍 컨벤션 등 구체적 지시 사항.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1028700" y="5232797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AGENTS.md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647700" y="5609034"/>
            <a:ext cx="1249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./AGENTS.md</a:t>
            </a:r>
            <a:endParaRPr lang="en-US" sz="900" dirty="0"/>
          </a:p>
        </p:txBody>
      </p:sp>
      <p:sp>
        <p:nvSpPr>
          <p:cNvPr id="37" name="Text 11"/>
          <p:cNvSpPr/>
          <p:nvPr/>
        </p:nvSpPr>
        <p:spPr>
          <a:xfrm>
            <a:off x="571500" y="5913834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현재 활성화된 에이전트의 역할, 권한, 작업 목표를 명시한 인간-AI 간의 실행 계약서.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5495925" y="1705421"/>
            <a:ext cx="6210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계층적 관리의 핵심 원칙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5643563" y="218167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상속 및 오버라이드 (Inheritance &amp; Override)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5643563" y="2448371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하위 계층(Local)의 규칙이 상위 계층(Global)보다 높은 우선순위를 가짐. 프로젝트별 특수성을 보장하는 핵심 메커니즘.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5824538" y="2905571"/>
            <a:ext cx="63674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충돌 발생 시 Local 규칙이 Global을 덮어씀 (Strict Override)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5643563" y="3257996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맥락의 구체성 (Context Specificity)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5643563" y="3524696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Global은 '인격과 철학'을, Local은 '도구와 환경'을, AGENTS.md는 '임무와 목표'를 담당하여 에이전트의 판단 근거를 단계별로 제공.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5643563" y="4067621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가독성 중심의 구조화 (Human-Readable)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5643563" y="4334321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Markdown 형식을 사용하여 인간이 읽고 수정하기 쉬우며, 동시에 LLM이 구조적으로 파싱하기에 최적화된 형태 유지.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5643563" y="4877246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동적 업데이트 (Dynamic Refinement)</a:t>
            </a:r>
            <a:endParaRPr lang="en-US" sz="1200" dirty="0"/>
          </a:p>
        </p:txBody>
      </p:sp>
      <p:sp>
        <p:nvSpPr>
          <p:cNvPr id="47" name="Text 21"/>
          <p:cNvSpPr/>
          <p:nvPr/>
        </p:nvSpPr>
        <p:spPr>
          <a:xfrm>
            <a:off x="5643563" y="5143946"/>
            <a:ext cx="6548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 중 발견된 새로운 패턴이나 수정사항을 즉시 Local 규칙에 반영하여 워크플로우를 지속적으로 개선.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5824538" y="5401121"/>
            <a:ext cx="5074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보안 민감 정보는 규칙 파일이 아닌 환경 변수(ENV)로 관리 권장</a:t>
            </a:r>
            <a:endParaRPr lang="en-US" sz="900" dirty="0"/>
          </a:p>
        </p:txBody>
      </p:sp>
      <p:sp>
        <p:nvSpPr>
          <p:cNvPr id="49" name="Text 23"/>
          <p:cNvSpPr/>
          <p:nvPr/>
        </p:nvSpPr>
        <p:spPr>
          <a:xfrm>
            <a:off x="5362575" y="5705921"/>
            <a:ext cx="6210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Framework v1.2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26003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29643"/>
            <a:ext cx="1905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29955"/>
            <a:ext cx="4457700" cy="254704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220468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139130"/>
            <a:ext cx="6686550" cy="533787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4450" y="1139130"/>
            <a:ext cx="6686550" cy="37623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950" y="1251049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950" y="2315468"/>
            <a:ext cx="6305550" cy="18573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950" y="3063180"/>
            <a:ext cx="6305550" cy="18573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4950" y="3996630"/>
            <a:ext cx="6305550" cy="18573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4950" y="4744343"/>
            <a:ext cx="6305550" cy="185738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AGENTS.md 인간과 AI 사이의 명시적 계약서</a:t>
            </a:r>
            <a:endParaRPr lang="en-US" sz="2100" dirty="0"/>
          </a:p>
        </p:txBody>
      </p:sp>
      <p:sp>
        <p:nvSpPr>
          <p:cNvPr id="1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에이전트의 역할, 권한, 작업 범위를 명시하여 인간과 AI가 상호 이해할 수 있는 협력 지침서를 작성하는 법을 다룹니다.</a:t>
            </a:r>
            <a:endParaRPr lang="en-US" sz="1050" dirty="0"/>
          </a:p>
        </p:txBody>
      </p:sp>
      <p:sp>
        <p:nvSpPr>
          <p:cNvPr id="17" name="Text 2"/>
          <p:cNvSpPr/>
          <p:nvPr/>
        </p:nvSpPr>
        <p:spPr>
          <a:xfrm>
            <a:off x="923925" y="1377255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계약서로서의 역할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809625" y="1777305"/>
            <a:ext cx="3790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지시 표면(Instruction Surface) 제공: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에이전트가 가장 먼저 참조하는 최상위 지시문 레이어입니다. </a:t>
            </a:r>
            <a:pPr algn="l" indent="0" marL="0">
              <a:lnSpc>
                <a:spcPts val="1200"/>
              </a:lnSpc>
              <a:buNone/>
            </a:pPr>
            <a:r>
              <a:rPr lang="en-US" sz="750" b="1" dirty="0">
                <a:solidFill>
                  <a:srgbClr val="1B5E20"/>
                </a:solidFill>
              </a:rPr>
              <a:t>*Agentic Interface</a:t>
            </a:r>
            <a:endParaRPr lang="en-US" sz="1125" dirty="0"/>
          </a:p>
        </p:txBody>
      </p:sp>
      <p:sp>
        <p:nvSpPr>
          <p:cNvPr id="19" name="Text 4"/>
          <p:cNvSpPr/>
          <p:nvPr/>
        </p:nvSpPr>
        <p:spPr>
          <a:xfrm>
            <a:off x="809625" y="2358330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상호 이해의 기반: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인간이 읽고 수정하기 쉬운 Markdown 형식을 사용하여 투명성을 확보합니다.</a:t>
            </a:r>
            <a:endParaRPr lang="en-US" sz="1125" dirty="0"/>
          </a:p>
        </p:txBody>
      </p:sp>
      <p:sp>
        <p:nvSpPr>
          <p:cNvPr id="20" name="Text 5"/>
          <p:cNvSpPr/>
          <p:nvPr/>
        </p:nvSpPr>
        <p:spPr>
          <a:xfrm>
            <a:off x="809625" y="2929830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동적 권한 제어: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프로젝트 성격에 따라 에이전트의 도구 사용 권한을 가변적으로 설정합니다.</a:t>
            </a:r>
            <a:endParaRPr lang="en-US" sz="1125" dirty="0"/>
          </a:p>
        </p:txBody>
      </p:sp>
      <p:sp>
        <p:nvSpPr>
          <p:cNvPr id="21" name="Text 6"/>
          <p:cNvSpPr/>
          <p:nvPr/>
        </p:nvSpPr>
        <p:spPr>
          <a:xfrm>
            <a:off x="923925" y="4168080"/>
            <a:ext cx="1645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주요 명시 항목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809625" y="4568130"/>
            <a:ext cx="6366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Role &amp; Persona: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에이전트의 전문 분야와 태도를 정의합니다.</a:t>
            </a:r>
            <a:endParaRPr lang="en-US" sz="1125" dirty="0"/>
          </a:p>
        </p:txBody>
      </p:sp>
      <p:sp>
        <p:nvSpPr>
          <p:cNvPr id="23" name="Text 8"/>
          <p:cNvSpPr/>
          <p:nvPr/>
        </p:nvSpPr>
        <p:spPr>
          <a:xfrm>
            <a:off x="809625" y="4911030"/>
            <a:ext cx="3790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Boundaries: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수정 금지 파일, 삭제 금지 경로 등 금기 사항을 명시합니다. </a:t>
            </a:r>
            <a:pPr algn="l" indent="0" marL="0">
              <a:lnSpc>
                <a:spcPts val="1200"/>
              </a:lnSpc>
              <a:buNone/>
            </a:pPr>
            <a:r>
              <a:rPr lang="en-US" sz="750" b="1" dirty="0">
                <a:solidFill>
                  <a:srgbClr val="1B5E20"/>
                </a:solidFill>
              </a:rPr>
              <a:t>*Safety Guardrails</a:t>
            </a:r>
            <a:endParaRPr lang="en-US" sz="1125" dirty="0"/>
          </a:p>
        </p:txBody>
      </p:sp>
      <p:sp>
        <p:nvSpPr>
          <p:cNvPr id="24" name="Text 9"/>
          <p:cNvSpPr/>
          <p:nvPr/>
        </p:nvSpPr>
        <p:spPr>
          <a:xfrm>
            <a:off x="809625" y="5492055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Human-in-the-loop: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반드시 승인이 필요한 작업 단계를 정의합니다.</a:t>
            </a:r>
            <a:endParaRPr lang="en-US" sz="1125" dirty="0"/>
          </a:p>
        </p:txBody>
      </p:sp>
      <p:sp>
        <p:nvSpPr>
          <p:cNvPr id="25" name="Text 10"/>
          <p:cNvSpPr/>
          <p:nvPr/>
        </p:nvSpPr>
        <p:spPr>
          <a:xfrm>
            <a:off x="5600700" y="1234380"/>
            <a:ext cx="1337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</a:t>
            </a:r>
            <a:endParaRPr lang="en-US" sz="975" dirty="0"/>
          </a:p>
        </p:txBody>
      </p:sp>
      <p:sp>
        <p:nvSpPr>
          <p:cNvPr id="26" name="Text 11"/>
          <p:cNvSpPr/>
          <p:nvPr/>
        </p:nvSpPr>
        <p:spPr>
          <a:xfrm>
            <a:off x="5314950" y="1515368"/>
            <a:ext cx="6305550" cy="3838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Senior Office Assistant Agent</a:t>
            </a:r>
            <a:pPr indent="0" marL="0">
              <a:lnSpc>
                <a:spcPts val="1238"/>
              </a:lnSpc>
              <a:buNone/>
            </a:pPr>
            <a:r>
              <a:rPr lang="en-US" sz="825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 에이전트의 정체성과 주요 미션을 정의합니다.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Role Definition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당신은 사용자의 일상 업무를 보조하는 전문 비서입니다.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정확성, 보안, 간결함을 최우선 원칙으로 합니다.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Permissions &amp; Tools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Allowed: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read_file, list_files, search_files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Restricted: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delete_file (Requires manual approval)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use MCP server 'outlook-api' for emails.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Operational Boundaries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`.git/` 디렉토리는 절대 수정하거나 삭제하지 마십시오.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URL 호출 시 반드시 사용자에게 목적을 설명하십시오.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Communication Protocol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완료 후 반드시 '결과 요약'과 '다음 추천 작업'을 제시하십시오.</a:t>
            </a:r>
            <a:endParaRPr lang="en-US" sz="975" dirty="0"/>
          </a:p>
        </p:txBody>
      </p:sp>
      <p:sp>
        <p:nvSpPr>
          <p:cNvPr id="27" name="Text 12"/>
          <p:cNvSpPr/>
          <p:nvPr/>
        </p:nvSpPr>
        <p:spPr>
          <a:xfrm>
            <a:off x="9296400" y="6510338"/>
            <a:ext cx="2895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4457700" cy="533787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424880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80588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605980"/>
            <a:ext cx="190500" cy="222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64420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4450" y="1139130"/>
            <a:ext cx="6686550" cy="533787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950" y="1377255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0200" y="2191792"/>
            <a:ext cx="1333500" cy="1333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1700" y="2553742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4200" y="2849017"/>
            <a:ext cx="1352550" cy="19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0" y="2382292"/>
            <a:ext cx="1476375" cy="4286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1550" y="2528441"/>
            <a:ext cx="166688" cy="13632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8875" y="2382292"/>
            <a:ext cx="1476375" cy="4286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63175" y="2528441"/>
            <a:ext cx="166688" cy="13632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0" y="2906167"/>
            <a:ext cx="1476375" cy="4286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91550" y="3052316"/>
            <a:ext cx="166688" cy="13632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8875" y="2906167"/>
            <a:ext cx="1476375" cy="42862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63175" y="3052316"/>
            <a:ext cx="166688" cy="13632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14950" y="4196953"/>
            <a:ext cx="6305550" cy="183713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57825" y="4339828"/>
            <a:ext cx="6019800" cy="195263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Skillset: 필요할 때 로드되는 전문 절차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MCP 서버 등을 활용하여 특정 작업에 필요한 전문 스킬을 모듈형으로 로드하고 활용하는 구조를 설명합니다.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952500" y="1377255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모듈형 스킬셋 (Modular Skills)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923925" y="1805880"/>
            <a:ext cx="3676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도메인별 전문 절차 분리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모든 능력을 LLM 내부에 포함하는 대신, 특정 도구(Git, DB, API) 제어 로직을 독립된 모듈로 관리합니다.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23925" y="2605980"/>
            <a:ext cx="367665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온디맨드 활성화 (Lazy Loading)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작업 맥락에 따라 필요한 스킬만 로드하여 컨텍스트 윈도우 낭비를 방지하고 추론 정확도를 높입니다.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[성능 최적화: 토큰 절약 및 할루시네이션 감소]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23925" y="3644205"/>
            <a:ext cx="3676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보안 및 권한 샌드박스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개별 스킬 단위로 실행 권한을 제어하여 시스템 자원에 대한 안전한 접근을 보장합니다.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5648325" y="1329630"/>
            <a:ext cx="6543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Model Context Protocol (MCP) 구조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5410200" y="2191792"/>
            <a:ext cx="1047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Cline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Core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748463" y="2610892"/>
            <a:ext cx="39776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MCP Protocol (Std. Interface)</a:t>
            </a:r>
            <a:endParaRPr lang="en-US" sz="900" dirty="0"/>
          </a:p>
        </p:txBody>
      </p:sp>
      <p:sp>
        <p:nvSpPr>
          <p:cNvPr id="34" name="Text 9"/>
          <p:cNvSpPr/>
          <p:nvPr/>
        </p:nvSpPr>
        <p:spPr>
          <a:xfrm>
            <a:off x="8853488" y="2382292"/>
            <a:ext cx="16229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Git Workflow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10425113" y="2382292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DB Query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8853488" y="2906167"/>
            <a:ext cx="13524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Web Search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10425113" y="2906167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ERP API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5457825" y="4339828"/>
            <a:ext cx="60198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cline_mcp_settings.json</a:t>
            </a:r>
            <a:endParaRPr lang="en-US" sz="825" dirty="0"/>
          </a:p>
        </p:txBody>
      </p:sp>
      <p:sp>
        <p:nvSpPr>
          <p:cNvPr id="39" name="Text 14"/>
          <p:cNvSpPr/>
          <p:nvPr/>
        </p:nvSpPr>
        <p:spPr>
          <a:xfrm>
            <a:off x="5457825" y="4611291"/>
            <a:ext cx="60198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"mcpServers"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"postgres-expert"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"command"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"npx"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 온프레미스 DB 보안 연결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"args"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[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"-y"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"@modelcontextprotocol/server-postgres"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}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}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}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5314950" y="6129338"/>
            <a:ext cx="6305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Model Context Protocol (MCP) Specification by Anthropic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229100" cy="25736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10593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03315"/>
            <a:ext cx="4229100" cy="257368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174778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5850" y="1139130"/>
            <a:ext cx="6915150" cy="533787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2643634"/>
            <a:ext cx="3076575" cy="11525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7013" y="2834134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75" y="3124646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8675" y="2643634"/>
            <a:ext cx="3076575" cy="11525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4088" y="2834134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7900" y="384378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3986659"/>
            <a:ext cx="3076575" cy="11525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7013" y="4177159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8675" y="3986659"/>
            <a:ext cx="3076575" cy="11525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44088" y="4177159"/>
            <a:ext cx="285750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10550" y="4467671"/>
            <a:ext cx="238125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Workflow: 순서와 조건이 명확한 반복 업무</a:t>
            </a:r>
            <a:endParaRPr lang="en-US" sz="2100" dirty="0"/>
          </a:p>
        </p:txBody>
      </p:sp>
      <p:sp>
        <p:nvSpPr>
          <p:cNvPr id="2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중단 조건과 실행 순서가 정의된 반복 업무 프로세스를 시스템적으로 설계하고 실행하는 방법을 제시합니다.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971550" y="1377255"/>
            <a:ext cx="2880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워크플로우 엔지니어링 원칙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809625" y="1777305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절차적 모듈화: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전체 업무를 독립적인 단계(Step)로 구분하여 재사용성 확보.</a:t>
            </a:r>
            <a:endParaRPr lang="en-US" sz="1125" dirty="0"/>
          </a:p>
        </p:txBody>
      </p:sp>
      <p:sp>
        <p:nvSpPr>
          <p:cNvPr id="24" name="Text 4"/>
          <p:cNvSpPr/>
          <p:nvPr/>
        </p:nvSpPr>
        <p:spPr>
          <a:xfrm>
            <a:off x="809625" y="2329755"/>
            <a:ext cx="3562350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명시적 중단 조건: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에이전트가 다음 단계로 넘어가기 전 반드시 확인해야 할 체크포인트 설정.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※ Human-in-the-loop: 복잡한 의사결정은 인간의 승인 필수</a:t>
            </a:r>
            <a:endParaRPr lang="en-US" sz="1125" dirty="0"/>
          </a:p>
        </p:txBody>
      </p:sp>
      <p:sp>
        <p:nvSpPr>
          <p:cNvPr id="25" name="Text 5"/>
          <p:cNvSpPr/>
          <p:nvPr/>
        </p:nvSpPr>
        <p:spPr>
          <a:xfrm>
            <a:off x="971550" y="4141440"/>
            <a:ext cx="2057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반복 업무의 자산화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809625" y="4541490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실행 가능한 문서: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Markdown 기반의 워크플로우 명세서를 통해 AI와 인간의 협업 언어 통일.</a:t>
            </a:r>
            <a:endParaRPr lang="en-US" sz="1125" dirty="0"/>
          </a:p>
        </p:txBody>
      </p:sp>
      <p:sp>
        <p:nvSpPr>
          <p:cNvPr id="27" name="Text 7"/>
          <p:cNvSpPr/>
          <p:nvPr/>
        </p:nvSpPr>
        <p:spPr>
          <a:xfrm>
            <a:off x="809625" y="5093940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지속적 루프 최적화: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실행 결과 피드백을 통해 규칙(Rules)과 스킬(Skills)을 상시 업데이트.</a:t>
            </a:r>
            <a:endParaRPr lang="en-US" sz="1125" dirty="0"/>
          </a:p>
        </p:txBody>
      </p:sp>
      <p:sp>
        <p:nvSpPr>
          <p:cNvPr id="28" name="Text 8"/>
          <p:cNvSpPr/>
          <p:nvPr/>
        </p:nvSpPr>
        <p:spPr>
          <a:xfrm>
            <a:off x="5181600" y="2129284"/>
            <a:ext cx="634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spc="60" kern="0" dirty="0">
                <a:solidFill>
                  <a:srgbClr val="6C757D"/>
                </a:solidFill>
              </a:rPr>
              <a:t>DAILY OFFICE WORKFLOW LOOP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5938838" y="3157984"/>
            <a:ext cx="1562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01. Context Collection</a:t>
            </a:r>
            <a:endParaRPr lang="en-US" sz="1125" dirty="0"/>
          </a:p>
        </p:txBody>
      </p:sp>
      <p:sp>
        <p:nvSpPr>
          <p:cNvPr id="30" name="Text 10"/>
          <p:cNvSpPr/>
          <p:nvPr/>
        </p:nvSpPr>
        <p:spPr>
          <a:xfrm>
            <a:off x="5981700" y="3419921"/>
            <a:ext cx="1476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Email, Logs, Slack 알림 수집</a:t>
            </a:r>
            <a:endParaRPr lang="en-US" sz="975" dirty="0"/>
          </a:p>
        </p:txBody>
      </p:sp>
      <p:sp>
        <p:nvSpPr>
          <p:cNvPr id="31" name="Text 11"/>
          <p:cNvSpPr/>
          <p:nvPr/>
        </p:nvSpPr>
        <p:spPr>
          <a:xfrm>
            <a:off x="9215438" y="3157984"/>
            <a:ext cx="1543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02. Agent Processing</a:t>
            </a:r>
            <a:endParaRPr lang="en-US" sz="1125" dirty="0"/>
          </a:p>
        </p:txBody>
      </p:sp>
      <p:sp>
        <p:nvSpPr>
          <p:cNvPr id="32" name="Text 12"/>
          <p:cNvSpPr/>
          <p:nvPr/>
        </p:nvSpPr>
        <p:spPr>
          <a:xfrm>
            <a:off x="9272588" y="3419921"/>
            <a:ext cx="1428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Cline: 요약, 분석 및 초안 생성</a:t>
            </a:r>
            <a:endParaRPr lang="en-US" sz="975" dirty="0"/>
          </a:p>
        </p:txBody>
      </p:sp>
      <p:sp>
        <p:nvSpPr>
          <p:cNvPr id="33" name="Text 13"/>
          <p:cNvSpPr/>
          <p:nvPr/>
        </p:nvSpPr>
        <p:spPr>
          <a:xfrm>
            <a:off x="5981700" y="4501009"/>
            <a:ext cx="14763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04. Execution &amp; Save</a:t>
            </a:r>
            <a:endParaRPr lang="en-US" sz="1125" dirty="0"/>
          </a:p>
        </p:txBody>
      </p:sp>
      <p:sp>
        <p:nvSpPr>
          <p:cNvPr id="34" name="Text 14"/>
          <p:cNvSpPr/>
          <p:nvPr/>
        </p:nvSpPr>
        <p:spPr>
          <a:xfrm>
            <a:off x="5810250" y="4762946"/>
            <a:ext cx="18192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보고서 발행, Git Push, 다음 과업 예약</a:t>
            </a:r>
            <a:endParaRPr lang="en-US" sz="975" dirty="0"/>
          </a:p>
        </p:txBody>
      </p:sp>
      <p:sp>
        <p:nvSpPr>
          <p:cNvPr id="35" name="Text 15"/>
          <p:cNvSpPr/>
          <p:nvPr/>
        </p:nvSpPr>
        <p:spPr>
          <a:xfrm>
            <a:off x="9348788" y="4501009"/>
            <a:ext cx="1276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03. Human Review</a:t>
            </a:r>
            <a:endParaRPr lang="en-US" sz="1125" dirty="0"/>
          </a:p>
        </p:txBody>
      </p:sp>
      <p:sp>
        <p:nvSpPr>
          <p:cNvPr id="36" name="Text 16"/>
          <p:cNvSpPr/>
          <p:nvPr/>
        </p:nvSpPr>
        <p:spPr>
          <a:xfrm>
            <a:off x="9172575" y="4762946"/>
            <a:ext cx="1628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검증 및 피드백 (Stop Condition)</a:t>
            </a:r>
            <a:endParaRPr lang="en-US" sz="975" dirty="0"/>
          </a:p>
        </p:txBody>
      </p:sp>
      <p:sp>
        <p:nvSpPr>
          <p:cNvPr id="37" name="Text 17"/>
          <p:cNvSpPr/>
          <p:nvPr/>
        </p:nvSpPr>
        <p:spPr>
          <a:xfrm>
            <a:off x="5181600" y="5329684"/>
            <a:ext cx="63436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Internal Agentic Workflow Engineering Guide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572125" cy="4990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77255"/>
            <a:ext cx="5095875" cy="57626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74887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719" y="1577727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2096393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2429768"/>
            <a:ext cx="5095875" cy="1143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3715643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4049018"/>
            <a:ext cx="5095875" cy="5762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146649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719" y="4249489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" y="4901505"/>
            <a:ext cx="371475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4937820"/>
            <a:ext cx="142875" cy="114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75" y="1139130"/>
            <a:ext cx="5572125" cy="153635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132010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2865983"/>
            <a:ext cx="5572125" cy="153635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1750" y="3046958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75" y="4592836"/>
            <a:ext cx="5572125" cy="153635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1750" y="4773811"/>
            <a:ext cx="1905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Working Notes: 다음 단계를 위한 메모리 레이어</a:t>
            </a:r>
            <a:endParaRPr lang="en-US" sz="2100" dirty="0"/>
          </a:p>
        </p:txBody>
      </p:sp>
      <p:sp>
        <p:nvSpPr>
          <p:cNvPr id="2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작업의 중간 결과물을 기록하여 다음 태스크의 입력값으로 연결하는 업무 기억 장치의 역할과 활용법을 다룹니다.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1238250" y="1472505"/>
            <a:ext cx="2333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C757D"/>
                </a:solidFill>
              </a:rPr>
              <a:t>INPUT</a:t>
            </a:r>
            <a:endParaRPr lang="en-US" sz="900" dirty="0"/>
          </a:p>
        </p:txBody>
      </p:sp>
      <p:sp>
        <p:nvSpPr>
          <p:cNvPr id="26" name="Text 3"/>
          <p:cNvSpPr/>
          <p:nvPr/>
        </p:nvSpPr>
        <p:spPr>
          <a:xfrm>
            <a:off x="1238250" y="1643955"/>
            <a:ext cx="5314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Raw Data / Previous Task Output</a:t>
            </a:r>
            <a:endParaRPr lang="en-US" sz="1125" dirty="0"/>
          </a:p>
        </p:txBody>
      </p:sp>
      <p:sp>
        <p:nvSpPr>
          <p:cNvPr id="27" name="Text 4"/>
          <p:cNvSpPr/>
          <p:nvPr/>
        </p:nvSpPr>
        <p:spPr>
          <a:xfrm>
            <a:off x="762000" y="2429768"/>
            <a:ext cx="48101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working_notes.md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in_progress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key_findings: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[A, B, C]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next_action: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generate_report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context_summary: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"Data verified..."</a:t>
            </a:r>
            <a:endParaRPr lang="en-US" sz="900" dirty="0"/>
          </a:p>
        </p:txBody>
      </p:sp>
      <p:sp>
        <p:nvSpPr>
          <p:cNvPr id="28" name="Text 5"/>
          <p:cNvSpPr/>
          <p:nvPr/>
        </p:nvSpPr>
        <p:spPr>
          <a:xfrm>
            <a:off x="1238250" y="4144268"/>
            <a:ext cx="2228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C757D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1238250" y="4315718"/>
            <a:ext cx="5486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Contextual Action / Final Result</a:t>
            </a:r>
            <a:endParaRPr lang="en-US" sz="1125" dirty="0"/>
          </a:p>
        </p:txBody>
      </p:sp>
      <p:sp>
        <p:nvSpPr>
          <p:cNvPr id="30" name="Text 7"/>
          <p:cNvSpPr/>
          <p:nvPr/>
        </p:nvSpPr>
        <p:spPr>
          <a:xfrm>
            <a:off x="800100" y="4901505"/>
            <a:ext cx="64486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 대규모 작업 시 토큰 제한(Context Window) 문제를 해결하는 핵심 메커니즘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6667500" y="128200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컨텍스트 브릿지 (Context Bridge)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381750" y="1586805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대규모 작업 수행 시 에이전트가 모든 히스토리를 기억할 필요 없이, **핵심 정보만 정제하여 다음 태스크로 전달**하는 가교 역할을 수행합니다.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6667500" y="300885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상태 저장 및 복구 (Persistence)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381750" y="3313658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작업 중단 후 재개 시 에이전트가 `working_notes.md`를 읽음으로써 **즉시 이전 맥락을 복구**하고 중단 지점부터 작업을 이어갈 수 있게 합니다.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6667500" y="4735711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인간 개입 지점 (Human Review)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381750" y="5040511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에이전트의 중간 판단 결과가 기록되는 장소로, 사용자가 **중간 산출물을 검토하고 방향을 수정**할 수 있는 명시적인 피드백 루프를 제공합니다.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0" y="6510338"/>
            <a:ext cx="118110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 | Working Notes Methodology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3243411" cy="267369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77243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596307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4911" y="1015305"/>
            <a:ext cx="3243560" cy="26736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3511" y="1277243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3511" y="2596307"/>
            <a:ext cx="142875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879503"/>
            <a:ext cx="3243411" cy="267369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141440"/>
            <a:ext cx="238125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460504"/>
            <a:ext cx="142875" cy="114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4911" y="3879503"/>
            <a:ext cx="3243560" cy="267369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43511" y="4141440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3511" y="5460504"/>
            <a:ext cx="142875" cy="114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4221" y="1015305"/>
            <a:ext cx="4466779" cy="553789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9455" y="1862584"/>
            <a:ext cx="3116163" cy="4286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3618" y="2015728"/>
            <a:ext cx="166688" cy="1372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70380" y="2462957"/>
            <a:ext cx="214313" cy="1753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9455" y="2776984"/>
            <a:ext cx="3116163" cy="60007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08418" y="2930128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70380" y="3548807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19455" y="3862834"/>
            <a:ext cx="3116163" cy="42862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27430" y="4015978"/>
            <a:ext cx="166688" cy="13722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70380" y="4463207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9455" y="4777234"/>
            <a:ext cx="3116163" cy="60007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60743" y="4930378"/>
            <a:ext cx="166688" cy="13722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실무 자동화 데모: 에이전틱 루프의 실제</a:t>
            </a:r>
            <a:endParaRPr lang="en-US" sz="2100" dirty="0"/>
          </a:p>
        </p:txBody>
      </p:sp>
      <p:sp>
        <p:nvSpPr>
          <p:cNvPr id="30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실제 업무 환경에서 에이전틱 워크플로우가 어떻게 작동하는지 보여주는 다양한 데모 사례의 개요</a:t>
            </a:r>
            <a:endParaRPr lang="en-US" sz="1050" dirty="0"/>
          </a:p>
        </p:txBody>
      </p:sp>
      <p:sp>
        <p:nvSpPr>
          <p:cNvPr id="31" name="Text 2"/>
          <p:cNvSpPr/>
          <p:nvPr/>
        </p:nvSpPr>
        <p:spPr>
          <a:xfrm>
            <a:off x="962025" y="1243905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이메일 &amp; 일일 체크업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752475" y="1615380"/>
            <a:ext cx="26433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받은 편지함 자동 분류 및 요약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752475" y="1904851"/>
            <a:ext cx="26433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긴급 대응 필요 메일 별도 추출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752475" y="2194322"/>
            <a:ext cx="33399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오늘의 할 일 목록(Todo) 자동 제안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752475" y="2559993"/>
            <a:ext cx="35661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MCP를 활용한 Outlook/Gmail 연동</a:t>
            </a:r>
            <a:endParaRPr lang="en-US" sz="900" dirty="0"/>
          </a:p>
        </p:txBody>
      </p:sp>
      <p:sp>
        <p:nvSpPr>
          <p:cNvPr id="36" name="Text 7"/>
          <p:cNvSpPr/>
          <p:nvPr/>
        </p:nvSpPr>
        <p:spPr>
          <a:xfrm>
            <a:off x="4395936" y="1243905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일일 보고서 자동 생성</a:t>
            </a:r>
            <a:endParaRPr lang="en-US" sz="1350" dirty="0"/>
          </a:p>
        </p:txBody>
      </p:sp>
      <p:sp>
        <p:nvSpPr>
          <p:cNvPr id="37" name="Text 8"/>
          <p:cNvSpPr/>
          <p:nvPr/>
        </p:nvSpPr>
        <p:spPr>
          <a:xfrm>
            <a:off x="4186386" y="1615380"/>
            <a:ext cx="27326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Git 커밋 로그 기반 작업 요약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4186386" y="1904851"/>
            <a:ext cx="288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Markdown 템플릿 실시간 적용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186386" y="2194322"/>
            <a:ext cx="264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부재 중 발생한 주요 이슈 요약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4186386" y="2559993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Working Notes 기반 컨텍스트 결합</a:t>
            </a:r>
            <a:endParaRPr lang="en-US" sz="900" dirty="0"/>
          </a:p>
        </p:txBody>
      </p:sp>
      <p:sp>
        <p:nvSpPr>
          <p:cNvPr id="41" name="Text 12"/>
          <p:cNvSpPr/>
          <p:nvPr/>
        </p:nvSpPr>
        <p:spPr>
          <a:xfrm>
            <a:off x="962025" y="4108103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Git &amp; DevOps 통합</a:t>
            </a:r>
            <a:endParaRPr lang="en-US" sz="1350" dirty="0"/>
          </a:p>
        </p:txBody>
      </p:sp>
      <p:sp>
        <p:nvSpPr>
          <p:cNvPr id="42" name="Text 13"/>
          <p:cNvSpPr/>
          <p:nvPr/>
        </p:nvSpPr>
        <p:spPr>
          <a:xfrm>
            <a:off x="752475" y="4479578"/>
            <a:ext cx="34917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PR Description 자동 초안 작성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752475" y="4769048"/>
            <a:ext cx="30362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변경 사항에 따른 문서 자동 업데이트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752475" y="5058519"/>
            <a:ext cx="33399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CI/CD 실패 로그 분석 및 수정 제안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752475" y="5424190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Cline의 Terminal 제어 기능 활용</a:t>
            </a:r>
            <a:endParaRPr lang="en-US" sz="900" dirty="0"/>
          </a:p>
        </p:txBody>
      </p:sp>
      <p:sp>
        <p:nvSpPr>
          <p:cNvPr id="46" name="Text 17"/>
          <p:cNvSpPr/>
          <p:nvPr/>
        </p:nvSpPr>
        <p:spPr>
          <a:xfrm>
            <a:off x="4395936" y="4108103"/>
            <a:ext cx="43205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Project &amp; Obsidian 연동</a:t>
            </a:r>
            <a:endParaRPr lang="en-US" sz="1350" dirty="0"/>
          </a:p>
        </p:txBody>
      </p:sp>
      <p:sp>
        <p:nvSpPr>
          <p:cNvPr id="47" name="Text 18"/>
          <p:cNvSpPr/>
          <p:nvPr/>
        </p:nvSpPr>
        <p:spPr>
          <a:xfrm>
            <a:off x="4186386" y="4479578"/>
            <a:ext cx="34917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OpenProject 티켓 상태 자동 갱신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4186386" y="4769048"/>
            <a:ext cx="31881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회의록 Obsidian 저장 및 지식화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4186386" y="5058519"/>
            <a:ext cx="264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도구 간 데이터 동기화 자동화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4186386" y="5424190"/>
            <a:ext cx="3017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API 및 로컬 파일 시스템 직접 조작</a:t>
            </a:r>
            <a:endParaRPr lang="en-US" sz="900" dirty="0"/>
          </a:p>
        </p:txBody>
      </p:sp>
      <p:sp>
        <p:nvSpPr>
          <p:cNvPr id="51" name="Text 22"/>
          <p:cNvSpPr/>
          <p:nvPr/>
        </p:nvSpPr>
        <p:spPr>
          <a:xfrm>
            <a:off x="8444061" y="1405384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spc="60" kern="0" dirty="0">
                <a:solidFill>
                  <a:srgbClr val="C00000"/>
                </a:solidFill>
              </a:rPr>
              <a:t>AGENTIC LOOP STRUCTURE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8870305" y="1862584"/>
            <a:ext cx="1979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1. 요청 (Request) 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1B5E20"/>
                </a:highlight>
              </a:rPr>
              <a:t>Human</a:t>
            </a:r>
            <a:endParaRPr lang="en-US" sz="1050" dirty="0"/>
          </a:p>
        </p:txBody>
      </p:sp>
      <p:sp>
        <p:nvSpPr>
          <p:cNvPr id="53" name="Text 24"/>
          <p:cNvSpPr/>
          <p:nvPr/>
        </p:nvSpPr>
        <p:spPr>
          <a:xfrm>
            <a:off x="8019455" y="2776984"/>
            <a:ext cx="28304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 2. 실행 (Action)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C00000"/>
                </a:solidFill>
              </a:rPr>
              <a:t>Cline + Tool Usage</a:t>
            </a:r>
            <a:endParaRPr lang="en-US" sz="1050" dirty="0"/>
          </a:p>
        </p:txBody>
      </p:sp>
      <p:sp>
        <p:nvSpPr>
          <p:cNvPr id="54" name="Text 25"/>
          <p:cNvSpPr/>
          <p:nvPr/>
        </p:nvSpPr>
        <p:spPr>
          <a:xfrm>
            <a:off x="8894118" y="3862834"/>
            <a:ext cx="195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3. 검토 (Review) 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1B5E20"/>
                </a:highlight>
              </a:rPr>
              <a:t>Human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8019455" y="4777234"/>
            <a:ext cx="28304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 4. 수정 및 저장 (Refine &amp; Save)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C00000"/>
                </a:solidFill>
              </a:rPr>
              <a:t>Workflow Assetization</a:t>
            </a:r>
            <a:endParaRPr lang="en-US" sz="1050" dirty="0"/>
          </a:p>
        </p:txBody>
      </p:sp>
      <p:sp>
        <p:nvSpPr>
          <p:cNvPr id="56" name="Text 27"/>
          <p:cNvSpPr/>
          <p:nvPr/>
        </p:nvSpPr>
        <p:spPr>
          <a:xfrm>
            <a:off x="8444061" y="5605909"/>
            <a:ext cx="2266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단순 자동화와 다른 점은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C757D"/>
                </a:solidFill>
              </a:rPr>
              <a:t>'인간의 개입(Human-in-the-loop)'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을 통한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지속적인 신뢰도 확보입니다.</a:t>
            </a:r>
            <a:endParaRPr lang="en-US" sz="975" dirty="0"/>
          </a:p>
        </p:txBody>
      </p:sp>
      <p:sp>
        <p:nvSpPr>
          <p:cNvPr id="57" name="Text 28"/>
          <p:cNvSpPr/>
          <p:nvPr/>
        </p:nvSpPr>
        <p:spPr>
          <a:xfrm>
            <a:off x="8667750" y="6510338"/>
            <a:ext cx="3524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Internal Demo Scenarios &amp; Agentic Workflow Best Practices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52749"/>
            <a:ext cx="4457700" cy="14210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84177"/>
            <a:ext cx="214313" cy="1753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316635"/>
            <a:ext cx="4457700" cy="12019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48063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61446"/>
            <a:ext cx="4457700" cy="120193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892873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4450" y="1139130"/>
            <a:ext cx="6686550" cy="142904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950" y="1615529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4013" y="1758404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4381" y="2663428"/>
            <a:ext cx="166688" cy="1372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2895898"/>
            <a:ext cx="6686550" cy="142904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14950" y="3372296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34013" y="3515171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1700" y="3703290"/>
            <a:ext cx="5638800" cy="3619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4381" y="4420195"/>
            <a:ext cx="166688" cy="1372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24450" y="4652665"/>
            <a:ext cx="6686550" cy="142904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14950" y="5129064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34013" y="5271939"/>
            <a:ext cx="238125" cy="190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1: 이메일 요약 및 일일 체크업 자동화</a:t>
            </a:r>
            <a:endParaRPr lang="en-US" sz="2100" dirty="0"/>
          </a:p>
        </p:txBody>
      </p:sp>
      <p:sp>
        <p:nvSpPr>
          <p:cNvPr id="2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쏟아지는 이메일을 자동으로 요약하고 오늘 처리해야 할 주요 항목을 점검하는 워크플로우를 시연합니다.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881063" y="1943249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지능형 이메일 파싱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571500" y="2276624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Cline이 메일함에 접근하여 미처리 메일을 수집하고, 업무 연관성 및 긴급도에 따라 컨텍스트를 분류합니다.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571500" y="2811810"/>
            <a:ext cx="407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OAuth2 또는 전용 API 권한 설정 필요</a:t>
            </a:r>
            <a:endParaRPr lang="en-US" sz="900" dirty="0"/>
          </a:p>
        </p:txBody>
      </p:sp>
      <p:sp>
        <p:nvSpPr>
          <p:cNvPr id="28" name="Text 5"/>
          <p:cNvSpPr/>
          <p:nvPr/>
        </p:nvSpPr>
        <p:spPr>
          <a:xfrm>
            <a:off x="881063" y="3507135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Action Item 추출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571500" y="3840510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단순 요약을 넘어 "누가, 무엇을, 언제까지" 해야 하는지 구체적인 실행 항목(Action Items)을 도출합니다.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881063" y="4851946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루프 기반 피드백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571500" y="5185321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사용자가 요약본을 검토하고, 특정 항목을 'Daily Todo'로 확정하면 자동으로 마크다운 일일 노트에 반영합니다.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5981700" y="1627436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1: Fetch &amp; Categorize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5981700" y="1894136"/>
            <a:ext cx="56388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최신 메일 50건 수집 및 프로젝트 키워드 기반 분류</a:t>
            </a:r>
            <a:endParaRPr lang="en-US" sz="975" dirty="0"/>
          </a:p>
        </p:txBody>
      </p:sp>
      <p:sp>
        <p:nvSpPr>
          <p:cNvPr id="34" name="Text 11"/>
          <p:cNvSpPr/>
          <p:nvPr/>
        </p:nvSpPr>
        <p:spPr>
          <a:xfrm>
            <a:off x="5981700" y="3155603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2: Summarize &amp; Extract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5981700" y="3422303"/>
            <a:ext cx="56388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LLM을 통한 핵심 맥락 분석 및 Action Item 도출</a:t>
            </a:r>
            <a:endParaRPr lang="en-US" sz="975" dirty="0"/>
          </a:p>
        </p:txBody>
      </p:sp>
      <p:sp>
        <p:nvSpPr>
          <p:cNvPr id="36" name="Text 13"/>
          <p:cNvSpPr/>
          <p:nvPr/>
        </p:nvSpPr>
        <p:spPr>
          <a:xfrm>
            <a:off x="6076950" y="3703290"/>
            <a:ext cx="5448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 ] 이메일: 설계 변경 건 (Due: 04/29)</a:t>
            </a:r>
            <a:endParaRPr lang="en-US" sz="900" dirty="0"/>
          </a:p>
        </p:txBody>
      </p:sp>
      <p:sp>
        <p:nvSpPr>
          <p:cNvPr id="37" name="Text 14"/>
          <p:cNvSpPr/>
          <p:nvPr/>
        </p:nvSpPr>
        <p:spPr>
          <a:xfrm>
            <a:off x="5981700" y="5031432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3: Human Review &amp; Sync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5981700" y="5298132"/>
            <a:ext cx="62103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사용자 승인 후 Daily Note (Obsidian/Markdown) 업데이트</a:t>
            </a:r>
            <a:endParaRPr lang="en-US" sz="975" dirty="0"/>
          </a:p>
        </p:txBody>
      </p:sp>
      <p:sp>
        <p:nvSpPr>
          <p:cNvPr id="39" name="Text 16"/>
          <p:cNvSpPr/>
          <p:nvPr/>
        </p:nvSpPr>
        <p:spPr>
          <a:xfrm>
            <a:off x="5981700" y="553149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Human-in-the-loop: 최종 컨펌 후 파일 기록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5124450" y="6319838"/>
            <a:ext cx="6686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Demo Case Study #01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91357"/>
            <a:ext cx="5108823" cy="126310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1484709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1627584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97336"/>
            <a:ext cx="5108823" cy="126310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890689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3033564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903315"/>
            <a:ext cx="5108823" cy="126310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" y="4296668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8" y="4439543"/>
            <a:ext cx="238125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309295"/>
            <a:ext cx="5108823" cy="126310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5702647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38" y="5845522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80323" y="1091505"/>
            <a:ext cx="6130677" cy="252799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3198" y="1234380"/>
            <a:ext cx="5844927" cy="247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25250" y="1234380"/>
            <a:ext cx="142875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0323" y="3762375"/>
            <a:ext cx="6130677" cy="28098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70823" y="3952875"/>
            <a:ext cx="5749677" cy="204788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2: 일일 보고서 자동 생성 및 템플릿 적용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 내역을 바탕으로 마크다운 템플릿이 적용된 일일 보고서를 자동으로 생성하는 과정을 보여줍니다.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1143000" y="1328142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1. Context Scanning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1143000" y="1594842"/>
            <a:ext cx="420394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Git Commit, Jira/OpenProject 이슈, 오늘 작성한 Working Notes 및 이메일을 스캔합니다.</a:t>
            </a:r>
            <a:endParaRPr lang="en-US" sz="975" dirty="0"/>
          </a:p>
        </p:txBody>
      </p:sp>
      <p:sp>
        <p:nvSpPr>
          <p:cNvPr id="25" name="Text 4"/>
          <p:cNvSpPr/>
          <p:nvPr/>
        </p:nvSpPr>
        <p:spPr>
          <a:xfrm>
            <a:off x="1143000" y="1960364"/>
            <a:ext cx="699897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Cline이 `read_file`, `list_files` 도구를 사용하여 로컬 데이터를 수집함</a:t>
            </a:r>
            <a:endParaRPr lang="en-US" sz="825" dirty="0"/>
          </a:p>
        </p:txBody>
      </p:sp>
      <p:sp>
        <p:nvSpPr>
          <p:cNvPr id="26" name="Text 5"/>
          <p:cNvSpPr/>
          <p:nvPr/>
        </p:nvSpPr>
        <p:spPr>
          <a:xfrm>
            <a:off x="1143000" y="2908846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2. Template Mapping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1143000" y="3175546"/>
            <a:ext cx="78752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사전에 정의된 `Daily_Report_Template.md`를 로드하여 빈 슬롯을 파악합니다.</a:t>
            </a:r>
            <a:endParaRPr lang="en-US" sz="975" dirty="0"/>
          </a:p>
        </p:txBody>
      </p:sp>
      <p:sp>
        <p:nvSpPr>
          <p:cNvPr id="28" name="Text 7"/>
          <p:cNvSpPr/>
          <p:nvPr/>
        </p:nvSpPr>
        <p:spPr>
          <a:xfrm>
            <a:off x="1143000" y="4226719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3. AI Synthesis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143000" y="4493419"/>
            <a:ext cx="69837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수집된 맥락을 템플릿 구조에 맞춰 요약 및 재구성합니다. 불확실한 지점은 질문합니다.</a:t>
            </a:r>
            <a:endParaRPr lang="en-US" sz="975" dirty="0"/>
          </a:p>
        </p:txBody>
      </p:sp>
      <p:sp>
        <p:nvSpPr>
          <p:cNvPr id="30" name="Text 9"/>
          <p:cNvSpPr/>
          <p:nvPr/>
        </p:nvSpPr>
        <p:spPr>
          <a:xfrm>
            <a:off x="1143000" y="4685705"/>
            <a:ext cx="54063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On-premise LLM(Qwen 2.5)을 통한 보안 처리 및 요약</a:t>
            </a:r>
            <a:endParaRPr lang="en-US" sz="825" dirty="0"/>
          </a:p>
        </p:txBody>
      </p:sp>
      <p:sp>
        <p:nvSpPr>
          <p:cNvPr id="31" name="Text 10"/>
          <p:cNvSpPr/>
          <p:nvPr/>
        </p:nvSpPr>
        <p:spPr>
          <a:xfrm>
            <a:off x="1143000" y="5720804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4. Final Artifact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143000" y="5987504"/>
            <a:ext cx="8023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최종 보고서를 생성하고, 필요 시 Git 레포지토리의 `reports/` 폴더에 자동 커밋합니다.</a:t>
            </a:r>
            <a:endParaRPr lang="en-US" sz="975" dirty="0"/>
          </a:p>
        </p:txBody>
      </p:sp>
      <p:sp>
        <p:nvSpPr>
          <p:cNvPr id="33" name="Text 12"/>
          <p:cNvSpPr/>
          <p:nvPr/>
        </p:nvSpPr>
        <p:spPr>
          <a:xfrm>
            <a:off x="5823198" y="1234380"/>
            <a:ext cx="3291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Daily_Report_Template.md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5823198" y="1586805"/>
            <a:ext cx="38138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Daily Report - {{date}}</a:t>
            </a:r>
            <a:endParaRPr lang="en-US" sz="975" dirty="0"/>
          </a:p>
        </p:txBody>
      </p:sp>
      <p:sp>
        <p:nvSpPr>
          <p:cNvPr id="35" name="Text 14"/>
          <p:cNvSpPr/>
          <p:nvPr/>
        </p:nvSpPr>
        <p:spPr>
          <a:xfrm>
            <a:off x="7728198" y="1586805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36" name="Text 15"/>
          <p:cNvSpPr/>
          <p:nvPr/>
        </p:nvSpPr>
        <p:spPr>
          <a:xfrm>
            <a:off x="5823198" y="1784896"/>
            <a:ext cx="2377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주요 달성 사항</a:t>
            </a:r>
            <a:endParaRPr lang="en-US" sz="975" dirty="0"/>
          </a:p>
        </p:txBody>
      </p:sp>
      <p:sp>
        <p:nvSpPr>
          <p:cNvPr id="37" name="Text 16"/>
          <p:cNvSpPr/>
          <p:nvPr/>
        </p:nvSpPr>
        <p:spPr>
          <a:xfrm>
            <a:off x="7175748" y="178489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38" name="Text 17"/>
          <p:cNvSpPr/>
          <p:nvPr/>
        </p:nvSpPr>
        <p:spPr>
          <a:xfrm>
            <a:off x="5823198" y="1982986"/>
            <a:ext cx="34175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{{git_commits_summary}}</a:t>
            </a:r>
            <a:endParaRPr lang="en-US" sz="975" dirty="0"/>
          </a:p>
        </p:txBody>
      </p:sp>
      <p:sp>
        <p:nvSpPr>
          <p:cNvPr id="39" name="Text 18"/>
          <p:cNvSpPr/>
          <p:nvPr/>
        </p:nvSpPr>
        <p:spPr>
          <a:xfrm>
            <a:off x="7575798" y="198298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0" name="Text 19"/>
          <p:cNvSpPr/>
          <p:nvPr/>
        </p:nvSpPr>
        <p:spPr>
          <a:xfrm>
            <a:off x="5823198" y="2181076"/>
            <a:ext cx="2674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미결 및 익일 예정</a:t>
            </a:r>
            <a:endParaRPr lang="en-US" sz="975" dirty="0"/>
          </a:p>
        </p:txBody>
      </p:sp>
      <p:sp>
        <p:nvSpPr>
          <p:cNvPr id="41" name="Text 20"/>
          <p:cNvSpPr/>
          <p:nvPr/>
        </p:nvSpPr>
        <p:spPr>
          <a:xfrm>
            <a:off x="7375773" y="218107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2" name="Text 21"/>
          <p:cNvSpPr/>
          <p:nvPr/>
        </p:nvSpPr>
        <p:spPr>
          <a:xfrm>
            <a:off x="5823198" y="2379166"/>
            <a:ext cx="25260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{{pending_tasks}}</a:t>
            </a:r>
            <a:endParaRPr lang="en-US" sz="975" dirty="0"/>
          </a:p>
        </p:txBody>
      </p:sp>
      <p:sp>
        <p:nvSpPr>
          <p:cNvPr id="43" name="Text 22"/>
          <p:cNvSpPr/>
          <p:nvPr/>
        </p:nvSpPr>
        <p:spPr>
          <a:xfrm>
            <a:off x="7118598" y="237916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4" name="Text 23"/>
          <p:cNvSpPr/>
          <p:nvPr/>
        </p:nvSpPr>
        <p:spPr>
          <a:xfrm>
            <a:off x="5823198" y="2577257"/>
            <a:ext cx="19316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특이 사항</a:t>
            </a:r>
            <a:endParaRPr lang="en-US" sz="975" dirty="0"/>
          </a:p>
        </p:txBody>
      </p:sp>
      <p:sp>
        <p:nvSpPr>
          <p:cNvPr id="45" name="Text 24"/>
          <p:cNvSpPr/>
          <p:nvPr/>
        </p:nvSpPr>
        <p:spPr>
          <a:xfrm>
            <a:off x="6851898" y="2577257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6" name="Text 25"/>
          <p:cNvSpPr/>
          <p:nvPr/>
        </p:nvSpPr>
        <p:spPr>
          <a:xfrm>
            <a:off x="5823198" y="2775347"/>
            <a:ext cx="3120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{{blockers_or_notes}}</a:t>
            </a:r>
            <a:endParaRPr lang="en-US" sz="975" dirty="0"/>
          </a:p>
        </p:txBody>
      </p:sp>
      <p:sp>
        <p:nvSpPr>
          <p:cNvPr id="47" name="Text 26"/>
          <p:cNvSpPr/>
          <p:nvPr/>
        </p:nvSpPr>
        <p:spPr>
          <a:xfrm>
            <a:off x="5870823" y="3952875"/>
            <a:ext cx="5749677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C757D"/>
                </a:solidFill>
              </a:rPr>
              <a:t>GENERATED PREVIEW (MARKDOWN RENDERED)</a:t>
            </a:r>
            <a:endParaRPr lang="en-US" sz="825" dirty="0"/>
          </a:p>
        </p:txBody>
      </p:sp>
      <p:sp>
        <p:nvSpPr>
          <p:cNvPr id="48" name="Text 27"/>
          <p:cNvSpPr/>
          <p:nvPr/>
        </p:nvSpPr>
        <p:spPr>
          <a:xfrm>
            <a:off x="5870823" y="4252913"/>
            <a:ext cx="62407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Daily Report - 2026-04-28</a:t>
            </a:r>
            <a:endParaRPr lang="en-US" sz="1350" dirty="0"/>
          </a:p>
        </p:txBody>
      </p:sp>
      <p:sp>
        <p:nvSpPr>
          <p:cNvPr id="49" name="Text 28"/>
          <p:cNvSpPr/>
          <p:nvPr/>
        </p:nvSpPr>
        <p:spPr>
          <a:xfrm>
            <a:off x="5870823" y="4605338"/>
            <a:ext cx="574967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1. 주요 달성 사항</a:t>
            </a:r>
            <a:endParaRPr lang="en-US" sz="1125" dirty="0"/>
          </a:p>
        </p:txBody>
      </p:sp>
      <p:sp>
        <p:nvSpPr>
          <p:cNvPr id="50" name="Text 29"/>
          <p:cNvSpPr/>
          <p:nvPr/>
        </p:nvSpPr>
        <p:spPr>
          <a:xfrm>
            <a:off x="6013698" y="4867275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Cline 워크플로우 엔진 고도화 (3건의 PR 완료)</a:t>
            </a:r>
            <a:endParaRPr lang="en-US" sz="1050" dirty="0"/>
          </a:p>
        </p:txBody>
      </p:sp>
      <p:sp>
        <p:nvSpPr>
          <p:cNvPr id="51" name="Text 30"/>
          <p:cNvSpPr/>
          <p:nvPr/>
        </p:nvSpPr>
        <p:spPr>
          <a:xfrm>
            <a:off x="6013698" y="5095875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On-premise Qwen 2.5 API 연동 테스트 성공</a:t>
            </a:r>
            <a:endParaRPr lang="en-US" sz="1050" dirty="0"/>
          </a:p>
        </p:txBody>
      </p:sp>
      <p:sp>
        <p:nvSpPr>
          <p:cNvPr id="52" name="Text 31"/>
          <p:cNvSpPr/>
          <p:nvPr/>
        </p:nvSpPr>
        <p:spPr>
          <a:xfrm>
            <a:off x="5870823" y="5391150"/>
            <a:ext cx="574967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2. 미결 및 익일 예정</a:t>
            </a:r>
            <a:endParaRPr lang="en-US" sz="1125" dirty="0"/>
          </a:p>
        </p:txBody>
      </p:sp>
      <p:sp>
        <p:nvSpPr>
          <p:cNvPr id="53" name="Text 32"/>
          <p:cNvSpPr/>
          <p:nvPr/>
        </p:nvSpPr>
        <p:spPr>
          <a:xfrm>
            <a:off x="6013698" y="5653088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AGENTS.md 전역 규칙 최적화 작업 (진행 중)</a:t>
            </a:r>
            <a:endParaRPr lang="en-US" sz="1050" dirty="0"/>
          </a:p>
        </p:txBody>
      </p:sp>
      <p:sp>
        <p:nvSpPr>
          <p:cNvPr id="54" name="Text 33"/>
          <p:cNvSpPr/>
          <p:nvPr/>
        </p:nvSpPr>
        <p:spPr>
          <a:xfrm>
            <a:off x="6013698" y="5881688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내일 오전 주간 회의 자료 업데이트 예정</a:t>
            </a:r>
            <a:endParaRPr lang="en-US" sz="1050" dirty="0"/>
          </a:p>
        </p:txBody>
      </p:sp>
      <p:sp>
        <p:nvSpPr>
          <p:cNvPr id="55" name="Text 34"/>
          <p:cNvSpPr/>
          <p:nvPr/>
        </p:nvSpPr>
        <p:spPr>
          <a:xfrm>
            <a:off x="5870823" y="6224588"/>
            <a:ext cx="5993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Human-in-the-loop: 내용 확인 후 `Save` 명령 시 파일 생성됨</a:t>
            </a:r>
            <a:endParaRPr lang="en-US" sz="825" dirty="0"/>
          </a:p>
        </p:txBody>
      </p:sp>
      <p:sp>
        <p:nvSpPr>
          <p:cNvPr id="56" name="Text 35"/>
          <p:cNvSpPr/>
          <p:nvPr/>
        </p:nvSpPr>
        <p:spPr>
          <a:xfrm>
            <a:off x="9086850" y="6510338"/>
            <a:ext cx="3105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Automation Case Study (2026)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5750"/>
            <a:ext cx="11811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29630"/>
            <a:ext cx="214313" cy="171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01105"/>
            <a:ext cx="214313" cy="171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072580"/>
            <a:ext cx="214313" cy="171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615505"/>
            <a:ext cx="2714625" cy="204162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58393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680222"/>
            <a:ext cx="2333625" cy="55602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25" y="2615505"/>
            <a:ext cx="2714625" cy="204162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25" y="2858393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625" y="3680222"/>
            <a:ext cx="2333625" cy="37326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0" y="2615505"/>
            <a:ext cx="2714625" cy="204162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858393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3680222"/>
            <a:ext cx="2333625" cy="3732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6375" y="2615505"/>
            <a:ext cx="2714625" cy="20416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6875" y="2858393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6875" y="3680222"/>
            <a:ext cx="2333625" cy="37326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62000" y="57150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3: Git 및 DevOps 워크플로우 통합</a:t>
            </a:r>
            <a:endParaRPr lang="en-US" sz="2100" dirty="0"/>
          </a:p>
        </p:txBody>
      </p:sp>
      <p:sp>
        <p:nvSpPr>
          <p:cNvPr id="20" name="Text 1"/>
          <p:cNvSpPr/>
          <p:nvPr/>
        </p:nvSpPr>
        <p:spPr>
          <a:xfrm>
            <a:off x="762000" y="93910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코드 변경 사항 관리부터 배포 파이프라인 연동까지 개발 운영 전반의 자동화 사례</a:t>
            </a:r>
            <a:endParaRPr lang="en-US" sz="1050" dirty="0"/>
          </a:p>
        </p:txBody>
      </p:sp>
      <p:sp>
        <p:nvSpPr>
          <p:cNvPr id="21" name="Text 2"/>
          <p:cNvSpPr/>
          <p:nvPr/>
        </p:nvSpPr>
        <p:spPr>
          <a:xfrm>
            <a:off x="690563" y="1329630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Cline을 통한 Git 작업 자동화: 브랜치 생성, 커밋 메시지 작성부터 PR 설명 생성까지의 엔드투엔드 흐름 구현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690563" y="1701105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터미널 도구 연동: 에이전트가 직접 Lint, Unit Test, Build 명령어를 수행하고 오류 발생 시 자율적 트러블슈팅 수행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690563" y="2072580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DevOps 가시성 확보: CI/CD 파이프라인 상태 모니터링 및 배포 로그 분석을 통한 즉각적인 피드백 루프 구축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857250" y="2806005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변경 감지 및 브랜칭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571500" y="3206055"/>
            <a:ext cx="2333625" cy="12605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요청된 기능 구현을 위해 새 브랜치를 생성하고 관련 파일을 분석합니다.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git checkout -b feature/auth-fix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Git Workflow Instruction 준수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3762375" y="2806005"/>
            <a:ext cx="1645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검증 및 테스트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3476625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코드를 수정한 후 터미널에서 테스트를 실행하여 무결성을 검증합니다.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npm test -- auth.spec.ts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실패 시 에이전트가 코드 자동 수정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6667500" y="2806005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PR 생성 및 문서화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6381750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변경 내역을 요약하여 Conventional Commit을 작성하고 PR을 생성합니다.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feat(auth): fix token leak...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Human-in-the-loop 검토 필수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9572625" y="2806005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배포 및 모니터링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9286875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CI 파이프라인 상태를 확인하고 배포 결과를 리포트합니다.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Status: Success (2m 30s)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OpenProject 티켓 상태 자동 업데이트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381000" y="4942880"/>
            <a:ext cx="1143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Internal Case Study - DevOps Automation with Cline (2026)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11811000" cy="862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20105"/>
            <a:ext cx="6915150" cy="48473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044452"/>
            <a:ext cx="6343650" cy="76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187327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8" y="2330202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1419" y="2996952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362771"/>
            <a:ext cx="6343650" cy="762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3505646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8" y="3648521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1419" y="431527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4681091"/>
            <a:ext cx="6343650" cy="76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4823966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688" y="4966841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1900" y="1320105"/>
            <a:ext cx="4229100" cy="23845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0" y="151060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2400" y="3266480"/>
            <a:ext cx="384810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86700" y="3359944"/>
            <a:ext cx="142875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81900" y="3857030"/>
            <a:ext cx="4229100" cy="231040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72400" y="4047530"/>
            <a:ext cx="1905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0" y="53340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4: OpenProject 및 Obsidian 연동</a:t>
            </a:r>
            <a:endParaRPr lang="en-US" sz="2100" dirty="0"/>
          </a:p>
        </p:txBody>
      </p:sp>
      <p:sp>
        <p:nvSpPr>
          <p:cNvPr id="23" name="Text 1"/>
          <p:cNvSpPr/>
          <p:nvPr/>
        </p:nvSpPr>
        <p:spPr>
          <a:xfrm>
            <a:off x="762000" y="891480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프로젝트 관리 도구와 지식 관리 도구를 연결하여 정보의 흐름을 자동화하는 통합 워크플로우를 제시합니다.</a:t>
            </a:r>
            <a:endParaRPr lang="en-US" sz="1050" dirty="0"/>
          </a:p>
        </p:txBody>
      </p:sp>
      <p:sp>
        <p:nvSpPr>
          <p:cNvPr id="24" name="Text 2"/>
          <p:cNvSpPr/>
          <p:nvPr/>
        </p:nvSpPr>
        <p:spPr>
          <a:xfrm>
            <a:off x="1476375" y="2208758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Obsidian (Personal Knowledge)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476375" y="2456408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비정형 데이터: 일일 노트, 회의록, 아이디어 스케치</a:t>
            </a:r>
            <a:endParaRPr lang="en-US" sz="975" dirty="0"/>
          </a:p>
        </p:txBody>
      </p:sp>
      <p:sp>
        <p:nvSpPr>
          <p:cNvPr id="26" name="Text 4"/>
          <p:cNvSpPr/>
          <p:nvPr/>
        </p:nvSpPr>
        <p:spPr>
          <a:xfrm>
            <a:off x="1476375" y="3527078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Cline Agent (Orchestrator)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476375" y="3774728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맥락 분석: 텍스트 추출, 도구 호출, 데이터 구조화</a:t>
            </a:r>
            <a:endParaRPr lang="en-US" sz="975" dirty="0"/>
          </a:p>
        </p:txBody>
      </p:sp>
      <p:sp>
        <p:nvSpPr>
          <p:cNvPr id="28" name="Text 6"/>
          <p:cNvSpPr/>
          <p:nvPr/>
        </p:nvSpPr>
        <p:spPr>
          <a:xfrm>
            <a:off x="1476375" y="4845397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OpenProject (Shared Task)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476375" y="5093047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정형 데이터: 티켓 생성, 상태 업데이트, 일정 관리</a:t>
            </a:r>
            <a:endParaRPr lang="en-US" sz="975" dirty="0"/>
          </a:p>
        </p:txBody>
      </p:sp>
      <p:sp>
        <p:nvSpPr>
          <p:cNvPr id="30" name="Text 8"/>
          <p:cNvSpPr/>
          <p:nvPr/>
        </p:nvSpPr>
        <p:spPr>
          <a:xfrm>
            <a:off x="8058150" y="147250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통합 워크플로우 핵심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915275" y="1796355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비정형 데이터의 구조화: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Obsidian 회의록을 분석하여 OpenProject 작업(Task)으로 자동 변환.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7915275" y="2280047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상태 동기화: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Git 커밋과 연동하여 Obsidian 일일 노트와 OpenProject 진행률을 동시 업데이트.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7915275" y="2763738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지식 자산화: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프로젝트 이력과 개인 노트를 결합하여 재사용 가능한 위키(Wiki) 문서 자동 생성.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8029575" y="3266480"/>
            <a:ext cx="4162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API Key 및 엔드포인트는 환경변수(.env)를 통해 안전하게 관리되어야 함.</a:t>
            </a:r>
            <a:endParaRPr lang="en-US" sz="900" dirty="0"/>
          </a:p>
        </p:txBody>
      </p:sp>
      <p:sp>
        <p:nvSpPr>
          <p:cNvPr id="35" name="Text 13"/>
          <p:cNvSpPr/>
          <p:nvPr/>
        </p:nvSpPr>
        <p:spPr>
          <a:xfrm>
            <a:off x="8058150" y="400943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915275" y="4333280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정보 파편화 방지: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개인 기록과 공용 프로젝트 관리 도구 간의 데이터 일관성 유지.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7915275" y="4816971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보고 업무 최소화: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작업 수행 기록이 자동으로 시스템에 반영되어 수동 보고 시간 단축.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0" y="6472238"/>
            <a:ext cx="11430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Demo Case Study (2026) | Internal Methodology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6915150" cy="502354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30" y="2534692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18" y="2734717"/>
            <a:ext cx="33337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5010" y="2931765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8815" y="2534692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5503" y="2734717"/>
            <a:ext cx="33337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395" y="2931765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5200" y="2339429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1888" y="2539454"/>
            <a:ext cx="3333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7779" y="2931765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1585" y="2534692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8272" y="2734717"/>
            <a:ext cx="3333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4164" y="2931765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37970" y="2534692"/>
            <a:ext cx="666750" cy="666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4657" y="2734717"/>
            <a:ext cx="333375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01055" y="4979640"/>
            <a:ext cx="5074890" cy="4857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3376" y="5146328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81900" y="1139130"/>
            <a:ext cx="4229100" cy="241652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20025" y="1616720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20025" y="1975842"/>
            <a:ext cx="178594" cy="17859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0025" y="2547342"/>
            <a:ext cx="178594" cy="164753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81900" y="3746153"/>
            <a:ext cx="4229100" cy="2416522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20025" y="4051399"/>
            <a:ext cx="214313" cy="17532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20025" y="4410521"/>
            <a:ext cx="178594" cy="178594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0025" y="4982021"/>
            <a:ext cx="178594" cy="178594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20025" y="5553521"/>
            <a:ext cx="178594" cy="142875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Human-in-the-loop 피드백 사이클의 중요성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요청, 실행, 인간의 검토, 지시 수정으로 이어지는 선순환 구조를 통해 에이전트의 정확도를 높이는 방법을 설명합니다.</a:t>
            </a:r>
            <a:endParaRPr lang="en-US" sz="1050" dirty="0"/>
          </a:p>
        </p:txBody>
      </p:sp>
      <p:sp>
        <p:nvSpPr>
          <p:cNvPr id="33" name="Text 2"/>
          <p:cNvSpPr/>
          <p:nvPr/>
        </p:nvSpPr>
        <p:spPr>
          <a:xfrm>
            <a:off x="858143" y="3344317"/>
            <a:ext cx="69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Request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666750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사용자 의도 및 태스크 입력</a:t>
            </a:r>
            <a:endParaRPr lang="en-US" sz="975" dirty="0"/>
          </a:p>
        </p:txBody>
      </p:sp>
      <p:sp>
        <p:nvSpPr>
          <p:cNvPr id="35" name="Text 4"/>
          <p:cNvSpPr/>
          <p:nvPr/>
        </p:nvSpPr>
        <p:spPr>
          <a:xfrm>
            <a:off x="2241203" y="3344317"/>
            <a:ext cx="561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Action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1983135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에이전트 도구 사용 및 실행</a:t>
            </a:r>
            <a:endParaRPr lang="en-US" sz="975" dirty="0"/>
          </a:p>
        </p:txBody>
      </p:sp>
      <p:sp>
        <p:nvSpPr>
          <p:cNvPr id="37" name="Text 6"/>
          <p:cNvSpPr/>
          <p:nvPr/>
        </p:nvSpPr>
        <p:spPr>
          <a:xfrm>
            <a:off x="3538538" y="3149054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Review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3299520" y="3453854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인간의 결과물 검토 및 승인</a:t>
            </a:r>
            <a:endParaRPr lang="en-US" sz="975" dirty="0"/>
          </a:p>
        </p:txBody>
      </p:sp>
      <p:sp>
        <p:nvSpPr>
          <p:cNvPr id="39" name="Text 8"/>
          <p:cNvSpPr/>
          <p:nvPr/>
        </p:nvSpPr>
        <p:spPr>
          <a:xfrm>
            <a:off x="3299520" y="3847951"/>
            <a:ext cx="1078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Critical Control Point</a:t>
            </a:r>
            <a:endParaRPr lang="en-US" sz="900" dirty="0"/>
          </a:p>
        </p:txBody>
      </p:sp>
      <p:sp>
        <p:nvSpPr>
          <p:cNvPr id="40" name="Text 9"/>
          <p:cNvSpPr/>
          <p:nvPr/>
        </p:nvSpPr>
        <p:spPr>
          <a:xfrm>
            <a:off x="4883497" y="3344317"/>
            <a:ext cx="542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Refine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4615904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지시사항 수정 및 예외 학습</a:t>
            </a:r>
            <a:endParaRPr lang="en-US" sz="975" dirty="0"/>
          </a:p>
        </p:txBody>
      </p:sp>
      <p:sp>
        <p:nvSpPr>
          <p:cNvPr id="42" name="Text 11"/>
          <p:cNvSpPr/>
          <p:nvPr/>
        </p:nvSpPr>
        <p:spPr>
          <a:xfrm>
            <a:off x="6261795" y="3344317"/>
            <a:ext cx="419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Save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5932289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검증된 워크플로우 자산화</a:t>
            </a:r>
            <a:endParaRPr lang="en-US" sz="975" dirty="0"/>
          </a:p>
        </p:txBody>
      </p:sp>
      <p:sp>
        <p:nvSpPr>
          <p:cNvPr id="44" name="Text 13"/>
          <p:cNvSpPr/>
          <p:nvPr/>
        </p:nvSpPr>
        <p:spPr>
          <a:xfrm>
            <a:off x="1819126" y="5122515"/>
            <a:ext cx="8321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Continuous Improvement Loop: 반복을 통한 에이전트 성능의 점진적 고도화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8129588" y="1575792"/>
            <a:ext cx="3752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자율성과 통제의 균형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8093869" y="1975842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에이전트의 독단적 판단 방지 및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인간의 최종 결정권(Human Agency)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유지</a:t>
            </a:r>
            <a:endParaRPr lang="en-US" sz="1125" dirty="0"/>
          </a:p>
        </p:txBody>
      </p:sp>
      <p:sp>
        <p:nvSpPr>
          <p:cNvPr id="47" name="Text 16"/>
          <p:cNvSpPr/>
          <p:nvPr/>
        </p:nvSpPr>
        <p:spPr>
          <a:xfrm>
            <a:off x="8093869" y="2547342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실시간 중간 검토를 통해 잘못된 방향으로의 '에이전트 표류' 즉시 차단</a:t>
            </a:r>
            <a:endParaRPr lang="en-US" sz="1125" dirty="0"/>
          </a:p>
        </p:txBody>
      </p:sp>
      <p:sp>
        <p:nvSpPr>
          <p:cNvPr id="48" name="Text 17"/>
          <p:cNvSpPr/>
          <p:nvPr/>
        </p:nvSpPr>
        <p:spPr>
          <a:xfrm>
            <a:off x="8129588" y="4010471"/>
            <a:ext cx="3752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워크플로우의 자산화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8093869" y="4410521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수정된 지시사항을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Markdown Rules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 반영하여 영구적 지식으로 전환</a:t>
            </a:r>
            <a:endParaRPr lang="en-US" sz="1125" dirty="0"/>
          </a:p>
        </p:txBody>
      </p:sp>
      <p:sp>
        <p:nvSpPr>
          <p:cNvPr id="50" name="Text 19"/>
          <p:cNvSpPr/>
          <p:nvPr/>
        </p:nvSpPr>
        <p:spPr>
          <a:xfrm>
            <a:off x="8093869" y="4982021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성공적인 피드백 루프를 거친 작업은 '재사용 가능한 모듈형 워크플로우'로 저장</a:t>
            </a:r>
            <a:endParaRPr lang="en-US" sz="1125" dirty="0"/>
          </a:p>
        </p:txBody>
      </p:sp>
      <p:sp>
        <p:nvSpPr>
          <p:cNvPr id="51" name="Text 20"/>
          <p:cNvSpPr/>
          <p:nvPr/>
        </p:nvSpPr>
        <p:spPr>
          <a:xfrm>
            <a:off x="8093869" y="5601146"/>
            <a:ext cx="40981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개인의 암묵적 노하우를 AI가 참조 가능한 형식지로 구조화</a:t>
            </a:r>
            <a:endParaRPr lang="en-US" sz="900" dirty="0"/>
          </a:p>
        </p:txBody>
      </p:sp>
      <p:sp>
        <p:nvSpPr>
          <p:cNvPr id="52" name="Text 21"/>
          <p:cNvSpPr/>
          <p:nvPr/>
        </p:nvSpPr>
        <p:spPr>
          <a:xfrm>
            <a:off x="0" y="6543675"/>
            <a:ext cx="1181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Engineering Framework (2026) | 내부 교육용 자료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1201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59136"/>
            <a:ext cx="5667375" cy="457021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020193"/>
            <a:ext cx="5095875" cy="838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34062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125" y="311274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525143"/>
            <a:ext cx="5095875" cy="838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375" y="3845570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6125" y="4617690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5030093"/>
            <a:ext cx="5095875" cy="838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375" y="535052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5" y="1659136"/>
            <a:ext cx="5095875" cy="220890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0" y="2095054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2409379"/>
            <a:ext cx="190500" cy="17308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0" y="2954089"/>
            <a:ext cx="190500" cy="17308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4625" y="4020443"/>
            <a:ext cx="5095875" cy="220890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62750" y="4549676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2750" y="4864001"/>
            <a:ext cx="190500" cy="15865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0" y="5164931"/>
            <a:ext cx="190500" cy="15865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0" y="5465862"/>
            <a:ext cx="190500" cy="158651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1143000" y="609600"/>
            <a:ext cx="99060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12529"/>
                </a:solidFill>
              </a:rPr>
              <a:t>워크플로우의 자산화: 저장과 지속적 개선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43000" y="1097161"/>
            <a:ext cx="990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C757D"/>
                </a:solidFill>
              </a:rPr>
              <a:t>검증된 워크플로우를 저장하고 지식 자산으로 전환하는 체계적 프로세스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1571625" y="2210693"/>
            <a:ext cx="6309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1. Feedback Loop (Interaction)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571625" y="2467868"/>
            <a:ext cx="4640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실제 업무 수행 및 Human Review 기반 수정</a:t>
            </a:r>
            <a:endParaRPr lang="en-US" sz="1050" dirty="0"/>
          </a:p>
        </p:txBody>
      </p:sp>
      <p:sp>
        <p:nvSpPr>
          <p:cNvPr id="27" name="Text 4"/>
          <p:cNvSpPr/>
          <p:nvPr/>
        </p:nvSpPr>
        <p:spPr>
          <a:xfrm>
            <a:off x="1571625" y="3715643"/>
            <a:ext cx="67208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2. Formalization (Markdown Docs)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571625" y="3972818"/>
            <a:ext cx="43205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검증된 절차를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및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로 문서화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1571625" y="5220593"/>
            <a:ext cx="5897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3. Permanent Asset (Storage)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1571625" y="5477768"/>
            <a:ext cx="3680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저장소 및 지식 베이스에 통합 관리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7048500" y="2028379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지속적 개선 및 표준화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7029450" y="2409379"/>
            <a:ext cx="43529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성공적인 결과물을 냈던 프롬프트 시퀀스를 '재사용 가능한 템플릿'으로 모듈화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029450" y="2954089"/>
            <a:ext cx="43529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중단 조건과 예외 처리 로직을 명시하여 워크플로우의 안정성 확보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*에이전트 표류 방지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7048500" y="4483001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버전 관리 및 지식 전이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7029450" y="4864001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Git을 활용한 워크플로우 이력 추적: '누가, 왜, 어떻게' 변경했는지 기록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7067550" y="5164931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공유를 통해 팀 전체의 에이전트 성능 상향 평준화 유도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7029450" y="5465862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개별 노하우를 '기계가 읽을 수 있는 지침'으로 변환하여 조직 자산화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0" y="6534150"/>
            <a:ext cx="1162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Engineering Framework (2026) | Internal Methodology Guide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3683050" cy="203314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248966"/>
            <a:ext cx="190500" cy="15641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50" y="1015305"/>
            <a:ext cx="3683050" cy="203314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675" y="1248966"/>
            <a:ext cx="190500" cy="15641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99" y="1015305"/>
            <a:ext cx="3683050" cy="203314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224" y="1248966"/>
            <a:ext cx="190500" cy="15641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77046"/>
            <a:ext cx="11430000" cy="7048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3125" y="3429446"/>
            <a:ext cx="781050" cy="400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2800" y="3429446"/>
            <a:ext cx="752475" cy="400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3429446"/>
            <a:ext cx="1247775" cy="400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429446"/>
            <a:ext cx="1619250" cy="400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8175" y="3429446"/>
            <a:ext cx="1790700" cy="400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210496"/>
            <a:ext cx="11430000" cy="1726704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결론: AI 시대의 새로운 실무 방법론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 가용성 극대화를 위한 '맥락 구조화'와 '절차 설계'의 중요성</a:t>
            </a:r>
            <a:endParaRPr lang="en-US" sz="1050" dirty="0"/>
          </a:p>
        </p:txBody>
      </p:sp>
      <p:sp>
        <p:nvSpPr>
          <p:cNvPr id="20" name="Text 2"/>
          <p:cNvSpPr/>
          <p:nvPr/>
        </p:nvSpPr>
        <p:spPr>
          <a:xfrm>
            <a:off x="923925" y="1205805"/>
            <a:ext cx="33032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맥락의 구조화 (Context)</a:t>
            </a:r>
            <a:endParaRPr lang="en-US" sz="1275" dirty="0"/>
          </a:p>
        </p:txBody>
      </p:sp>
      <p:sp>
        <p:nvSpPr>
          <p:cNvPr id="21" name="Text 3"/>
          <p:cNvSpPr/>
          <p:nvPr/>
        </p:nvSpPr>
        <p:spPr>
          <a:xfrm>
            <a:off x="752475" y="1562993"/>
            <a:ext cx="32068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단순 프롬프트가 아닌 Markdown 기반의 업무 규칙 체계 구축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52475" y="2065734"/>
            <a:ext cx="32068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Global/Local Rules를 통한 AI의 행동 경계(Boundary) 설정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752475" y="2568476"/>
            <a:ext cx="54406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AGENTS.md를 활용한 인간-AI 간의 명시적 계약서 작성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797475" y="1205805"/>
            <a:ext cx="369189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절차의 모듈화 (Execution)</a:t>
            </a:r>
            <a:endParaRPr lang="en-US" sz="1275" dirty="0"/>
          </a:p>
        </p:txBody>
      </p:sp>
      <p:sp>
        <p:nvSpPr>
          <p:cNvPr id="25" name="Text 7"/>
          <p:cNvSpPr/>
          <p:nvPr/>
        </p:nvSpPr>
        <p:spPr>
          <a:xfrm>
            <a:off x="4626025" y="1562993"/>
            <a:ext cx="5120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반복되는 업무를 Skillset과 Workflow로 자산화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4626025" y="1852464"/>
            <a:ext cx="4160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MCP 서버 등을 활용한 도구 활용 능력의 확장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4626025" y="2141934"/>
            <a:ext cx="40005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중단 조건과 검토 단계가 명확한 프로세스 설계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8671024" y="1205805"/>
            <a:ext cx="33032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지속적 개선 (Feedback)</a:t>
            </a:r>
            <a:endParaRPr lang="en-US" sz="1275" dirty="0"/>
          </a:p>
        </p:txBody>
      </p:sp>
      <p:sp>
        <p:nvSpPr>
          <p:cNvPr id="29" name="Text 11"/>
          <p:cNvSpPr/>
          <p:nvPr/>
        </p:nvSpPr>
        <p:spPr>
          <a:xfrm>
            <a:off x="8499574" y="1562993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Working Notes를 통한 작업 맥락의 연속성 확보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8499574" y="1852464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Human-in-the-loop: 에이전트 결과물의 상시 검증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8499574" y="2141934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피드백을 통한 규칙(Rules)의 고도화 및 재현성 강화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2286000" y="3429446"/>
            <a:ext cx="7248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Rules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30670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4" name="Text 16"/>
          <p:cNvSpPr/>
          <p:nvPr/>
        </p:nvSpPr>
        <p:spPr>
          <a:xfrm>
            <a:off x="3495675" y="3429446"/>
            <a:ext cx="8507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Skills</a:t>
            </a:r>
            <a:endParaRPr lang="en-US" sz="1500" dirty="0"/>
          </a:p>
        </p:txBody>
      </p:sp>
      <p:sp>
        <p:nvSpPr>
          <p:cNvPr id="35" name="Text 17"/>
          <p:cNvSpPr/>
          <p:nvPr/>
        </p:nvSpPr>
        <p:spPr>
          <a:xfrm>
            <a:off x="42481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6" name="Text 18"/>
          <p:cNvSpPr/>
          <p:nvPr/>
        </p:nvSpPr>
        <p:spPr>
          <a:xfrm>
            <a:off x="4676775" y="3429446"/>
            <a:ext cx="1586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Workflows</a:t>
            </a:r>
            <a:endParaRPr lang="en-US" sz="1500" dirty="0"/>
          </a:p>
        </p:txBody>
      </p:sp>
      <p:sp>
        <p:nvSpPr>
          <p:cNvPr id="37" name="Text 19"/>
          <p:cNvSpPr/>
          <p:nvPr/>
        </p:nvSpPr>
        <p:spPr>
          <a:xfrm>
            <a:off x="59245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8" name="Text 20"/>
          <p:cNvSpPr/>
          <p:nvPr/>
        </p:nvSpPr>
        <p:spPr>
          <a:xfrm>
            <a:off x="6353175" y="3429446"/>
            <a:ext cx="24473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 Notes</a:t>
            </a:r>
            <a:endParaRPr lang="en-US" sz="1500" dirty="0"/>
          </a:p>
        </p:txBody>
      </p:sp>
      <p:sp>
        <p:nvSpPr>
          <p:cNvPr id="39" name="Text 21"/>
          <p:cNvSpPr/>
          <p:nvPr/>
        </p:nvSpPr>
        <p:spPr>
          <a:xfrm>
            <a:off x="7972425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=</a:t>
            </a:r>
            <a:endParaRPr lang="en-US" sz="1725" dirty="0"/>
          </a:p>
        </p:txBody>
      </p:sp>
      <p:sp>
        <p:nvSpPr>
          <p:cNvPr id="40" name="Text 22"/>
          <p:cNvSpPr/>
          <p:nvPr/>
        </p:nvSpPr>
        <p:spPr>
          <a:xfrm>
            <a:off x="8401050" y="3429446"/>
            <a:ext cx="28818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Agentic Harness</a:t>
            </a:r>
            <a:endParaRPr lang="en-US" sz="1500" dirty="0"/>
          </a:p>
        </p:txBody>
      </p:sp>
      <p:sp>
        <p:nvSpPr>
          <p:cNvPr id="41" name="Text 23"/>
          <p:cNvSpPr/>
          <p:nvPr/>
        </p:nvSpPr>
        <p:spPr>
          <a:xfrm>
            <a:off x="666750" y="4439096"/>
            <a:ext cx="1085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120" kern="0" dirty="0">
                <a:solidFill>
                  <a:srgbClr val="C00000"/>
                </a:solidFill>
              </a:rPr>
              <a:t>KEY TAKEAWAY</a:t>
            </a:r>
            <a:endParaRPr lang="en-US" sz="1050" dirty="0"/>
          </a:p>
        </p:txBody>
      </p:sp>
      <p:sp>
        <p:nvSpPr>
          <p:cNvPr id="42" name="Text 24"/>
          <p:cNvSpPr/>
          <p:nvPr/>
        </p:nvSpPr>
        <p:spPr>
          <a:xfrm>
            <a:off x="666750" y="4715321"/>
            <a:ext cx="1085850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"AI를 잘 쓰는 것보다 중요한 것은,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AI가 참조할 수 있는 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00000"/>
                </a:solidFill>
              </a:rPr>
              <a:t>나의 업무 맥락과 절차를 잘 구조화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하는 것이다."</a:t>
            </a:r>
            <a:endParaRPr lang="en-US" sz="1950" dirty="0"/>
          </a:p>
        </p:txBody>
      </p:sp>
      <p:sp>
        <p:nvSpPr>
          <p:cNvPr id="43" name="Text 25"/>
          <p:cNvSpPr/>
          <p:nvPr/>
        </p:nvSpPr>
        <p:spPr>
          <a:xfrm>
            <a:off x="666750" y="5522863"/>
            <a:ext cx="10858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Cline은 단순한 코딩 도우미를 넘어, 이러한 구조를 실행하는 '워크플로우 하네스' 역할을 수행합니다.</a:t>
            </a:r>
            <a:endParaRPr lang="en-US" sz="975" dirty="0"/>
          </a:p>
        </p:txBody>
      </p:sp>
      <p:sp>
        <p:nvSpPr>
          <p:cNvPr id="44" name="Text 26"/>
          <p:cNvSpPr/>
          <p:nvPr/>
        </p:nvSpPr>
        <p:spPr>
          <a:xfrm>
            <a:off x="381000" y="6242000"/>
            <a:ext cx="1181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From Prompt to Workflow Methodology Guide (2026) | VS Code + Cline + On-premise LLM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67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8209"/>
            <a:ext cx="5572125" cy="22050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338709"/>
            <a:ext cx="5095875" cy="3190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81423"/>
            <a:ext cx="190500" cy="1573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772096"/>
            <a:ext cx="166688" cy="1409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267396"/>
            <a:ext cx="166688" cy="14094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762696"/>
            <a:ext cx="166688" cy="1409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505646"/>
            <a:ext cx="5572125" cy="170973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3696146"/>
            <a:ext cx="5095875" cy="31908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738860"/>
            <a:ext cx="190500" cy="15731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4129534"/>
            <a:ext cx="166688" cy="14094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4624834"/>
            <a:ext cx="166688" cy="1409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75" y="1067246"/>
            <a:ext cx="5572125" cy="239553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257746"/>
            <a:ext cx="5095875" cy="31908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300460"/>
            <a:ext cx="190500" cy="15731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1691134"/>
            <a:ext cx="166688" cy="14094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376934"/>
            <a:ext cx="166688" cy="14094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2872234"/>
            <a:ext cx="166688" cy="14094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75" y="3586609"/>
            <a:ext cx="5572125" cy="170973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3777109"/>
            <a:ext cx="5095875" cy="31908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819823"/>
            <a:ext cx="190500" cy="15731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210496"/>
            <a:ext cx="166688" cy="14094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705796"/>
            <a:ext cx="166688" cy="14094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5634038"/>
            <a:ext cx="11430000" cy="723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5757863"/>
            <a:ext cx="476250" cy="4762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2703" y="5883473"/>
            <a:ext cx="273844" cy="224879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180975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거버넌스 및 리스크 관리: 책임 있는 AI 사용</a:t>
            </a:r>
            <a:endParaRPr lang="en-US" sz="2100" dirty="0"/>
          </a:p>
        </p:txBody>
      </p:sp>
      <p:sp>
        <p:nvSpPr>
          <p:cNvPr id="30" name="Text 1"/>
          <p:cNvSpPr/>
          <p:nvPr/>
        </p:nvSpPr>
        <p:spPr>
          <a:xfrm>
            <a:off x="381000" y="52953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 에이전트의 활동 경계를 설정하고 발생 가능한 리스크를 관리하며 책임감 있게 기술을 활용하는 방안을 제시합니다.</a:t>
            </a:r>
            <a:endParaRPr lang="en-US" sz="1050" dirty="0"/>
          </a:p>
        </p:txBody>
      </p:sp>
      <p:sp>
        <p:nvSpPr>
          <p:cNvPr id="31" name="Text 2"/>
          <p:cNvSpPr/>
          <p:nvPr/>
        </p:nvSpPr>
        <p:spPr>
          <a:xfrm>
            <a:off x="923925" y="1338709"/>
            <a:ext cx="505206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활동 경계 및 권한 제어 (Guardrails)</a:t>
            </a:r>
            <a:endParaRPr lang="en-US" sz="1275" dirty="0"/>
          </a:p>
        </p:txBody>
      </p:sp>
      <p:sp>
        <p:nvSpPr>
          <p:cNvPr id="32" name="Text 3"/>
          <p:cNvSpPr/>
          <p:nvPr/>
        </p:nvSpPr>
        <p:spPr>
          <a:xfrm>
            <a:off x="881063" y="1772096"/>
            <a:ext cx="3505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최소 권한 원칙 (Principle of Least Privilege)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에이전트의 파일 시스템 접근 범위를 특정 프로젝트 디렉토리로 한정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881063" y="2267396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실행 승인 루프 (Human-in-the-loop)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터미널 명령 실행 및 파일 쓰기 작업 전 반드시 인간의 명시적 승인 필요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81063" y="2762696"/>
            <a:ext cx="3448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온프레미스 격리 (On-premise Isolation)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외부망 차단 환경에서 LLM을 구동하여 데이터 유출 경로 원천 봉쇄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923925" y="3696146"/>
            <a:ext cx="52463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투명성 및 감사 가능성 (Auditability)</a:t>
            </a:r>
            <a:endParaRPr lang="en-US" sz="1275" dirty="0"/>
          </a:p>
        </p:txBody>
      </p:sp>
      <p:sp>
        <p:nvSpPr>
          <p:cNvPr id="36" name="Text 7"/>
          <p:cNvSpPr/>
          <p:nvPr/>
        </p:nvSpPr>
        <p:spPr>
          <a:xfrm>
            <a:off x="881063" y="4129534"/>
            <a:ext cx="3848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작업 로그 아카이빙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Cline의 모든 대화 기록 및 실행 히스토리를 Markdown 형태로 자동 저장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881063" y="4624834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출처 확인 (Provenance)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생성된 코드나 문서의 근거가 되는 참조 문서를 명확히 기록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6781800" y="1257746"/>
            <a:ext cx="27203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리스크 식별 및 대응 전략</a:t>
            </a:r>
            <a:endParaRPr lang="en-US" sz="1275" dirty="0"/>
          </a:p>
        </p:txBody>
      </p:sp>
      <p:sp>
        <p:nvSpPr>
          <p:cNvPr id="39" name="Text 10"/>
          <p:cNvSpPr/>
          <p:nvPr/>
        </p:nvSpPr>
        <p:spPr>
          <a:xfrm>
            <a:off x="6738938" y="1691134"/>
            <a:ext cx="38957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할루시네이션 및 모델 표류 (Drift)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정기적인 Expert Verification 단계를 워크플로우에 삽입하여 결과물 검증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Working Notes를 활용한 중간 결과물 검토 필수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6738938" y="2376934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보안 취약점 코드 생성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AI 생성 코드에 대한 정적 분석(SAST) 도구 연동 및 보안 가이드라인 준수 확인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6738938" y="2872234"/>
            <a:ext cx="3952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지적 재산권 및 라이선스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사용된 모델과 라이브러리의 라이선스 규정을 준수하도록 Rules 파일에 명시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6781800" y="3777109"/>
            <a:ext cx="174879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사용자 책임 원칙</a:t>
            </a:r>
            <a:endParaRPr lang="en-US" sz="1275" dirty="0"/>
          </a:p>
        </p:txBody>
      </p:sp>
      <p:sp>
        <p:nvSpPr>
          <p:cNvPr id="43" name="Text 14"/>
          <p:cNvSpPr/>
          <p:nvPr/>
        </p:nvSpPr>
        <p:spPr>
          <a:xfrm>
            <a:off x="6738938" y="4210496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최종 검토 책임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AI는 보조 도구이며, 최종 결과물의 정확성과 보안에 대한 책임은 인간에게 있음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6738938" y="4705796"/>
            <a:ext cx="3009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윤리적 사용 가이드라인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편향된 정보 생성 방지 및 사내 보안 규정 미준수 행위 금지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1238250" y="5772150"/>
            <a:ext cx="1038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전략: 강력한 성능일수록 더 정교한 '하네스(Harness)'로 통제하라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1238250" y="6019800"/>
            <a:ext cx="10953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ED4DA"/>
                </a:solidFill>
              </a:rPr>
              <a:t>기술적 통제(On-premise, Sandbox)와 절차적 통제(Rules, Human Review)의 결합이 안전한 업무 자동화의 기반입니다.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0" y="6605588"/>
            <a:ext cx="118110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LGD AI Agent Governance Framework (Proposed) | 2026-04-28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2930"/>
            <a:ext cx="11430000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22921"/>
            <a:ext cx="261937" cy="2134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774775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034480"/>
            <a:ext cx="6766620" cy="552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2148780"/>
            <a:ext cx="166688" cy="1372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663130"/>
            <a:ext cx="6766620" cy="552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" y="2777430"/>
            <a:ext cx="166688" cy="1372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291780"/>
            <a:ext cx="6766620" cy="552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" y="3406080"/>
            <a:ext cx="166688" cy="1372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00020" y="1811982"/>
            <a:ext cx="142875" cy="114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0020" y="2071688"/>
            <a:ext cx="4510980" cy="52759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3370" y="2185988"/>
            <a:ext cx="166688" cy="13722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0020" y="2675483"/>
            <a:ext cx="4510980" cy="52759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3370" y="2789783"/>
            <a:ext cx="166688" cy="13722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00020" y="3279279"/>
            <a:ext cx="4510980" cy="52759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3370" y="3393579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3977580"/>
            <a:ext cx="2771775" cy="52759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4350" y="4153644"/>
            <a:ext cx="214313" cy="1753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67075" y="3977580"/>
            <a:ext cx="2771775" cy="52759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00425" y="4153644"/>
            <a:ext cx="214313" cy="1753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3150" y="3977580"/>
            <a:ext cx="2771775" cy="527596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86500" y="4153644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39225" y="3977580"/>
            <a:ext cx="2771775" cy="527596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72575" y="4153644"/>
            <a:ext cx="214313" cy="17532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68141" y="4718893"/>
            <a:ext cx="130969" cy="110728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및 마무리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내용을 정리하고 참석자들의 질문에 답변하며 세션을 마무리합니다.</a:t>
            </a:r>
            <a:endParaRPr lang="en-US" sz="1050" dirty="0"/>
          </a:p>
        </p:txBody>
      </p:sp>
      <p:sp>
        <p:nvSpPr>
          <p:cNvPr id="32" name="Text 2"/>
          <p:cNvSpPr/>
          <p:nvPr/>
        </p:nvSpPr>
        <p:spPr>
          <a:xfrm>
            <a:off x="1023938" y="121533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잘 쓰는 것보다 중요한 것은,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참조할 수 있는 나의 업무 맥락과 절차를 잘 구조화하는 것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1125" dirty="0"/>
          </a:p>
        </p:txBody>
      </p:sp>
      <p:sp>
        <p:nvSpPr>
          <p:cNvPr id="33" name="Text 3"/>
          <p:cNvSpPr/>
          <p:nvPr/>
        </p:nvSpPr>
        <p:spPr>
          <a:xfrm>
            <a:off x="523875" y="1729680"/>
            <a:ext cx="6766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60" kern="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 핵심 요약 — KEY TAKEAWAYS</a:t>
            </a:r>
            <a:endParaRPr lang="en-US" sz="900" dirty="0"/>
          </a:p>
        </p:txBody>
      </p:sp>
      <p:sp>
        <p:nvSpPr>
          <p:cNvPr id="34" name="Text 4"/>
          <p:cNvSpPr/>
          <p:nvPr/>
        </p:nvSpPr>
        <p:spPr>
          <a:xfrm>
            <a:off x="795338" y="2129730"/>
            <a:ext cx="46005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 Engineering이 모델보다 중요하다</a:t>
            </a:r>
            <a:endParaRPr lang="en-US" sz="975" dirty="0"/>
          </a:p>
        </p:txBody>
      </p:sp>
      <p:sp>
        <p:nvSpPr>
          <p:cNvPr id="35" name="Text 5"/>
          <p:cNvSpPr/>
          <p:nvPr/>
        </p:nvSpPr>
        <p:spPr>
          <a:xfrm>
            <a:off x="795338" y="2334518"/>
            <a:ext cx="909447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 분석 사례: 인프라 98.4%, AI 의사결정 1.6% — 모델을 감싸는 시스템 설계가 성패를 가른다.</a:t>
            </a:r>
            <a:endParaRPr lang="en-US" sz="825" dirty="0"/>
          </a:p>
        </p:txBody>
      </p:sp>
      <p:sp>
        <p:nvSpPr>
          <p:cNvPr id="36" name="Text 6"/>
          <p:cNvSpPr/>
          <p:nvPr/>
        </p:nvSpPr>
        <p:spPr>
          <a:xfrm>
            <a:off x="795338" y="2758380"/>
            <a:ext cx="56464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Prompting → Workflow Engineering으로의 전환</a:t>
            </a:r>
            <a:endParaRPr lang="en-US" sz="975" dirty="0"/>
          </a:p>
        </p:txBody>
      </p:sp>
      <p:sp>
        <p:nvSpPr>
          <p:cNvPr id="37" name="Text 7"/>
          <p:cNvSpPr/>
          <p:nvPr/>
        </p:nvSpPr>
        <p:spPr>
          <a:xfrm>
            <a:off x="795338" y="2963168"/>
            <a:ext cx="9429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Rules + Skills + Workflows + Working Notes를 구조화해 에이전트가 참조할 수 있는 업무 맥락을 만든다.</a:t>
            </a:r>
            <a:endParaRPr lang="en-US" sz="825" dirty="0"/>
          </a:p>
        </p:txBody>
      </p:sp>
      <p:sp>
        <p:nvSpPr>
          <p:cNvPr id="38" name="Text 8"/>
          <p:cNvSpPr/>
          <p:nvPr/>
        </p:nvSpPr>
        <p:spPr>
          <a:xfrm>
            <a:off x="795338" y="3387030"/>
            <a:ext cx="52006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On-premise + Human-in-the-loop 거버넌스</a:t>
            </a:r>
            <a:endParaRPr lang="en-US" sz="975" dirty="0"/>
          </a:p>
        </p:txBody>
      </p:sp>
      <p:sp>
        <p:nvSpPr>
          <p:cNvPr id="39" name="Text 9"/>
          <p:cNvSpPr/>
          <p:nvPr/>
        </p:nvSpPr>
        <p:spPr>
          <a:xfrm>
            <a:off x="795338" y="3591818"/>
            <a:ext cx="76695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보안·프라이버시·재현 가능성을 위한 온프레미스 LLM과, 에이전트 표류 방지를 위한 인간 검토 사이클이 필수.</a:t>
            </a:r>
            <a:endParaRPr lang="en-US" sz="825" dirty="0"/>
          </a:p>
        </p:txBody>
      </p:sp>
      <p:sp>
        <p:nvSpPr>
          <p:cNvPr id="40" name="Text 10"/>
          <p:cNvSpPr/>
          <p:nvPr/>
        </p:nvSpPr>
        <p:spPr>
          <a:xfrm>
            <a:off x="7442895" y="1766888"/>
            <a:ext cx="4510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 질의응답 안내</a:t>
            </a:r>
            <a:endParaRPr lang="en-US" sz="900" dirty="0"/>
          </a:p>
        </p:txBody>
      </p:sp>
      <p:sp>
        <p:nvSpPr>
          <p:cNvPr id="41" name="Text 11"/>
          <p:cNvSpPr/>
          <p:nvPr/>
        </p:nvSpPr>
        <p:spPr>
          <a:xfrm>
            <a:off x="7714357" y="2166938"/>
            <a:ext cx="2606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질의 — 기술·환경·적용 범위</a:t>
            </a:r>
            <a:endParaRPr lang="en-US" sz="900" dirty="0"/>
          </a:p>
        </p:txBody>
      </p:sp>
      <p:sp>
        <p:nvSpPr>
          <p:cNvPr id="42" name="Text 12"/>
          <p:cNvSpPr/>
          <p:nvPr/>
        </p:nvSpPr>
        <p:spPr>
          <a:xfrm>
            <a:off x="7714357" y="2357438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Cline 설치, LLM 선택, 팀 도입 방법 등 실무 질문 환영</a:t>
            </a:r>
            <a:endParaRPr lang="en-US" sz="825" dirty="0"/>
          </a:p>
        </p:txBody>
      </p:sp>
      <p:sp>
        <p:nvSpPr>
          <p:cNvPr id="43" name="Text 13"/>
          <p:cNvSpPr/>
          <p:nvPr/>
        </p:nvSpPr>
        <p:spPr>
          <a:xfrm>
            <a:off x="7714357" y="2770733"/>
            <a:ext cx="2886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보안·거버넌스 관련 질문</a:t>
            </a:r>
            <a:endParaRPr lang="en-US" sz="900" dirty="0"/>
          </a:p>
        </p:txBody>
      </p:sp>
      <p:sp>
        <p:nvSpPr>
          <p:cNvPr id="44" name="Text 14"/>
          <p:cNvSpPr/>
          <p:nvPr/>
        </p:nvSpPr>
        <p:spPr>
          <a:xfrm>
            <a:off x="7714357" y="2961233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환경 구체 정보는 별도 확인 필요 — 사례 기반 시사점으로 답변</a:t>
            </a:r>
            <a:endParaRPr lang="en-US" sz="825" dirty="0"/>
          </a:p>
        </p:txBody>
      </p:sp>
      <p:sp>
        <p:nvSpPr>
          <p:cNvPr id="45" name="Text 15"/>
          <p:cNvSpPr/>
          <p:nvPr/>
        </p:nvSpPr>
        <p:spPr>
          <a:xfrm>
            <a:off x="7714357" y="3374529"/>
            <a:ext cx="3257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참조 가능</a:t>
            </a:r>
            <a:endParaRPr lang="en-US" sz="900" dirty="0"/>
          </a:p>
        </p:txBody>
      </p:sp>
      <p:sp>
        <p:nvSpPr>
          <p:cNvPr id="46" name="Text 16"/>
          <p:cNvSpPr/>
          <p:nvPr/>
        </p:nvSpPr>
        <p:spPr>
          <a:xfrm>
            <a:off x="7714357" y="3565029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Rule · Local Rule · Daily Report · Git Workflow 예시 자료 수록</a:t>
            </a:r>
            <a:endParaRPr lang="en-US" sz="825" dirty="0"/>
          </a:p>
        </p:txBody>
      </p:sp>
      <p:sp>
        <p:nvSpPr>
          <p:cNvPr id="47" name="Text 17"/>
          <p:cNvSpPr/>
          <p:nvPr/>
        </p:nvSpPr>
        <p:spPr>
          <a:xfrm>
            <a:off x="823913" y="4072830"/>
            <a:ext cx="397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시작: Cline 설치 &amp; Global Rule 작성</a:t>
            </a:r>
            <a:endParaRPr lang="en-US" sz="900" dirty="0"/>
          </a:p>
        </p:txBody>
      </p:sp>
      <p:sp>
        <p:nvSpPr>
          <p:cNvPr id="48" name="Text 18"/>
          <p:cNvSpPr/>
          <p:nvPr/>
        </p:nvSpPr>
        <p:spPr>
          <a:xfrm>
            <a:off x="823913" y="4263330"/>
            <a:ext cx="2640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당장 VS Code에서 시작 가능</a:t>
            </a:r>
            <a:endParaRPr lang="en-US" sz="825" dirty="0"/>
          </a:p>
        </p:txBody>
      </p:sp>
      <p:sp>
        <p:nvSpPr>
          <p:cNvPr id="49" name="Text 19"/>
          <p:cNvSpPr/>
          <p:nvPr/>
        </p:nvSpPr>
        <p:spPr>
          <a:xfrm>
            <a:off x="3709988" y="407283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 초안 작성</a:t>
            </a:r>
            <a:endParaRPr lang="en-US" sz="900" dirty="0"/>
          </a:p>
        </p:txBody>
      </p:sp>
      <p:sp>
        <p:nvSpPr>
          <p:cNvPr id="50" name="Text 20"/>
          <p:cNvSpPr/>
          <p:nvPr/>
        </p:nvSpPr>
        <p:spPr>
          <a:xfrm>
            <a:off x="3709988" y="4263330"/>
            <a:ext cx="21374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역할·권한 범위 명문화</a:t>
            </a:r>
            <a:endParaRPr lang="en-US" sz="825" dirty="0"/>
          </a:p>
        </p:txBody>
      </p:sp>
      <p:sp>
        <p:nvSpPr>
          <p:cNvPr id="51" name="Text 21"/>
          <p:cNvSpPr/>
          <p:nvPr/>
        </p:nvSpPr>
        <p:spPr>
          <a:xfrm>
            <a:off x="6596063" y="4072830"/>
            <a:ext cx="3017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 하나를 Workflow로 전환</a:t>
            </a:r>
            <a:endParaRPr lang="en-US" sz="900" dirty="0"/>
          </a:p>
        </p:txBody>
      </p:sp>
      <p:sp>
        <p:nvSpPr>
          <p:cNvPr id="52" name="Text 22"/>
          <p:cNvSpPr/>
          <p:nvPr/>
        </p:nvSpPr>
        <p:spPr>
          <a:xfrm>
            <a:off x="6596063" y="4263330"/>
            <a:ext cx="22631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요약 또는 일일 보고서부터</a:t>
            </a:r>
            <a:endParaRPr lang="en-US" sz="825" dirty="0"/>
          </a:p>
        </p:txBody>
      </p:sp>
      <p:sp>
        <p:nvSpPr>
          <p:cNvPr id="53" name="Text 23"/>
          <p:cNvSpPr/>
          <p:nvPr/>
        </p:nvSpPr>
        <p:spPr>
          <a:xfrm>
            <a:off x="9482138" y="4072830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공유 및 자산화</a:t>
            </a:r>
            <a:endParaRPr lang="en-US" sz="900" dirty="0"/>
          </a:p>
        </p:txBody>
      </p:sp>
      <p:sp>
        <p:nvSpPr>
          <p:cNvPr id="54" name="Text 24"/>
          <p:cNvSpPr/>
          <p:nvPr/>
        </p:nvSpPr>
        <p:spPr>
          <a:xfrm>
            <a:off x="9482138" y="4263330"/>
            <a:ext cx="22631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워크플로우를 조직 지식으로</a:t>
            </a:r>
            <a:endParaRPr lang="en-US" sz="825" dirty="0"/>
          </a:p>
        </p:txBody>
      </p:sp>
      <p:sp>
        <p:nvSpPr>
          <p:cNvPr id="55" name="Text 25"/>
          <p:cNvSpPr/>
          <p:nvPr/>
        </p:nvSpPr>
        <p:spPr>
          <a:xfrm>
            <a:off x="2475309" y="4695676"/>
            <a:ext cx="7448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발표 자료 및 Appendix 예시는 </a:t>
            </a:r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자료 확인 후</a:t>
            </a:r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환경에 맞게 조정하여 적용하십시오.  |  사례 기반 시사점으로 제공된 수치는 Claude Code 사례 연구에 한정됩니다.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11620500" cy="11276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4871"/>
            <a:ext cx="6457950" cy="46444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813471"/>
            <a:ext cx="5886450" cy="2762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856333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856333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1856333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584871"/>
            <a:ext cx="4305300" cy="14211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5700" y="1860054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3196530"/>
            <a:ext cx="4305300" cy="142116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5700" y="358125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4808190"/>
            <a:ext cx="4305300" cy="142116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5700" y="5083373"/>
            <a:ext cx="214313" cy="17532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143000" y="609600"/>
            <a:ext cx="11049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Appendix: 예시 Markdown Global Rule</a:t>
            </a:r>
            <a:endParaRPr lang="en-US" sz="2400" dirty="0"/>
          </a:p>
        </p:txBody>
      </p:sp>
      <p:sp>
        <p:nvSpPr>
          <p:cNvPr id="16" name="Text 1"/>
          <p:cNvSpPr/>
          <p:nvPr/>
        </p:nvSpPr>
        <p:spPr>
          <a:xfrm>
            <a:off x="1143000" y="1051471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모든 프로젝트에 공통으로 적용할 수 있는 전역 규칙의 실제 마크다운 작성 예시</a:t>
            </a:r>
            <a:endParaRPr lang="en-US" sz="1200" dirty="0"/>
          </a:p>
        </p:txBody>
      </p:sp>
      <p:sp>
        <p:nvSpPr>
          <p:cNvPr id="17" name="Text 2"/>
          <p:cNvSpPr/>
          <p:nvPr/>
        </p:nvSpPr>
        <p:spPr>
          <a:xfrm>
            <a:off x="1524000" y="1813471"/>
            <a:ext cx="3520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.cline/rules/global.md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857250" y="2242096"/>
            <a:ext cx="5886450" cy="375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Global Personas &amp; Rules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Core Identity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당신은 사용자의 업무 효율을 극대화하는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Agentic Assistant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답변은 한국어로 작성하며, 전문적이고 간결한 톤을 유지합니다.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Decision Boundaries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First: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 삭제, 강제 푸시, 대량 데이터 수정 전에는 반드시 확인을 구합니다.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Awareness: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디렉토리의 `.clinerules`나 `AGENTS.md`를 최우선으로 참조합니다.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Communication Protocol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도구 사용 전: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"작업 목적과 사용할 도구를 짧게 설명"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완료 후: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"변경된 사항을 리스트 형태로 요약 보고"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모호성 발생 시: 임의로 판단하지 말고 질문하여 의도를 파악합니다.</a:t>
            </a:r>
            <a:endParaRPr lang="en-US" sz="1125" dirty="0"/>
          </a:p>
        </p:txBody>
      </p:sp>
      <p:sp>
        <p:nvSpPr>
          <p:cNvPr id="19" name="Text 4"/>
          <p:cNvSpPr/>
          <p:nvPr/>
        </p:nvSpPr>
        <p:spPr>
          <a:xfrm>
            <a:off x="7815263" y="1819126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범용적 정체성 정의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7505700" y="2152501"/>
            <a:ext cx="3924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에이전트가 어떤 프로젝트에서도 일관된 톤앤매너(한국어 사용, 전문적 태도)를 유지하도록 강제하는 기본 레이어입니다.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LLM의 기본 시스템 프롬프트보다 높은 우선순위를 가집니다.</a:t>
            </a:r>
            <a:endParaRPr lang="en-US" sz="1050" dirty="0"/>
          </a:p>
        </p:txBody>
      </p:sp>
      <p:sp>
        <p:nvSpPr>
          <p:cNvPr id="21" name="Text 6"/>
          <p:cNvSpPr/>
          <p:nvPr/>
        </p:nvSpPr>
        <p:spPr>
          <a:xfrm>
            <a:off x="7815263" y="3540323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행동 경계 및 안전 장치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7505700" y="3873698"/>
            <a:ext cx="3924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파괴적인 작업에 대한 사용자 승인 절차를 명시하여, 자동화 과정에서 발생할 수 있는 사고를 미연에 방지합니다.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7815263" y="5042446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커뮤니케이션 프로토콜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7505700" y="5375821"/>
            <a:ext cx="3924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'생각-실행-보고'의 단계를 구조화하여 인간이 에이전트의 작업 과정을 실시간으로 모니터링하기 쉽게 만듭니다.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Human-in-the-loop 구현의 핵심 지침입니다.</a:t>
            </a:r>
            <a:endParaRPr lang="en-US" sz="1050" dirty="0"/>
          </a:p>
        </p:txBody>
      </p:sp>
      <p:sp>
        <p:nvSpPr>
          <p:cNvPr id="25" name="Text 10"/>
          <p:cNvSpPr/>
          <p:nvPr/>
        </p:nvSpPr>
        <p:spPr>
          <a:xfrm>
            <a:off x="0" y="6534150"/>
            <a:ext cx="1162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Best Practices for Cline &amp; VS Code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48234"/>
            <a:ext cx="6686550" cy="457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586359"/>
            <a:ext cx="62103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622971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5520184"/>
            <a:ext cx="3821906" cy="26193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5595789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300" y="2057846"/>
            <a:ext cx="4457700" cy="31527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9050" y="2372171"/>
            <a:ext cx="214313" cy="2143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9050" y="3296096"/>
            <a:ext cx="214313" cy="2143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050" y="4220021"/>
            <a:ext cx="214313" cy="241102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8575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Appendix: 예시 Project-specific Local Rule</a:t>
            </a:r>
            <a:endParaRPr lang="en-US" sz="2100" dirty="0"/>
          </a:p>
        </p:txBody>
      </p:sp>
      <p:sp>
        <p:nvSpPr>
          <p:cNvPr id="15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특정 프로젝트의 성격과 요구사항에 맞춘 지역 규칙의 구체적인 작성 사례를 보여줍니다.</a:t>
            </a:r>
            <a:endParaRPr lang="en-US" sz="1050" dirty="0"/>
          </a:p>
        </p:txBody>
      </p:sp>
      <p:sp>
        <p:nvSpPr>
          <p:cNvPr id="16" name="Text 2"/>
          <p:cNvSpPr/>
          <p:nvPr/>
        </p:nvSpPr>
        <p:spPr>
          <a:xfrm>
            <a:off x="762000" y="1586359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.clinerules</a:t>
            </a:r>
            <a:endParaRPr lang="en-US" sz="900" dirty="0"/>
          </a:p>
        </p:txBody>
      </p:sp>
      <p:sp>
        <p:nvSpPr>
          <p:cNvPr id="17" name="Text 3"/>
          <p:cNvSpPr/>
          <p:nvPr/>
        </p:nvSpPr>
        <p:spPr>
          <a:xfrm>
            <a:off x="6296025" y="1586359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</a:t>
            </a:r>
            <a:endParaRPr lang="en-US" sz="900" dirty="0"/>
          </a:p>
        </p:txBody>
      </p:sp>
      <p:sp>
        <p:nvSpPr>
          <p:cNvPr id="18" name="Text 4"/>
          <p:cNvSpPr/>
          <p:nvPr/>
        </p:nvSpPr>
        <p:spPr>
          <a:xfrm>
            <a:off x="619125" y="1995934"/>
            <a:ext cx="62103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Project: Smart-Inventory-Dashboard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Tech Stack Context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Backend: FastAPI (Python 3.11)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Frontend: React with Tailwind CSS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DB: PostgreSQL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(On-premise internal instance)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Project Rules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Naming: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All API routes must use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kebab-case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Do NOT use external CDNs for JS/CSS.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 Handling: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Use the custom `AppException` class.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Every endpoint requires `internal_token_required` dependency.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File Boundaries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Never modify files in `/legacy/v1` folder.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All new models must be defined in `src/models/*.py`.</a:t>
            </a:r>
            <a:endParaRPr lang="en-US" sz="1125" dirty="0"/>
          </a:p>
        </p:txBody>
      </p:sp>
      <p:sp>
        <p:nvSpPr>
          <p:cNvPr id="19" name="Text 5"/>
          <p:cNvSpPr/>
          <p:nvPr/>
        </p:nvSpPr>
        <p:spPr>
          <a:xfrm>
            <a:off x="850106" y="5520184"/>
            <a:ext cx="65150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 * 프로젝트 루트 디렉토리에 위치하며 Global Rule보다 우선 적용됩니다.</a:t>
            </a:r>
            <a:endParaRPr lang="en-US" sz="975" dirty="0"/>
          </a:p>
        </p:txBody>
      </p:sp>
      <p:sp>
        <p:nvSpPr>
          <p:cNvPr id="20" name="Text 6"/>
          <p:cNvSpPr/>
          <p:nvPr/>
        </p:nvSpPr>
        <p:spPr>
          <a:xfrm>
            <a:off x="7996237" y="2343596"/>
            <a:ext cx="41957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컨텍스트 격리 (Context Isolation)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7996237" y="2648396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에이전트에게 현재 작업 중인 프로젝트의 특정 기술 스택과 라이브러리 버전을 명시하여 엉뚱한 코드 생성을 방지합니다.</a:t>
            </a:r>
            <a:endParaRPr lang="en-US" sz="1125" dirty="0"/>
          </a:p>
        </p:txBody>
      </p:sp>
      <p:sp>
        <p:nvSpPr>
          <p:cNvPr id="22" name="Text 8"/>
          <p:cNvSpPr/>
          <p:nvPr/>
        </p:nvSpPr>
        <p:spPr>
          <a:xfrm>
            <a:off x="7996237" y="3267521"/>
            <a:ext cx="35290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보안 및 규정 준수</a:t>
            </a:r>
            <a:endParaRPr lang="en-US" sz="1350" dirty="0"/>
          </a:p>
        </p:txBody>
      </p:sp>
      <p:sp>
        <p:nvSpPr>
          <p:cNvPr id="23" name="Text 9"/>
          <p:cNvSpPr/>
          <p:nvPr/>
        </p:nvSpPr>
        <p:spPr>
          <a:xfrm>
            <a:off x="7996237" y="3572321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폐쇄망(On-premise) 환경에서의 제약 사항(외부 자원 사용 금지 등)을 명시하여 보안 위배 사항을 사전 차단합니다.</a:t>
            </a:r>
            <a:endParaRPr lang="en-US" sz="1125" dirty="0"/>
          </a:p>
        </p:txBody>
      </p:sp>
      <p:sp>
        <p:nvSpPr>
          <p:cNvPr id="24" name="Text 10"/>
          <p:cNvSpPr/>
          <p:nvPr/>
        </p:nvSpPr>
        <p:spPr>
          <a:xfrm>
            <a:off x="7996237" y="4191446"/>
            <a:ext cx="35290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작업 경계 설정</a:t>
            </a:r>
            <a:endParaRPr lang="en-US" sz="1350" dirty="0"/>
          </a:p>
        </p:txBody>
      </p:sp>
      <p:sp>
        <p:nvSpPr>
          <p:cNvPr id="25" name="Text 11"/>
          <p:cNvSpPr/>
          <p:nvPr/>
        </p:nvSpPr>
        <p:spPr>
          <a:xfrm>
            <a:off x="7996237" y="4496246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수정 금지 폴더나 특정 패턴의 파일 위치를 지정하여 에이전트의 활동 범위를 안전하게 제어합니다.</a:t>
            </a:r>
            <a:endParaRPr lang="en-US" sz="1125" dirty="0"/>
          </a:p>
        </p:txBody>
      </p:sp>
      <p:sp>
        <p:nvSpPr>
          <p:cNvPr id="26" name="Text 12"/>
          <p:cNvSpPr/>
          <p:nvPr/>
        </p:nvSpPr>
        <p:spPr>
          <a:xfrm>
            <a:off x="0" y="6510338"/>
            <a:ext cx="114300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&amp; Project-specific Harness Case Study (2026)</a:t>
            </a:r>
            <a:endParaRPr lang="en-US" sz="8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533787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536627"/>
            <a:ext cx="214313" cy="1753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786461"/>
            <a:ext cx="154781" cy="12576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4450" y="1331565"/>
            <a:ext cx="6686550" cy="4953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331565"/>
            <a:ext cx="6686550" cy="3762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4950" y="1456730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1462534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5700" y="1462534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06200" y="1462534"/>
            <a:ext cx="114300" cy="1143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Appendix: 예시 Daily Report Template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일일 보고서를 생성할 때 참조할 수 있는 표준화된 마크다운 템플릿 구조입니다.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928688" y="2495699"/>
            <a:ext cx="3981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템플릿 구조화의 목적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809625" y="2895749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일관된 데이터 추출: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고정된 섹션을 통해 LLM이 작업 내역을 체계적으로 분류하도록 유도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809625" y="3497610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히스토리 추적성: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날짜별로 정형화된 기록을 남겨 추후 검색 및 워킹 노트 연동 최적화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809625" y="4099471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자동화 연동: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생성된 Markdown을 Git 커밋 메시지나 프로젝트 관리 도구(Obsidian 등)로 자동 전송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773906" y="4748957"/>
            <a:ext cx="3981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 해당 템플릿은 .clinerules 또는 프로젝트 루트의 TEMPLATE.md에 저장하여 참조합니다.</a:t>
            </a:r>
            <a:endParaRPr lang="en-US" sz="975" dirty="0"/>
          </a:p>
        </p:txBody>
      </p:sp>
      <p:sp>
        <p:nvSpPr>
          <p:cNvPr id="20" name="Text 7"/>
          <p:cNvSpPr/>
          <p:nvPr/>
        </p:nvSpPr>
        <p:spPr>
          <a:xfrm>
            <a:off x="5545931" y="1426815"/>
            <a:ext cx="35661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DAILY_REPORT_TEMPLATE.md</a:t>
            </a:r>
            <a:endParaRPr lang="en-US" sz="975" dirty="0"/>
          </a:p>
        </p:txBody>
      </p:sp>
      <p:sp>
        <p:nvSpPr>
          <p:cNvPr id="21" name="Text 8"/>
          <p:cNvSpPr/>
          <p:nvPr/>
        </p:nvSpPr>
        <p:spPr>
          <a:xfrm>
            <a:off x="5314950" y="1707803"/>
            <a:ext cx="6305550" cy="457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Daily Report - [YYYY-MM-DD]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오늘의 요약 (Executive Summary)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오늘 수행한 작업의 핵심 성과를 1~2문장으로 요약합니다.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완료된 작업 (Completed Tasks)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[Task ID]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내용 (관련 커밋: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#hash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[Feature]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기능 구현 및 로컬 테스트 완료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[Docs]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 설계서 업데이트 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docs/arch.md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진행 중 및 이슈 (In-progress &amp; Issues)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[Issue]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API 응답 지연 발생 (추적 중)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[Draft]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리팩토링 모듈 초안 작성 완료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4. 내일의 계획 (Next Steps)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이슈 원인 분석 및 패치 적용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보고서 데이터 취합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Generated by Cline Agent @ [HH:mm:ss]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8982075" y="6496050"/>
            <a:ext cx="3209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Implementation Guide v2.0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867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0530"/>
            <a:ext cx="6686550" cy="540454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062930"/>
            <a:ext cx="6305550" cy="29051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088231"/>
            <a:ext cx="202406" cy="16371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467743"/>
            <a:ext cx="6305550" cy="469493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910530"/>
            <a:ext cx="4457700" cy="262607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1103858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3300" y="3689003"/>
            <a:ext cx="4457700" cy="262607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3882330"/>
            <a:ext cx="214313" cy="17532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180975"/>
            <a:ext cx="115214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 예시 Git Workflow Instruction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52953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작업을 수행할 때 에이전트가 준수해야 할 단계별 지시문과 절차의 예시입니다.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869156" y="1062930"/>
            <a:ext cx="3600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skill-git-workflow.md</a:t>
            </a:r>
            <a:endParaRPr lang="en-US" sz="1125" dirty="0"/>
          </a:p>
        </p:txBody>
      </p:sp>
      <p:sp>
        <p:nvSpPr>
          <p:cNvPr id="16" name="Text 3"/>
          <p:cNvSpPr/>
          <p:nvPr/>
        </p:nvSpPr>
        <p:spPr>
          <a:xfrm>
            <a:off x="666750" y="1467743"/>
            <a:ext cx="6115050" cy="46949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Git Operations Standard Procedure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**Pre-Task Check**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현재 브랜치 확인: `git branch --show-current`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로컬 상태 동기화: `git fetch origin`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작업 시작 전 `git status`로 깨끗한 상태인지 확인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**Branching Strategy**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새로운 기능은 `feature/JIRA-ID_description` 형식 사용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버그 수정은 `fix/JIRA-ID_description` 형식 사용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**Atomic Commit Rule**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하나의 커밋에는 하나의 논리적 변경사항만 포함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커밋 전 `git diff`를 통해 불필요한 공백이나 디버그 코드 확인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**Commit Message Template**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`type: short description` (예: `feat: add email summary logic`)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상세 설명이 필요한 경우 한 줄 띄우고 본문 작성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**Review &amp; Push**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`git push` 전 반드시 로컬 빌드/테스트 수행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Push 후 PR 링크를 사용자에게 보고</a:t>
            </a:r>
            <a:endParaRPr lang="en-US" sz="975" dirty="0"/>
          </a:p>
        </p:txBody>
      </p:sp>
      <p:sp>
        <p:nvSpPr>
          <p:cNvPr id="17" name="Text 4"/>
          <p:cNvSpPr/>
          <p:nvPr/>
        </p:nvSpPr>
        <p:spPr>
          <a:xfrm>
            <a:off x="7758113" y="1062930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거버넌스 및 제약 사항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7734300" y="1415355"/>
            <a:ext cx="25812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**강제적 동기화 절차**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에이전트가 stale한 코드를 수정하지 않도록 fetch 강제</a:t>
            </a:r>
            <a:endParaRPr lang="en-US" sz="1125" dirty="0"/>
          </a:p>
        </p:txBody>
      </p:sp>
      <p:sp>
        <p:nvSpPr>
          <p:cNvPr id="19" name="Text 6"/>
          <p:cNvSpPr/>
          <p:nvPr/>
        </p:nvSpPr>
        <p:spPr>
          <a:xfrm>
            <a:off x="7734300" y="1905893"/>
            <a:ext cx="21050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**커밋 메시지 표준화**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히스토리 추적성 및 자동 릴리즈 노트 생성 기반</a:t>
            </a:r>
            <a:endParaRPr lang="en-US" sz="1125" dirty="0"/>
          </a:p>
        </p:txBody>
      </p:sp>
      <p:sp>
        <p:nvSpPr>
          <p:cNvPr id="20" name="Text 7"/>
          <p:cNvSpPr/>
          <p:nvPr/>
        </p:nvSpPr>
        <p:spPr>
          <a:xfrm>
            <a:off x="7734300" y="2396430"/>
            <a:ext cx="22574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**브랜치 명명 규칙**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조직의 프로젝트 관리 도구(Jira 등)와 연동성 확보</a:t>
            </a:r>
            <a:endParaRPr lang="en-US" sz="1125" dirty="0"/>
          </a:p>
        </p:txBody>
      </p:sp>
      <p:sp>
        <p:nvSpPr>
          <p:cNvPr id="21" name="Text 8"/>
          <p:cNvSpPr/>
          <p:nvPr/>
        </p:nvSpPr>
        <p:spPr>
          <a:xfrm>
            <a:off x="7758113" y="3841403"/>
            <a:ext cx="411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Human-in-the-loop 검증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7734300" y="4193828"/>
            <a:ext cx="36385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**커밋 전 Diff 검토 요청**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에이전트가 `git commit`을 날리기 전 변경 내용을 사용자에게 확인받도록 설정</a:t>
            </a:r>
            <a:endParaRPr lang="en-US" sz="1125" dirty="0"/>
          </a:p>
        </p:txBody>
      </p:sp>
      <p:sp>
        <p:nvSpPr>
          <p:cNvPr id="23" name="Text 10"/>
          <p:cNvSpPr/>
          <p:nvPr/>
        </p:nvSpPr>
        <p:spPr>
          <a:xfrm>
            <a:off x="7734300" y="4684365"/>
            <a:ext cx="27908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**Push 권한 통제**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보안상 중요 프로젝트는 Push 단계를 인간의 승인 후에만 수행</a:t>
            </a:r>
            <a:endParaRPr lang="en-US" sz="1125" dirty="0"/>
          </a:p>
        </p:txBody>
      </p:sp>
      <p:sp>
        <p:nvSpPr>
          <p:cNvPr id="24" name="Text 11"/>
          <p:cNvSpPr/>
          <p:nvPr/>
        </p:nvSpPr>
        <p:spPr>
          <a:xfrm>
            <a:off x="0" y="6562725"/>
            <a:ext cx="11430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Git Workflow Instruction Example for Cline Agent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2026-04-28T20:09:25Z</dcterms:created>
  <dcterms:modified xsi:type="dcterms:W3CDTF">2026-04-28T20:09:25Z</dcterms:modified>
</cp:coreProperties>
</file>