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embeddedFontLst>
    <p:embeddedFont>
      <p:font typeface="Noto Sans KR"/>
      <p:regular r:id="rId201314"/>
      <p:bold r:id="rId3013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301314" Target="fonts/301314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image" Target="../media/image-2-19.png"/><Relationship Id="rId20" Type="http://schemas.openxmlformats.org/officeDocument/2006/relationships/image" Target="../media/image-2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image" Target="../media/image-5-18.png"/><Relationship Id="rId19" Type="http://schemas.openxmlformats.org/officeDocument/2006/relationships/image" Target="../media/image-5-19.png"/><Relationship Id="rId20" Type="http://schemas.openxmlformats.org/officeDocument/2006/relationships/image" Target="../media/image-5-20.png"/><Relationship Id="rId21" Type="http://schemas.openxmlformats.org/officeDocument/2006/relationships/image" Target="../media/image-5-21.png"/><Relationship Id="rId22" Type="http://schemas.openxmlformats.org/officeDocument/2006/relationships/image" Target="../media/image-5-22.png"/><Relationship Id="rId23" Type="http://schemas.openxmlformats.org/officeDocument/2006/relationships/image" Target="../media/image-5-23.png"/><Relationship Id="rId24" Type="http://schemas.openxmlformats.org/officeDocument/2006/relationships/image" Target="../media/image-5-24.png"/><Relationship Id="rId25" Type="http://schemas.openxmlformats.org/officeDocument/2006/relationships/image" Target="../media/image-5-25.png"/><Relationship Id="rId26" Type="http://schemas.openxmlformats.org/officeDocument/2006/relationships/image" Target="../media/image-5-26.png"/><Relationship Id="rId27" Type="http://schemas.openxmlformats.org/officeDocument/2006/relationships/image" Target="../media/image-5-27.png"/><Relationship Id="rId28" Type="http://schemas.openxmlformats.org/officeDocument/2006/relationships/image" Target="../media/image-5-28.png"/><Relationship Id="rId29" Type="http://schemas.openxmlformats.org/officeDocument/2006/relationships/image" Target="../media/image-5-29.png"/><Relationship Id="rId30" Type="http://schemas.openxmlformats.org/officeDocument/2006/relationships/slideLayout" Target="../slideLayouts/slideLayout1.xml"/><Relationship Id="rId3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image" Target="../media/image-6-17.png"/><Relationship Id="rId18" Type="http://schemas.openxmlformats.org/officeDocument/2006/relationships/image" Target="../media/image-6-18.png"/><Relationship Id="rId19" Type="http://schemas.openxmlformats.org/officeDocument/2006/relationships/image" Target="../media/image-6-19.png"/><Relationship Id="rId20" Type="http://schemas.openxmlformats.org/officeDocument/2006/relationships/image" Target="../media/image-6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image" Target="../media/image-7-17.png"/><Relationship Id="rId18" Type="http://schemas.openxmlformats.org/officeDocument/2006/relationships/image" Target="../media/image-7-18.png"/><Relationship Id="rId19" Type="http://schemas.openxmlformats.org/officeDocument/2006/relationships/image" Target="../media/image-7-19.png"/><Relationship Id="rId20" Type="http://schemas.openxmlformats.org/officeDocument/2006/relationships/image" Target="../media/image-7-20.png"/><Relationship Id="rId21" Type="http://schemas.openxmlformats.org/officeDocument/2006/relationships/image" Target="../media/image-7-21.png"/><Relationship Id="rId22" Type="http://schemas.openxmlformats.org/officeDocument/2006/relationships/image" Target="../media/image-7-22.png"/><Relationship Id="rId23" Type="http://schemas.openxmlformats.org/officeDocument/2006/relationships/image" Target="../media/image-7-23.png"/><Relationship Id="rId24" Type="http://schemas.openxmlformats.org/officeDocument/2006/relationships/image" Target="../media/image-7-24.png"/><Relationship Id="rId25" Type="http://schemas.openxmlformats.org/officeDocument/2006/relationships/image" Target="../media/image-7-25.png"/><Relationship Id="rId26" Type="http://schemas.openxmlformats.org/officeDocument/2006/relationships/image" Target="../media/image-7-26.png"/><Relationship Id="rId27" Type="http://schemas.openxmlformats.org/officeDocument/2006/relationships/image" Target="../media/image-7-27.png"/><Relationship Id="rId28" Type="http://schemas.openxmlformats.org/officeDocument/2006/relationships/image" Target="../media/image-7-28.png"/><Relationship Id="rId29" Type="http://schemas.openxmlformats.org/officeDocument/2006/relationships/image" Target="../media/image-7-29.png"/><Relationship Id="rId30" Type="http://schemas.openxmlformats.org/officeDocument/2006/relationships/image" Target="../media/image-7-30.png"/><Relationship Id="rId31" Type="http://schemas.openxmlformats.org/officeDocument/2006/relationships/image" Target="../media/image-7-31.png"/><Relationship Id="rId32" Type="http://schemas.openxmlformats.org/officeDocument/2006/relationships/slideLayout" Target="../slideLayouts/slideLayout1.xml"/><Relationship Id="rId3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image" Target="../media/image-8-17.png"/><Relationship Id="rId18" Type="http://schemas.openxmlformats.org/officeDocument/2006/relationships/image" Target="../media/image-8-18.png"/><Relationship Id="rId19" Type="http://schemas.openxmlformats.org/officeDocument/2006/relationships/image" Target="../media/image-8-19.png"/><Relationship Id="rId20" Type="http://schemas.openxmlformats.org/officeDocument/2006/relationships/image" Target="../media/image-8-20.png"/><Relationship Id="rId21" Type="http://schemas.openxmlformats.org/officeDocument/2006/relationships/image" Target="../media/image-8-21.png"/><Relationship Id="rId22" Type="http://schemas.openxmlformats.org/officeDocument/2006/relationships/image" Target="../media/image-8-22.png"/><Relationship Id="rId23" Type="http://schemas.openxmlformats.org/officeDocument/2006/relationships/image" Target="../media/image-8-23.png"/><Relationship Id="rId24" Type="http://schemas.openxmlformats.org/officeDocument/2006/relationships/image" Target="../media/image-8-24.png"/><Relationship Id="rId25" Type="http://schemas.openxmlformats.org/officeDocument/2006/relationships/image" Target="../media/image-8-25.png"/><Relationship Id="rId26" Type="http://schemas.openxmlformats.org/officeDocument/2006/relationships/image" Target="../media/image-8-26.png"/><Relationship Id="rId27" Type="http://schemas.openxmlformats.org/officeDocument/2006/relationships/image" Target="../media/image-8-27.png"/><Relationship Id="rId28" Type="http://schemas.openxmlformats.org/officeDocument/2006/relationships/slideLayout" Target="../slideLayouts/slideLayout1.xml"/><Relationship Id="rId2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image" Target="../media/image-9-16.png"/><Relationship Id="rId17" Type="http://schemas.openxmlformats.org/officeDocument/2006/relationships/image" Target="../media/image-9-17.png"/><Relationship Id="rId18" Type="http://schemas.openxmlformats.org/officeDocument/2006/relationships/image" Target="../media/image-9-18.png"/><Relationship Id="rId19" Type="http://schemas.openxmlformats.org/officeDocument/2006/relationships/image" Target="../media/image-9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png"/><Relationship Id="rId17" Type="http://schemas.openxmlformats.org/officeDocument/2006/relationships/image" Target="../media/image-10-17.png"/><Relationship Id="rId18" Type="http://schemas.openxmlformats.org/officeDocument/2006/relationships/image" Target="../media/image-10-18.png"/><Relationship Id="rId19" Type="http://schemas.openxmlformats.org/officeDocument/2006/relationships/image" Target="../media/image-10-19.png"/><Relationship Id="rId20" Type="http://schemas.openxmlformats.org/officeDocument/2006/relationships/image" Target="../media/image-10-20.png"/><Relationship Id="rId21" Type="http://schemas.openxmlformats.org/officeDocument/2006/relationships/image" Target="../media/image-10-21.png"/><Relationship Id="rId22" Type="http://schemas.openxmlformats.org/officeDocument/2006/relationships/image" Target="../media/image-10-22.png"/><Relationship Id="rId23" Type="http://schemas.openxmlformats.org/officeDocument/2006/relationships/image" Target="../media/image-10-23.png"/><Relationship Id="rId24" Type="http://schemas.openxmlformats.org/officeDocument/2006/relationships/image" Target="../media/image-10-24.png"/><Relationship Id="rId25" Type="http://schemas.openxmlformats.org/officeDocument/2006/relationships/image" Target="../media/image-10-25.png"/><Relationship Id="rId26" Type="http://schemas.openxmlformats.org/officeDocument/2006/relationships/image" Target="../media/image-10-26.png"/><Relationship Id="rId27" Type="http://schemas.openxmlformats.org/officeDocument/2006/relationships/image" Target="../media/image-10-27.png"/><Relationship Id="rId28" Type="http://schemas.openxmlformats.org/officeDocument/2006/relationships/image" Target="../media/image-10-28.png"/><Relationship Id="rId29" Type="http://schemas.openxmlformats.org/officeDocument/2006/relationships/image" Target="../media/image-10-29.png"/><Relationship Id="rId30" Type="http://schemas.openxmlformats.org/officeDocument/2006/relationships/image" Target="../media/image-10-30.png"/><Relationship Id="rId31" Type="http://schemas.openxmlformats.org/officeDocument/2006/relationships/slideLayout" Target="../slideLayouts/slideLayout1.xml"/><Relationship Id="rId3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png"/><Relationship Id="rId15" Type="http://schemas.openxmlformats.org/officeDocument/2006/relationships/image" Target="../media/image-11-15.png"/><Relationship Id="rId16" Type="http://schemas.openxmlformats.org/officeDocument/2006/relationships/image" Target="../media/image-11-16.png"/><Relationship Id="rId17" Type="http://schemas.openxmlformats.org/officeDocument/2006/relationships/image" Target="../media/image-11-17.png"/><Relationship Id="rId18" Type="http://schemas.openxmlformats.org/officeDocument/2006/relationships/image" Target="../media/image-11-18.png"/><Relationship Id="rId19" Type="http://schemas.openxmlformats.org/officeDocument/2006/relationships/image" Target="../media/image-11-19.png"/><Relationship Id="rId20" Type="http://schemas.openxmlformats.org/officeDocument/2006/relationships/image" Target="../media/image-11-20.png"/><Relationship Id="rId21" Type="http://schemas.openxmlformats.org/officeDocument/2006/relationships/image" Target="../media/image-11-21.png"/><Relationship Id="rId22" Type="http://schemas.openxmlformats.org/officeDocument/2006/relationships/image" Target="../media/image-11-22.png"/><Relationship Id="rId23" Type="http://schemas.openxmlformats.org/officeDocument/2006/relationships/image" Target="../media/image-11-23.png"/><Relationship Id="rId24" Type="http://schemas.openxmlformats.org/officeDocument/2006/relationships/image" Target="../media/image-11-24.pn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image" Target="../media/image-13-13.png"/><Relationship Id="rId14" Type="http://schemas.openxmlformats.org/officeDocument/2006/relationships/image" Target="../media/image-13-14.png"/><Relationship Id="rId15" Type="http://schemas.openxmlformats.org/officeDocument/2006/relationships/image" Target="../media/image-13-15.png"/><Relationship Id="rId16" Type="http://schemas.openxmlformats.org/officeDocument/2006/relationships/image" Target="../media/image-13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png"/><Relationship Id="rId13" Type="http://schemas.openxmlformats.org/officeDocument/2006/relationships/image" Target="../media/image-14-13.png"/><Relationship Id="rId14" Type="http://schemas.openxmlformats.org/officeDocument/2006/relationships/image" Target="../media/image-14-14.png"/><Relationship Id="rId15" Type="http://schemas.openxmlformats.org/officeDocument/2006/relationships/image" Target="../media/image-14-15.png"/><Relationship Id="rId16" Type="http://schemas.openxmlformats.org/officeDocument/2006/relationships/image" Target="../media/image-14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image" Target="../media/image-15-10.png"/><Relationship Id="rId11" Type="http://schemas.openxmlformats.org/officeDocument/2006/relationships/image" Target="../media/image-15-11.png"/><Relationship Id="rId12" Type="http://schemas.openxmlformats.org/officeDocument/2006/relationships/image" Target="../media/image-15-12.png"/><Relationship Id="rId13" Type="http://schemas.openxmlformats.org/officeDocument/2006/relationships/image" Target="../media/image-15-13.png"/><Relationship Id="rId14" Type="http://schemas.openxmlformats.org/officeDocument/2006/relationships/image" Target="../media/image-15-14.png"/><Relationship Id="rId15" Type="http://schemas.openxmlformats.org/officeDocument/2006/relationships/image" Target="../media/image-15-15.png"/><Relationship Id="rId16" Type="http://schemas.openxmlformats.org/officeDocument/2006/relationships/image" Target="../media/image-15-16.png"/><Relationship Id="rId17" Type="http://schemas.openxmlformats.org/officeDocument/2006/relationships/image" Target="../media/image-15-17.png"/><Relationship Id="rId18" Type="http://schemas.openxmlformats.org/officeDocument/2006/relationships/image" Target="../media/image-15-18.png"/><Relationship Id="rId19" Type="http://schemas.openxmlformats.org/officeDocument/2006/relationships/image" Target="../media/image-15-19.png"/><Relationship Id="rId20" Type="http://schemas.openxmlformats.org/officeDocument/2006/relationships/image" Target="../media/image-15-20.png"/><Relationship Id="rId21" Type="http://schemas.openxmlformats.org/officeDocument/2006/relationships/image" Target="../media/image-15-21.png"/><Relationship Id="rId22" Type="http://schemas.openxmlformats.org/officeDocument/2006/relationships/image" Target="../media/image-15-22.png"/><Relationship Id="rId23" Type="http://schemas.openxmlformats.org/officeDocument/2006/relationships/image" Target="../media/image-15-23.png"/><Relationship Id="rId24" Type="http://schemas.openxmlformats.org/officeDocument/2006/relationships/image" Target="../media/image-15-24.png"/><Relationship Id="rId25" Type="http://schemas.openxmlformats.org/officeDocument/2006/relationships/image" Target="../media/image-15-25.png"/><Relationship Id="rId26" Type="http://schemas.openxmlformats.org/officeDocument/2006/relationships/image" Target="../media/image-15-26.png"/><Relationship Id="rId27" Type="http://schemas.openxmlformats.org/officeDocument/2006/relationships/image" Target="../media/image-15-27.png"/><Relationship Id="rId28" Type="http://schemas.openxmlformats.org/officeDocument/2006/relationships/image" Target="../media/image-15-28.png"/><Relationship Id="rId29" Type="http://schemas.openxmlformats.org/officeDocument/2006/relationships/slideLayout" Target="../slideLayouts/slideLayout1.xml"/><Relationship Id="rId30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image" Target="../media/image-16-9.png"/><Relationship Id="rId10" Type="http://schemas.openxmlformats.org/officeDocument/2006/relationships/image" Target="../media/image-16-10.png"/><Relationship Id="rId11" Type="http://schemas.openxmlformats.org/officeDocument/2006/relationships/image" Target="../media/image-16-11.png"/><Relationship Id="rId12" Type="http://schemas.openxmlformats.org/officeDocument/2006/relationships/image" Target="../media/image-16-12.png"/><Relationship Id="rId13" Type="http://schemas.openxmlformats.org/officeDocument/2006/relationships/image" Target="../media/image-16-13.png"/><Relationship Id="rId14" Type="http://schemas.openxmlformats.org/officeDocument/2006/relationships/image" Target="../media/image-16-14.png"/><Relationship Id="rId15" Type="http://schemas.openxmlformats.org/officeDocument/2006/relationships/image" Target="../media/image-16-15.png"/><Relationship Id="rId16" Type="http://schemas.openxmlformats.org/officeDocument/2006/relationships/image" Target="../media/image-16-16.png"/><Relationship Id="rId17" Type="http://schemas.openxmlformats.org/officeDocument/2006/relationships/image" Target="../media/image-16-17.png"/><Relationship Id="rId18" Type="http://schemas.openxmlformats.org/officeDocument/2006/relationships/image" Target="../media/image-16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image" Target="../media/image-17-9.png"/><Relationship Id="rId10" Type="http://schemas.openxmlformats.org/officeDocument/2006/relationships/image" Target="../media/image-17-10.png"/><Relationship Id="rId11" Type="http://schemas.openxmlformats.org/officeDocument/2006/relationships/image" Target="../media/image-17-11.png"/><Relationship Id="rId12" Type="http://schemas.openxmlformats.org/officeDocument/2006/relationships/image" Target="../media/image-17-12.png"/><Relationship Id="rId13" Type="http://schemas.openxmlformats.org/officeDocument/2006/relationships/image" Target="../media/image-17-13.png"/><Relationship Id="rId14" Type="http://schemas.openxmlformats.org/officeDocument/2006/relationships/image" Target="../media/image-17-14.png"/><Relationship Id="rId15" Type="http://schemas.openxmlformats.org/officeDocument/2006/relationships/image" Target="../media/image-17-15.png"/><Relationship Id="rId16" Type="http://schemas.openxmlformats.org/officeDocument/2006/relationships/image" Target="../media/image-17-16.png"/><Relationship Id="rId17" Type="http://schemas.openxmlformats.org/officeDocument/2006/relationships/image" Target="../media/image-17-17.png"/><Relationship Id="rId18" Type="http://schemas.openxmlformats.org/officeDocument/2006/relationships/image" Target="../media/image-17-18.png"/><Relationship Id="rId19" Type="http://schemas.openxmlformats.org/officeDocument/2006/relationships/image" Target="../media/image-17-19.png"/><Relationship Id="rId20" Type="http://schemas.openxmlformats.org/officeDocument/2006/relationships/image" Target="../media/image-17-20.png"/><Relationship Id="rId21" Type="http://schemas.openxmlformats.org/officeDocument/2006/relationships/image" Target="../media/image-17-21.png"/><Relationship Id="rId22" Type="http://schemas.openxmlformats.org/officeDocument/2006/relationships/image" Target="../media/image-17-22.png"/><Relationship Id="rId23" Type="http://schemas.openxmlformats.org/officeDocument/2006/relationships/image" Target="../media/image-17-23.png"/><Relationship Id="rId24" Type="http://schemas.openxmlformats.org/officeDocument/2006/relationships/image" Target="../media/image-17-24.png"/><Relationship Id="rId25" Type="http://schemas.openxmlformats.org/officeDocument/2006/relationships/image" Target="../media/image-17-25.png"/><Relationship Id="rId26" Type="http://schemas.openxmlformats.org/officeDocument/2006/relationships/slideLayout" Target="../slideLayouts/slideLayout1.xml"/><Relationship Id="rId2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image" Target="../media/image-18-9.png"/><Relationship Id="rId10" Type="http://schemas.openxmlformats.org/officeDocument/2006/relationships/image" Target="../media/image-18-10.png"/><Relationship Id="rId11" Type="http://schemas.openxmlformats.org/officeDocument/2006/relationships/image" Target="../media/image-18-11.png"/><Relationship Id="rId12" Type="http://schemas.openxmlformats.org/officeDocument/2006/relationships/image" Target="../media/image-18-12.png"/><Relationship Id="rId13" Type="http://schemas.openxmlformats.org/officeDocument/2006/relationships/image" Target="../media/image-18-13.png"/><Relationship Id="rId14" Type="http://schemas.openxmlformats.org/officeDocument/2006/relationships/image" Target="../media/image-18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image" Target="../media/image-19-8.png"/><Relationship Id="rId9" Type="http://schemas.openxmlformats.org/officeDocument/2006/relationships/image" Target="../media/image-19-9.png"/><Relationship Id="rId10" Type="http://schemas.openxmlformats.org/officeDocument/2006/relationships/image" Target="../media/image-19-10.png"/><Relationship Id="rId11" Type="http://schemas.openxmlformats.org/officeDocument/2006/relationships/image" Target="../media/image-19-11.png"/><Relationship Id="rId12" Type="http://schemas.openxmlformats.org/officeDocument/2006/relationships/image" Target="../media/image-19-12.png"/><Relationship Id="rId13" Type="http://schemas.openxmlformats.org/officeDocument/2006/relationships/image" Target="../media/image-19-13.png"/><Relationship Id="rId14" Type="http://schemas.openxmlformats.org/officeDocument/2006/relationships/image" Target="../media/image-19-14.png"/><Relationship Id="rId15" Type="http://schemas.openxmlformats.org/officeDocument/2006/relationships/image" Target="../media/image-19-15.png"/><Relationship Id="rId16" Type="http://schemas.openxmlformats.org/officeDocument/2006/relationships/image" Target="../media/image-19-16.png"/><Relationship Id="rId17" Type="http://schemas.openxmlformats.org/officeDocument/2006/relationships/image" Target="../media/image-19-17.png"/><Relationship Id="rId18" Type="http://schemas.openxmlformats.org/officeDocument/2006/relationships/image" Target="../media/image-19-18.png"/><Relationship Id="rId19" Type="http://schemas.openxmlformats.org/officeDocument/2006/relationships/image" Target="../media/image-19-19.png"/><Relationship Id="rId20" Type="http://schemas.openxmlformats.org/officeDocument/2006/relationships/image" Target="../media/image-19-20.png"/><Relationship Id="rId21" Type="http://schemas.openxmlformats.org/officeDocument/2006/relationships/image" Target="../media/image-19-21.png"/><Relationship Id="rId22" Type="http://schemas.openxmlformats.org/officeDocument/2006/relationships/image" Target="../media/image-19-22.png"/><Relationship Id="rId23" Type="http://schemas.openxmlformats.org/officeDocument/2006/relationships/image" Target="../media/image-19-23.png"/><Relationship Id="rId24" Type="http://schemas.openxmlformats.org/officeDocument/2006/relationships/image" Target="../media/image-19-24.pn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image" Target="../media/image-20-8.png"/><Relationship Id="rId9" Type="http://schemas.openxmlformats.org/officeDocument/2006/relationships/image" Target="../media/image-20-9.png"/><Relationship Id="rId10" Type="http://schemas.openxmlformats.org/officeDocument/2006/relationships/image" Target="../media/image-20-10.png"/><Relationship Id="rId11" Type="http://schemas.openxmlformats.org/officeDocument/2006/relationships/image" Target="../media/image-20-11.png"/><Relationship Id="rId12" Type="http://schemas.openxmlformats.org/officeDocument/2006/relationships/image" Target="../media/image-20-12.png"/><Relationship Id="rId13" Type="http://schemas.openxmlformats.org/officeDocument/2006/relationships/image" Target="../media/image-20-13.png"/><Relationship Id="rId14" Type="http://schemas.openxmlformats.org/officeDocument/2006/relationships/image" Target="../media/image-20-14.png"/><Relationship Id="rId15" Type="http://schemas.openxmlformats.org/officeDocument/2006/relationships/image" Target="../media/image-20-15.png"/><Relationship Id="rId16" Type="http://schemas.openxmlformats.org/officeDocument/2006/relationships/image" Target="../media/image-20-16.png"/><Relationship Id="rId17" Type="http://schemas.openxmlformats.org/officeDocument/2006/relationships/image" Target="../media/image-20-17.png"/><Relationship Id="rId18" Type="http://schemas.openxmlformats.org/officeDocument/2006/relationships/image" Target="../media/image-20-18.png"/><Relationship Id="rId19" Type="http://schemas.openxmlformats.org/officeDocument/2006/relationships/image" Target="../media/image-20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image" Target="../media/image-21-8.png"/><Relationship Id="rId9" Type="http://schemas.openxmlformats.org/officeDocument/2006/relationships/image" Target="../media/image-21-9.png"/><Relationship Id="rId10" Type="http://schemas.openxmlformats.org/officeDocument/2006/relationships/image" Target="../media/image-21-10.png"/><Relationship Id="rId11" Type="http://schemas.openxmlformats.org/officeDocument/2006/relationships/image" Target="../media/image-21-11.png"/><Relationship Id="rId12" Type="http://schemas.openxmlformats.org/officeDocument/2006/relationships/image" Target="../media/image-21-12.png"/><Relationship Id="rId13" Type="http://schemas.openxmlformats.org/officeDocument/2006/relationships/image" Target="../media/image-21-13.png"/><Relationship Id="rId14" Type="http://schemas.openxmlformats.org/officeDocument/2006/relationships/image" Target="../media/image-21-14.png"/><Relationship Id="rId15" Type="http://schemas.openxmlformats.org/officeDocument/2006/relationships/image" Target="../media/image-21-15.png"/><Relationship Id="rId16" Type="http://schemas.openxmlformats.org/officeDocument/2006/relationships/image" Target="../media/image-21-16.png"/><Relationship Id="rId17" Type="http://schemas.openxmlformats.org/officeDocument/2006/relationships/image" Target="../media/image-21-17.png"/><Relationship Id="rId18" Type="http://schemas.openxmlformats.org/officeDocument/2006/relationships/image" Target="../media/image-21-18.png"/><Relationship Id="rId19" Type="http://schemas.openxmlformats.org/officeDocument/2006/relationships/image" Target="../media/image-21-19.png"/><Relationship Id="rId20" Type="http://schemas.openxmlformats.org/officeDocument/2006/relationships/image" Target="../media/image-21-20.png"/><Relationship Id="rId21" Type="http://schemas.openxmlformats.org/officeDocument/2006/relationships/image" Target="../media/image-21-21.png"/><Relationship Id="rId22" Type="http://schemas.openxmlformats.org/officeDocument/2006/relationships/image" Target="../media/image-21-22.pn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image" Target="../media/image-22-7.png"/><Relationship Id="rId8" Type="http://schemas.openxmlformats.org/officeDocument/2006/relationships/image" Target="../media/image-22-8.png"/><Relationship Id="rId9" Type="http://schemas.openxmlformats.org/officeDocument/2006/relationships/image" Target="../media/image-22-9.png"/><Relationship Id="rId10" Type="http://schemas.openxmlformats.org/officeDocument/2006/relationships/image" Target="../media/image-22-10.png"/><Relationship Id="rId11" Type="http://schemas.openxmlformats.org/officeDocument/2006/relationships/image" Target="../media/image-22-11.png"/><Relationship Id="rId12" Type="http://schemas.openxmlformats.org/officeDocument/2006/relationships/image" Target="../media/image-22-12.png"/><Relationship Id="rId13" Type="http://schemas.openxmlformats.org/officeDocument/2006/relationships/image" Target="../media/image-22-13.png"/><Relationship Id="rId14" Type="http://schemas.openxmlformats.org/officeDocument/2006/relationships/image" Target="../media/image-22-14.png"/><Relationship Id="rId15" Type="http://schemas.openxmlformats.org/officeDocument/2006/relationships/image" Target="../media/image-22-15.png"/><Relationship Id="rId16" Type="http://schemas.openxmlformats.org/officeDocument/2006/relationships/image" Target="../media/image-22-16.png"/><Relationship Id="rId17" Type="http://schemas.openxmlformats.org/officeDocument/2006/relationships/image" Target="../media/image-22-17.png"/><Relationship Id="rId18" Type="http://schemas.openxmlformats.org/officeDocument/2006/relationships/image" Target="../media/image-22-18.png"/><Relationship Id="rId19" Type="http://schemas.openxmlformats.org/officeDocument/2006/relationships/image" Target="../media/image-22-19.png"/><Relationship Id="rId20" Type="http://schemas.openxmlformats.org/officeDocument/2006/relationships/image" Target="../media/image-22-20.png"/><Relationship Id="rId21" Type="http://schemas.openxmlformats.org/officeDocument/2006/relationships/image" Target="../media/image-22-21.png"/><Relationship Id="rId22" Type="http://schemas.openxmlformats.org/officeDocument/2006/relationships/image" Target="../media/image-22-22.png"/><Relationship Id="rId23" Type="http://schemas.openxmlformats.org/officeDocument/2006/relationships/image" Target="../media/image-22-23.png"/><Relationship Id="rId24" Type="http://schemas.openxmlformats.org/officeDocument/2006/relationships/image" Target="../media/image-22-24.png"/><Relationship Id="rId25" Type="http://schemas.openxmlformats.org/officeDocument/2006/relationships/image" Target="../media/image-22-25.png"/><Relationship Id="rId26" Type="http://schemas.openxmlformats.org/officeDocument/2006/relationships/image" Target="../media/image-22-26.png"/><Relationship Id="rId27" Type="http://schemas.openxmlformats.org/officeDocument/2006/relationships/image" Target="../media/image-22-27.png"/><Relationship Id="rId28" Type="http://schemas.openxmlformats.org/officeDocument/2006/relationships/image" Target="../media/image-22-28.png"/><Relationship Id="rId29" Type="http://schemas.openxmlformats.org/officeDocument/2006/relationships/slideLayout" Target="../slideLayouts/slideLayout1.xml"/><Relationship Id="rId30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image" Target="../media/image-23-7.png"/><Relationship Id="rId8" Type="http://schemas.openxmlformats.org/officeDocument/2006/relationships/image" Target="../media/image-23-8.png"/><Relationship Id="rId9" Type="http://schemas.openxmlformats.org/officeDocument/2006/relationships/image" Target="../media/image-23-9.png"/><Relationship Id="rId10" Type="http://schemas.openxmlformats.org/officeDocument/2006/relationships/image" Target="../media/image-23-10.png"/><Relationship Id="rId11" Type="http://schemas.openxmlformats.org/officeDocument/2006/relationships/image" Target="../media/image-23-11.png"/><Relationship Id="rId12" Type="http://schemas.openxmlformats.org/officeDocument/2006/relationships/image" Target="../media/image-23-12.png"/><Relationship Id="rId13" Type="http://schemas.openxmlformats.org/officeDocument/2006/relationships/image" Target="../media/image-23-13.png"/><Relationship Id="rId14" Type="http://schemas.openxmlformats.org/officeDocument/2006/relationships/image" Target="../media/image-23-14.png"/><Relationship Id="rId15" Type="http://schemas.openxmlformats.org/officeDocument/2006/relationships/image" Target="../media/image-23-15.png"/><Relationship Id="rId16" Type="http://schemas.openxmlformats.org/officeDocument/2006/relationships/image" Target="../media/image-23-16.png"/><Relationship Id="rId17" Type="http://schemas.openxmlformats.org/officeDocument/2006/relationships/image" Target="../media/image-23-17.png"/><Relationship Id="rId18" Type="http://schemas.openxmlformats.org/officeDocument/2006/relationships/image" Target="../media/image-23-18.png"/><Relationship Id="rId19" Type="http://schemas.openxmlformats.org/officeDocument/2006/relationships/image" Target="../media/image-23-19.png"/><Relationship Id="rId20" Type="http://schemas.openxmlformats.org/officeDocument/2006/relationships/image" Target="../media/image-23-20.png"/><Relationship Id="rId21" Type="http://schemas.openxmlformats.org/officeDocument/2006/relationships/image" Target="../media/image-23-21.png"/><Relationship Id="rId22" Type="http://schemas.openxmlformats.org/officeDocument/2006/relationships/image" Target="../media/image-23-22.pn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image" Target="../media/image-24-7.png"/><Relationship Id="rId8" Type="http://schemas.openxmlformats.org/officeDocument/2006/relationships/image" Target="../media/image-24-8.png"/><Relationship Id="rId9" Type="http://schemas.openxmlformats.org/officeDocument/2006/relationships/image" Target="../media/image-24-9.png"/><Relationship Id="rId10" Type="http://schemas.openxmlformats.org/officeDocument/2006/relationships/image" Target="../media/image-24-10.png"/><Relationship Id="rId11" Type="http://schemas.openxmlformats.org/officeDocument/2006/relationships/image" Target="../media/image-24-11.png"/><Relationship Id="rId12" Type="http://schemas.openxmlformats.org/officeDocument/2006/relationships/image" Target="../media/image-24-12.png"/><Relationship Id="rId13" Type="http://schemas.openxmlformats.org/officeDocument/2006/relationships/image" Target="../media/image-24-13.png"/><Relationship Id="rId14" Type="http://schemas.openxmlformats.org/officeDocument/2006/relationships/image" Target="../media/image-24-14.png"/><Relationship Id="rId15" Type="http://schemas.openxmlformats.org/officeDocument/2006/relationships/image" Target="../media/image-24-15.png"/><Relationship Id="rId16" Type="http://schemas.openxmlformats.org/officeDocument/2006/relationships/image" Target="../media/image-24-16.png"/><Relationship Id="rId17" Type="http://schemas.openxmlformats.org/officeDocument/2006/relationships/image" Target="../media/image-24-17.png"/><Relationship Id="rId18" Type="http://schemas.openxmlformats.org/officeDocument/2006/relationships/image" Target="../media/image-24-18.png"/><Relationship Id="rId19" Type="http://schemas.openxmlformats.org/officeDocument/2006/relationships/image" Target="../media/image-24-19.png"/><Relationship Id="rId20" Type="http://schemas.openxmlformats.org/officeDocument/2006/relationships/image" Target="../media/image-24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image" Target="../media/image-25-7.png"/><Relationship Id="rId8" Type="http://schemas.openxmlformats.org/officeDocument/2006/relationships/image" Target="../media/image-25-8.png"/><Relationship Id="rId9" Type="http://schemas.openxmlformats.org/officeDocument/2006/relationships/image" Target="../media/image-25-9.png"/><Relationship Id="rId10" Type="http://schemas.openxmlformats.org/officeDocument/2006/relationships/image" Target="../media/image-25-10.png"/><Relationship Id="rId11" Type="http://schemas.openxmlformats.org/officeDocument/2006/relationships/image" Target="../media/image-25-11.png"/><Relationship Id="rId12" Type="http://schemas.openxmlformats.org/officeDocument/2006/relationships/image" Target="../media/image-25-12.png"/><Relationship Id="rId13" Type="http://schemas.openxmlformats.org/officeDocument/2006/relationships/image" Target="../media/image-25-13.png"/><Relationship Id="rId14" Type="http://schemas.openxmlformats.org/officeDocument/2006/relationships/image" Target="../media/image-25-14.png"/><Relationship Id="rId15" Type="http://schemas.openxmlformats.org/officeDocument/2006/relationships/image" Target="../media/image-25-15.png"/><Relationship Id="rId16" Type="http://schemas.openxmlformats.org/officeDocument/2006/relationships/image" Target="../media/image-25-16.png"/><Relationship Id="rId17" Type="http://schemas.openxmlformats.org/officeDocument/2006/relationships/image" Target="../media/image-25-17.png"/><Relationship Id="rId18" Type="http://schemas.openxmlformats.org/officeDocument/2006/relationships/image" Target="../media/image-25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image" Target="../media/image-26-7.png"/><Relationship Id="rId8" Type="http://schemas.openxmlformats.org/officeDocument/2006/relationships/image" Target="../media/image-26-8.png"/><Relationship Id="rId9" Type="http://schemas.openxmlformats.org/officeDocument/2006/relationships/image" Target="../media/image-26-9.png"/><Relationship Id="rId10" Type="http://schemas.openxmlformats.org/officeDocument/2006/relationships/image" Target="../media/image-26-10.png"/><Relationship Id="rId11" Type="http://schemas.openxmlformats.org/officeDocument/2006/relationships/image" Target="../media/image-26-11.png"/><Relationship Id="rId12" Type="http://schemas.openxmlformats.org/officeDocument/2006/relationships/image" Target="../media/image-26-12.png"/><Relationship Id="rId13" Type="http://schemas.openxmlformats.org/officeDocument/2006/relationships/image" Target="../media/image-26-13.png"/><Relationship Id="rId14" Type="http://schemas.openxmlformats.org/officeDocument/2006/relationships/image" Target="../media/image-26-14.png"/><Relationship Id="rId15" Type="http://schemas.openxmlformats.org/officeDocument/2006/relationships/image" Target="../media/image-26-15.png"/><Relationship Id="rId16" Type="http://schemas.openxmlformats.org/officeDocument/2006/relationships/image" Target="../media/image-26-16.png"/><Relationship Id="rId17" Type="http://schemas.openxmlformats.org/officeDocument/2006/relationships/image" Target="../media/image-26-17.png"/><Relationship Id="rId18" Type="http://schemas.openxmlformats.org/officeDocument/2006/relationships/image" Target="../media/image-26-18.png"/><Relationship Id="rId19" Type="http://schemas.openxmlformats.org/officeDocument/2006/relationships/image" Target="../media/image-26-19.png"/><Relationship Id="rId20" Type="http://schemas.openxmlformats.org/officeDocument/2006/relationships/image" Target="../media/image-26-20.png"/><Relationship Id="rId21" Type="http://schemas.openxmlformats.org/officeDocument/2006/relationships/image" Target="../media/image-26-21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image" Target="../media/image-27-7.png"/><Relationship Id="rId8" Type="http://schemas.openxmlformats.org/officeDocument/2006/relationships/image" Target="../media/image-27-8.png"/><Relationship Id="rId9" Type="http://schemas.openxmlformats.org/officeDocument/2006/relationships/image" Target="../media/image-27-9.png"/><Relationship Id="rId10" Type="http://schemas.openxmlformats.org/officeDocument/2006/relationships/image" Target="../media/image-27-10.png"/><Relationship Id="rId11" Type="http://schemas.openxmlformats.org/officeDocument/2006/relationships/image" Target="../media/image-27-11.png"/><Relationship Id="rId12" Type="http://schemas.openxmlformats.org/officeDocument/2006/relationships/image" Target="../media/image-27-12.png"/><Relationship Id="rId13" Type="http://schemas.openxmlformats.org/officeDocument/2006/relationships/image" Target="../media/image-27-13.png"/><Relationship Id="rId14" Type="http://schemas.openxmlformats.org/officeDocument/2006/relationships/image" Target="../media/image-27-14.png"/><Relationship Id="rId15" Type="http://schemas.openxmlformats.org/officeDocument/2006/relationships/image" Target="../media/image-27-15.png"/><Relationship Id="rId16" Type="http://schemas.openxmlformats.org/officeDocument/2006/relationships/image" Target="../media/image-27-16.png"/><Relationship Id="rId17" Type="http://schemas.openxmlformats.org/officeDocument/2006/relationships/image" Target="../media/image-27-17.png"/><Relationship Id="rId18" Type="http://schemas.openxmlformats.org/officeDocument/2006/relationships/image" Target="../media/image-27-18.png"/><Relationship Id="rId19" Type="http://schemas.openxmlformats.org/officeDocument/2006/relationships/image" Target="../media/image-27-19.png"/><Relationship Id="rId20" Type="http://schemas.openxmlformats.org/officeDocument/2006/relationships/image" Target="../media/image-27-20.png"/><Relationship Id="rId21" Type="http://schemas.openxmlformats.org/officeDocument/2006/relationships/image" Target="../media/image-27-21.png"/><Relationship Id="rId22" Type="http://schemas.openxmlformats.org/officeDocument/2006/relationships/image" Target="../media/image-27-22.png"/><Relationship Id="rId23" Type="http://schemas.openxmlformats.org/officeDocument/2006/relationships/image" Target="../media/image-27-23.png"/><Relationship Id="rId24" Type="http://schemas.openxmlformats.org/officeDocument/2006/relationships/image" Target="../media/image-27-24.png"/><Relationship Id="rId25" Type="http://schemas.openxmlformats.org/officeDocument/2006/relationships/image" Target="../media/image-27-25.png"/><Relationship Id="rId26" Type="http://schemas.openxmlformats.org/officeDocument/2006/relationships/image" Target="../media/image-27-26.png"/><Relationship Id="rId27" Type="http://schemas.openxmlformats.org/officeDocument/2006/relationships/image" Target="../media/image-27-27.png"/><Relationship Id="rId28" Type="http://schemas.openxmlformats.org/officeDocument/2006/relationships/image" Target="../media/image-27-28.png"/><Relationship Id="rId29" Type="http://schemas.openxmlformats.org/officeDocument/2006/relationships/image" Target="../media/image-27-29.png"/><Relationship Id="rId30" Type="http://schemas.openxmlformats.org/officeDocument/2006/relationships/image" Target="../media/image-27-30.png"/><Relationship Id="rId31" Type="http://schemas.openxmlformats.org/officeDocument/2006/relationships/slideLayout" Target="../slideLayouts/slideLayout1.xml"/><Relationship Id="rId3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image" Target="../media/image-28-7.png"/><Relationship Id="rId8" Type="http://schemas.openxmlformats.org/officeDocument/2006/relationships/image" Target="../media/image-28-8.png"/><Relationship Id="rId9" Type="http://schemas.openxmlformats.org/officeDocument/2006/relationships/image" Target="../media/image-28-9.png"/><Relationship Id="rId10" Type="http://schemas.openxmlformats.org/officeDocument/2006/relationships/image" Target="../media/image-28-10.png"/><Relationship Id="rId11" Type="http://schemas.openxmlformats.org/officeDocument/2006/relationships/image" Target="../media/image-28-11.png"/><Relationship Id="rId12" Type="http://schemas.openxmlformats.org/officeDocument/2006/relationships/image" Target="../media/image-28-12.png"/><Relationship Id="rId13" Type="http://schemas.openxmlformats.org/officeDocument/2006/relationships/image" Target="../media/image-28-13.png"/><Relationship Id="rId14" Type="http://schemas.openxmlformats.org/officeDocument/2006/relationships/image" Target="../media/image-28-14.png"/><Relationship Id="rId15" Type="http://schemas.openxmlformats.org/officeDocument/2006/relationships/image" Target="../media/image-28-15.png"/><Relationship Id="rId16" Type="http://schemas.openxmlformats.org/officeDocument/2006/relationships/image" Target="../media/image-28-16.png"/><Relationship Id="rId17" Type="http://schemas.openxmlformats.org/officeDocument/2006/relationships/image" Target="../media/image-28-17.png"/><Relationship Id="rId18" Type="http://schemas.openxmlformats.org/officeDocument/2006/relationships/image" Target="../media/image-28-18.png"/><Relationship Id="rId19" Type="http://schemas.openxmlformats.org/officeDocument/2006/relationships/image" Target="../media/image-28-19.png"/><Relationship Id="rId20" Type="http://schemas.openxmlformats.org/officeDocument/2006/relationships/image" Target="../media/image-28-20.png"/><Relationship Id="rId21" Type="http://schemas.openxmlformats.org/officeDocument/2006/relationships/image" Target="../media/image-28-21.png"/><Relationship Id="rId22" Type="http://schemas.openxmlformats.org/officeDocument/2006/relationships/image" Target="../media/image-28-22.pn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image" Target="../media/image-29-5.png"/><Relationship Id="rId6" Type="http://schemas.openxmlformats.org/officeDocument/2006/relationships/image" Target="../media/image-29-6.png"/><Relationship Id="rId7" Type="http://schemas.openxmlformats.org/officeDocument/2006/relationships/image" Target="../media/image-29-7.png"/><Relationship Id="rId8" Type="http://schemas.openxmlformats.org/officeDocument/2006/relationships/image" Target="../media/image-29-8.png"/><Relationship Id="rId9" Type="http://schemas.openxmlformats.org/officeDocument/2006/relationships/image" Target="../media/image-29-9.png"/><Relationship Id="rId10" Type="http://schemas.openxmlformats.org/officeDocument/2006/relationships/image" Target="../media/image-29-10.png"/><Relationship Id="rId11" Type="http://schemas.openxmlformats.org/officeDocument/2006/relationships/image" Target="../media/image-29-11.png"/><Relationship Id="rId12" Type="http://schemas.openxmlformats.org/officeDocument/2006/relationships/image" Target="../media/image-29-12.png"/><Relationship Id="rId13" Type="http://schemas.openxmlformats.org/officeDocument/2006/relationships/image" Target="../media/image-29-13.png"/><Relationship Id="rId14" Type="http://schemas.openxmlformats.org/officeDocument/2006/relationships/image" Target="../media/image-29-14.png"/><Relationship Id="rId15" Type="http://schemas.openxmlformats.org/officeDocument/2006/relationships/image" Target="../media/image-29-15.png"/><Relationship Id="rId16" Type="http://schemas.openxmlformats.org/officeDocument/2006/relationships/image" Target="../media/image-29-16.png"/><Relationship Id="rId17" Type="http://schemas.openxmlformats.org/officeDocument/2006/relationships/image" Target="../media/image-29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image" Target="../media/image-30-5.png"/><Relationship Id="rId6" Type="http://schemas.openxmlformats.org/officeDocument/2006/relationships/image" Target="../media/image-30-6.png"/><Relationship Id="rId7" Type="http://schemas.openxmlformats.org/officeDocument/2006/relationships/image" Target="../media/image-30-7.png"/><Relationship Id="rId8" Type="http://schemas.openxmlformats.org/officeDocument/2006/relationships/image" Target="../media/image-30-8.png"/><Relationship Id="rId9" Type="http://schemas.openxmlformats.org/officeDocument/2006/relationships/image" Target="../media/image-30-9.png"/><Relationship Id="rId10" Type="http://schemas.openxmlformats.org/officeDocument/2006/relationships/image" Target="../media/image-30-10.png"/><Relationship Id="rId11" Type="http://schemas.openxmlformats.org/officeDocument/2006/relationships/image" Target="../media/image-30-11.png"/><Relationship Id="rId12" Type="http://schemas.openxmlformats.org/officeDocument/2006/relationships/image" Target="../media/image-30-12.png"/><Relationship Id="rId13" Type="http://schemas.openxmlformats.org/officeDocument/2006/relationships/image" Target="../media/image-30-13.png"/><Relationship Id="rId14" Type="http://schemas.openxmlformats.org/officeDocument/2006/relationships/image" Target="../media/image-30-14.png"/><Relationship Id="rId15" Type="http://schemas.openxmlformats.org/officeDocument/2006/relationships/image" Target="../media/image-30-15.png"/><Relationship Id="rId16" Type="http://schemas.openxmlformats.org/officeDocument/2006/relationships/image" Target="../media/image-30-16.png"/><Relationship Id="rId17" Type="http://schemas.openxmlformats.org/officeDocument/2006/relationships/image" Target="../media/image-30-17.png"/><Relationship Id="rId18" Type="http://schemas.openxmlformats.org/officeDocument/2006/relationships/image" Target="../media/image-30-18.png"/><Relationship Id="rId19" Type="http://schemas.openxmlformats.org/officeDocument/2006/relationships/image" Target="../media/image-30-19.png"/><Relationship Id="rId20" Type="http://schemas.openxmlformats.org/officeDocument/2006/relationships/image" Target="../media/image-30-20.png"/><Relationship Id="rId21" Type="http://schemas.openxmlformats.org/officeDocument/2006/relationships/image" Target="../media/image-30-21.png"/><Relationship Id="rId22" Type="http://schemas.openxmlformats.org/officeDocument/2006/relationships/image" Target="../media/image-30-22.png"/><Relationship Id="rId23" Type="http://schemas.openxmlformats.org/officeDocument/2006/relationships/image" Target="../media/image-30-23.png"/><Relationship Id="rId24" Type="http://schemas.openxmlformats.org/officeDocument/2006/relationships/image" Target="../media/image-30-24.png"/><Relationship Id="rId25" Type="http://schemas.openxmlformats.org/officeDocument/2006/relationships/image" Target="../media/image-30-25.png"/><Relationship Id="rId26" Type="http://schemas.openxmlformats.org/officeDocument/2006/relationships/image" Target="../media/image-30-26.png"/><Relationship Id="rId27" Type="http://schemas.openxmlformats.org/officeDocument/2006/relationships/image" Target="../media/image-30-27.png"/><Relationship Id="rId28" Type="http://schemas.openxmlformats.org/officeDocument/2006/relationships/image" Target="../media/image-30-28.png"/><Relationship Id="rId29" Type="http://schemas.openxmlformats.org/officeDocument/2006/relationships/slideLayout" Target="../slideLayouts/slideLayout1.xml"/><Relationship Id="rId30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image" Target="../media/image-31-5.png"/><Relationship Id="rId6" Type="http://schemas.openxmlformats.org/officeDocument/2006/relationships/image" Target="../media/image-31-6.png"/><Relationship Id="rId7" Type="http://schemas.openxmlformats.org/officeDocument/2006/relationships/image" Target="../media/image-31-7.png"/><Relationship Id="rId8" Type="http://schemas.openxmlformats.org/officeDocument/2006/relationships/image" Target="../media/image-31-8.png"/><Relationship Id="rId9" Type="http://schemas.openxmlformats.org/officeDocument/2006/relationships/image" Target="../media/image-31-9.png"/><Relationship Id="rId10" Type="http://schemas.openxmlformats.org/officeDocument/2006/relationships/image" Target="../media/image-31-10.png"/><Relationship Id="rId11" Type="http://schemas.openxmlformats.org/officeDocument/2006/relationships/image" Target="../media/image-31-11.png"/><Relationship Id="rId12" Type="http://schemas.openxmlformats.org/officeDocument/2006/relationships/image" Target="../media/image-31-12.png"/><Relationship Id="rId13" Type="http://schemas.openxmlformats.org/officeDocument/2006/relationships/image" Target="../media/image-31-13.png"/><Relationship Id="rId14" Type="http://schemas.openxmlformats.org/officeDocument/2006/relationships/image" Target="../media/image-31-14.png"/><Relationship Id="rId15" Type="http://schemas.openxmlformats.org/officeDocument/2006/relationships/image" Target="../media/image-31-15.png"/><Relationship Id="rId16" Type="http://schemas.openxmlformats.org/officeDocument/2006/relationships/image" Target="../media/image-31-16.png"/><Relationship Id="rId17" Type="http://schemas.openxmlformats.org/officeDocument/2006/relationships/image" Target="../media/image-31-17.png"/><Relationship Id="rId18" Type="http://schemas.openxmlformats.org/officeDocument/2006/relationships/image" Target="../media/image-31-18.png"/><Relationship Id="rId19" Type="http://schemas.openxmlformats.org/officeDocument/2006/relationships/image" Target="../media/image-31-19.png"/><Relationship Id="rId20" Type="http://schemas.openxmlformats.org/officeDocument/2006/relationships/image" Target="../media/image-31-20.png"/><Relationship Id="rId21" Type="http://schemas.openxmlformats.org/officeDocument/2006/relationships/image" Target="../media/image-31-21.png"/><Relationship Id="rId22" Type="http://schemas.openxmlformats.org/officeDocument/2006/relationships/image" Target="../media/image-31-22.png"/><Relationship Id="rId23" Type="http://schemas.openxmlformats.org/officeDocument/2006/relationships/image" Target="../media/image-31-23.png"/><Relationship Id="rId24" Type="http://schemas.openxmlformats.org/officeDocument/2006/relationships/image" Target="../media/image-31-24.png"/><Relationship Id="rId25" Type="http://schemas.openxmlformats.org/officeDocument/2006/relationships/image" Target="../media/image-31-25.png"/><Relationship Id="rId26" Type="http://schemas.openxmlformats.org/officeDocument/2006/relationships/image" Target="../media/image-31-26.png"/><Relationship Id="rId27" Type="http://schemas.openxmlformats.org/officeDocument/2006/relationships/image" Target="../media/image-31-27.png"/><Relationship Id="rId28" Type="http://schemas.openxmlformats.org/officeDocument/2006/relationships/image" Target="../media/image-31-28.png"/><Relationship Id="rId29" Type="http://schemas.openxmlformats.org/officeDocument/2006/relationships/image" Target="../media/image-31-29.png"/><Relationship Id="rId30" Type="http://schemas.openxmlformats.org/officeDocument/2006/relationships/slideLayout" Target="../slideLayouts/slideLayout1.xml"/><Relationship Id="rId31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image" Target="../media/image-32-5.png"/><Relationship Id="rId6" Type="http://schemas.openxmlformats.org/officeDocument/2006/relationships/image" Target="../media/image-32-6.png"/><Relationship Id="rId7" Type="http://schemas.openxmlformats.org/officeDocument/2006/relationships/image" Target="../media/image-32-7.png"/><Relationship Id="rId8" Type="http://schemas.openxmlformats.org/officeDocument/2006/relationships/image" Target="../media/image-32-8.png"/><Relationship Id="rId9" Type="http://schemas.openxmlformats.org/officeDocument/2006/relationships/image" Target="../media/image-32-9.png"/><Relationship Id="rId10" Type="http://schemas.openxmlformats.org/officeDocument/2006/relationships/image" Target="../media/image-32-10.png"/><Relationship Id="rId11" Type="http://schemas.openxmlformats.org/officeDocument/2006/relationships/image" Target="../media/image-32-11.png"/><Relationship Id="rId12" Type="http://schemas.openxmlformats.org/officeDocument/2006/relationships/image" Target="../media/image-32-12.png"/><Relationship Id="rId13" Type="http://schemas.openxmlformats.org/officeDocument/2006/relationships/image" Target="../media/image-32-13.png"/><Relationship Id="rId14" Type="http://schemas.openxmlformats.org/officeDocument/2006/relationships/image" Target="../media/image-32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image" Target="../media/image-33-5.png"/><Relationship Id="rId6" Type="http://schemas.openxmlformats.org/officeDocument/2006/relationships/image" Target="../media/image-33-6.png"/><Relationship Id="rId7" Type="http://schemas.openxmlformats.org/officeDocument/2006/relationships/image" Target="../media/image-33-7.png"/><Relationship Id="rId8" Type="http://schemas.openxmlformats.org/officeDocument/2006/relationships/image" Target="../media/image-33-8.png"/><Relationship Id="rId9" Type="http://schemas.openxmlformats.org/officeDocument/2006/relationships/image" Target="../media/image-33-9.png"/><Relationship Id="rId10" Type="http://schemas.openxmlformats.org/officeDocument/2006/relationships/image" Target="../media/image-33-10.png"/><Relationship Id="rId11" Type="http://schemas.openxmlformats.org/officeDocument/2006/relationships/image" Target="../media/image-33-11.png"/><Relationship Id="rId12" Type="http://schemas.openxmlformats.org/officeDocument/2006/relationships/image" Target="../media/image-33-12.png"/><Relationship Id="rId13" Type="http://schemas.openxmlformats.org/officeDocument/2006/relationships/image" Target="../media/image-33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image" Target="../media/image-34-4.png"/><Relationship Id="rId5" Type="http://schemas.openxmlformats.org/officeDocument/2006/relationships/image" Target="../media/image-34-5.png"/><Relationship Id="rId6" Type="http://schemas.openxmlformats.org/officeDocument/2006/relationships/image" Target="../media/image-34-6.png"/><Relationship Id="rId7" Type="http://schemas.openxmlformats.org/officeDocument/2006/relationships/image" Target="../media/image-34-7.png"/><Relationship Id="rId8" Type="http://schemas.openxmlformats.org/officeDocument/2006/relationships/image" Target="../media/image-34-8.png"/><Relationship Id="rId9" Type="http://schemas.openxmlformats.org/officeDocument/2006/relationships/image" Target="../media/image-34-9.png"/><Relationship Id="rId10" Type="http://schemas.openxmlformats.org/officeDocument/2006/relationships/image" Target="../media/image-34-10.png"/><Relationship Id="rId11" Type="http://schemas.openxmlformats.org/officeDocument/2006/relationships/image" Target="../media/image-34-11.png"/><Relationship Id="rId12" Type="http://schemas.openxmlformats.org/officeDocument/2006/relationships/image" Target="../media/image-34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image" Target="../media/image-35-4.png"/><Relationship Id="rId5" Type="http://schemas.openxmlformats.org/officeDocument/2006/relationships/image" Target="../media/image-35-5.png"/><Relationship Id="rId6" Type="http://schemas.openxmlformats.org/officeDocument/2006/relationships/image" Target="../media/image-35-6.png"/><Relationship Id="rId7" Type="http://schemas.openxmlformats.org/officeDocument/2006/relationships/image" Target="../media/image-35-7.png"/><Relationship Id="rId8" Type="http://schemas.openxmlformats.org/officeDocument/2006/relationships/image" Target="../media/image-35-8.png"/><Relationship Id="rId9" Type="http://schemas.openxmlformats.org/officeDocument/2006/relationships/image" Target="../media/image-35-9.png"/><Relationship Id="rId10" Type="http://schemas.openxmlformats.org/officeDocument/2006/relationships/image" Target="../media/image-35-10.png"/><Relationship Id="rId11" Type="http://schemas.openxmlformats.org/officeDocument/2006/relationships/image" Target="../media/image-35-11.png"/><Relationship Id="rId12" Type="http://schemas.openxmlformats.org/officeDocument/2006/relationships/image" Target="../media/image-35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571500"/>
            <a:ext cx="10668000" cy="1582936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535436"/>
            <a:ext cx="10668000" cy="2303264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5905500"/>
            <a:ext cx="10668000" cy="38100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1047750" y="571500"/>
            <a:ext cx="10382250" cy="10971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4320"/>
              </a:lnSpc>
              <a:buNone/>
            </a:pPr>
            <a:r>
              <a:rPr lang="en-US" sz="3600" b="1" spc="-58" kern="0" dirty="0">
                <a:solidFill>
                  <a:srgbClr val="212529"/>
                </a:solidFill>
              </a:rPr>
              <a:t>From Prompt to Workflow: VS Code + Cline + On-premise LLM을 활용한 일상 업무 자동화</a:t>
            </a:r>
            <a:endParaRPr lang="en-US" sz="3600" dirty="0"/>
          </a:p>
        </p:txBody>
      </p:sp>
      <p:sp>
        <p:nvSpPr>
          <p:cNvPr id="8" name="Text 1"/>
          <p:cNvSpPr/>
          <p:nvPr/>
        </p:nvSpPr>
        <p:spPr>
          <a:xfrm>
            <a:off x="1047750" y="1811536"/>
            <a:ext cx="11144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6C757D"/>
                </a:solidFill>
              </a:rPr>
              <a:t>VS Code 확장 Cline을 활용한 개인화 Agentic Workflow 구축과 일상 업무 자동화</a:t>
            </a:r>
            <a:endParaRPr lang="en-US" sz="1800" dirty="0"/>
          </a:p>
        </p:txBody>
      </p:sp>
      <p:sp>
        <p:nvSpPr>
          <p:cNvPr id="9" name="Text 2"/>
          <p:cNvSpPr/>
          <p:nvPr/>
        </p:nvSpPr>
        <p:spPr>
          <a:xfrm>
            <a:off x="762000" y="5314950"/>
            <a:ext cx="9810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42" kern="0" dirty="0">
                <a:solidFill>
                  <a:srgbClr val="C00000"/>
                </a:solidFill>
              </a:rPr>
              <a:t>DATE</a:t>
            </a:r>
            <a:endParaRPr lang="en-US" sz="1050" dirty="0"/>
          </a:p>
        </p:txBody>
      </p:sp>
      <p:sp>
        <p:nvSpPr>
          <p:cNvPr id="10" name="Text 3"/>
          <p:cNvSpPr/>
          <p:nvPr/>
        </p:nvSpPr>
        <p:spPr>
          <a:xfrm>
            <a:off x="762000" y="5553075"/>
            <a:ext cx="356616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212529"/>
                </a:solidFill>
              </a:rPr>
              <a:t>2026. 04. 28</a:t>
            </a:r>
            <a:endParaRPr lang="en-US" sz="1350" dirty="0"/>
          </a:p>
        </p:txBody>
      </p:sp>
      <p:sp>
        <p:nvSpPr>
          <p:cNvPr id="11" name="Text 4"/>
          <p:cNvSpPr/>
          <p:nvPr/>
        </p:nvSpPr>
        <p:spPr>
          <a:xfrm>
            <a:off x="2124075" y="5314950"/>
            <a:ext cx="2362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42" kern="0" dirty="0">
                <a:solidFill>
                  <a:srgbClr val="C00000"/>
                </a:solidFill>
              </a:rPr>
              <a:t>DURATION</a:t>
            </a:r>
            <a:endParaRPr lang="en-US" sz="1050" dirty="0"/>
          </a:p>
        </p:txBody>
      </p:sp>
      <p:sp>
        <p:nvSpPr>
          <p:cNvPr id="12" name="Text 5"/>
          <p:cNvSpPr/>
          <p:nvPr/>
        </p:nvSpPr>
        <p:spPr>
          <a:xfrm>
            <a:off x="2124075" y="5553075"/>
            <a:ext cx="603504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212529"/>
                </a:solidFill>
              </a:rPr>
              <a:t>90 Minutes Technical Session</a:t>
            </a:r>
            <a:endParaRPr lang="en-US" sz="1350" dirty="0"/>
          </a:p>
        </p:txBody>
      </p:sp>
      <p:sp>
        <p:nvSpPr>
          <p:cNvPr id="13" name="Text 6"/>
          <p:cNvSpPr/>
          <p:nvPr/>
        </p:nvSpPr>
        <p:spPr>
          <a:xfrm>
            <a:off x="4867275" y="5314950"/>
            <a:ext cx="24003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42" kern="0" dirty="0">
                <a:solidFill>
                  <a:srgbClr val="C00000"/>
                </a:solidFill>
              </a:rPr>
              <a:t>CATEGORY</a:t>
            </a:r>
            <a:endParaRPr lang="en-US" sz="1050" dirty="0"/>
          </a:p>
        </p:txBody>
      </p:sp>
      <p:sp>
        <p:nvSpPr>
          <p:cNvPr id="14" name="Text 7"/>
          <p:cNvSpPr/>
          <p:nvPr/>
        </p:nvSpPr>
        <p:spPr>
          <a:xfrm>
            <a:off x="4867275" y="5553075"/>
            <a:ext cx="576072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212529"/>
                </a:solidFill>
              </a:rPr>
              <a:t>Agentic Workflow Engineering</a:t>
            </a:r>
            <a:endParaRPr lang="en-US" sz="1350" dirty="0"/>
          </a:p>
        </p:txBody>
      </p:sp>
      <p:sp>
        <p:nvSpPr>
          <p:cNvPr id="15" name="Text 8"/>
          <p:cNvSpPr/>
          <p:nvPr/>
        </p:nvSpPr>
        <p:spPr>
          <a:xfrm>
            <a:off x="876300" y="6029325"/>
            <a:ext cx="500253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1B5E20"/>
                </a:solidFill>
              </a:rPr>
              <a:t>* 본 세션은 실무 방법론 중심의 기술 가이드를 제공합니다.</a:t>
            </a:r>
            <a:endParaRPr lang="en-US" sz="9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94863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139130"/>
            <a:ext cx="5572125" cy="2544366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25" y="1561207"/>
            <a:ext cx="285750" cy="2286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3873996"/>
            <a:ext cx="5572125" cy="2603004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" y="4184898"/>
            <a:ext cx="285750" cy="2286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38875" y="1139130"/>
            <a:ext cx="5572125" cy="2619375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0" y="1450032"/>
            <a:ext cx="285750" cy="2286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58905" y="2453580"/>
            <a:ext cx="571500" cy="5715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01780" y="2625030"/>
            <a:ext cx="285750" cy="2286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15585" y="2907953"/>
            <a:ext cx="238125" cy="1905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738890" y="2453580"/>
            <a:ext cx="571500" cy="5715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881765" y="2625030"/>
            <a:ext cx="285750" cy="2286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795570" y="2907953"/>
            <a:ext cx="238125" cy="1905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518874" y="2453580"/>
            <a:ext cx="571500" cy="5715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661749" y="2625030"/>
            <a:ext cx="285750" cy="2286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238875" y="3949005"/>
            <a:ext cx="5572125" cy="2527995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77000" y="4362896"/>
            <a:ext cx="285750" cy="228600"/>
          </a:xfrm>
          <a:prstGeom prst="rect">
            <a:avLst/>
          </a:prstGeom>
        </p:spPr>
      </p:pic>
      <p:sp>
        <p:nvSpPr>
          <p:cNvPr id="21" name="Text 0"/>
          <p:cNvSpPr/>
          <p:nvPr/>
        </p:nvSpPr>
        <p:spPr>
          <a:xfrm>
            <a:off x="381000" y="285750"/>
            <a:ext cx="114300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212529"/>
                </a:solidFill>
              </a:rPr>
              <a:t>AI 성능의 역설: 강력한 모델일수록 하네스가 필요한 이유</a:t>
            </a:r>
            <a:endParaRPr lang="en-US" sz="2100" dirty="0"/>
          </a:p>
        </p:txBody>
      </p:sp>
      <p:sp>
        <p:nvSpPr>
          <p:cNvPr id="22" name="Text 1"/>
          <p:cNvSpPr/>
          <p:nvPr/>
        </p:nvSpPr>
        <p:spPr>
          <a:xfrm>
            <a:off x="381000" y="653355"/>
            <a:ext cx="114300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대통령과 데미스 허사비스의 대화를 통해 AI의 놀라운 성능 이면에 존재하는 통제 가능성과 지시 구체성의 중요성을 논의합니다.</a:t>
            </a:r>
            <a:endParaRPr lang="en-US" sz="1050" dirty="0"/>
          </a:p>
        </p:txBody>
      </p:sp>
      <p:sp>
        <p:nvSpPr>
          <p:cNvPr id="23" name="Text 2"/>
          <p:cNvSpPr/>
          <p:nvPr/>
        </p:nvSpPr>
        <p:spPr>
          <a:xfrm>
            <a:off x="619125" y="1974205"/>
            <a:ext cx="50958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12529"/>
                </a:solidFill>
              </a:rPr>
              <a:t>YouTube Shorts 대화의 시사점</a:t>
            </a:r>
            <a:endParaRPr lang="en-US" sz="1500" dirty="0"/>
          </a:p>
        </p:txBody>
      </p:sp>
      <p:sp>
        <p:nvSpPr>
          <p:cNvPr id="24" name="Text 3"/>
          <p:cNvSpPr/>
          <p:nvPr/>
        </p:nvSpPr>
        <p:spPr>
          <a:xfrm>
            <a:off x="809625" y="2374255"/>
            <a:ext cx="7745908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212529"/>
                </a:solidFill>
              </a:rPr>
              <a:t>대통령과 Demis Hassabis(Google DeepMind CEO)의 대화</a:t>
            </a:r>
            <a:endParaRPr lang="en-US" sz="1200" dirty="0"/>
          </a:p>
        </p:txBody>
      </p:sp>
      <p:sp>
        <p:nvSpPr>
          <p:cNvPr id="25" name="Text 4"/>
          <p:cNvSpPr/>
          <p:nvPr/>
        </p:nvSpPr>
        <p:spPr>
          <a:xfrm>
            <a:off x="809625" y="2694236"/>
            <a:ext cx="6689648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212529"/>
                </a:solidFill>
              </a:rPr>
              <a:t>AI의 비약적 성능(AlphaGo, Gemini) 이면의 통제력 문제</a:t>
            </a:r>
            <a:endParaRPr lang="en-US" sz="1200" dirty="0"/>
          </a:p>
        </p:txBody>
      </p:sp>
      <p:sp>
        <p:nvSpPr>
          <p:cNvPr id="26" name="Text 5"/>
          <p:cNvSpPr/>
          <p:nvPr/>
        </p:nvSpPr>
        <p:spPr>
          <a:xfrm>
            <a:off x="809625" y="3014216"/>
            <a:ext cx="4929214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212529"/>
                </a:solidFill>
              </a:rPr>
              <a:t>지시하지 않은 행동을 하는 모델에 대한 철학적 질문</a:t>
            </a:r>
            <a:endParaRPr lang="en-US" sz="1200" dirty="0"/>
          </a:p>
        </p:txBody>
      </p:sp>
      <p:sp>
        <p:nvSpPr>
          <p:cNvPr id="27" name="Text 6"/>
          <p:cNvSpPr/>
          <p:nvPr/>
        </p:nvSpPr>
        <p:spPr>
          <a:xfrm>
            <a:off x="619125" y="4597896"/>
            <a:ext cx="50958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12529"/>
                </a:solidFill>
              </a:rPr>
              <a:t>핵심 질문: 에이전트의 표류(Drift)</a:t>
            </a:r>
            <a:endParaRPr lang="en-US" sz="1500" dirty="0"/>
          </a:p>
        </p:txBody>
      </p:sp>
      <p:sp>
        <p:nvSpPr>
          <p:cNvPr id="28" name="Text 7"/>
          <p:cNvSpPr/>
          <p:nvPr/>
        </p:nvSpPr>
        <p:spPr>
          <a:xfrm>
            <a:off x="809625" y="4997946"/>
            <a:ext cx="6689648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212529"/>
                </a:solidFill>
              </a:rPr>
              <a:t>"지시(Instruction)가 구체적이지 않을 때 어디로 가는가?"</a:t>
            </a:r>
            <a:endParaRPr lang="en-US" sz="1200" dirty="0"/>
          </a:p>
        </p:txBody>
      </p:sp>
      <p:sp>
        <p:nvSpPr>
          <p:cNvPr id="29" name="Text 8"/>
          <p:cNvSpPr/>
          <p:nvPr/>
        </p:nvSpPr>
        <p:spPr>
          <a:xfrm>
            <a:off x="809625" y="5317927"/>
            <a:ext cx="5457344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212529"/>
                </a:solidFill>
              </a:rPr>
              <a:t>"감사(Audit) 시스템이 없을 때 결과의 신뢰성은?"</a:t>
            </a:r>
            <a:endParaRPr lang="en-US" sz="1200" dirty="0"/>
          </a:p>
        </p:txBody>
      </p:sp>
      <p:sp>
        <p:nvSpPr>
          <p:cNvPr id="30" name="Text 9"/>
          <p:cNvSpPr/>
          <p:nvPr/>
        </p:nvSpPr>
        <p:spPr>
          <a:xfrm>
            <a:off x="809625" y="5637907"/>
            <a:ext cx="5105258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212529"/>
                </a:solidFill>
              </a:rPr>
              <a:t>성능이 높을수록 예기치 못한 경로로 이탈할 확률 증가</a:t>
            </a:r>
            <a:endParaRPr lang="en-US" sz="1200" dirty="0"/>
          </a:p>
        </p:txBody>
      </p:sp>
      <p:sp>
        <p:nvSpPr>
          <p:cNvPr id="31" name="Text 10"/>
          <p:cNvSpPr/>
          <p:nvPr/>
        </p:nvSpPr>
        <p:spPr>
          <a:xfrm>
            <a:off x="619125" y="6053138"/>
            <a:ext cx="812292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i="1" dirty="0">
                <a:solidFill>
                  <a:srgbClr val="1B5E20"/>
                </a:solidFill>
              </a:rPr>
              <a:t>* Drift: AI 에이전트가 의도된 목표에서 벗어나 비효율적이거나 위험한 작업을 수행하는 현상</a:t>
            </a:r>
            <a:endParaRPr lang="en-US" sz="975" dirty="0"/>
          </a:p>
        </p:txBody>
      </p:sp>
      <p:sp>
        <p:nvSpPr>
          <p:cNvPr id="32" name="Text 11"/>
          <p:cNvSpPr/>
          <p:nvPr/>
        </p:nvSpPr>
        <p:spPr>
          <a:xfrm>
            <a:off x="6477000" y="1863030"/>
            <a:ext cx="54864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12529"/>
                </a:solidFill>
              </a:rPr>
              <a:t>Harness Engineering의 필요성</a:t>
            </a:r>
            <a:endParaRPr lang="en-US" sz="1500" dirty="0"/>
          </a:p>
        </p:txBody>
      </p:sp>
      <p:sp>
        <p:nvSpPr>
          <p:cNvPr id="33" name="Text 12"/>
          <p:cNvSpPr/>
          <p:nvPr/>
        </p:nvSpPr>
        <p:spPr>
          <a:xfrm>
            <a:off x="6835080" y="3120330"/>
            <a:ext cx="8191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212529"/>
                </a:solidFill>
              </a:rPr>
              <a:t>강력한 AI 모델</a:t>
            </a:r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212529"/>
                </a:solidFill>
              </a:rPr>
              <a:t>
</a:t>
            </a:r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212529"/>
                </a:solidFill>
              </a:rPr>
              <a:t>(Raw Power)</a:t>
            </a:r>
            <a:endParaRPr lang="en-US" sz="1050" dirty="0"/>
          </a:p>
        </p:txBody>
      </p:sp>
      <p:sp>
        <p:nvSpPr>
          <p:cNvPr id="34" name="Text 13"/>
          <p:cNvSpPr/>
          <p:nvPr/>
        </p:nvSpPr>
        <p:spPr>
          <a:xfrm>
            <a:off x="8429327" y="3120330"/>
            <a:ext cx="11906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212529"/>
                </a:solidFill>
              </a:rPr>
              <a:t>정교한 하네스</a:t>
            </a:r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212529"/>
                </a:solidFill>
              </a:rPr>
              <a:t>
</a:t>
            </a:r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212529"/>
                </a:solidFill>
              </a:rPr>
              <a:t>(Control Harness)</a:t>
            </a:r>
            <a:endParaRPr lang="en-US" sz="1050" dirty="0"/>
          </a:p>
        </p:txBody>
      </p:sp>
      <p:sp>
        <p:nvSpPr>
          <p:cNvPr id="35" name="Text 14"/>
          <p:cNvSpPr/>
          <p:nvPr/>
        </p:nvSpPr>
        <p:spPr>
          <a:xfrm>
            <a:off x="10209312" y="3120330"/>
            <a:ext cx="11906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212529"/>
                </a:solidFill>
              </a:rPr>
              <a:t>신뢰 가능한</a:t>
            </a:r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212529"/>
                </a:solidFill>
              </a:rPr>
              <a:t>
</a:t>
            </a:r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212529"/>
                </a:solidFill>
              </a:rPr>
              <a:t>Agentic Workflow</a:t>
            </a:r>
            <a:endParaRPr lang="en-US" sz="1050" dirty="0"/>
          </a:p>
        </p:txBody>
      </p:sp>
      <p:sp>
        <p:nvSpPr>
          <p:cNvPr id="36" name="Text 15"/>
          <p:cNvSpPr/>
          <p:nvPr/>
        </p:nvSpPr>
        <p:spPr>
          <a:xfrm>
            <a:off x="6477000" y="4775895"/>
            <a:ext cx="50958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12529"/>
                </a:solidFill>
              </a:rPr>
              <a:t>결론: 통제 가능한 AI 시스템</a:t>
            </a:r>
            <a:endParaRPr lang="en-US" sz="1500" dirty="0"/>
          </a:p>
        </p:txBody>
      </p:sp>
      <p:sp>
        <p:nvSpPr>
          <p:cNvPr id="37" name="Text 16"/>
          <p:cNvSpPr/>
          <p:nvPr/>
        </p:nvSpPr>
        <p:spPr>
          <a:xfrm>
            <a:off x="6667500" y="5175945"/>
            <a:ext cx="5524500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212529"/>
                </a:solidFill>
              </a:rPr>
              <a:t>강력한 모델일수록 이를 담는 '그릇(Harness)'이 중요함</a:t>
            </a:r>
            <a:endParaRPr lang="en-US" sz="1200" dirty="0"/>
          </a:p>
        </p:txBody>
      </p:sp>
      <p:sp>
        <p:nvSpPr>
          <p:cNvPr id="38" name="Text 17"/>
          <p:cNvSpPr/>
          <p:nvPr/>
        </p:nvSpPr>
        <p:spPr>
          <a:xfrm>
            <a:off x="6667500" y="5495925"/>
            <a:ext cx="5524500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212529"/>
                </a:solidFill>
              </a:rPr>
              <a:t>Harness는 AI의 활동 경계를 설정하고 출처를 추적함</a:t>
            </a:r>
            <a:endParaRPr lang="en-US" sz="1200" dirty="0"/>
          </a:p>
        </p:txBody>
      </p:sp>
      <p:sp>
        <p:nvSpPr>
          <p:cNvPr id="39" name="Text 18"/>
          <p:cNvSpPr/>
          <p:nvPr/>
        </p:nvSpPr>
        <p:spPr>
          <a:xfrm>
            <a:off x="6667500" y="5815905"/>
            <a:ext cx="4905375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212529"/>
                </a:solidFill>
              </a:rPr>
              <a:t>단순 채팅을 넘어 실행 가능한 시스템으로의 전환점</a:t>
            </a:r>
            <a:endParaRPr lang="en-US" sz="1200" dirty="0"/>
          </a:p>
        </p:txBody>
      </p:sp>
      <p:sp>
        <p:nvSpPr>
          <p:cNvPr id="40" name="Text 19"/>
          <p:cNvSpPr/>
          <p:nvPr/>
        </p:nvSpPr>
        <p:spPr>
          <a:xfrm>
            <a:off x="7067550" y="6496050"/>
            <a:ext cx="5124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C757D"/>
                </a:solidFill>
              </a:rPr>
              <a:t>Source: YouTube Shorts Dialogue (President &amp; Demis Hassabis) / Analysis on Agentic Drift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228600"/>
            <a:ext cx="11811000" cy="77718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120080"/>
            <a:ext cx="5286375" cy="2659112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" y="1399133"/>
            <a:ext cx="214313" cy="17532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3969693"/>
            <a:ext cx="5286375" cy="2388245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125" y="4248745"/>
            <a:ext cx="214313" cy="17532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53125" y="1120080"/>
            <a:ext cx="5857875" cy="5237857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38875" y="1721048"/>
            <a:ext cx="5286375" cy="614363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45141" y="2564011"/>
            <a:ext cx="273844" cy="224879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38875" y="3017490"/>
            <a:ext cx="5286375" cy="614363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45141" y="3860453"/>
            <a:ext cx="273844" cy="224879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38875" y="4313932"/>
            <a:ext cx="5286375" cy="728663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24812" y="4492079"/>
            <a:ext cx="238125" cy="190500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762000" y="400050"/>
            <a:ext cx="110490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212529"/>
                </a:solidFill>
              </a:rPr>
              <a:t>에이전트의 표류: 구체적인 지시와 감사의 부재</a:t>
            </a:r>
            <a:endParaRPr lang="en-US" sz="2100" dirty="0"/>
          </a:p>
        </p:txBody>
      </p:sp>
      <p:sp>
        <p:nvSpPr>
          <p:cNvPr id="16" name="Text 1"/>
          <p:cNvSpPr/>
          <p:nvPr/>
        </p:nvSpPr>
        <p:spPr>
          <a:xfrm>
            <a:off x="762000" y="748605"/>
            <a:ext cx="110490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지시와 감사가 충분히 구체적이지 않을 때 AI 에이전트가 목표에서 벗어나 표류하게 되는 현상과 그 위험성을 진단합니다.</a:t>
            </a:r>
            <a:endParaRPr lang="en-US" sz="1050" dirty="0"/>
          </a:p>
        </p:txBody>
      </p:sp>
      <p:sp>
        <p:nvSpPr>
          <p:cNvPr id="17" name="Text 2"/>
          <p:cNvSpPr/>
          <p:nvPr/>
        </p:nvSpPr>
        <p:spPr>
          <a:xfrm>
            <a:off x="928688" y="1358205"/>
            <a:ext cx="48101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C00000"/>
                </a:solidFill>
              </a:rPr>
              <a:t>Agentic Drift의 주요 원인</a:t>
            </a:r>
            <a:endParaRPr lang="en-US" sz="1350" dirty="0"/>
          </a:p>
        </p:txBody>
      </p:sp>
      <p:sp>
        <p:nvSpPr>
          <p:cNvPr id="18" name="Text 3"/>
          <p:cNvSpPr/>
          <p:nvPr/>
        </p:nvSpPr>
        <p:spPr>
          <a:xfrm>
            <a:off x="809625" y="1786830"/>
            <a:ext cx="54864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212529"/>
                </a:solidFill>
              </a:rPr>
              <a:t>지시의 불확실성 (Lack of Specificity)</a:t>
            </a:r>
            <a:endParaRPr lang="en-US" sz="1200" dirty="0"/>
          </a:p>
        </p:txBody>
      </p:sp>
      <p:sp>
        <p:nvSpPr>
          <p:cNvPr id="19" name="Text 4"/>
          <p:cNvSpPr/>
          <p:nvPr/>
        </p:nvSpPr>
        <p:spPr>
          <a:xfrm>
            <a:off x="809625" y="2040136"/>
            <a:ext cx="4754880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b="1" dirty="0">
                <a:solidFill>
                  <a:srgbClr val="1B5E20"/>
                </a:solidFill>
              </a:rPr>
              <a:t>맥락 없는 프롬프트는 에이전트의 판단 범위를 과도하게 넓힘</a:t>
            </a:r>
            <a:endParaRPr lang="en-US" sz="975" dirty="0"/>
          </a:p>
        </p:txBody>
      </p:sp>
      <p:sp>
        <p:nvSpPr>
          <p:cNvPr id="20" name="Text 5"/>
          <p:cNvSpPr/>
          <p:nvPr/>
        </p:nvSpPr>
        <p:spPr>
          <a:xfrm>
            <a:off x="809625" y="2381101"/>
            <a:ext cx="475488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212529"/>
                </a:solidFill>
              </a:rPr>
              <a:t>감사 메커니즘 부재 (Lack of Audit)</a:t>
            </a:r>
            <a:endParaRPr lang="en-US" sz="1200" dirty="0"/>
          </a:p>
        </p:txBody>
      </p:sp>
      <p:sp>
        <p:nvSpPr>
          <p:cNvPr id="21" name="Text 6"/>
          <p:cNvSpPr/>
          <p:nvPr/>
        </p:nvSpPr>
        <p:spPr>
          <a:xfrm>
            <a:off x="809625" y="2634407"/>
            <a:ext cx="4754880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b="1" dirty="0">
                <a:solidFill>
                  <a:srgbClr val="1B5E20"/>
                </a:solidFill>
              </a:rPr>
              <a:t>실행 단계별 검증 절차가 없으면 오류가 누적되어 목표 이탈</a:t>
            </a:r>
            <a:endParaRPr lang="en-US" sz="975" dirty="0"/>
          </a:p>
        </p:txBody>
      </p:sp>
      <p:sp>
        <p:nvSpPr>
          <p:cNvPr id="22" name="Text 7"/>
          <p:cNvSpPr/>
          <p:nvPr/>
        </p:nvSpPr>
        <p:spPr>
          <a:xfrm>
            <a:off x="809625" y="2975372"/>
            <a:ext cx="475488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212529"/>
                </a:solidFill>
              </a:rPr>
              <a:t>자율성의 역설 (Autonomy Paradox)</a:t>
            </a:r>
            <a:endParaRPr lang="en-US" sz="1200" dirty="0"/>
          </a:p>
        </p:txBody>
      </p:sp>
      <p:sp>
        <p:nvSpPr>
          <p:cNvPr id="23" name="Text 8"/>
          <p:cNvSpPr/>
          <p:nvPr/>
        </p:nvSpPr>
        <p:spPr>
          <a:xfrm>
            <a:off x="809625" y="3228677"/>
            <a:ext cx="5795010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b="1" dirty="0">
                <a:solidFill>
                  <a:srgbClr val="1B5E20"/>
                </a:solidFill>
              </a:rPr>
              <a:t>높은 자율성은 정교한 제어 시스템(Harness) 없이는 무질서로 귀결</a:t>
            </a:r>
            <a:endParaRPr lang="en-US" sz="975" dirty="0"/>
          </a:p>
        </p:txBody>
      </p:sp>
      <p:sp>
        <p:nvSpPr>
          <p:cNvPr id="24" name="Text 9"/>
          <p:cNvSpPr/>
          <p:nvPr/>
        </p:nvSpPr>
        <p:spPr>
          <a:xfrm>
            <a:off x="928688" y="4207818"/>
            <a:ext cx="48101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C00000"/>
                </a:solidFill>
              </a:rPr>
              <a:t>표류(Drift)의 치명적 결과</a:t>
            </a:r>
            <a:endParaRPr lang="en-US" sz="1350" dirty="0"/>
          </a:p>
        </p:txBody>
      </p:sp>
      <p:sp>
        <p:nvSpPr>
          <p:cNvPr id="25" name="Text 10"/>
          <p:cNvSpPr/>
          <p:nvPr/>
        </p:nvSpPr>
        <p:spPr>
          <a:xfrm>
            <a:off x="809625" y="4607868"/>
            <a:ext cx="5269117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212529"/>
                </a:solidFill>
              </a:rPr>
              <a:t>의도하지 않은 도구(Tool)의 오남용 및 데이터 오염</a:t>
            </a:r>
            <a:endParaRPr lang="en-US" sz="1200" dirty="0"/>
          </a:p>
        </p:txBody>
      </p:sp>
      <p:sp>
        <p:nvSpPr>
          <p:cNvPr id="26" name="Text 11"/>
          <p:cNvSpPr/>
          <p:nvPr/>
        </p:nvSpPr>
        <p:spPr>
          <a:xfrm>
            <a:off x="809625" y="4965948"/>
            <a:ext cx="6674215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212529"/>
                </a:solidFill>
              </a:rPr>
              <a:t>보안 경계(Security Boundary) 침범 및 권한 탈취 위험</a:t>
            </a:r>
            <a:endParaRPr lang="en-US" sz="1200" dirty="0"/>
          </a:p>
        </p:txBody>
      </p:sp>
      <p:sp>
        <p:nvSpPr>
          <p:cNvPr id="27" name="Text 12"/>
          <p:cNvSpPr/>
          <p:nvPr/>
        </p:nvSpPr>
        <p:spPr>
          <a:xfrm>
            <a:off x="809625" y="5324029"/>
            <a:ext cx="4619625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212529"/>
                </a:solidFill>
              </a:rPr>
              <a:t>결과물의 재현 가능성 상실 및 기술적 부채 증가</a:t>
            </a:r>
            <a:endParaRPr lang="en-US" sz="1200" dirty="0"/>
          </a:p>
        </p:txBody>
      </p:sp>
      <p:sp>
        <p:nvSpPr>
          <p:cNvPr id="28" name="Text 13"/>
          <p:cNvSpPr/>
          <p:nvPr/>
        </p:nvSpPr>
        <p:spPr>
          <a:xfrm>
            <a:off x="6381750" y="1806773"/>
            <a:ext cx="50006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12529"/>
                </a:solidFill>
              </a:rPr>
              <a:t>Vague Instruction</a:t>
            </a:r>
            <a:endParaRPr lang="en-US" sz="1350" dirty="0"/>
          </a:p>
        </p:txBody>
      </p:sp>
      <p:sp>
        <p:nvSpPr>
          <p:cNvPr id="29" name="Text 14"/>
          <p:cNvSpPr/>
          <p:nvPr/>
        </p:nvSpPr>
        <p:spPr>
          <a:xfrm>
            <a:off x="6381750" y="2063948"/>
            <a:ext cx="5000625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6C757D"/>
                </a:solidFill>
              </a:rPr>
              <a:t>"내 업무를 좀 도와줘" (추상적 명령)</a:t>
            </a:r>
            <a:endParaRPr lang="en-US" sz="975" dirty="0"/>
          </a:p>
        </p:txBody>
      </p:sp>
      <p:sp>
        <p:nvSpPr>
          <p:cNvPr id="30" name="Text 15"/>
          <p:cNvSpPr/>
          <p:nvPr/>
        </p:nvSpPr>
        <p:spPr>
          <a:xfrm>
            <a:off x="6381750" y="3103215"/>
            <a:ext cx="50006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12529"/>
                </a:solidFill>
              </a:rPr>
              <a:t>Execution without Audit</a:t>
            </a:r>
            <a:endParaRPr lang="en-US" sz="1350" dirty="0"/>
          </a:p>
        </p:txBody>
      </p:sp>
      <p:sp>
        <p:nvSpPr>
          <p:cNvPr id="31" name="Text 16"/>
          <p:cNvSpPr/>
          <p:nvPr/>
        </p:nvSpPr>
        <p:spPr>
          <a:xfrm>
            <a:off x="6381750" y="3360390"/>
            <a:ext cx="5000625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6C757D"/>
                </a:solidFill>
              </a:rPr>
              <a:t>검토 없이 파일 수정 및 메일 발송 수행</a:t>
            </a:r>
            <a:endParaRPr lang="en-US" sz="975" dirty="0"/>
          </a:p>
        </p:txBody>
      </p:sp>
      <p:sp>
        <p:nvSpPr>
          <p:cNvPr id="32" name="Text 17"/>
          <p:cNvSpPr/>
          <p:nvPr/>
        </p:nvSpPr>
        <p:spPr>
          <a:xfrm>
            <a:off x="8262938" y="4428232"/>
            <a:ext cx="30718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C00000"/>
                </a:solidFill>
              </a:rPr>
              <a:t> AGENTIC DRIFT</a:t>
            </a:r>
            <a:endParaRPr lang="en-US" sz="1500" dirty="0"/>
          </a:p>
        </p:txBody>
      </p:sp>
      <p:sp>
        <p:nvSpPr>
          <p:cNvPr id="33" name="Text 18"/>
          <p:cNvSpPr/>
          <p:nvPr/>
        </p:nvSpPr>
        <p:spPr>
          <a:xfrm>
            <a:off x="6429375" y="4742557"/>
            <a:ext cx="4905375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12529"/>
                </a:solidFill>
              </a:rPr>
              <a:t>목표 경로에서 이탈: 예상치 못한 비용 발생 및 보안 리스크 노출</a:t>
            </a:r>
            <a:endParaRPr lang="en-US" sz="975" dirty="0"/>
          </a:p>
        </p:txBody>
      </p:sp>
      <p:sp>
        <p:nvSpPr>
          <p:cNvPr id="34" name="Text 19"/>
          <p:cNvSpPr/>
          <p:nvPr/>
        </p:nvSpPr>
        <p:spPr>
          <a:xfrm>
            <a:off x="7158038" y="5328345"/>
            <a:ext cx="34480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212529"/>
                </a:solidFill>
              </a:rPr>
              <a:t>"에이전트는 어디로 표류하는가?"</a:t>
            </a:r>
            <a:endParaRPr lang="en-US" sz="1125" dirty="0"/>
          </a:p>
        </p:txBody>
      </p:sp>
      <p:sp>
        <p:nvSpPr>
          <p:cNvPr id="35" name="Text 20"/>
          <p:cNvSpPr/>
          <p:nvPr/>
        </p:nvSpPr>
        <p:spPr>
          <a:xfrm>
            <a:off x="7158038" y="5571232"/>
            <a:ext cx="34480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1B5E20"/>
                </a:solidFill>
              </a:rPr>
              <a:t>* Specific Instruction과 Audit Trail이 부재한 경우의 필연적 결과</a:t>
            </a:r>
            <a:endParaRPr lang="en-US" sz="975" dirty="0"/>
          </a:p>
        </p:txBody>
      </p:sp>
      <p:sp>
        <p:nvSpPr>
          <p:cNvPr id="36" name="Text 21"/>
          <p:cNvSpPr/>
          <p:nvPr/>
        </p:nvSpPr>
        <p:spPr>
          <a:xfrm>
            <a:off x="0" y="6586538"/>
            <a:ext cx="11430000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C757D"/>
                </a:solidFill>
              </a:rPr>
              <a:t>Source: AI Agent Safety &amp; Control Case Studies (2025) | Harness Engineering Framework</a:t>
            </a:r>
            <a:endParaRPr lang="en-US" sz="8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86290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015305"/>
            <a:ext cx="5857875" cy="553789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31194" y="1513284"/>
            <a:ext cx="166688" cy="13722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750" y="1722090"/>
            <a:ext cx="5286375" cy="38100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750" y="5627340"/>
            <a:ext cx="5286375" cy="561975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9625" y="5760095"/>
            <a:ext cx="154781" cy="12576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24625" y="1015305"/>
            <a:ext cx="5286375" cy="2692747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53225" y="1196280"/>
            <a:ext cx="381000" cy="3810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36569" y="1299121"/>
            <a:ext cx="214313" cy="17532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24625" y="3860453"/>
            <a:ext cx="5286375" cy="2692747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53225" y="4041428"/>
            <a:ext cx="381000" cy="3810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36569" y="4144268"/>
            <a:ext cx="214313" cy="175320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381000" y="228600"/>
            <a:ext cx="118110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212529"/>
                </a:solidFill>
              </a:rPr>
              <a:t>Claude Code 사례 연구: Harness Engineering의 가치</a:t>
            </a:r>
            <a:endParaRPr lang="en-US" sz="2100" dirty="0"/>
          </a:p>
        </p:txBody>
      </p:sp>
      <p:sp>
        <p:nvSpPr>
          <p:cNvPr id="17" name="Text 1"/>
          <p:cNvSpPr/>
          <p:nvPr/>
        </p:nvSpPr>
        <p:spPr>
          <a:xfrm>
            <a:off x="381000" y="586680"/>
            <a:ext cx="114300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코드베이스 분석을 통해 본 AI 에이전트 시스템의 실체와 시스템 설계의 중요성</a:t>
            </a:r>
            <a:endParaRPr lang="en-US" sz="1050" dirty="0"/>
          </a:p>
        </p:txBody>
      </p:sp>
      <p:sp>
        <p:nvSpPr>
          <p:cNvPr id="18" name="Text 2"/>
          <p:cNvSpPr/>
          <p:nvPr/>
        </p:nvSpPr>
        <p:spPr>
          <a:xfrm>
            <a:off x="2097881" y="1474440"/>
            <a:ext cx="38552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212529"/>
                </a:solidFill>
              </a:rPr>
              <a:t> Iceberg Metaphor: AI Agent Codebase</a:t>
            </a:r>
            <a:endParaRPr lang="en-US" sz="1050" dirty="0"/>
          </a:p>
        </p:txBody>
      </p:sp>
      <p:sp>
        <p:nvSpPr>
          <p:cNvPr id="19" name="Text 3"/>
          <p:cNvSpPr/>
          <p:nvPr/>
        </p:nvSpPr>
        <p:spPr>
          <a:xfrm>
            <a:off x="964406" y="5627340"/>
            <a:ext cx="50006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1B5E20"/>
                </a:solidFill>
              </a:rPr>
              <a:t> 본 수치는 Claude Code 사례 분석 결과이며, 모든 에이전트에 적용되는 보편적 법칙은 아님에 유의하십시오.</a:t>
            </a:r>
            <a:endParaRPr lang="en-US" sz="975" dirty="0"/>
          </a:p>
        </p:txBody>
      </p:sp>
      <p:sp>
        <p:nvSpPr>
          <p:cNvPr id="20" name="Text 4"/>
          <p:cNvSpPr/>
          <p:nvPr/>
        </p:nvSpPr>
        <p:spPr>
          <a:xfrm>
            <a:off x="7248525" y="1258193"/>
            <a:ext cx="49434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12529"/>
                </a:solidFill>
              </a:rPr>
              <a:t>98.4% Deterministic Infrastructure</a:t>
            </a:r>
            <a:endParaRPr lang="en-US" sz="1350" dirty="0"/>
          </a:p>
        </p:txBody>
      </p:sp>
      <p:sp>
        <p:nvSpPr>
          <p:cNvPr id="21" name="Text 5"/>
          <p:cNvSpPr/>
          <p:nvPr/>
        </p:nvSpPr>
        <p:spPr>
          <a:xfrm>
            <a:off x="6896100" y="1701105"/>
            <a:ext cx="52959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95057"/>
                </a:solidFill>
              </a:rPr>
              <a:t>Harness Engineering:</a:t>
            </a:r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95057"/>
                </a:solidFill>
              </a:rPr>
              <a:t>모델을 통제하는 시스템적 틀</a:t>
            </a:r>
            <a:endParaRPr lang="en-US" sz="1125" dirty="0"/>
          </a:p>
        </p:txBody>
      </p:sp>
      <p:sp>
        <p:nvSpPr>
          <p:cNvPr id="22" name="Text 6"/>
          <p:cNvSpPr/>
          <p:nvPr/>
        </p:nvSpPr>
        <p:spPr>
          <a:xfrm>
            <a:off x="6896100" y="1991618"/>
            <a:ext cx="52959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95057"/>
                </a:solidFill>
              </a:rPr>
              <a:t>권한 관리(Permission Gates) 및 보안 거버넌스</a:t>
            </a:r>
            <a:endParaRPr lang="en-US" sz="1125" dirty="0"/>
          </a:p>
        </p:txBody>
      </p:sp>
      <p:sp>
        <p:nvSpPr>
          <p:cNvPr id="23" name="Text 7"/>
          <p:cNvSpPr/>
          <p:nvPr/>
        </p:nvSpPr>
        <p:spPr>
          <a:xfrm>
            <a:off x="6896100" y="2282130"/>
            <a:ext cx="52959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95057"/>
                </a:solidFill>
              </a:rPr>
              <a:t>컨텍스트 관리 및 도구 라우팅(Tool Routing) 로직</a:t>
            </a:r>
            <a:endParaRPr lang="en-US" sz="1125" dirty="0"/>
          </a:p>
        </p:txBody>
      </p:sp>
      <p:sp>
        <p:nvSpPr>
          <p:cNvPr id="24" name="Text 8"/>
          <p:cNvSpPr/>
          <p:nvPr/>
        </p:nvSpPr>
        <p:spPr>
          <a:xfrm>
            <a:off x="6896100" y="2572643"/>
            <a:ext cx="482917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95057"/>
                </a:solidFill>
              </a:rPr>
              <a:t>오류 처리, 재시도 메커니즘 및 로깅 시스템</a:t>
            </a:r>
            <a:endParaRPr lang="en-US" sz="1125" dirty="0"/>
          </a:p>
        </p:txBody>
      </p:sp>
      <p:sp>
        <p:nvSpPr>
          <p:cNvPr id="25" name="Text 9"/>
          <p:cNvSpPr/>
          <p:nvPr/>
        </p:nvSpPr>
        <p:spPr>
          <a:xfrm>
            <a:off x="7248525" y="4103340"/>
            <a:ext cx="48006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12529"/>
                </a:solidFill>
              </a:rPr>
              <a:t>1.6% AI Decision Logic</a:t>
            </a:r>
            <a:endParaRPr lang="en-US" sz="1350" dirty="0"/>
          </a:p>
        </p:txBody>
      </p:sp>
      <p:sp>
        <p:nvSpPr>
          <p:cNvPr id="26" name="Text 10"/>
          <p:cNvSpPr/>
          <p:nvPr/>
        </p:nvSpPr>
        <p:spPr>
          <a:xfrm>
            <a:off x="6896100" y="4546253"/>
            <a:ext cx="482917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95057"/>
                </a:solidFill>
              </a:rPr>
              <a:t>실제 LLM 모델 호출 및 추론 프로세스</a:t>
            </a:r>
            <a:endParaRPr lang="en-US" sz="1125" dirty="0"/>
          </a:p>
        </p:txBody>
      </p:sp>
      <p:sp>
        <p:nvSpPr>
          <p:cNvPr id="27" name="Text 11"/>
          <p:cNvSpPr/>
          <p:nvPr/>
        </p:nvSpPr>
        <p:spPr>
          <a:xfrm>
            <a:off x="6896100" y="4836765"/>
            <a:ext cx="482917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95057"/>
                </a:solidFill>
              </a:rPr>
              <a:t>고수준의 의사 결정 및 전략 수립 영역</a:t>
            </a:r>
            <a:endParaRPr lang="en-US" sz="1125" dirty="0"/>
          </a:p>
        </p:txBody>
      </p:sp>
      <p:sp>
        <p:nvSpPr>
          <p:cNvPr id="28" name="Text 12"/>
          <p:cNvSpPr/>
          <p:nvPr/>
        </p:nvSpPr>
        <p:spPr>
          <a:xfrm>
            <a:off x="6896100" y="5127278"/>
            <a:ext cx="52959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95057"/>
                </a:solidFill>
              </a:rPr>
              <a:t>시사점:</a:t>
            </a:r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95057"/>
                </a:solidFill>
              </a:rPr>
              <a:t>에이전트의 성공은 모델 자체보다 이를 둘러싼 하네스의 정교함에 달려 있음</a:t>
            </a:r>
            <a:endParaRPr lang="en-US" sz="1125" dirty="0"/>
          </a:p>
        </p:txBody>
      </p:sp>
      <p:sp>
        <p:nvSpPr>
          <p:cNvPr id="29" name="Text 13"/>
          <p:cNvSpPr/>
          <p:nvPr/>
        </p:nvSpPr>
        <p:spPr>
          <a:xfrm>
            <a:off x="9448800" y="6510338"/>
            <a:ext cx="27432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C757D"/>
                </a:solidFill>
              </a:rPr>
              <a:t>Source: Claude Code Case Study Analysis (2024)</a:t>
            </a:r>
            <a:endParaRPr lang="en-US" sz="8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94863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139130"/>
            <a:ext cx="11430000" cy="2003822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5400" y="1424880"/>
            <a:ext cx="571500" cy="5715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38275" y="1596330"/>
            <a:ext cx="285750" cy="2286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90800" y="2062014"/>
            <a:ext cx="238125" cy="1905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52825" y="1424880"/>
            <a:ext cx="571500" cy="5715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95700" y="1596330"/>
            <a:ext cx="285750" cy="2286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48225" y="2062014"/>
            <a:ext cx="238125" cy="1905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10250" y="1424880"/>
            <a:ext cx="571500" cy="5715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53125" y="1596330"/>
            <a:ext cx="285750" cy="2286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105650" y="2062014"/>
            <a:ext cx="238125" cy="1905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67675" y="1424880"/>
            <a:ext cx="571500" cy="5715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210550" y="1596330"/>
            <a:ext cx="285750" cy="2286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363075" y="2062014"/>
            <a:ext cx="238125" cy="1905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325100" y="1424880"/>
            <a:ext cx="571500" cy="5715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467975" y="1596330"/>
            <a:ext cx="285750" cy="2286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81000" y="3428702"/>
            <a:ext cx="7334250" cy="2369641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19125" y="3763417"/>
            <a:ext cx="214313" cy="17532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19125" y="4406354"/>
            <a:ext cx="214313" cy="17532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19125" y="5049292"/>
            <a:ext cx="214313" cy="175320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905750" y="3428702"/>
            <a:ext cx="3905250" cy="2369641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143875" y="3666827"/>
            <a:ext cx="914400" cy="247650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143875" y="4057352"/>
            <a:ext cx="3429000" cy="609600"/>
          </a:xfrm>
          <a:prstGeom prst="rect">
            <a:avLst/>
          </a:prstGeom>
        </p:spPr>
      </p:pic>
      <p:pic>
        <p:nvPicPr>
          <p:cNvPr id="27" name="Image 25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143875" y="4809827"/>
            <a:ext cx="166688" cy="133350"/>
          </a:xfrm>
          <a:prstGeom prst="rect">
            <a:avLst/>
          </a:prstGeom>
        </p:spPr>
      </p:pic>
      <p:pic>
        <p:nvPicPr>
          <p:cNvPr id="28" name="Image 26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143875" y="5091708"/>
            <a:ext cx="166688" cy="133350"/>
          </a:xfrm>
          <a:prstGeom prst="rect">
            <a:avLst/>
          </a:prstGeom>
        </p:spPr>
      </p:pic>
      <p:pic>
        <p:nvPicPr>
          <p:cNvPr id="29" name="Image 27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143875" y="5373588"/>
            <a:ext cx="166688" cy="133350"/>
          </a:xfrm>
          <a:prstGeom prst="rect">
            <a:avLst/>
          </a:prstGeom>
        </p:spPr>
      </p:pic>
      <p:sp>
        <p:nvSpPr>
          <p:cNvPr id="30" name="Text 0"/>
          <p:cNvSpPr/>
          <p:nvPr/>
        </p:nvSpPr>
        <p:spPr>
          <a:xfrm>
            <a:off x="381000" y="285750"/>
            <a:ext cx="114300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212529"/>
                </a:solidFill>
              </a:rPr>
              <a:t>Erdős 1196 발견 사례: 협업을 통한 난제 해결</a:t>
            </a:r>
            <a:endParaRPr lang="en-US" sz="2100" dirty="0"/>
          </a:p>
        </p:txBody>
      </p:sp>
      <p:sp>
        <p:nvSpPr>
          <p:cNvPr id="31" name="Text 1"/>
          <p:cNvSpPr/>
          <p:nvPr/>
        </p:nvSpPr>
        <p:spPr>
          <a:xfrm>
            <a:off x="381000" y="653355"/>
            <a:ext cx="118110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GPT-5.4 Pro가 인간의 프롬프트, 탐색, 검증, 공식화 과정을 거쳐 60년 된 수학 난제를 해결한 협업 프로세스를 분석합니다.</a:t>
            </a:r>
            <a:endParaRPr lang="en-US" sz="1050" dirty="0"/>
          </a:p>
        </p:txBody>
      </p:sp>
      <p:sp>
        <p:nvSpPr>
          <p:cNvPr id="32" name="Text 2"/>
          <p:cNvSpPr/>
          <p:nvPr/>
        </p:nvSpPr>
        <p:spPr>
          <a:xfrm>
            <a:off x="1271588" y="2139255"/>
            <a:ext cx="619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12529"/>
                </a:solidFill>
              </a:rPr>
              <a:t>Problem</a:t>
            </a:r>
            <a:endParaRPr lang="en-US" sz="1200" dirty="0"/>
          </a:p>
        </p:txBody>
      </p:sp>
      <p:sp>
        <p:nvSpPr>
          <p:cNvPr id="33" name="Text 3"/>
          <p:cNvSpPr/>
          <p:nvPr/>
        </p:nvSpPr>
        <p:spPr>
          <a:xfrm>
            <a:off x="1066800" y="2510730"/>
            <a:ext cx="1028700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C757D"/>
                </a:solidFill>
              </a:rPr>
              <a:t>60년 된 Erdős 난제</a:t>
            </a:r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C757D"/>
                </a:solidFill>
              </a:rPr>
              <a:t>
</a:t>
            </a:r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C757D"/>
                </a:solidFill>
              </a:rPr>
              <a:t>문제 정의 및 프롬프팅</a:t>
            </a:r>
            <a:endParaRPr lang="en-US" sz="975" dirty="0"/>
          </a:p>
        </p:txBody>
      </p:sp>
      <p:sp>
        <p:nvSpPr>
          <p:cNvPr id="34" name="Text 4"/>
          <p:cNvSpPr/>
          <p:nvPr/>
        </p:nvSpPr>
        <p:spPr>
          <a:xfrm>
            <a:off x="3324225" y="2139255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12529"/>
                </a:solidFill>
              </a:rPr>
              <a:t>AI Exploration</a:t>
            </a:r>
            <a:endParaRPr lang="en-US" sz="1200" dirty="0"/>
          </a:p>
        </p:txBody>
      </p:sp>
      <p:sp>
        <p:nvSpPr>
          <p:cNvPr id="35" name="Text 5"/>
          <p:cNvSpPr/>
          <p:nvPr/>
        </p:nvSpPr>
        <p:spPr>
          <a:xfrm>
            <a:off x="3357563" y="2510730"/>
            <a:ext cx="962025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C757D"/>
                </a:solidFill>
              </a:rPr>
              <a:t>GPT-5.4 Pro 기반</a:t>
            </a:r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C757D"/>
                </a:solidFill>
              </a:rPr>
              <a:t>
</a:t>
            </a:r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C757D"/>
                </a:solidFill>
              </a:rPr>
              <a:t>증명 전략 반복 탐색</a:t>
            </a:r>
            <a:endParaRPr lang="en-US" sz="975" dirty="0"/>
          </a:p>
        </p:txBody>
      </p:sp>
      <p:sp>
        <p:nvSpPr>
          <p:cNvPr id="36" name="Text 6"/>
          <p:cNvSpPr/>
          <p:nvPr/>
        </p:nvSpPr>
        <p:spPr>
          <a:xfrm>
            <a:off x="5562600" y="2139255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12529"/>
                </a:solidFill>
              </a:rPr>
              <a:t>Expert Review</a:t>
            </a:r>
            <a:endParaRPr lang="en-US" sz="1200" dirty="0"/>
          </a:p>
        </p:txBody>
      </p:sp>
      <p:sp>
        <p:nvSpPr>
          <p:cNvPr id="37" name="Text 7"/>
          <p:cNvSpPr/>
          <p:nvPr/>
        </p:nvSpPr>
        <p:spPr>
          <a:xfrm>
            <a:off x="5700713" y="2510730"/>
            <a:ext cx="790575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C757D"/>
                </a:solidFill>
              </a:rPr>
              <a:t>인간 전문가의</a:t>
            </a:r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C757D"/>
                </a:solidFill>
              </a:rPr>
              <a:t>
</a:t>
            </a:r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C757D"/>
                </a:solidFill>
              </a:rPr>
              <a:t>논리적 비약 검증</a:t>
            </a:r>
            <a:endParaRPr lang="en-US" sz="975" dirty="0"/>
          </a:p>
        </p:txBody>
      </p:sp>
      <p:sp>
        <p:nvSpPr>
          <p:cNvPr id="38" name="Text 8"/>
          <p:cNvSpPr/>
          <p:nvPr/>
        </p:nvSpPr>
        <p:spPr>
          <a:xfrm>
            <a:off x="7853362" y="2139255"/>
            <a:ext cx="1000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12529"/>
                </a:solidFill>
              </a:rPr>
              <a:t>Formalization</a:t>
            </a:r>
            <a:endParaRPr lang="en-US" sz="1200" dirty="0"/>
          </a:p>
        </p:txBody>
      </p:sp>
      <p:sp>
        <p:nvSpPr>
          <p:cNvPr id="39" name="Text 9"/>
          <p:cNvSpPr/>
          <p:nvPr/>
        </p:nvSpPr>
        <p:spPr>
          <a:xfrm>
            <a:off x="7905750" y="2510730"/>
            <a:ext cx="895350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C757D"/>
                </a:solidFill>
              </a:rPr>
              <a:t>수학적 공식화 및</a:t>
            </a:r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C757D"/>
                </a:solidFill>
              </a:rPr>
              <a:t>
</a:t>
            </a:r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C757D"/>
                </a:solidFill>
              </a:rPr>
              <a:t>증명 아티팩트 생성</a:t>
            </a:r>
            <a:endParaRPr lang="en-US" sz="975" dirty="0"/>
          </a:p>
        </p:txBody>
      </p:sp>
      <p:sp>
        <p:nvSpPr>
          <p:cNvPr id="40" name="Text 10"/>
          <p:cNvSpPr/>
          <p:nvPr/>
        </p:nvSpPr>
        <p:spPr>
          <a:xfrm>
            <a:off x="9958388" y="2139255"/>
            <a:ext cx="1304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12529"/>
                </a:solidFill>
              </a:rPr>
              <a:t>Reusable Method</a:t>
            </a:r>
            <a:endParaRPr lang="en-US" sz="1200" dirty="0"/>
          </a:p>
        </p:txBody>
      </p:sp>
      <p:sp>
        <p:nvSpPr>
          <p:cNvPr id="41" name="Text 11"/>
          <p:cNvSpPr/>
          <p:nvPr/>
        </p:nvSpPr>
        <p:spPr>
          <a:xfrm>
            <a:off x="10215563" y="2510730"/>
            <a:ext cx="790575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C757D"/>
                </a:solidFill>
              </a:rPr>
              <a:t>방법론 저장 및</a:t>
            </a:r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C757D"/>
                </a:solidFill>
              </a:rPr>
              <a:t>
</a:t>
            </a:r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C757D"/>
                </a:solidFill>
              </a:rPr>
              <a:t>타 문제로의 확장</a:t>
            </a:r>
            <a:endParaRPr lang="en-US" sz="975" dirty="0"/>
          </a:p>
        </p:txBody>
      </p:sp>
      <p:sp>
        <p:nvSpPr>
          <p:cNvPr id="42" name="Text 12"/>
          <p:cNvSpPr/>
          <p:nvPr/>
        </p:nvSpPr>
        <p:spPr>
          <a:xfrm>
            <a:off x="976312" y="3744367"/>
            <a:ext cx="389572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212529"/>
                </a:solidFill>
              </a:rPr>
              <a:t>압도적인 해결 속도</a:t>
            </a:r>
            <a:endParaRPr lang="en-US" sz="1125" dirty="0"/>
          </a:p>
        </p:txBody>
      </p:sp>
      <p:sp>
        <p:nvSpPr>
          <p:cNvPr id="43" name="Text 13"/>
          <p:cNvSpPr/>
          <p:nvPr/>
        </p:nvSpPr>
        <p:spPr>
          <a:xfrm>
            <a:off x="976312" y="3996779"/>
            <a:ext cx="38957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95057"/>
                </a:solidFill>
              </a:rPr>
              <a:t>약 80분 만에 전체 증명 아티팩트 생성 완료 </a:t>
            </a:r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B5E20"/>
                </a:solidFill>
              </a:rPr>
              <a:t>(인간 단독 수행 시 수개월 소요 예상)</a:t>
            </a:r>
            <a:endParaRPr lang="en-US" sz="1050" dirty="0"/>
          </a:p>
        </p:txBody>
      </p:sp>
      <p:sp>
        <p:nvSpPr>
          <p:cNvPr id="44" name="Text 14"/>
          <p:cNvSpPr/>
          <p:nvPr/>
        </p:nvSpPr>
        <p:spPr>
          <a:xfrm>
            <a:off x="976312" y="4387304"/>
            <a:ext cx="36004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212529"/>
                </a:solidFill>
              </a:rPr>
              <a:t>정확한 수학적 도달</a:t>
            </a:r>
            <a:endParaRPr lang="en-US" sz="1125" dirty="0"/>
          </a:p>
        </p:txBody>
      </p:sp>
      <p:sp>
        <p:nvSpPr>
          <p:cNvPr id="45" name="Text 15"/>
          <p:cNvSpPr/>
          <p:nvPr/>
        </p:nvSpPr>
        <p:spPr>
          <a:xfrm>
            <a:off x="976312" y="4639717"/>
            <a:ext cx="78943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95057"/>
                </a:solidFill>
              </a:rPr>
              <a:t>정확한 주항(Main Term) 1 + O(1/log x) 도달 및 수학적 엄밀성 확보</a:t>
            </a:r>
            <a:endParaRPr lang="en-US" sz="1050" dirty="0"/>
          </a:p>
        </p:txBody>
      </p:sp>
      <p:sp>
        <p:nvSpPr>
          <p:cNvPr id="46" name="Text 16"/>
          <p:cNvSpPr/>
          <p:nvPr/>
        </p:nvSpPr>
        <p:spPr>
          <a:xfrm>
            <a:off x="976312" y="5030242"/>
            <a:ext cx="49720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212529"/>
                </a:solidFill>
              </a:rPr>
              <a:t>협업의 정수 (Human-AI Loop)</a:t>
            </a:r>
            <a:endParaRPr lang="en-US" sz="1125" dirty="0"/>
          </a:p>
        </p:txBody>
      </p:sp>
      <p:sp>
        <p:nvSpPr>
          <p:cNvPr id="47" name="Text 17"/>
          <p:cNvSpPr/>
          <p:nvPr/>
        </p:nvSpPr>
        <p:spPr>
          <a:xfrm>
            <a:off x="976312" y="5282654"/>
            <a:ext cx="112156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95057"/>
                </a:solidFill>
              </a:rPr>
              <a:t>단순 자율 해결이 아닌 'Human Prompt + AI Exploration + Expert Verification'의 결합체</a:t>
            </a:r>
            <a:endParaRPr lang="en-US" sz="1050" dirty="0"/>
          </a:p>
        </p:txBody>
      </p:sp>
      <p:sp>
        <p:nvSpPr>
          <p:cNvPr id="48" name="Text 18"/>
          <p:cNvSpPr/>
          <p:nvPr/>
        </p:nvSpPr>
        <p:spPr>
          <a:xfrm>
            <a:off x="8239125" y="3666827"/>
            <a:ext cx="119443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KEY INSIGHT</a:t>
            </a:r>
            <a:endParaRPr lang="en-US" sz="900" dirty="0"/>
          </a:p>
        </p:txBody>
      </p:sp>
      <p:sp>
        <p:nvSpPr>
          <p:cNvPr id="49" name="Text 19"/>
          <p:cNvSpPr/>
          <p:nvPr/>
        </p:nvSpPr>
        <p:spPr>
          <a:xfrm>
            <a:off x="8143875" y="4057352"/>
            <a:ext cx="3429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FFFFF"/>
                </a:solidFill>
              </a:rPr>
              <a:t>강력한 AI일수록</a:t>
            </a:r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FFFFF"/>
                </a:solidFill>
              </a:rPr>
              <a:t>
</a:t>
            </a:r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FFFFF"/>
                </a:solidFill>
              </a:rPr>
              <a:t>필요한 것은 '통제'</a:t>
            </a:r>
            <a:endParaRPr lang="en-US" sz="1350" dirty="0"/>
          </a:p>
        </p:txBody>
      </p:sp>
      <p:sp>
        <p:nvSpPr>
          <p:cNvPr id="50" name="Text 20"/>
          <p:cNvSpPr/>
          <p:nvPr/>
        </p:nvSpPr>
        <p:spPr>
          <a:xfrm>
            <a:off x="8386763" y="4809827"/>
            <a:ext cx="380523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자율적 해결보다 중요한 것은 </a:t>
            </a:r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출처(Provenance)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 확인</a:t>
            </a:r>
            <a:endParaRPr lang="en-US" sz="1050" dirty="0"/>
          </a:p>
        </p:txBody>
      </p:sp>
      <p:sp>
        <p:nvSpPr>
          <p:cNvPr id="51" name="Text 21"/>
          <p:cNvSpPr/>
          <p:nvPr/>
        </p:nvSpPr>
        <p:spPr>
          <a:xfrm>
            <a:off x="8386763" y="5091708"/>
            <a:ext cx="380523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인간의 </a:t>
            </a:r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Audit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이 가능한 단계별 워크플로우 설계</a:t>
            </a:r>
            <a:endParaRPr lang="en-US" sz="1050" dirty="0"/>
          </a:p>
        </p:txBody>
      </p:sp>
      <p:sp>
        <p:nvSpPr>
          <p:cNvPr id="52" name="Text 22"/>
          <p:cNvSpPr/>
          <p:nvPr/>
        </p:nvSpPr>
        <p:spPr>
          <a:xfrm>
            <a:off x="8386763" y="5373588"/>
            <a:ext cx="380523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결과값의 </a:t>
            </a:r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Formalization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을 통한 재현성 확보</a:t>
            </a:r>
            <a:endParaRPr lang="en-US" sz="1050" dirty="0"/>
          </a:p>
        </p:txBody>
      </p:sp>
      <p:sp>
        <p:nvSpPr>
          <p:cNvPr id="53" name="Text 23"/>
          <p:cNvSpPr/>
          <p:nvPr/>
        </p:nvSpPr>
        <p:spPr>
          <a:xfrm>
            <a:off x="381000" y="6179344"/>
            <a:ext cx="114300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C757D"/>
                </a:solidFill>
              </a:rPr>
              <a:t>Source: AI-assisted discovery path case study (GPT-5.4 Pro analysis)</a:t>
            </a:r>
            <a:endParaRPr lang="en-US" sz="8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81000"/>
            <a:ext cx="11811000" cy="94863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520130"/>
            <a:ext cx="5619750" cy="220027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" y="1805880"/>
            <a:ext cx="5048250" cy="52387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750" y="1805880"/>
            <a:ext cx="381000" cy="3810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0094" y="1908721"/>
            <a:ext cx="214313" cy="17532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750" y="2520255"/>
            <a:ext cx="190500" cy="156865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6750" y="2863155"/>
            <a:ext cx="190500" cy="156865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6750" y="3206055"/>
            <a:ext cx="190500" cy="156865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91250" y="1520130"/>
            <a:ext cx="5619750" cy="2200275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77000" y="1805880"/>
            <a:ext cx="5048250" cy="523875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77000" y="1805880"/>
            <a:ext cx="381000" cy="3810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60344" y="1908721"/>
            <a:ext cx="214313" cy="17532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77000" y="2520255"/>
            <a:ext cx="190500" cy="156865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77000" y="2863155"/>
            <a:ext cx="190500" cy="156865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77000" y="3206055"/>
            <a:ext cx="190500" cy="156865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81000" y="4006155"/>
            <a:ext cx="3683050" cy="1730573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254550" y="4006155"/>
            <a:ext cx="3683050" cy="1730573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128099" y="4006155"/>
            <a:ext cx="3683050" cy="1730573"/>
          </a:xfrm>
          <a:prstGeom prst="rect">
            <a:avLst/>
          </a:prstGeom>
        </p:spPr>
      </p:pic>
      <p:sp>
        <p:nvSpPr>
          <p:cNvPr id="21" name="Text 0"/>
          <p:cNvSpPr/>
          <p:nvPr/>
        </p:nvSpPr>
        <p:spPr>
          <a:xfrm>
            <a:off x="762000" y="666750"/>
            <a:ext cx="110490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212529"/>
                </a:solidFill>
              </a:rPr>
              <a:t>오프닝 결론: 통제와 감사가 가능한 AI 시스템</a:t>
            </a:r>
            <a:endParaRPr lang="en-US" sz="2100" dirty="0"/>
          </a:p>
        </p:txBody>
      </p:sp>
      <p:sp>
        <p:nvSpPr>
          <p:cNvPr id="22" name="Text 1"/>
          <p:cNvSpPr/>
          <p:nvPr/>
        </p:nvSpPr>
        <p:spPr>
          <a:xfrm>
            <a:off x="762000" y="1034355"/>
            <a:ext cx="110490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강력한 AI일수록 인간의 검토와 출처 확인이 가능하도록 설계된 하네스 시스템이 필수적임을 정리합니다.</a:t>
            </a:r>
            <a:endParaRPr lang="en-US" sz="1050" dirty="0"/>
          </a:p>
        </p:txBody>
      </p:sp>
      <p:sp>
        <p:nvSpPr>
          <p:cNvPr id="23" name="Text 2"/>
          <p:cNvSpPr/>
          <p:nvPr/>
        </p:nvSpPr>
        <p:spPr>
          <a:xfrm>
            <a:off x="1190625" y="1853505"/>
            <a:ext cx="4572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12529"/>
                </a:solidFill>
              </a:rPr>
              <a:t>원시 모델 중심 (Raw Model)</a:t>
            </a:r>
            <a:endParaRPr lang="en-US" sz="1500" dirty="0"/>
          </a:p>
        </p:txBody>
      </p:sp>
      <p:sp>
        <p:nvSpPr>
          <p:cNvPr id="24" name="Text 3"/>
          <p:cNvSpPr/>
          <p:nvPr/>
        </p:nvSpPr>
        <p:spPr>
          <a:xfrm>
            <a:off x="952500" y="2520255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12529"/>
                </a:solidFill>
              </a:rPr>
              <a:t>모호한 지시로 인한 </a:t>
            </a:r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12529"/>
                </a:solidFill>
              </a:rPr>
              <a:t>목표 표류(Drift)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12529"/>
                </a:solidFill>
              </a:rPr>
              <a:t> 발생 가능성</a:t>
            </a:r>
            <a:endParaRPr lang="en-US" sz="1200" dirty="0"/>
          </a:p>
        </p:txBody>
      </p:sp>
      <p:sp>
        <p:nvSpPr>
          <p:cNvPr id="25" name="Text 4"/>
          <p:cNvSpPr/>
          <p:nvPr/>
        </p:nvSpPr>
        <p:spPr>
          <a:xfrm>
            <a:off x="952500" y="2863155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12529"/>
                </a:solidFill>
              </a:rPr>
              <a:t>블랙박스 형태의 의사결정으로 사후 감사 불가능</a:t>
            </a:r>
            <a:endParaRPr lang="en-US" sz="1200" dirty="0"/>
          </a:p>
        </p:txBody>
      </p:sp>
      <p:sp>
        <p:nvSpPr>
          <p:cNvPr id="26" name="Text 5"/>
          <p:cNvSpPr/>
          <p:nvPr/>
        </p:nvSpPr>
        <p:spPr>
          <a:xfrm>
            <a:off x="952500" y="3206055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12529"/>
                </a:solidFill>
              </a:rPr>
              <a:t>인간의 개입이 단절된 자율적 오류 확산 위험</a:t>
            </a:r>
            <a:endParaRPr lang="en-US" sz="1200" dirty="0"/>
          </a:p>
        </p:txBody>
      </p:sp>
      <p:sp>
        <p:nvSpPr>
          <p:cNvPr id="27" name="Text 6"/>
          <p:cNvSpPr/>
          <p:nvPr/>
        </p:nvSpPr>
        <p:spPr>
          <a:xfrm>
            <a:off x="7000875" y="1853505"/>
            <a:ext cx="4572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12529"/>
                </a:solidFill>
              </a:rPr>
              <a:t>하네스 시스템 중심 (Harness)</a:t>
            </a:r>
            <a:endParaRPr lang="en-US" sz="1500" dirty="0"/>
          </a:p>
        </p:txBody>
      </p:sp>
      <p:sp>
        <p:nvSpPr>
          <p:cNvPr id="28" name="Text 7"/>
          <p:cNvSpPr/>
          <p:nvPr/>
        </p:nvSpPr>
        <p:spPr>
          <a:xfrm>
            <a:off x="6762750" y="2520255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12529"/>
                </a:solidFill>
              </a:rPr>
              <a:t>구체적 실행 경계 설정을 통한 </a:t>
            </a:r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12529"/>
                </a:solidFill>
              </a:rPr>
              <a:t>통제 가능성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12529"/>
                </a:solidFill>
              </a:rPr>
              <a:t> 확보</a:t>
            </a:r>
            <a:endParaRPr lang="en-US" sz="1200" dirty="0"/>
          </a:p>
        </p:txBody>
      </p:sp>
      <p:sp>
        <p:nvSpPr>
          <p:cNvPr id="29" name="Text 8"/>
          <p:cNvSpPr/>
          <p:nvPr/>
        </p:nvSpPr>
        <p:spPr>
          <a:xfrm>
            <a:off x="6762750" y="2863155"/>
            <a:ext cx="5429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12529"/>
                </a:solidFill>
              </a:rPr>
              <a:t>작업 이력 및 출처(Provenance)의 투명한 기록</a:t>
            </a:r>
            <a:endParaRPr lang="en-US" sz="1200" dirty="0"/>
          </a:p>
        </p:txBody>
      </p:sp>
      <p:sp>
        <p:nvSpPr>
          <p:cNvPr id="30" name="Text 9"/>
          <p:cNvSpPr/>
          <p:nvPr/>
        </p:nvSpPr>
        <p:spPr>
          <a:xfrm>
            <a:off x="6762750" y="3206055"/>
            <a:ext cx="5429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12529"/>
                </a:solidFill>
              </a:rPr>
              <a:t>Human-in-the-loop: 인간의 검토와 승인 필수화</a:t>
            </a:r>
            <a:endParaRPr lang="en-US" sz="1200" dirty="0"/>
          </a:p>
        </p:txBody>
      </p:sp>
      <p:sp>
        <p:nvSpPr>
          <p:cNvPr id="31" name="Text 10"/>
          <p:cNvSpPr/>
          <p:nvPr/>
        </p:nvSpPr>
        <p:spPr>
          <a:xfrm>
            <a:off x="571500" y="4196655"/>
            <a:ext cx="3302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C00000"/>
                </a:solidFill>
              </a:rPr>
              <a:t>CONTROL</a:t>
            </a:r>
            <a:endParaRPr lang="en-US" sz="1050" dirty="0"/>
          </a:p>
        </p:txBody>
      </p:sp>
      <p:sp>
        <p:nvSpPr>
          <p:cNvPr id="32" name="Text 11"/>
          <p:cNvSpPr/>
          <p:nvPr/>
        </p:nvSpPr>
        <p:spPr>
          <a:xfrm>
            <a:off x="571500" y="4491930"/>
            <a:ext cx="33020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12529"/>
                </a:solidFill>
              </a:rPr>
              <a:t>통제 가능한 자율성</a:t>
            </a:r>
            <a:endParaRPr lang="en-US" sz="1350" dirty="0"/>
          </a:p>
        </p:txBody>
      </p:sp>
      <p:sp>
        <p:nvSpPr>
          <p:cNvPr id="33" name="Text 12"/>
          <p:cNvSpPr/>
          <p:nvPr/>
        </p:nvSpPr>
        <p:spPr>
          <a:xfrm>
            <a:off x="571500" y="4844355"/>
            <a:ext cx="330205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모델의 높은 성능이 오작동으로 이어지지 않도록 명확한 Rules와 Boundaries를 정의합니다.</a:t>
            </a:r>
            <a:endParaRPr lang="en-US" sz="1050" dirty="0"/>
          </a:p>
        </p:txBody>
      </p:sp>
      <p:sp>
        <p:nvSpPr>
          <p:cNvPr id="34" name="Text 13"/>
          <p:cNvSpPr/>
          <p:nvPr/>
        </p:nvSpPr>
        <p:spPr>
          <a:xfrm>
            <a:off x="4445050" y="4196655"/>
            <a:ext cx="3302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C00000"/>
                </a:solidFill>
              </a:rPr>
              <a:t>AUDIT</a:t>
            </a:r>
            <a:endParaRPr lang="en-US" sz="1050" dirty="0"/>
          </a:p>
        </p:txBody>
      </p:sp>
      <p:sp>
        <p:nvSpPr>
          <p:cNvPr id="35" name="Text 14"/>
          <p:cNvSpPr/>
          <p:nvPr/>
        </p:nvSpPr>
        <p:spPr>
          <a:xfrm>
            <a:off x="4445050" y="4491930"/>
            <a:ext cx="33020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12529"/>
                </a:solidFill>
              </a:rPr>
              <a:t>투명한 감사 체계</a:t>
            </a:r>
            <a:endParaRPr lang="en-US" sz="1350" dirty="0"/>
          </a:p>
        </p:txBody>
      </p:sp>
      <p:sp>
        <p:nvSpPr>
          <p:cNvPr id="36" name="Text 15"/>
          <p:cNvSpPr/>
          <p:nvPr/>
        </p:nvSpPr>
        <p:spPr>
          <a:xfrm>
            <a:off x="4445050" y="4844355"/>
            <a:ext cx="330205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AI가 내린 모든 결정과 도구 사용 이력을 추적하여 신뢰할 수 있는 결과물을 보장합니다.</a:t>
            </a:r>
            <a:endParaRPr lang="en-US" sz="1050" dirty="0"/>
          </a:p>
        </p:txBody>
      </p:sp>
      <p:sp>
        <p:nvSpPr>
          <p:cNvPr id="37" name="Text 16"/>
          <p:cNvSpPr/>
          <p:nvPr/>
        </p:nvSpPr>
        <p:spPr>
          <a:xfrm>
            <a:off x="4445050" y="5360491"/>
            <a:ext cx="47053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1B5E20"/>
                </a:solidFill>
              </a:rPr>
              <a:t>* Provenance: 데이터 및 의사결정의 기원 추적</a:t>
            </a:r>
            <a:endParaRPr lang="en-US" sz="975" dirty="0"/>
          </a:p>
        </p:txBody>
      </p:sp>
      <p:sp>
        <p:nvSpPr>
          <p:cNvPr id="38" name="Text 17"/>
          <p:cNvSpPr/>
          <p:nvPr/>
        </p:nvSpPr>
        <p:spPr>
          <a:xfrm>
            <a:off x="8318599" y="4196655"/>
            <a:ext cx="3302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C00000"/>
                </a:solidFill>
              </a:rPr>
              <a:t>REVIEW</a:t>
            </a:r>
            <a:endParaRPr lang="en-US" sz="1050" dirty="0"/>
          </a:p>
        </p:txBody>
      </p:sp>
      <p:sp>
        <p:nvSpPr>
          <p:cNvPr id="39" name="Text 18"/>
          <p:cNvSpPr/>
          <p:nvPr/>
        </p:nvSpPr>
        <p:spPr>
          <a:xfrm>
            <a:off x="8318599" y="4491930"/>
            <a:ext cx="33020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12529"/>
                </a:solidFill>
              </a:rPr>
              <a:t>인간 중심 검증</a:t>
            </a:r>
            <a:endParaRPr lang="en-US" sz="1350" dirty="0"/>
          </a:p>
        </p:txBody>
      </p:sp>
      <p:sp>
        <p:nvSpPr>
          <p:cNvPr id="40" name="Text 19"/>
          <p:cNvSpPr/>
          <p:nvPr/>
        </p:nvSpPr>
        <p:spPr>
          <a:xfrm>
            <a:off x="8318599" y="4844355"/>
            <a:ext cx="330205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에이전트의 단독 실행이 아닌, 인간의 Refine 과정이 포함된 워크플로우를 지향합니다.</a:t>
            </a:r>
            <a:endParaRPr lang="en-US" sz="1050" dirty="0"/>
          </a:p>
        </p:txBody>
      </p:sp>
      <p:sp>
        <p:nvSpPr>
          <p:cNvPr id="41" name="Text 20"/>
          <p:cNvSpPr/>
          <p:nvPr/>
        </p:nvSpPr>
        <p:spPr>
          <a:xfrm>
            <a:off x="381000" y="6305550"/>
            <a:ext cx="11430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C757D"/>
                </a:solidFill>
              </a:rPr>
              <a:t>Source: Claude Code Case Study &amp; Erdős #1196 Discovery Path Analysis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94863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139130"/>
            <a:ext cx="5600700" cy="4609207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367730"/>
            <a:ext cx="5143500" cy="428625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396305"/>
            <a:ext cx="285750" cy="2286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2024955"/>
            <a:ext cx="166688" cy="13722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2686943"/>
            <a:ext cx="166688" cy="13722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3577530"/>
            <a:ext cx="166688" cy="145852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" y="4376738"/>
            <a:ext cx="5143500" cy="11430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63389" y="4736753"/>
            <a:ext cx="214313" cy="17532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49673" y="4872038"/>
            <a:ext cx="190500" cy="1524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074045" y="4736753"/>
            <a:ext cx="214313" cy="17532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022229" y="4872038"/>
            <a:ext cx="190500" cy="1524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984700" y="4736753"/>
            <a:ext cx="214313" cy="17532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10300" y="1139130"/>
            <a:ext cx="5600700" cy="4609207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38900" y="1367730"/>
            <a:ext cx="5143500" cy="428625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38900" y="1396305"/>
            <a:ext cx="285750" cy="2286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38900" y="2024955"/>
            <a:ext cx="166688" cy="13722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38900" y="2686943"/>
            <a:ext cx="166688" cy="145852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38900" y="3801368"/>
            <a:ext cx="166688" cy="13722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38900" y="4376738"/>
            <a:ext cx="5143500" cy="1143000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827044" y="4736753"/>
            <a:ext cx="214313" cy="175320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529513" y="4872038"/>
            <a:ext cx="190500" cy="152400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212931" y="4736753"/>
            <a:ext cx="214313" cy="175320"/>
          </a:xfrm>
          <a:prstGeom prst="rect">
            <a:avLst/>
          </a:prstGeom>
        </p:spPr>
      </p:pic>
      <p:pic>
        <p:nvPicPr>
          <p:cNvPr id="27" name="Image 25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920163" y="4872038"/>
            <a:ext cx="190500" cy="152400"/>
          </a:xfrm>
          <a:prstGeom prst="rect">
            <a:avLst/>
          </a:prstGeom>
        </p:spPr>
      </p:pic>
      <p:pic>
        <p:nvPicPr>
          <p:cNvPr id="28" name="Image 26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598819" y="4736753"/>
            <a:ext cx="214313" cy="175320"/>
          </a:xfrm>
          <a:prstGeom prst="rect">
            <a:avLst/>
          </a:prstGeom>
        </p:spPr>
      </p:pic>
      <p:pic>
        <p:nvPicPr>
          <p:cNvPr id="29" name="Image 27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301288" y="4872038"/>
            <a:ext cx="190500" cy="152400"/>
          </a:xfrm>
          <a:prstGeom prst="rect">
            <a:avLst/>
          </a:prstGeom>
        </p:spPr>
      </p:pic>
      <p:pic>
        <p:nvPicPr>
          <p:cNvPr id="30" name="Image 28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0979944" y="4736753"/>
            <a:ext cx="214313" cy="175320"/>
          </a:xfrm>
          <a:prstGeom prst="rect">
            <a:avLst/>
          </a:prstGeom>
        </p:spPr>
      </p:pic>
      <p:pic>
        <p:nvPicPr>
          <p:cNvPr id="31" name="Image 29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81000" y="5976938"/>
            <a:ext cx="11430000" cy="500063"/>
          </a:xfrm>
          <a:prstGeom prst="rect">
            <a:avLst/>
          </a:prstGeom>
        </p:spPr>
      </p:pic>
      <p:sp>
        <p:nvSpPr>
          <p:cNvPr id="32" name="Text 0"/>
          <p:cNvSpPr/>
          <p:nvPr/>
        </p:nvSpPr>
        <p:spPr>
          <a:xfrm>
            <a:off x="381000" y="285750"/>
            <a:ext cx="114300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212529"/>
                </a:solidFill>
              </a:rPr>
              <a:t>에이전틱 워크플로우의 이해: 단순 채팅을 넘어서</a:t>
            </a:r>
            <a:endParaRPr lang="en-US" sz="2100" dirty="0"/>
          </a:p>
        </p:txBody>
      </p:sp>
      <p:sp>
        <p:nvSpPr>
          <p:cNvPr id="33" name="Text 1"/>
          <p:cNvSpPr/>
          <p:nvPr/>
        </p:nvSpPr>
        <p:spPr>
          <a:xfrm>
            <a:off x="381000" y="653355"/>
            <a:ext cx="114300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일회성 문답인 채팅과 도구를 사용해 자율적으로 다단계 단계를 수행하는 에이전틱 워크플로우의 근본적인 차이</a:t>
            </a:r>
            <a:endParaRPr lang="en-US" sz="1050" dirty="0"/>
          </a:p>
        </p:txBody>
      </p:sp>
      <p:sp>
        <p:nvSpPr>
          <p:cNvPr id="34" name="Text 2"/>
          <p:cNvSpPr/>
          <p:nvPr/>
        </p:nvSpPr>
        <p:spPr>
          <a:xfrm>
            <a:off x="1009650" y="1367730"/>
            <a:ext cx="6858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12529"/>
                </a:solidFill>
              </a:rPr>
              <a:t>Chatting (One-off Interaction)</a:t>
            </a:r>
            <a:endParaRPr lang="en-US" sz="1500" dirty="0"/>
          </a:p>
        </p:txBody>
      </p:sp>
      <p:sp>
        <p:nvSpPr>
          <p:cNvPr id="35" name="Text 3"/>
          <p:cNvSpPr/>
          <p:nvPr/>
        </p:nvSpPr>
        <p:spPr>
          <a:xfrm>
            <a:off x="890588" y="1986855"/>
            <a:ext cx="4743450" cy="50958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212529"/>
                </a:solidFill>
              </a:rPr>
              <a:t>일회성 문답 (Stateless Response)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12529"/>
                </a:solidFill>
              </a:rPr>
              <a:t>사용자의 프롬프트에 대해 모델이 즉각적인 텍스트 답변을 생성하고 종료합니다.</a:t>
            </a:r>
            <a:endParaRPr lang="en-US" sz="1200" dirty="0"/>
          </a:p>
        </p:txBody>
      </p:sp>
      <p:sp>
        <p:nvSpPr>
          <p:cNvPr id="36" name="Text 4"/>
          <p:cNvSpPr/>
          <p:nvPr/>
        </p:nvSpPr>
        <p:spPr>
          <a:xfrm>
            <a:off x="890588" y="2648843"/>
            <a:ext cx="4862513" cy="73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212529"/>
                </a:solidFill>
              </a:rPr>
              <a:t>수동적 실행 (Passive Execution)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12529"/>
                </a:solidFill>
              </a:rPr>
              <a:t>모델은 정보를 제공할 뿐, 실제 파일을 수정하거나 코드를 실행하는 권한이 없습니다.</a:t>
            </a:r>
            <a:endParaRPr lang="en-US" sz="1200" dirty="0"/>
          </a:p>
        </p:txBody>
      </p:sp>
      <p:sp>
        <p:nvSpPr>
          <p:cNvPr id="37" name="Text 5"/>
          <p:cNvSpPr/>
          <p:nvPr/>
        </p:nvSpPr>
        <p:spPr>
          <a:xfrm>
            <a:off x="890588" y="3539430"/>
            <a:ext cx="4862513" cy="73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212529"/>
                </a:solidFill>
              </a:rPr>
              <a:t>인간 중심의 반복 (Human-driven Loop)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12529"/>
                </a:solidFill>
              </a:rPr>
              <a:t>답변이 불만족스러울 경우 인간이 다시 프롬프트를 수정하여 입력을 시도해야 합니다.</a:t>
            </a:r>
            <a:endParaRPr lang="en-US" sz="1200" dirty="0"/>
          </a:p>
        </p:txBody>
      </p:sp>
      <p:sp>
        <p:nvSpPr>
          <p:cNvPr id="38" name="Text 6"/>
          <p:cNvSpPr/>
          <p:nvPr/>
        </p:nvSpPr>
        <p:spPr>
          <a:xfrm>
            <a:off x="1018133" y="4736753"/>
            <a:ext cx="822960" cy="42297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C757D"/>
                </a:solidFill>
              </a:rPr>
              <a:t>사용자 입력</a:t>
            </a:r>
            <a:endParaRPr lang="en-US" sz="900" dirty="0"/>
          </a:p>
        </p:txBody>
      </p:sp>
      <p:sp>
        <p:nvSpPr>
          <p:cNvPr id="39" name="Text 7"/>
          <p:cNvSpPr/>
          <p:nvPr/>
        </p:nvSpPr>
        <p:spPr>
          <a:xfrm>
            <a:off x="2966889" y="4736753"/>
            <a:ext cx="822960" cy="42297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C757D"/>
                </a:solidFill>
              </a:rPr>
              <a:t>LLM 추론</a:t>
            </a:r>
            <a:endParaRPr lang="en-US" sz="900" dirty="0"/>
          </a:p>
        </p:txBody>
      </p:sp>
      <p:sp>
        <p:nvSpPr>
          <p:cNvPr id="40" name="Text 8"/>
          <p:cNvSpPr/>
          <p:nvPr/>
        </p:nvSpPr>
        <p:spPr>
          <a:xfrm>
            <a:off x="4839444" y="4736753"/>
            <a:ext cx="822960" cy="42297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C757D"/>
                </a:solidFill>
              </a:rPr>
              <a:t>텍스트 출력</a:t>
            </a:r>
            <a:endParaRPr lang="en-US" sz="900" dirty="0"/>
          </a:p>
        </p:txBody>
      </p:sp>
      <p:sp>
        <p:nvSpPr>
          <p:cNvPr id="41" name="Text 9"/>
          <p:cNvSpPr/>
          <p:nvPr/>
        </p:nvSpPr>
        <p:spPr>
          <a:xfrm>
            <a:off x="6838950" y="1367730"/>
            <a:ext cx="53530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12529"/>
                </a:solidFill>
              </a:rPr>
              <a:t>Agentic Workflow (Systemic Execution)</a:t>
            </a:r>
            <a:endParaRPr lang="en-US" sz="1500" dirty="0"/>
          </a:p>
        </p:txBody>
      </p:sp>
      <p:sp>
        <p:nvSpPr>
          <p:cNvPr id="42" name="Text 10"/>
          <p:cNvSpPr/>
          <p:nvPr/>
        </p:nvSpPr>
        <p:spPr>
          <a:xfrm>
            <a:off x="6719888" y="1986855"/>
            <a:ext cx="4743450" cy="50958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212529"/>
                </a:solidFill>
              </a:rPr>
              <a:t>자율적 다단계 수행 (Multi-step Autonomy)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12529"/>
                </a:solidFill>
              </a:rPr>
              <a:t>복잡한 목표를 하부 태스크로 분해하고 순차적으로 계획을 수립하여 실행합니다.</a:t>
            </a:r>
            <a:endParaRPr lang="en-US" sz="1200" dirty="0"/>
          </a:p>
        </p:txBody>
      </p:sp>
      <p:sp>
        <p:nvSpPr>
          <p:cNvPr id="43" name="Text 11"/>
          <p:cNvSpPr/>
          <p:nvPr/>
        </p:nvSpPr>
        <p:spPr>
          <a:xfrm>
            <a:off x="6719888" y="2648843"/>
            <a:ext cx="4862513" cy="962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212529"/>
                </a:solidFill>
              </a:rPr>
              <a:t>도구 활용 및 환경 제어 (Tool-use)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12529"/>
                </a:solidFill>
              </a:rPr>
              <a:t>파일 읽기/쓰기, 터미널 명령 실행, 웹 브라우징 등 실제 환경에 물리적인 변화를 줍니다.</a:t>
            </a:r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1B5E20"/>
                </a:solidFill>
              </a:rPr>
              <a:t>* Cline은 VS Code의 권한을 활용하여 안전한 도구 호출을 수행</a:t>
            </a:r>
            <a:endParaRPr lang="en-US" sz="1200" dirty="0"/>
          </a:p>
        </p:txBody>
      </p:sp>
      <p:sp>
        <p:nvSpPr>
          <p:cNvPr id="44" name="Text 12"/>
          <p:cNvSpPr/>
          <p:nvPr/>
        </p:nvSpPr>
        <p:spPr>
          <a:xfrm>
            <a:off x="6719888" y="3763268"/>
            <a:ext cx="4857750" cy="50958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212529"/>
                </a:solidFill>
              </a:rPr>
              <a:t>자기 성찰 및 루프 (Self-correction)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12529"/>
                </a:solidFill>
              </a:rPr>
              <a:t>실행 결과가 오류일 경우, 스스로 원인을 분석하고 해결책을 찾아 다시 시도합니다.</a:t>
            </a:r>
            <a:endParaRPr lang="en-US" sz="1200" dirty="0"/>
          </a:p>
        </p:txBody>
      </p:sp>
      <p:sp>
        <p:nvSpPr>
          <p:cNvPr id="45" name="Text 13"/>
          <p:cNvSpPr/>
          <p:nvPr/>
        </p:nvSpPr>
        <p:spPr>
          <a:xfrm>
            <a:off x="6729413" y="4736753"/>
            <a:ext cx="685800" cy="42297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C757D"/>
                </a:solidFill>
              </a:rPr>
              <a:t>목표 설정</a:t>
            </a:r>
            <a:endParaRPr lang="en-US" sz="900" dirty="0"/>
          </a:p>
        </p:txBody>
      </p:sp>
      <p:sp>
        <p:nvSpPr>
          <p:cNvPr id="46" name="Text 14"/>
          <p:cNvSpPr/>
          <p:nvPr/>
        </p:nvSpPr>
        <p:spPr>
          <a:xfrm>
            <a:off x="8110537" y="4736753"/>
            <a:ext cx="685800" cy="42297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C757D"/>
                </a:solidFill>
              </a:rPr>
              <a:t>계획/실행</a:t>
            </a:r>
            <a:endParaRPr lang="en-US" sz="900" dirty="0"/>
          </a:p>
        </p:txBody>
      </p:sp>
      <p:sp>
        <p:nvSpPr>
          <p:cNvPr id="47" name="Text 15"/>
          <p:cNvSpPr/>
          <p:nvPr/>
        </p:nvSpPr>
        <p:spPr>
          <a:xfrm>
            <a:off x="9501188" y="4736753"/>
            <a:ext cx="685800" cy="42297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C757D"/>
                </a:solidFill>
              </a:rPr>
              <a:t>결과 검증</a:t>
            </a:r>
            <a:endParaRPr lang="en-US" sz="900" dirty="0"/>
          </a:p>
        </p:txBody>
      </p:sp>
      <p:sp>
        <p:nvSpPr>
          <p:cNvPr id="48" name="Text 16"/>
          <p:cNvSpPr/>
          <p:nvPr/>
        </p:nvSpPr>
        <p:spPr>
          <a:xfrm>
            <a:off x="10882313" y="4736753"/>
            <a:ext cx="685800" cy="42297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C757D"/>
                </a:solidFill>
              </a:rPr>
              <a:t>최종 완료</a:t>
            </a:r>
            <a:endParaRPr lang="en-US" sz="900" dirty="0"/>
          </a:p>
        </p:txBody>
      </p:sp>
      <p:sp>
        <p:nvSpPr>
          <p:cNvPr id="49" name="Text 17"/>
          <p:cNvSpPr/>
          <p:nvPr/>
        </p:nvSpPr>
        <p:spPr>
          <a:xfrm>
            <a:off x="381000" y="5976938"/>
            <a:ext cx="10953750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FFFFFF"/>
                </a:solidFill>
              </a:rPr>
              <a:t>핵심 차이: </a:t>
            </a:r>
            <a:pPr algn="ctr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FFD700"/>
                </a:solidFill>
              </a:rPr>
              <a:t>"말하는 AI(Talking AI)"</a:t>
            </a:r>
            <a:pPr algn="ctr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FFFFFF"/>
                </a:solidFill>
              </a:rPr>
              <a:t>에서 </a:t>
            </a:r>
            <a:pPr algn="ctr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FFD700"/>
                </a:solidFill>
              </a:rPr>
              <a:t>"행동하는 시스템(Acting System)"</a:t>
            </a:r>
            <a:pPr algn="ctr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FFFFFF"/>
                </a:solidFill>
              </a:rPr>
              <a:t>으로의 진화</a:t>
            </a:r>
            <a:endParaRPr lang="en-US" sz="11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86290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088678"/>
            <a:ext cx="11430000" cy="539115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1088678"/>
            <a:ext cx="2286000" cy="676275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67000" y="1088678"/>
            <a:ext cx="4572000" cy="676275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92327" y="1336179"/>
            <a:ext cx="261937" cy="21342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39000" y="1088678"/>
            <a:ext cx="4572000" cy="676275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85882" y="1336179"/>
            <a:ext cx="261937" cy="21342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1000" y="1764953"/>
            <a:ext cx="2286000" cy="847725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67000" y="1764953"/>
            <a:ext cx="4572000" cy="847725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39000" y="1764953"/>
            <a:ext cx="4572000" cy="847725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1000" y="2612678"/>
            <a:ext cx="11430000" cy="847725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81000" y="2612678"/>
            <a:ext cx="2286000" cy="847725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667000" y="2612678"/>
            <a:ext cx="4572000" cy="847725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239000" y="2612678"/>
            <a:ext cx="4572000" cy="847725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81000" y="3460403"/>
            <a:ext cx="2286000" cy="847725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667000" y="3460403"/>
            <a:ext cx="4572000" cy="847725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239000" y="3460403"/>
            <a:ext cx="4572000" cy="847725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81000" y="4308128"/>
            <a:ext cx="11430000" cy="847725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81000" y="4308128"/>
            <a:ext cx="2286000" cy="847725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667000" y="4308128"/>
            <a:ext cx="4572000" cy="847725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239000" y="4308128"/>
            <a:ext cx="4572000" cy="847725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81000" y="5155853"/>
            <a:ext cx="2286000" cy="1323975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667000" y="5155853"/>
            <a:ext cx="4572000" cy="1323975"/>
          </a:xfrm>
          <a:prstGeom prst="rect">
            <a:avLst/>
          </a:prstGeom>
        </p:spPr>
      </p:pic>
      <p:pic>
        <p:nvPicPr>
          <p:cNvPr id="27" name="Image 25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239000" y="5155853"/>
            <a:ext cx="4572000" cy="1323975"/>
          </a:xfrm>
          <a:prstGeom prst="rect">
            <a:avLst/>
          </a:prstGeom>
        </p:spPr>
      </p:pic>
      <p:sp>
        <p:nvSpPr>
          <p:cNvPr id="28" name="Text 0"/>
          <p:cNvSpPr/>
          <p:nvPr/>
        </p:nvSpPr>
        <p:spPr>
          <a:xfrm>
            <a:off x="381000" y="228600"/>
            <a:ext cx="114300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212529"/>
                </a:solidFill>
              </a:rPr>
              <a:t>Chat vs Agentic Workflow 비교 분석</a:t>
            </a:r>
            <a:endParaRPr lang="en-US" sz="2100" dirty="0"/>
          </a:p>
        </p:txBody>
      </p:sp>
      <p:sp>
        <p:nvSpPr>
          <p:cNvPr id="29" name="Text 1"/>
          <p:cNvSpPr/>
          <p:nvPr/>
        </p:nvSpPr>
        <p:spPr>
          <a:xfrm>
            <a:off x="381000" y="586680"/>
            <a:ext cx="114300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단순한 텍스트 생성을 넘어 실행력과 도구 활용 능력을 갖춘 워크플로우 중심 시스템의 특징을 비교하여 제시합니다.</a:t>
            </a:r>
            <a:endParaRPr lang="en-US" sz="1050" dirty="0"/>
          </a:p>
        </p:txBody>
      </p:sp>
      <p:sp>
        <p:nvSpPr>
          <p:cNvPr id="30" name="Text 2"/>
          <p:cNvSpPr/>
          <p:nvPr/>
        </p:nvSpPr>
        <p:spPr>
          <a:xfrm>
            <a:off x="381000" y="1088678"/>
            <a:ext cx="1828800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FFFFFF"/>
                </a:solidFill>
              </a:rPr>
              <a:t>구분</a:t>
            </a:r>
            <a:endParaRPr lang="en-US" sz="1650" dirty="0"/>
          </a:p>
        </p:txBody>
      </p:sp>
      <p:sp>
        <p:nvSpPr>
          <p:cNvPr id="31" name="Text 3"/>
          <p:cNvSpPr/>
          <p:nvPr/>
        </p:nvSpPr>
        <p:spPr>
          <a:xfrm>
            <a:off x="4354264" y="1088678"/>
            <a:ext cx="2427536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FFFFFF"/>
                </a:solidFill>
              </a:rPr>
              <a:t> Chat-based AI</a:t>
            </a:r>
            <a:endParaRPr lang="en-US" sz="1650" dirty="0"/>
          </a:p>
        </p:txBody>
      </p:sp>
      <p:sp>
        <p:nvSpPr>
          <p:cNvPr id="32" name="Text 4"/>
          <p:cNvSpPr/>
          <p:nvPr/>
        </p:nvSpPr>
        <p:spPr>
          <a:xfrm>
            <a:off x="8747820" y="1088678"/>
            <a:ext cx="2605980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FFFFFF"/>
                </a:solidFill>
              </a:rPr>
              <a:t> Agentic Workflow</a:t>
            </a:r>
            <a:endParaRPr lang="en-US" sz="1650" dirty="0"/>
          </a:p>
        </p:txBody>
      </p:sp>
      <p:sp>
        <p:nvSpPr>
          <p:cNvPr id="33" name="Text 5"/>
          <p:cNvSpPr/>
          <p:nvPr/>
        </p:nvSpPr>
        <p:spPr>
          <a:xfrm>
            <a:off x="381000" y="1764953"/>
            <a:ext cx="1828800" cy="8477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495057"/>
                </a:solidFill>
              </a:rPr>
              <a:t>상호작용 모델</a:t>
            </a:r>
            <a:endParaRPr lang="en-US" sz="1275" dirty="0"/>
          </a:p>
        </p:txBody>
      </p:sp>
      <p:sp>
        <p:nvSpPr>
          <p:cNvPr id="34" name="Text 6"/>
          <p:cNvSpPr/>
          <p:nvPr/>
        </p:nvSpPr>
        <p:spPr>
          <a:xfrm>
            <a:off x="2895600" y="1764953"/>
            <a:ext cx="4114800" cy="8477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6C757D"/>
                </a:solidFill>
              </a:rPr>
              <a:t>단발성 문답 (One-off response)</a:t>
            </a:r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6C757D"/>
                </a:solidFill>
              </a:rPr>
              <a:t>
</a:t>
            </a:r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6C757D"/>
                </a:solidFill>
              </a:rPr>
              <a:t>사용자의 매 질문마다 세션 초기화 가능성</a:t>
            </a:r>
            <a:endParaRPr lang="en-US" sz="1275" dirty="0"/>
          </a:p>
        </p:txBody>
      </p:sp>
      <p:sp>
        <p:nvSpPr>
          <p:cNvPr id="35" name="Text 7"/>
          <p:cNvSpPr/>
          <p:nvPr/>
        </p:nvSpPr>
        <p:spPr>
          <a:xfrm>
            <a:off x="7467600" y="1764953"/>
            <a:ext cx="4114800" cy="8477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212529"/>
                </a:solidFill>
              </a:rPr>
              <a:t>자율적 다단계 수행 (Multi-step execution)</a:t>
            </a:r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212529"/>
                </a:solidFill>
              </a:rPr>
              <a:t>
</a:t>
            </a:r>
            <a:pPr algn="l"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C00000"/>
                </a:solidFill>
              </a:rPr>
              <a:t>목표 달성을 위한 연속적 루프 수행</a:t>
            </a:r>
            <a:endParaRPr lang="en-US" sz="1275" dirty="0"/>
          </a:p>
        </p:txBody>
      </p:sp>
      <p:sp>
        <p:nvSpPr>
          <p:cNvPr id="36" name="Text 8"/>
          <p:cNvSpPr/>
          <p:nvPr/>
        </p:nvSpPr>
        <p:spPr>
          <a:xfrm>
            <a:off x="381000" y="2612678"/>
            <a:ext cx="1828800" cy="8477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495057"/>
                </a:solidFill>
              </a:rPr>
              <a:t>도구 활용 및 실행</a:t>
            </a:r>
            <a:endParaRPr lang="en-US" sz="1275" dirty="0"/>
          </a:p>
        </p:txBody>
      </p:sp>
      <p:sp>
        <p:nvSpPr>
          <p:cNvPr id="37" name="Text 9"/>
          <p:cNvSpPr/>
          <p:nvPr/>
        </p:nvSpPr>
        <p:spPr>
          <a:xfrm>
            <a:off x="2895600" y="2612678"/>
            <a:ext cx="4114800" cy="8477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6C757D"/>
                </a:solidFill>
              </a:rPr>
              <a:t>텍스트 생성 및 지식 요약 위주</a:t>
            </a:r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6C757D"/>
                </a:solidFill>
              </a:rPr>
              <a:t>
</a:t>
            </a:r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6C757D"/>
                </a:solidFill>
              </a:rPr>
              <a:t>외부 시스템에 대한 직접적 영향력 부재</a:t>
            </a:r>
            <a:endParaRPr lang="en-US" sz="1275" dirty="0"/>
          </a:p>
        </p:txBody>
      </p:sp>
      <p:sp>
        <p:nvSpPr>
          <p:cNvPr id="38" name="Text 10"/>
          <p:cNvSpPr/>
          <p:nvPr/>
        </p:nvSpPr>
        <p:spPr>
          <a:xfrm>
            <a:off x="7467600" y="2612678"/>
            <a:ext cx="4114800" cy="8477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212529"/>
                </a:solidFill>
              </a:rPr>
              <a:t>파일 시스템, 터미널, Git, API 직접 제어</a:t>
            </a:r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212529"/>
                </a:solidFill>
              </a:rPr>
              <a:t>
</a:t>
            </a:r>
            <a:pPr algn="l"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C00000"/>
                </a:solidFill>
              </a:rPr>
              <a:t>실제 환경에서의 변화(Action) 유도</a:t>
            </a:r>
            <a:endParaRPr lang="en-US" sz="1275" dirty="0"/>
          </a:p>
        </p:txBody>
      </p:sp>
      <p:sp>
        <p:nvSpPr>
          <p:cNvPr id="39" name="Text 11"/>
          <p:cNvSpPr/>
          <p:nvPr/>
        </p:nvSpPr>
        <p:spPr>
          <a:xfrm>
            <a:off x="381000" y="3460403"/>
            <a:ext cx="1828800" cy="8477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495057"/>
                </a:solidFill>
              </a:rPr>
              <a:t>컨텍스트 관리</a:t>
            </a:r>
            <a:endParaRPr lang="en-US" sz="1275" dirty="0"/>
          </a:p>
        </p:txBody>
      </p:sp>
      <p:sp>
        <p:nvSpPr>
          <p:cNvPr id="40" name="Text 12"/>
          <p:cNvSpPr/>
          <p:nvPr/>
        </p:nvSpPr>
        <p:spPr>
          <a:xfrm>
            <a:off x="2895600" y="3460403"/>
            <a:ext cx="4114800" cy="8477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6C757D"/>
                </a:solidFill>
              </a:rPr>
              <a:t>대화 이력(History) 기반 컨텍스트 유지</a:t>
            </a:r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6C757D"/>
                </a:solidFill>
              </a:rPr>
              <a:t>
</a:t>
            </a:r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6C757D"/>
                </a:solidFill>
              </a:rPr>
              <a:t>작업 중간 상태를 기억하기 어려움</a:t>
            </a:r>
            <a:endParaRPr lang="en-US" sz="1275" dirty="0"/>
          </a:p>
        </p:txBody>
      </p:sp>
      <p:sp>
        <p:nvSpPr>
          <p:cNvPr id="41" name="Text 13"/>
          <p:cNvSpPr/>
          <p:nvPr/>
        </p:nvSpPr>
        <p:spPr>
          <a:xfrm>
            <a:off x="7467600" y="3460403"/>
            <a:ext cx="4114800" cy="8477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212529"/>
                </a:solidFill>
              </a:rPr>
              <a:t>Working Notes 및 상태(State) 관리</a:t>
            </a:r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212529"/>
                </a:solidFill>
              </a:rPr>
              <a:t>
</a:t>
            </a:r>
            <a:pPr algn="l"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C00000"/>
                </a:solidFill>
              </a:rPr>
              <a:t>장기적 업무 맥락과 중간 산출물 보존</a:t>
            </a:r>
            <a:endParaRPr lang="en-US" sz="1275" dirty="0"/>
          </a:p>
        </p:txBody>
      </p:sp>
      <p:sp>
        <p:nvSpPr>
          <p:cNvPr id="42" name="Text 14"/>
          <p:cNvSpPr/>
          <p:nvPr/>
        </p:nvSpPr>
        <p:spPr>
          <a:xfrm>
            <a:off x="381000" y="4308128"/>
            <a:ext cx="1828800" cy="8477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495057"/>
                </a:solidFill>
              </a:rPr>
              <a:t>오류 수정 방식</a:t>
            </a:r>
            <a:endParaRPr lang="en-US" sz="1275" dirty="0"/>
          </a:p>
        </p:txBody>
      </p:sp>
      <p:sp>
        <p:nvSpPr>
          <p:cNvPr id="43" name="Text 15"/>
          <p:cNvSpPr/>
          <p:nvPr/>
        </p:nvSpPr>
        <p:spPr>
          <a:xfrm>
            <a:off x="2895600" y="4308128"/>
            <a:ext cx="4114800" cy="8477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6C757D"/>
                </a:solidFill>
              </a:rPr>
              <a:t>사용자가 직접 결과 확인 후 재지시 필요</a:t>
            </a:r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6C757D"/>
                </a:solidFill>
              </a:rPr>
              <a:t>
</a:t>
            </a:r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6C757D"/>
                </a:solidFill>
              </a:rPr>
              <a:t>할루시네이션 발생 시 교정 주체는 인간</a:t>
            </a:r>
            <a:endParaRPr lang="en-US" sz="1275" dirty="0"/>
          </a:p>
        </p:txBody>
      </p:sp>
      <p:sp>
        <p:nvSpPr>
          <p:cNvPr id="44" name="Text 16"/>
          <p:cNvSpPr/>
          <p:nvPr/>
        </p:nvSpPr>
        <p:spPr>
          <a:xfrm>
            <a:off x="7467600" y="4308128"/>
            <a:ext cx="4114800" cy="8477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212529"/>
                </a:solidFill>
              </a:rPr>
              <a:t>자율적 시행착오 및 검증(Self-correction)</a:t>
            </a:r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212529"/>
                </a:solidFill>
              </a:rPr>
              <a:t>
</a:t>
            </a:r>
            <a:pPr algn="l"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C00000"/>
                </a:solidFill>
              </a:rPr>
              <a:t>Human-in-the-loop 기반의 정교한 감사</a:t>
            </a:r>
            <a:endParaRPr lang="en-US" sz="1275" dirty="0"/>
          </a:p>
        </p:txBody>
      </p:sp>
      <p:sp>
        <p:nvSpPr>
          <p:cNvPr id="45" name="Text 17"/>
          <p:cNvSpPr/>
          <p:nvPr/>
        </p:nvSpPr>
        <p:spPr>
          <a:xfrm>
            <a:off x="381000" y="5155853"/>
            <a:ext cx="1828800" cy="132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495057"/>
                </a:solidFill>
              </a:rPr>
              <a:t>결과물의 성격</a:t>
            </a:r>
            <a:endParaRPr lang="en-US" sz="1275" dirty="0"/>
          </a:p>
        </p:txBody>
      </p:sp>
      <p:sp>
        <p:nvSpPr>
          <p:cNvPr id="46" name="Text 18"/>
          <p:cNvSpPr/>
          <p:nvPr/>
        </p:nvSpPr>
        <p:spPr>
          <a:xfrm>
            <a:off x="2895600" y="5155853"/>
            <a:ext cx="4114800" cy="132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6C757D"/>
                </a:solidFill>
              </a:rPr>
              <a:t>정보성 답변 (Information/Answer)</a:t>
            </a:r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6C757D"/>
                </a:solidFill>
              </a:rPr>
              <a:t>
</a:t>
            </a:r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6C757D"/>
                </a:solidFill>
              </a:rPr>
              <a:t>읽기 위한 텍스트 형태의 데이터</a:t>
            </a:r>
            <a:endParaRPr lang="en-US" sz="1275" dirty="0"/>
          </a:p>
        </p:txBody>
      </p:sp>
      <p:sp>
        <p:nvSpPr>
          <p:cNvPr id="47" name="Text 19"/>
          <p:cNvSpPr/>
          <p:nvPr/>
        </p:nvSpPr>
        <p:spPr>
          <a:xfrm>
            <a:off x="7467600" y="5155853"/>
            <a:ext cx="4114800" cy="13239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212529"/>
                </a:solidFill>
              </a:rPr>
              <a:t>완결된 작업 결과물 (Artifact/Task Done)</a:t>
            </a:r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212529"/>
                </a:solidFill>
              </a:rPr>
              <a:t>
</a:t>
            </a:r>
            <a:pPr algn="l"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C00000"/>
                </a:solidFill>
              </a:rPr>
              <a:t>실행 가능한 코드, 문서, 워크플로우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B5E20"/>
                </a:solidFill>
              </a:rPr>
              <a:t>[Annotation] 에이전틱 워크플로우는 단순 지능(Intelligence)이 아닌 실행력(Agency)의 확장임.</a:t>
            </a:r>
            <a:endParaRPr lang="en-US" sz="12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94863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139130"/>
            <a:ext cx="4457700" cy="257368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413" y="1431578"/>
            <a:ext cx="238125" cy="1905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3903315"/>
            <a:ext cx="4457700" cy="2573685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413" y="4195763"/>
            <a:ext cx="238125" cy="1905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24450" y="1139130"/>
            <a:ext cx="3248025" cy="2416522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62713" y="1603474"/>
            <a:ext cx="571500" cy="5715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81775" y="1755874"/>
            <a:ext cx="333375" cy="2667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62975" y="1139130"/>
            <a:ext cx="3248025" cy="2416522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01238" y="1603474"/>
            <a:ext cx="571500" cy="5715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020300" y="1755874"/>
            <a:ext cx="333375" cy="2667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124450" y="3746153"/>
            <a:ext cx="3248025" cy="2416522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62713" y="4210496"/>
            <a:ext cx="571500" cy="5715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81775" y="4362896"/>
            <a:ext cx="333375" cy="2667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562975" y="3746153"/>
            <a:ext cx="3248025" cy="2416522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901238" y="4210348"/>
            <a:ext cx="571500" cy="5715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020300" y="4362748"/>
            <a:ext cx="333375" cy="26670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381000" y="285750"/>
            <a:ext cx="114300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212529"/>
                </a:solidFill>
              </a:rPr>
              <a:t>왜 VS Code인가? 풍부한 컨텍스트의 작업장</a:t>
            </a:r>
            <a:endParaRPr lang="en-US" sz="2100" dirty="0"/>
          </a:p>
        </p:txBody>
      </p:sp>
      <p:sp>
        <p:nvSpPr>
          <p:cNvPr id="21" name="Text 1"/>
          <p:cNvSpPr/>
          <p:nvPr/>
        </p:nvSpPr>
        <p:spPr>
          <a:xfrm>
            <a:off x="381000" y="653355"/>
            <a:ext cx="114300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에이전트가 활동하기에 가장 풍부한 컨텍스트를 제공하는 통합 작업장(Workshop)</a:t>
            </a:r>
            <a:endParaRPr lang="en-US" sz="1050" dirty="0"/>
          </a:p>
        </p:txBody>
      </p:sp>
      <p:sp>
        <p:nvSpPr>
          <p:cNvPr id="22" name="Text 2"/>
          <p:cNvSpPr/>
          <p:nvPr/>
        </p:nvSpPr>
        <p:spPr>
          <a:xfrm>
            <a:off x="1009650" y="1367730"/>
            <a:ext cx="20574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12529"/>
                </a:solidFill>
              </a:rPr>
              <a:t>통합 데이터 환경</a:t>
            </a:r>
            <a:endParaRPr lang="en-US" sz="1500" dirty="0"/>
          </a:p>
        </p:txBody>
      </p:sp>
      <p:sp>
        <p:nvSpPr>
          <p:cNvPr id="23" name="Text 3"/>
          <p:cNvSpPr/>
          <p:nvPr/>
        </p:nvSpPr>
        <p:spPr>
          <a:xfrm>
            <a:off x="800100" y="1767780"/>
            <a:ext cx="38317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95057"/>
                </a:solidFill>
              </a:rPr>
              <a:t>코드, 문서, 설정 파일이 한 곳에 집약</a:t>
            </a:r>
            <a:endParaRPr lang="en-US" sz="1200" dirty="0"/>
          </a:p>
        </p:txBody>
      </p:sp>
      <p:sp>
        <p:nvSpPr>
          <p:cNvPr id="24" name="Text 4"/>
          <p:cNvSpPr/>
          <p:nvPr/>
        </p:nvSpPr>
        <p:spPr>
          <a:xfrm>
            <a:off x="800100" y="2072580"/>
            <a:ext cx="45284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95057"/>
                </a:solidFill>
              </a:rPr>
              <a:t>에이전트가 프로젝트 전체 구조를 즉시 파악 가능</a:t>
            </a:r>
            <a:endParaRPr lang="en-US" sz="1200" dirty="0"/>
          </a:p>
        </p:txBody>
      </p:sp>
      <p:sp>
        <p:nvSpPr>
          <p:cNvPr id="25" name="Text 5"/>
          <p:cNvSpPr/>
          <p:nvPr/>
        </p:nvSpPr>
        <p:spPr>
          <a:xfrm>
            <a:off x="609600" y="2415480"/>
            <a:ext cx="589407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1B5E20"/>
                </a:solidFill>
              </a:rPr>
              <a:t>* LLM의 컨텍스트 윈도우를 가장 효율적으로 채울 수 있는 정보 밀도</a:t>
            </a:r>
            <a:endParaRPr lang="en-US" sz="975" dirty="0"/>
          </a:p>
        </p:txBody>
      </p:sp>
      <p:sp>
        <p:nvSpPr>
          <p:cNvPr id="26" name="Text 6"/>
          <p:cNvSpPr/>
          <p:nvPr/>
        </p:nvSpPr>
        <p:spPr>
          <a:xfrm>
            <a:off x="1009650" y="4131915"/>
            <a:ext cx="2286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12529"/>
                </a:solidFill>
              </a:rPr>
              <a:t>실행 및 검증 능력</a:t>
            </a:r>
            <a:endParaRPr lang="en-US" sz="1500" dirty="0"/>
          </a:p>
        </p:txBody>
      </p:sp>
      <p:sp>
        <p:nvSpPr>
          <p:cNvPr id="27" name="Text 7"/>
          <p:cNvSpPr/>
          <p:nvPr/>
        </p:nvSpPr>
        <p:spPr>
          <a:xfrm>
            <a:off x="800100" y="4531965"/>
            <a:ext cx="40059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95057"/>
                </a:solidFill>
              </a:rPr>
              <a:t>터미널을 통한 직접적인 도구(CLI) 실행</a:t>
            </a:r>
            <a:endParaRPr lang="en-US" sz="1200" dirty="0"/>
          </a:p>
        </p:txBody>
      </p:sp>
      <p:sp>
        <p:nvSpPr>
          <p:cNvPr id="28" name="Text 8"/>
          <p:cNvSpPr/>
          <p:nvPr/>
        </p:nvSpPr>
        <p:spPr>
          <a:xfrm>
            <a:off x="800100" y="4836765"/>
            <a:ext cx="41801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95057"/>
                </a:solidFill>
              </a:rPr>
              <a:t>수행 결과에 대한 즉각적인 피드백 루프 형성</a:t>
            </a:r>
            <a:endParaRPr lang="en-US" sz="1200" dirty="0"/>
          </a:p>
        </p:txBody>
      </p:sp>
      <p:sp>
        <p:nvSpPr>
          <p:cNvPr id="29" name="Text 9"/>
          <p:cNvSpPr/>
          <p:nvPr/>
        </p:nvSpPr>
        <p:spPr>
          <a:xfrm>
            <a:off x="800100" y="5141565"/>
            <a:ext cx="50509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95057"/>
                </a:solidFill>
              </a:rPr>
              <a:t>에이전트가 '생각'하고 '실행'하며 '검증'하는 장소</a:t>
            </a:r>
            <a:endParaRPr lang="en-US" sz="1200" dirty="0"/>
          </a:p>
        </p:txBody>
      </p:sp>
      <p:sp>
        <p:nvSpPr>
          <p:cNvPr id="30" name="Text 10"/>
          <p:cNvSpPr/>
          <p:nvPr/>
        </p:nvSpPr>
        <p:spPr>
          <a:xfrm>
            <a:off x="6205538" y="2317849"/>
            <a:ext cx="10858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12529"/>
                </a:solidFill>
              </a:rPr>
              <a:t>Source Code</a:t>
            </a:r>
            <a:endParaRPr lang="en-US" sz="1350" dirty="0"/>
          </a:p>
        </p:txBody>
      </p:sp>
      <p:sp>
        <p:nvSpPr>
          <p:cNvPr id="31" name="Text 11"/>
          <p:cNvSpPr/>
          <p:nvPr/>
        </p:nvSpPr>
        <p:spPr>
          <a:xfrm>
            <a:off x="5967413" y="2717899"/>
            <a:ext cx="156210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구문 강조 및 심볼 정의를 통한</a:t>
            </a:r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
</a:t>
            </a:r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정교한 코드 맥락 제공</a:t>
            </a:r>
            <a:endParaRPr lang="en-US" sz="1050" dirty="0"/>
          </a:p>
        </p:txBody>
      </p:sp>
      <p:sp>
        <p:nvSpPr>
          <p:cNvPr id="32" name="Text 12"/>
          <p:cNvSpPr/>
          <p:nvPr/>
        </p:nvSpPr>
        <p:spPr>
          <a:xfrm>
            <a:off x="9344025" y="2317849"/>
            <a:ext cx="16859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12529"/>
                </a:solidFill>
              </a:rPr>
              <a:t>Integrated Terminal</a:t>
            </a:r>
            <a:endParaRPr lang="en-US" sz="1350" dirty="0"/>
          </a:p>
        </p:txBody>
      </p:sp>
      <p:sp>
        <p:nvSpPr>
          <p:cNvPr id="33" name="Text 13"/>
          <p:cNvSpPr/>
          <p:nvPr/>
        </p:nvSpPr>
        <p:spPr>
          <a:xfrm>
            <a:off x="9272588" y="2717899"/>
            <a:ext cx="182880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에이전트가 직접 명령어를 입력하고</a:t>
            </a:r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
</a:t>
            </a:r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시스템과 상호작용하는 통로</a:t>
            </a:r>
            <a:endParaRPr lang="en-US" sz="1050" dirty="0"/>
          </a:p>
        </p:txBody>
      </p:sp>
      <p:sp>
        <p:nvSpPr>
          <p:cNvPr id="34" name="Text 14"/>
          <p:cNvSpPr/>
          <p:nvPr/>
        </p:nvSpPr>
        <p:spPr>
          <a:xfrm>
            <a:off x="6086475" y="4924871"/>
            <a:ext cx="13239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12529"/>
                </a:solidFill>
              </a:rPr>
              <a:t>Version Control</a:t>
            </a:r>
            <a:endParaRPr lang="en-US" sz="1350" dirty="0"/>
          </a:p>
        </p:txBody>
      </p:sp>
      <p:sp>
        <p:nvSpPr>
          <p:cNvPr id="35" name="Text 15"/>
          <p:cNvSpPr/>
          <p:nvPr/>
        </p:nvSpPr>
        <p:spPr>
          <a:xfrm>
            <a:off x="5986463" y="5324921"/>
            <a:ext cx="152400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Git 히스토리를 통한</a:t>
            </a:r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
</a:t>
            </a:r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작업의 의도와 변경 이력 추적</a:t>
            </a:r>
            <a:endParaRPr lang="en-US" sz="1050" dirty="0"/>
          </a:p>
        </p:txBody>
      </p:sp>
      <p:sp>
        <p:nvSpPr>
          <p:cNvPr id="36" name="Text 16"/>
          <p:cNvSpPr/>
          <p:nvPr/>
        </p:nvSpPr>
        <p:spPr>
          <a:xfrm>
            <a:off x="9539288" y="4924723"/>
            <a:ext cx="12954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12529"/>
                </a:solidFill>
              </a:rPr>
              <a:t>Documentation</a:t>
            </a:r>
            <a:endParaRPr lang="en-US" sz="1350" dirty="0"/>
          </a:p>
        </p:txBody>
      </p:sp>
      <p:sp>
        <p:nvSpPr>
          <p:cNvPr id="37" name="Text 17"/>
          <p:cNvSpPr/>
          <p:nvPr/>
        </p:nvSpPr>
        <p:spPr>
          <a:xfrm>
            <a:off x="9315450" y="5324773"/>
            <a:ext cx="1743075" cy="37355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23"/>
              </a:lnSpc>
              <a:buNone/>
            </a:pPr>
            <a:r>
              <a:rPr lang="en-US" sz="945" dirty="0">
                <a:solidFill>
                  <a:srgbClr val="6C757D"/>
                </a:solidFill>
                <a:highlight>
                  <a:srgbClr val="E9ECEF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Markdown</a:t>
            </a:r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 기반의 규칙과</a:t>
            </a:r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
</a:t>
            </a:r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지식 베이스(Rules, Notes) 통합</a:t>
            </a:r>
            <a:endParaRPr lang="en-US" sz="1050" dirty="0"/>
          </a:p>
        </p:txBody>
      </p:sp>
      <p:sp>
        <p:nvSpPr>
          <p:cNvPr id="38" name="Text 18"/>
          <p:cNvSpPr/>
          <p:nvPr/>
        </p:nvSpPr>
        <p:spPr>
          <a:xfrm>
            <a:off x="5124450" y="6305550"/>
            <a:ext cx="66865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C757D"/>
                </a:solidFill>
              </a:rPr>
              <a:t>Source: VS Code Extension API &amp; Agentic Workflow Case Study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86290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1091505"/>
            <a:ext cx="5143500" cy="90487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750" y="1272480"/>
            <a:ext cx="285750" cy="2286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05500" y="1391543"/>
            <a:ext cx="381000" cy="3048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2250" y="1091505"/>
            <a:ext cx="5143500" cy="904875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62750" y="1272480"/>
            <a:ext cx="285750" cy="2286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1000" y="2224980"/>
            <a:ext cx="11430000" cy="2871788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1000" y="2224980"/>
            <a:ext cx="1714500" cy="4572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95500" y="2224980"/>
            <a:ext cx="4857750" cy="4572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53250" y="2224980"/>
            <a:ext cx="4857750" cy="4572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1000" y="2682180"/>
            <a:ext cx="1714500" cy="442913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095500" y="2682180"/>
            <a:ext cx="4857750" cy="442913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953250" y="2682180"/>
            <a:ext cx="4857750" cy="442913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81000" y="3125093"/>
            <a:ext cx="1714500" cy="442913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095500" y="3125093"/>
            <a:ext cx="4857750" cy="442913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953250" y="3125093"/>
            <a:ext cx="4857750" cy="442913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81000" y="3568005"/>
            <a:ext cx="1714500" cy="442913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095500" y="3568005"/>
            <a:ext cx="4857750" cy="442913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953250" y="3568005"/>
            <a:ext cx="4857750" cy="442913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81000" y="4010918"/>
            <a:ext cx="1714500" cy="642938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095500" y="4010918"/>
            <a:ext cx="4857750" cy="642938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953250" y="4010918"/>
            <a:ext cx="4857750" cy="642938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81000" y="4653855"/>
            <a:ext cx="1714500" cy="442913"/>
          </a:xfrm>
          <a:prstGeom prst="rect">
            <a:avLst/>
          </a:prstGeom>
        </p:spPr>
      </p:pic>
      <p:pic>
        <p:nvPicPr>
          <p:cNvPr id="27" name="Image 25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095500" y="4653855"/>
            <a:ext cx="4857750" cy="442913"/>
          </a:xfrm>
          <a:prstGeom prst="rect">
            <a:avLst/>
          </a:prstGeom>
        </p:spPr>
      </p:pic>
      <p:pic>
        <p:nvPicPr>
          <p:cNvPr id="28" name="Image 26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953250" y="4653855"/>
            <a:ext cx="4857750" cy="442913"/>
          </a:xfrm>
          <a:prstGeom prst="rect">
            <a:avLst/>
          </a:prstGeom>
        </p:spPr>
      </p:pic>
      <p:pic>
        <p:nvPicPr>
          <p:cNvPr id="29" name="Image 27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81000" y="5325368"/>
            <a:ext cx="11430000" cy="731341"/>
          </a:xfrm>
          <a:prstGeom prst="rect">
            <a:avLst/>
          </a:prstGeom>
        </p:spPr>
      </p:pic>
      <p:pic>
        <p:nvPicPr>
          <p:cNvPr id="30" name="Image 28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71500" y="5548164"/>
            <a:ext cx="285750" cy="285750"/>
          </a:xfrm>
          <a:prstGeom prst="rect">
            <a:avLst/>
          </a:prstGeom>
        </p:spPr>
      </p:pic>
      <p:sp>
        <p:nvSpPr>
          <p:cNvPr id="31" name="Text 0"/>
          <p:cNvSpPr/>
          <p:nvPr/>
        </p:nvSpPr>
        <p:spPr>
          <a:xfrm>
            <a:off x="381000" y="228600"/>
            <a:ext cx="118110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212529"/>
                </a:solidFill>
              </a:rPr>
              <a:t>Prompting에서 Workflow Engineering으로의 이동</a:t>
            </a:r>
            <a:endParaRPr lang="en-US" sz="2100" dirty="0"/>
          </a:p>
        </p:txBody>
      </p:sp>
      <p:sp>
        <p:nvSpPr>
          <p:cNvPr id="32" name="Text 1"/>
          <p:cNvSpPr/>
          <p:nvPr/>
        </p:nvSpPr>
        <p:spPr>
          <a:xfrm>
            <a:off x="381000" y="586680"/>
            <a:ext cx="114300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단순한 언어적 기법인 프롬프팅을 넘어 업무 절차와 도구 연결을 구조화하는 시스템 설계 기법으로의 패러다임 변화</a:t>
            </a:r>
            <a:endParaRPr lang="en-US" sz="1050" dirty="0"/>
          </a:p>
        </p:txBody>
      </p:sp>
      <p:sp>
        <p:nvSpPr>
          <p:cNvPr id="33" name="Text 2"/>
          <p:cNvSpPr/>
          <p:nvPr/>
        </p:nvSpPr>
        <p:spPr>
          <a:xfrm>
            <a:off x="1066800" y="1243905"/>
            <a:ext cx="342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12529"/>
                </a:solidFill>
              </a:rPr>
              <a:t>Prompting Phase</a:t>
            </a:r>
            <a:endParaRPr lang="en-US" sz="1500" dirty="0"/>
          </a:p>
        </p:txBody>
      </p:sp>
      <p:sp>
        <p:nvSpPr>
          <p:cNvPr id="34" name="Text 3"/>
          <p:cNvSpPr/>
          <p:nvPr/>
        </p:nvSpPr>
        <p:spPr>
          <a:xfrm>
            <a:off x="666750" y="1643955"/>
            <a:ext cx="76809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AI를 '대화 상대'로 인식하여 질문의 기술(Art of asking)에 집중하던 단계</a:t>
            </a:r>
            <a:endParaRPr lang="en-US" sz="1050" dirty="0"/>
          </a:p>
        </p:txBody>
      </p:sp>
      <p:sp>
        <p:nvSpPr>
          <p:cNvPr id="35" name="Text 4"/>
          <p:cNvSpPr/>
          <p:nvPr/>
        </p:nvSpPr>
        <p:spPr>
          <a:xfrm>
            <a:off x="7162800" y="1243905"/>
            <a:ext cx="50292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12529"/>
                </a:solidFill>
              </a:rPr>
              <a:t>Workflow Engineering Phase</a:t>
            </a:r>
            <a:endParaRPr lang="en-US" sz="1500" dirty="0"/>
          </a:p>
        </p:txBody>
      </p:sp>
      <p:sp>
        <p:nvSpPr>
          <p:cNvPr id="36" name="Text 5"/>
          <p:cNvSpPr/>
          <p:nvPr/>
        </p:nvSpPr>
        <p:spPr>
          <a:xfrm>
            <a:off x="6762750" y="1643955"/>
            <a:ext cx="54292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AI를 '실행 엔진'으로 인식하여 시스템적 하네스(Harness)를 구축하는 단계</a:t>
            </a:r>
            <a:endParaRPr lang="en-US" sz="1050" dirty="0"/>
          </a:p>
        </p:txBody>
      </p:sp>
      <p:sp>
        <p:nvSpPr>
          <p:cNvPr id="37" name="Text 6"/>
          <p:cNvSpPr/>
          <p:nvPr/>
        </p:nvSpPr>
        <p:spPr>
          <a:xfrm>
            <a:off x="381000" y="2224980"/>
            <a:ext cx="1428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구분</a:t>
            </a:r>
            <a:endParaRPr lang="en-US" sz="1200" dirty="0"/>
          </a:p>
        </p:txBody>
      </p:sp>
      <p:sp>
        <p:nvSpPr>
          <p:cNvPr id="38" name="Text 7"/>
          <p:cNvSpPr/>
          <p:nvPr/>
        </p:nvSpPr>
        <p:spPr>
          <a:xfrm>
            <a:off x="2095500" y="22249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Prompting (Linguistic)</a:t>
            </a:r>
            <a:endParaRPr lang="en-US" sz="1200" dirty="0"/>
          </a:p>
        </p:txBody>
      </p:sp>
      <p:sp>
        <p:nvSpPr>
          <p:cNvPr id="39" name="Text 8"/>
          <p:cNvSpPr/>
          <p:nvPr/>
        </p:nvSpPr>
        <p:spPr>
          <a:xfrm>
            <a:off x="6953250" y="22249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Workflow Engineering (Systemic)</a:t>
            </a:r>
            <a:endParaRPr lang="en-US" sz="1200" dirty="0"/>
          </a:p>
        </p:txBody>
      </p:sp>
      <p:sp>
        <p:nvSpPr>
          <p:cNvPr id="40" name="Text 9"/>
          <p:cNvSpPr/>
          <p:nvPr/>
        </p:nvSpPr>
        <p:spPr>
          <a:xfrm>
            <a:off x="381000" y="2682180"/>
            <a:ext cx="133350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212529"/>
                </a:solidFill>
              </a:rPr>
              <a:t>핵심 목표</a:t>
            </a:r>
            <a:endParaRPr lang="en-US" sz="1125" dirty="0"/>
          </a:p>
        </p:txBody>
      </p:sp>
      <p:sp>
        <p:nvSpPr>
          <p:cNvPr id="41" name="Text 10"/>
          <p:cNvSpPr/>
          <p:nvPr/>
        </p:nvSpPr>
        <p:spPr>
          <a:xfrm>
            <a:off x="2286000" y="2682180"/>
            <a:ext cx="4740088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212529"/>
                </a:solidFill>
              </a:rPr>
              <a:t>모델의 응답 품질 최적화 (Output quality)</a:t>
            </a:r>
            <a:endParaRPr lang="en-US" sz="1125" dirty="0"/>
          </a:p>
        </p:txBody>
      </p:sp>
      <p:sp>
        <p:nvSpPr>
          <p:cNvPr id="42" name="Text 11"/>
          <p:cNvSpPr/>
          <p:nvPr/>
        </p:nvSpPr>
        <p:spPr>
          <a:xfrm>
            <a:off x="7143750" y="2815530"/>
            <a:ext cx="30861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C00000"/>
                </a:solidFill>
              </a:rPr>
              <a:t>업무 실행의 무결성과 재현성 확보</a:t>
            </a:r>
            <a:endParaRPr lang="en-US" sz="1125" dirty="0"/>
          </a:p>
        </p:txBody>
      </p:sp>
      <p:sp>
        <p:nvSpPr>
          <p:cNvPr id="43" name="Text 12"/>
          <p:cNvSpPr/>
          <p:nvPr/>
        </p:nvSpPr>
        <p:spPr>
          <a:xfrm>
            <a:off x="381000" y="3125093"/>
            <a:ext cx="133350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212529"/>
                </a:solidFill>
              </a:rPr>
              <a:t>접근 방식</a:t>
            </a:r>
            <a:endParaRPr lang="en-US" sz="1125" dirty="0"/>
          </a:p>
        </p:txBody>
      </p:sp>
      <p:sp>
        <p:nvSpPr>
          <p:cNvPr id="44" name="Text 13"/>
          <p:cNvSpPr/>
          <p:nvPr/>
        </p:nvSpPr>
        <p:spPr>
          <a:xfrm>
            <a:off x="2286000" y="3125093"/>
            <a:ext cx="447675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212529"/>
                </a:solidFill>
              </a:rPr>
              <a:t>언어적 유도 및 문맥 주입 (Linguistic)</a:t>
            </a:r>
            <a:endParaRPr lang="en-US" sz="1125" dirty="0"/>
          </a:p>
        </p:txBody>
      </p:sp>
      <p:sp>
        <p:nvSpPr>
          <p:cNvPr id="45" name="Text 14"/>
          <p:cNvSpPr/>
          <p:nvPr/>
        </p:nvSpPr>
        <p:spPr>
          <a:xfrm>
            <a:off x="7143750" y="3125093"/>
            <a:ext cx="504825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212529"/>
                </a:solidFill>
              </a:rPr>
              <a:t>절차, 도구, 규칙의 구조적 설계 (Engineering)</a:t>
            </a:r>
            <a:endParaRPr lang="en-US" sz="1125" dirty="0"/>
          </a:p>
        </p:txBody>
      </p:sp>
      <p:sp>
        <p:nvSpPr>
          <p:cNvPr id="46" name="Text 15"/>
          <p:cNvSpPr/>
          <p:nvPr/>
        </p:nvSpPr>
        <p:spPr>
          <a:xfrm>
            <a:off x="381000" y="3568005"/>
            <a:ext cx="133350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212529"/>
                </a:solidFill>
              </a:rPr>
              <a:t>주요 도구</a:t>
            </a:r>
            <a:endParaRPr lang="en-US" sz="1125" dirty="0"/>
          </a:p>
        </p:txBody>
      </p:sp>
      <p:sp>
        <p:nvSpPr>
          <p:cNvPr id="47" name="Text 16"/>
          <p:cNvSpPr/>
          <p:nvPr/>
        </p:nvSpPr>
        <p:spPr>
          <a:xfrm>
            <a:off x="2286000" y="3568005"/>
            <a:ext cx="505609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212529"/>
                </a:solidFill>
              </a:rPr>
              <a:t>System Prompt, Few-shot Examples</a:t>
            </a:r>
            <a:endParaRPr lang="en-US" sz="1125" dirty="0"/>
          </a:p>
        </p:txBody>
      </p:sp>
      <p:sp>
        <p:nvSpPr>
          <p:cNvPr id="48" name="Text 17"/>
          <p:cNvSpPr/>
          <p:nvPr/>
        </p:nvSpPr>
        <p:spPr>
          <a:xfrm>
            <a:off x="7143750" y="3701355"/>
            <a:ext cx="5048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C00000"/>
                </a:solidFill>
              </a:rPr>
              <a:t>Rules, Skills, Workflows, MCP Servers</a:t>
            </a:r>
            <a:endParaRPr lang="en-US" sz="1125" dirty="0"/>
          </a:p>
        </p:txBody>
      </p:sp>
      <p:sp>
        <p:nvSpPr>
          <p:cNvPr id="49" name="Text 18"/>
          <p:cNvSpPr/>
          <p:nvPr/>
        </p:nvSpPr>
        <p:spPr>
          <a:xfrm>
            <a:off x="381000" y="4010918"/>
            <a:ext cx="1333500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212529"/>
                </a:solidFill>
              </a:rPr>
              <a:t>통제 수준</a:t>
            </a:r>
            <a:endParaRPr lang="en-US" sz="1125" dirty="0"/>
          </a:p>
        </p:txBody>
      </p:sp>
      <p:sp>
        <p:nvSpPr>
          <p:cNvPr id="50" name="Text 19"/>
          <p:cNvSpPr/>
          <p:nvPr/>
        </p:nvSpPr>
        <p:spPr>
          <a:xfrm>
            <a:off x="2286000" y="4010918"/>
            <a:ext cx="4476750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212529"/>
                </a:solidFill>
              </a:rPr>
              <a:t>확률적 (모델의 답변에 의존)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B5E20"/>
                </a:solidFill>
              </a:rPr>
              <a:t>* Drift 발생 가능성 높음</a:t>
            </a:r>
            <a:endParaRPr lang="en-US" sz="1125" dirty="0"/>
          </a:p>
        </p:txBody>
      </p:sp>
      <p:sp>
        <p:nvSpPr>
          <p:cNvPr id="51" name="Text 20"/>
          <p:cNvSpPr/>
          <p:nvPr/>
        </p:nvSpPr>
        <p:spPr>
          <a:xfrm>
            <a:off x="7143750" y="4010918"/>
            <a:ext cx="4476750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212529"/>
                </a:solidFill>
              </a:rPr>
              <a:t>결정론적 (정의된 하네스 내에서 작동)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B5E20"/>
                </a:solidFill>
              </a:rPr>
              <a:t>* Audit 및 통제 가능성 확보</a:t>
            </a:r>
            <a:endParaRPr lang="en-US" sz="1125" dirty="0"/>
          </a:p>
        </p:txBody>
      </p:sp>
      <p:sp>
        <p:nvSpPr>
          <p:cNvPr id="52" name="Text 21"/>
          <p:cNvSpPr/>
          <p:nvPr/>
        </p:nvSpPr>
        <p:spPr>
          <a:xfrm>
            <a:off x="381000" y="4653855"/>
            <a:ext cx="133350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212529"/>
                </a:solidFill>
              </a:rPr>
              <a:t>확장성</a:t>
            </a:r>
            <a:endParaRPr lang="en-US" sz="1125" dirty="0"/>
          </a:p>
        </p:txBody>
      </p:sp>
      <p:sp>
        <p:nvSpPr>
          <p:cNvPr id="53" name="Text 22"/>
          <p:cNvSpPr/>
          <p:nvPr/>
        </p:nvSpPr>
        <p:spPr>
          <a:xfrm>
            <a:off x="2286000" y="4653855"/>
            <a:ext cx="447675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212529"/>
                </a:solidFill>
              </a:rPr>
              <a:t>개별 작업 단위의 휘발성 최적화</a:t>
            </a:r>
            <a:endParaRPr lang="en-US" sz="1125" dirty="0"/>
          </a:p>
        </p:txBody>
      </p:sp>
      <p:sp>
        <p:nvSpPr>
          <p:cNvPr id="54" name="Text 23"/>
          <p:cNvSpPr/>
          <p:nvPr/>
        </p:nvSpPr>
        <p:spPr>
          <a:xfrm>
            <a:off x="7143750" y="4787205"/>
            <a:ext cx="3429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C00000"/>
                </a:solidFill>
              </a:rPr>
              <a:t>모듈화된 프로세스의 자산화 및 재사용</a:t>
            </a:r>
            <a:endParaRPr lang="en-US" sz="1125" dirty="0"/>
          </a:p>
        </p:txBody>
      </p:sp>
      <p:sp>
        <p:nvSpPr>
          <p:cNvPr id="55" name="Text 24"/>
          <p:cNvSpPr/>
          <p:nvPr/>
        </p:nvSpPr>
        <p:spPr>
          <a:xfrm>
            <a:off x="1047750" y="5477768"/>
            <a:ext cx="10572750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핵심 전환점: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 이제는 "AI에게 어떻게 말할까?"가 아니라 </a:t>
            </a:r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"AI가 참조할 수 있는 나의 업무 맥락과 절차를 어떻게 구조화할까?"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를 고민해야 합니다. 모델은 엔진일 뿐, 전체 시스템(Harness)의 설계가 성패를 좌우합니다.</a:t>
            </a:r>
            <a:endParaRPr lang="en-US" sz="1200" dirty="0"/>
          </a:p>
        </p:txBody>
      </p:sp>
      <p:sp>
        <p:nvSpPr>
          <p:cNvPr id="56" name="Text 25"/>
          <p:cNvSpPr/>
          <p:nvPr/>
        </p:nvSpPr>
        <p:spPr>
          <a:xfrm>
            <a:off x="381000" y="6285309"/>
            <a:ext cx="114300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C757D"/>
                </a:solidFill>
              </a:rPr>
              <a:t>Source: Agentic Workflow Methodology Guide (2026)</a:t>
            </a:r>
            <a:endParaRPr lang="en-US" sz="8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94863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181398"/>
            <a:ext cx="5065514" cy="2954238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" y="1467148"/>
            <a:ext cx="238125" cy="1905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25" y="1848148"/>
            <a:ext cx="190500" cy="1905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125" y="2450009"/>
            <a:ext cx="190500" cy="2222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" y="3051870"/>
            <a:ext cx="190500" cy="166688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000" y="4326136"/>
            <a:ext cx="5065514" cy="2108597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9125" y="4611886"/>
            <a:ext cx="238125" cy="1905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9125" y="4992886"/>
            <a:ext cx="190500" cy="1905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9125" y="5594747"/>
            <a:ext cx="190500" cy="1905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32264" y="1522065"/>
            <a:ext cx="6078736" cy="45720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14382" y="2950815"/>
            <a:ext cx="1714500" cy="17145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85882" y="3274665"/>
            <a:ext cx="571500" cy="4572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08514" y="1998315"/>
            <a:ext cx="1896368" cy="11430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013823" y="2217390"/>
            <a:ext cx="285750" cy="2286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438382" y="1998315"/>
            <a:ext cx="1896368" cy="11430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243691" y="2217390"/>
            <a:ext cx="285750" cy="2286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208514" y="4474815"/>
            <a:ext cx="1896368" cy="114300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013823" y="4693890"/>
            <a:ext cx="285750" cy="22860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438382" y="4474815"/>
            <a:ext cx="1896368" cy="114300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243691" y="4693890"/>
            <a:ext cx="285750" cy="228600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342882" y="2379315"/>
            <a:ext cx="2857500" cy="2857500"/>
          </a:xfrm>
          <a:prstGeom prst="rect">
            <a:avLst/>
          </a:prstGeom>
        </p:spPr>
      </p:pic>
      <p:sp>
        <p:nvSpPr>
          <p:cNvPr id="25" name="Text 0"/>
          <p:cNvSpPr/>
          <p:nvPr/>
        </p:nvSpPr>
        <p:spPr>
          <a:xfrm>
            <a:off x="381000" y="285750"/>
            <a:ext cx="114300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212529"/>
                </a:solidFill>
              </a:rPr>
              <a:t>Cline 소개: VS Code 안의 개인화 에이전트 하네스</a:t>
            </a:r>
            <a:endParaRPr lang="en-US" sz="2100" dirty="0"/>
          </a:p>
        </p:txBody>
      </p:sp>
      <p:sp>
        <p:nvSpPr>
          <p:cNvPr id="26" name="Text 1"/>
          <p:cNvSpPr/>
          <p:nvPr/>
        </p:nvSpPr>
        <p:spPr>
          <a:xfrm>
            <a:off x="381000" y="653355"/>
            <a:ext cx="114300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단순한 코딩 어시스턴트를 넘어, 업무의 맥락과 절차를 실행 가능한 '하네스'로 통합</a:t>
            </a:r>
            <a:endParaRPr lang="en-US" sz="1050" dirty="0"/>
          </a:p>
        </p:txBody>
      </p:sp>
      <p:sp>
        <p:nvSpPr>
          <p:cNvPr id="27" name="Text 2"/>
          <p:cNvSpPr/>
          <p:nvPr/>
        </p:nvSpPr>
        <p:spPr>
          <a:xfrm>
            <a:off x="952500" y="1419523"/>
            <a:ext cx="29718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12529"/>
                </a:solidFill>
              </a:rPr>
              <a:t>Cline의 정의와 본질</a:t>
            </a:r>
            <a:endParaRPr lang="en-US" sz="1500" dirty="0"/>
          </a:p>
        </p:txBody>
      </p:sp>
      <p:sp>
        <p:nvSpPr>
          <p:cNvPr id="28" name="Text 3"/>
          <p:cNvSpPr/>
          <p:nvPr/>
        </p:nvSpPr>
        <p:spPr>
          <a:xfrm>
            <a:off x="904875" y="1848148"/>
            <a:ext cx="4303514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212529"/>
                </a:solidFill>
              </a:rPr>
              <a:t>VS Code Native Integration: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212529"/>
                </a:solidFill>
              </a:rPr>
              <a:t> IDE 환경에 깊숙이 통합되어 파일 시스템과 터미널에 직접 접근하는 오픈소스 확장 프로그램입니다.</a:t>
            </a:r>
            <a:endParaRPr lang="en-US" sz="1200" dirty="0"/>
          </a:p>
        </p:txBody>
      </p:sp>
      <p:sp>
        <p:nvSpPr>
          <p:cNvPr id="29" name="Text 4"/>
          <p:cNvSpPr/>
          <p:nvPr/>
        </p:nvSpPr>
        <p:spPr>
          <a:xfrm>
            <a:off x="904875" y="2450009"/>
            <a:ext cx="4303514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212529"/>
                </a:solidFill>
              </a:rPr>
              <a:t>Agentic Harness: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212529"/>
                </a:solidFill>
              </a:rPr>
              <a:t> </a:t>
            </a:r>
            <a:pPr algn="l" indent="0" marL="0">
              <a:lnSpc>
                <a:spcPts val="1560"/>
              </a:lnSpc>
              <a:buNone/>
            </a:pPr>
            <a:r>
              <a:rPr lang="en-US" sz="975" b="1" dirty="0">
                <a:solidFill>
                  <a:srgbClr val="1B5E20"/>
                </a:solidFill>
                <a:highlight>
                  <a:srgbClr val="1B5E20"/>
                </a:highlight>
              </a:rPr>
              <a:t>Harness: 통제 장치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212529"/>
                </a:solidFill>
              </a:rPr>
              <a:t> LLM의 지능을 실제 로컬 작업 환경과 안전하게 연결하는 실행 인프라 역할을 수행합니다.</a:t>
            </a:r>
            <a:endParaRPr lang="en-US" sz="1200" dirty="0"/>
          </a:p>
        </p:txBody>
      </p:sp>
      <p:sp>
        <p:nvSpPr>
          <p:cNvPr id="30" name="Text 5"/>
          <p:cNvSpPr/>
          <p:nvPr/>
        </p:nvSpPr>
        <p:spPr>
          <a:xfrm>
            <a:off x="904875" y="3051870"/>
            <a:ext cx="4303514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212529"/>
                </a:solidFill>
              </a:rPr>
              <a:t>Context Orchestration: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212529"/>
                </a:solidFill>
              </a:rPr>
              <a:t> 사용자의 프롬프트를 단순 실행하는 것을 넘어, 규칙(Rules)과 업무 맥락을 조합하여 자율적으로 목표를 달성합니다.</a:t>
            </a:r>
            <a:endParaRPr lang="en-US" sz="1200" dirty="0"/>
          </a:p>
        </p:txBody>
      </p:sp>
      <p:sp>
        <p:nvSpPr>
          <p:cNvPr id="31" name="Text 6"/>
          <p:cNvSpPr/>
          <p:nvPr/>
        </p:nvSpPr>
        <p:spPr>
          <a:xfrm>
            <a:off x="952500" y="4564261"/>
            <a:ext cx="29718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12529"/>
                </a:solidFill>
              </a:rPr>
              <a:t>개인화된 에이전트의 가치</a:t>
            </a:r>
            <a:endParaRPr lang="en-US" sz="1500" dirty="0"/>
          </a:p>
        </p:txBody>
      </p:sp>
      <p:sp>
        <p:nvSpPr>
          <p:cNvPr id="32" name="Text 7"/>
          <p:cNvSpPr/>
          <p:nvPr/>
        </p:nvSpPr>
        <p:spPr>
          <a:xfrm>
            <a:off x="904875" y="4992886"/>
            <a:ext cx="4303514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212529"/>
                </a:solidFill>
              </a:rPr>
              <a:t>보안 및 거버넌스: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212529"/>
                </a:solidFill>
              </a:rPr>
              <a:t> 로컬 환경에서 실행되므로 데이터 유출 위험을 최소화하며 온프레미스 LLM과 연동 가능합니다.</a:t>
            </a:r>
            <a:endParaRPr lang="en-US" sz="1200" dirty="0"/>
          </a:p>
        </p:txBody>
      </p:sp>
      <p:sp>
        <p:nvSpPr>
          <p:cNvPr id="33" name="Text 8"/>
          <p:cNvSpPr/>
          <p:nvPr/>
        </p:nvSpPr>
        <p:spPr>
          <a:xfrm>
            <a:off x="904875" y="5594747"/>
            <a:ext cx="4303514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212529"/>
                </a:solidFill>
              </a:rPr>
              <a:t>재사용 가능한 워크플로우: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212529"/>
                </a:solidFill>
              </a:rPr>
              <a:t> 한 번 정의된 규칙과 스킬은 마크다운 기반으로 관리되어 다른 프로젝트에서도 즉시 재사용됩니다.</a:t>
            </a:r>
            <a:endParaRPr lang="en-US" sz="1200" dirty="0"/>
          </a:p>
        </p:txBody>
      </p:sp>
      <p:sp>
        <p:nvSpPr>
          <p:cNvPr id="34" name="Text 9"/>
          <p:cNvSpPr/>
          <p:nvPr/>
        </p:nvSpPr>
        <p:spPr>
          <a:xfrm>
            <a:off x="8452545" y="3827115"/>
            <a:ext cx="1371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FFFFFF"/>
                </a:solidFill>
              </a:rPr>
              <a:t>CLINE</a:t>
            </a:r>
            <a:endParaRPr lang="en-US" sz="1800" dirty="0"/>
          </a:p>
        </p:txBody>
      </p:sp>
      <p:sp>
        <p:nvSpPr>
          <p:cNvPr id="35" name="Text 10"/>
          <p:cNvSpPr/>
          <p:nvPr/>
        </p:nvSpPr>
        <p:spPr>
          <a:xfrm>
            <a:off x="8328720" y="4170015"/>
            <a:ext cx="20574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</a:rPr>
              <a:t>Agentic Harness</a:t>
            </a:r>
            <a:endParaRPr lang="en-US" sz="900" dirty="0"/>
          </a:p>
        </p:txBody>
      </p:sp>
      <p:sp>
        <p:nvSpPr>
          <p:cNvPr id="36" name="Text 11"/>
          <p:cNvSpPr/>
          <p:nvPr/>
        </p:nvSpPr>
        <p:spPr>
          <a:xfrm>
            <a:off x="6728073" y="2522190"/>
            <a:ext cx="857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212529"/>
                </a:solidFill>
              </a:rPr>
              <a:t>File System</a:t>
            </a:r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212529"/>
                </a:solidFill>
              </a:rPr>
              <a:t>
</a:t>
            </a:r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212529"/>
                </a:solidFill>
              </a:rPr>
              <a:t>(Read/Write)</a:t>
            </a:r>
            <a:endParaRPr lang="en-US" sz="1050" dirty="0"/>
          </a:p>
        </p:txBody>
      </p:sp>
      <p:sp>
        <p:nvSpPr>
          <p:cNvPr id="37" name="Text 12"/>
          <p:cNvSpPr/>
          <p:nvPr/>
        </p:nvSpPr>
        <p:spPr>
          <a:xfrm>
            <a:off x="10005566" y="2522190"/>
            <a:ext cx="762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212529"/>
                </a:solidFill>
              </a:rPr>
              <a:t>Terminal</a:t>
            </a:r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212529"/>
                </a:solidFill>
              </a:rPr>
              <a:t>
</a:t>
            </a:r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212529"/>
                </a:solidFill>
              </a:rPr>
              <a:t>(Execution)</a:t>
            </a:r>
            <a:endParaRPr lang="en-US" sz="1050" dirty="0"/>
          </a:p>
        </p:txBody>
      </p:sp>
      <p:sp>
        <p:nvSpPr>
          <p:cNvPr id="38" name="Text 13"/>
          <p:cNvSpPr/>
          <p:nvPr/>
        </p:nvSpPr>
        <p:spPr>
          <a:xfrm>
            <a:off x="6628061" y="4998690"/>
            <a:ext cx="10572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212529"/>
                </a:solidFill>
              </a:rPr>
              <a:t>Rules &amp; Context</a:t>
            </a:r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212529"/>
                </a:solidFill>
              </a:rPr>
              <a:t>
</a:t>
            </a:r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212529"/>
                </a:solidFill>
              </a:rPr>
              <a:t>(Knowledge)</a:t>
            </a:r>
            <a:endParaRPr lang="en-US" sz="1050" dirty="0"/>
          </a:p>
        </p:txBody>
      </p:sp>
      <p:sp>
        <p:nvSpPr>
          <p:cNvPr id="39" name="Text 14"/>
          <p:cNvSpPr/>
          <p:nvPr/>
        </p:nvSpPr>
        <p:spPr>
          <a:xfrm>
            <a:off x="9938891" y="4998690"/>
            <a:ext cx="8953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212529"/>
                </a:solidFill>
              </a:rPr>
              <a:t>Browser</a:t>
            </a:r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212529"/>
                </a:solidFill>
              </a:rPr>
              <a:t>
</a:t>
            </a:r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212529"/>
                </a:solidFill>
              </a:rPr>
              <a:t>(Information)</a:t>
            </a:r>
            <a:endParaRPr lang="en-US" sz="1050" dirty="0"/>
          </a:p>
        </p:txBody>
      </p:sp>
      <p:sp>
        <p:nvSpPr>
          <p:cNvPr id="40" name="Text 15"/>
          <p:cNvSpPr/>
          <p:nvPr/>
        </p:nvSpPr>
        <p:spPr>
          <a:xfrm>
            <a:off x="8963025" y="6496050"/>
            <a:ext cx="32289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C757D"/>
                </a:solidFill>
              </a:rPr>
              <a:t>Source: Cline Open Source Project Case Study (2025)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94863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139130"/>
            <a:ext cx="2714625" cy="497592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00188" y="1552426"/>
            <a:ext cx="476250" cy="3810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86125" y="1139130"/>
            <a:ext cx="2714625" cy="497592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05313" y="1552426"/>
            <a:ext cx="476250" cy="3810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91250" y="1139130"/>
            <a:ext cx="2714625" cy="497592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10438" y="1552426"/>
            <a:ext cx="476250" cy="3810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96375" y="1139130"/>
            <a:ext cx="2714625" cy="497592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215563" y="1552426"/>
            <a:ext cx="476250" cy="381000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381000" y="285750"/>
            <a:ext cx="114300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212529"/>
                </a:solidFill>
              </a:rPr>
              <a:t>Cline의 4대 핵심 역할과 기능</a:t>
            </a:r>
            <a:endParaRPr lang="en-US" sz="2100" dirty="0"/>
          </a:p>
        </p:txBody>
      </p:sp>
      <p:sp>
        <p:nvSpPr>
          <p:cNvPr id="14" name="Text 1"/>
          <p:cNvSpPr/>
          <p:nvPr/>
        </p:nvSpPr>
        <p:spPr>
          <a:xfrm>
            <a:off x="381000" y="653355"/>
            <a:ext cx="114300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단순 코딩 보조를 넘어 실행 가능한 워크플로우 하네스로서의 진화</a:t>
            </a:r>
            <a:endParaRPr lang="en-US" sz="1050" dirty="0"/>
          </a:p>
        </p:txBody>
      </p:sp>
      <p:sp>
        <p:nvSpPr>
          <p:cNvPr id="15" name="Text 2"/>
          <p:cNvSpPr/>
          <p:nvPr/>
        </p:nvSpPr>
        <p:spPr>
          <a:xfrm>
            <a:off x="571500" y="2186880"/>
            <a:ext cx="233362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12529"/>
                </a:solidFill>
              </a:rPr>
              <a:t>Coding Agent</a:t>
            </a:r>
            <a:endParaRPr lang="en-US" sz="1500" dirty="0"/>
          </a:p>
        </p:txBody>
      </p:sp>
      <p:sp>
        <p:nvSpPr>
          <p:cNvPr id="16" name="Text 3"/>
          <p:cNvSpPr/>
          <p:nvPr/>
        </p:nvSpPr>
        <p:spPr>
          <a:xfrm>
            <a:off x="762000" y="2806005"/>
            <a:ext cx="21431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495057"/>
                </a:solidFill>
              </a:rPr>
              <a:t>로컬 코드베이스의 정밀 분석 및 컨텍스트 이해</a:t>
            </a:r>
            <a:endParaRPr lang="en-US" sz="1125" dirty="0"/>
          </a:p>
        </p:txBody>
      </p:sp>
      <p:sp>
        <p:nvSpPr>
          <p:cNvPr id="17" name="Text 4"/>
          <p:cNvSpPr/>
          <p:nvPr/>
        </p:nvSpPr>
        <p:spPr>
          <a:xfrm>
            <a:off x="762000" y="3377505"/>
            <a:ext cx="21431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495057"/>
                </a:solidFill>
              </a:rPr>
              <a:t>함수 단위 구현부터 전체 시스템 리팩토링 수행</a:t>
            </a:r>
            <a:endParaRPr lang="en-US" sz="1125" dirty="0"/>
          </a:p>
        </p:txBody>
      </p:sp>
      <p:sp>
        <p:nvSpPr>
          <p:cNvPr id="18" name="Text 5"/>
          <p:cNvSpPr/>
          <p:nvPr/>
        </p:nvSpPr>
        <p:spPr>
          <a:xfrm>
            <a:off x="762000" y="3949005"/>
            <a:ext cx="29916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495057"/>
                </a:solidFill>
              </a:rPr>
              <a:t>버그 추적 및 자동 수정 패치 제안</a:t>
            </a:r>
            <a:endParaRPr lang="en-US" sz="1125" dirty="0"/>
          </a:p>
        </p:txBody>
      </p:sp>
      <p:sp>
        <p:nvSpPr>
          <p:cNvPr id="19" name="Text 6"/>
          <p:cNvSpPr/>
          <p:nvPr/>
        </p:nvSpPr>
        <p:spPr>
          <a:xfrm>
            <a:off x="571500" y="5643563"/>
            <a:ext cx="292227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1B5E20"/>
                </a:solidFill>
              </a:rPr>
              <a:t>#Codebase_Awareness</a:t>
            </a:r>
            <a:endParaRPr lang="en-US" sz="975" dirty="0"/>
          </a:p>
        </p:txBody>
      </p:sp>
      <p:sp>
        <p:nvSpPr>
          <p:cNvPr id="20" name="Text 7"/>
          <p:cNvSpPr/>
          <p:nvPr/>
        </p:nvSpPr>
        <p:spPr>
          <a:xfrm>
            <a:off x="3476625" y="2186880"/>
            <a:ext cx="233362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12529"/>
                </a:solidFill>
              </a:rPr>
              <a:t>Tool-using Agent</a:t>
            </a:r>
            <a:endParaRPr lang="en-US" sz="1500" dirty="0"/>
          </a:p>
        </p:txBody>
      </p:sp>
      <p:sp>
        <p:nvSpPr>
          <p:cNvPr id="21" name="Text 8"/>
          <p:cNvSpPr/>
          <p:nvPr/>
        </p:nvSpPr>
        <p:spPr>
          <a:xfrm>
            <a:off x="3667125" y="2806005"/>
            <a:ext cx="21431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495057"/>
                </a:solidFill>
              </a:rPr>
              <a:t>터미널 직접 제어를 통한 명령 실행 및 결과 검증</a:t>
            </a:r>
            <a:endParaRPr lang="en-US" sz="1125" dirty="0"/>
          </a:p>
        </p:txBody>
      </p:sp>
      <p:sp>
        <p:nvSpPr>
          <p:cNvPr id="22" name="Text 9"/>
          <p:cNvSpPr/>
          <p:nvPr/>
        </p:nvSpPr>
        <p:spPr>
          <a:xfrm>
            <a:off x="3667125" y="3377505"/>
            <a:ext cx="21431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495057"/>
                </a:solidFill>
              </a:rPr>
              <a:t>파일 시스템 CRUD 및 브라우저 자동화 활용</a:t>
            </a:r>
            <a:endParaRPr lang="en-US" sz="1125" dirty="0"/>
          </a:p>
        </p:txBody>
      </p:sp>
      <p:sp>
        <p:nvSpPr>
          <p:cNvPr id="23" name="Text 10"/>
          <p:cNvSpPr/>
          <p:nvPr/>
        </p:nvSpPr>
        <p:spPr>
          <a:xfrm>
            <a:off x="3667125" y="3949005"/>
            <a:ext cx="2143125" cy="46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495057"/>
                </a:solidFill>
              </a:rPr>
              <a:t>외부 API 및 </a:t>
            </a:r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495057"/>
                </a:solidFill>
                <a:highlight>
                  <a:srgbClr val="F8F9FA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MCP</a:t>
            </a:r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495057"/>
                </a:solidFill>
              </a:rPr>
              <a:t> 서버 연동 스킬 확장</a:t>
            </a:r>
            <a:endParaRPr lang="en-US" sz="1125" dirty="0"/>
          </a:p>
        </p:txBody>
      </p:sp>
      <p:sp>
        <p:nvSpPr>
          <p:cNvPr id="24" name="Text 11"/>
          <p:cNvSpPr/>
          <p:nvPr/>
        </p:nvSpPr>
        <p:spPr>
          <a:xfrm>
            <a:off x="3476625" y="5643563"/>
            <a:ext cx="396240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1B5E20"/>
                </a:solidFill>
              </a:rPr>
              <a:t>*Model Context Protocol 지원</a:t>
            </a:r>
            <a:endParaRPr lang="en-US" sz="975" dirty="0"/>
          </a:p>
        </p:txBody>
      </p:sp>
      <p:sp>
        <p:nvSpPr>
          <p:cNvPr id="25" name="Text 12"/>
          <p:cNvSpPr/>
          <p:nvPr/>
        </p:nvSpPr>
        <p:spPr>
          <a:xfrm>
            <a:off x="6381750" y="2186880"/>
            <a:ext cx="233362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12529"/>
                </a:solidFill>
              </a:rPr>
              <a:t>Workflow Assistant</a:t>
            </a:r>
            <a:endParaRPr lang="en-US" sz="1500" dirty="0"/>
          </a:p>
        </p:txBody>
      </p:sp>
      <p:sp>
        <p:nvSpPr>
          <p:cNvPr id="26" name="Text 13"/>
          <p:cNvSpPr/>
          <p:nvPr/>
        </p:nvSpPr>
        <p:spPr>
          <a:xfrm>
            <a:off x="6572250" y="2806005"/>
            <a:ext cx="21431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495057"/>
                </a:solidFill>
              </a:rPr>
              <a:t>복잡한 다단계 업무의 순차적 상태 관리</a:t>
            </a:r>
            <a:endParaRPr lang="en-US" sz="1125" dirty="0"/>
          </a:p>
        </p:txBody>
      </p:sp>
      <p:sp>
        <p:nvSpPr>
          <p:cNvPr id="27" name="Text 14"/>
          <p:cNvSpPr/>
          <p:nvPr/>
        </p:nvSpPr>
        <p:spPr>
          <a:xfrm>
            <a:off x="6572250" y="3377505"/>
            <a:ext cx="21431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495057"/>
                </a:solidFill>
              </a:rPr>
              <a:t>중간 결과물 기록을 통한 지속적 작업 맥락 유지</a:t>
            </a:r>
            <a:endParaRPr lang="en-US" sz="1125" dirty="0"/>
          </a:p>
        </p:txBody>
      </p:sp>
      <p:sp>
        <p:nvSpPr>
          <p:cNvPr id="28" name="Text 15"/>
          <p:cNvSpPr/>
          <p:nvPr/>
        </p:nvSpPr>
        <p:spPr>
          <a:xfrm>
            <a:off x="6572250" y="3949005"/>
            <a:ext cx="21431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495057"/>
                </a:solidFill>
              </a:rPr>
              <a:t>반복적인 비즈니스 로직의 절차적 자동화</a:t>
            </a:r>
            <a:endParaRPr lang="en-US" sz="1125" dirty="0"/>
          </a:p>
        </p:txBody>
      </p:sp>
      <p:sp>
        <p:nvSpPr>
          <p:cNvPr id="29" name="Text 16"/>
          <p:cNvSpPr/>
          <p:nvPr/>
        </p:nvSpPr>
        <p:spPr>
          <a:xfrm>
            <a:off x="6381750" y="5643563"/>
            <a:ext cx="32194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1B5E20"/>
                </a:solidFill>
              </a:rPr>
              <a:t>#Multi-step_Execution</a:t>
            </a:r>
            <a:endParaRPr lang="en-US" sz="975" dirty="0"/>
          </a:p>
        </p:txBody>
      </p:sp>
      <p:sp>
        <p:nvSpPr>
          <p:cNvPr id="30" name="Text 17"/>
          <p:cNvSpPr/>
          <p:nvPr/>
        </p:nvSpPr>
        <p:spPr>
          <a:xfrm>
            <a:off x="9286875" y="2186880"/>
            <a:ext cx="233362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12529"/>
                </a:solidFill>
              </a:rPr>
              <a:t>Personal Workflow Harness</a:t>
            </a:r>
            <a:endParaRPr lang="en-US" sz="1500" dirty="0"/>
          </a:p>
        </p:txBody>
      </p:sp>
      <p:sp>
        <p:nvSpPr>
          <p:cNvPr id="31" name="Text 18"/>
          <p:cNvSpPr/>
          <p:nvPr/>
        </p:nvSpPr>
        <p:spPr>
          <a:xfrm>
            <a:off x="9515475" y="2806005"/>
            <a:ext cx="2143125" cy="46092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495057"/>
                </a:solidFill>
                <a:highlight>
                  <a:srgbClr val="F8F9FA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.clinerules</a:t>
            </a:r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495057"/>
                </a:solidFill>
              </a:rPr>
              <a:t> 기반의 사용자 정의 규칙 강제</a:t>
            </a:r>
            <a:endParaRPr lang="en-US" sz="1125" dirty="0"/>
          </a:p>
        </p:txBody>
      </p:sp>
      <p:sp>
        <p:nvSpPr>
          <p:cNvPr id="32" name="Text 19"/>
          <p:cNvSpPr/>
          <p:nvPr/>
        </p:nvSpPr>
        <p:spPr>
          <a:xfrm>
            <a:off x="9477375" y="3381226"/>
            <a:ext cx="21431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495057"/>
                </a:solidFill>
              </a:rPr>
              <a:t>On-premise 환경 연동을 통한 데이터 보안 게이트</a:t>
            </a:r>
            <a:endParaRPr lang="en-US" sz="1125" dirty="0"/>
          </a:p>
        </p:txBody>
      </p:sp>
      <p:sp>
        <p:nvSpPr>
          <p:cNvPr id="33" name="Text 20"/>
          <p:cNvSpPr/>
          <p:nvPr/>
        </p:nvSpPr>
        <p:spPr>
          <a:xfrm>
            <a:off x="9477375" y="3952726"/>
            <a:ext cx="21431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495057"/>
                </a:solidFill>
              </a:rPr>
              <a:t>인간의 검토(Review)를 필수 단계로 설정 가능</a:t>
            </a:r>
            <a:endParaRPr lang="en-US" sz="1125" dirty="0"/>
          </a:p>
        </p:txBody>
      </p:sp>
      <p:sp>
        <p:nvSpPr>
          <p:cNvPr id="34" name="Text 21"/>
          <p:cNvSpPr/>
          <p:nvPr/>
        </p:nvSpPr>
        <p:spPr>
          <a:xfrm>
            <a:off x="9286875" y="5643563"/>
            <a:ext cx="2905125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1B5E20"/>
                </a:solidFill>
              </a:rPr>
              <a:t>#Governance_&amp;_Control</a:t>
            </a:r>
            <a:endParaRPr lang="en-US" sz="975" dirty="0"/>
          </a:p>
        </p:txBody>
      </p:sp>
      <p:sp>
        <p:nvSpPr>
          <p:cNvPr id="35" name="Text 22"/>
          <p:cNvSpPr/>
          <p:nvPr/>
        </p:nvSpPr>
        <p:spPr>
          <a:xfrm>
            <a:off x="0" y="6496050"/>
            <a:ext cx="1143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C757D"/>
                </a:solidFill>
              </a:rPr>
              <a:t>Source: Cline Documentation &amp; Case Study Analysis (2026)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304800"/>
            <a:ext cx="11811000" cy="1108621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489621"/>
            <a:ext cx="4892427" cy="1560909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1746796"/>
            <a:ext cx="381000" cy="2286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241030"/>
            <a:ext cx="4892427" cy="1560909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3498205"/>
            <a:ext cx="381000" cy="2286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4992439"/>
            <a:ext cx="4892427" cy="1560909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0100" y="5249614"/>
            <a:ext cx="381000" cy="2286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49677" y="1489621"/>
            <a:ext cx="5870823" cy="5063579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35427" y="1768673"/>
            <a:ext cx="261937" cy="21342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35427" y="2184946"/>
            <a:ext cx="5295900" cy="344805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35427" y="5753100"/>
            <a:ext cx="5299323" cy="5715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35427" y="5906244"/>
            <a:ext cx="166688" cy="13722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035427" y="6163419"/>
            <a:ext cx="166688" cy="137220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952500" y="609600"/>
            <a:ext cx="1123950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212529"/>
                </a:solidFill>
              </a:rPr>
              <a:t>On-premise LLM 연동의 필요성: Qwen 2.5 사례</a:t>
            </a:r>
            <a:endParaRPr lang="en-US" sz="2400" dirty="0"/>
          </a:p>
        </p:txBody>
      </p:sp>
      <p:sp>
        <p:nvSpPr>
          <p:cNvPr id="18" name="Text 1"/>
          <p:cNvSpPr/>
          <p:nvPr/>
        </p:nvSpPr>
        <p:spPr>
          <a:xfrm>
            <a:off x="952500" y="1032421"/>
            <a:ext cx="11239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C757D"/>
                </a:solidFill>
              </a:rPr>
              <a:t>1M 컨텍스트를 지원하는 Qwen 2.5 등을 활용한 온프레미스 구축이 왜 현대적 업무 자동화에 필수적인지 논의합니다.</a:t>
            </a:r>
            <a:endParaRPr lang="en-US" sz="1200" dirty="0"/>
          </a:p>
        </p:txBody>
      </p:sp>
      <p:sp>
        <p:nvSpPr>
          <p:cNvPr id="19" name="Text 2"/>
          <p:cNvSpPr/>
          <p:nvPr/>
        </p:nvSpPr>
        <p:spPr>
          <a:xfrm>
            <a:off x="1323975" y="1718221"/>
            <a:ext cx="32004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12529"/>
                </a:solidFill>
              </a:rPr>
              <a:t>데이터 주권 및 보안 강화</a:t>
            </a:r>
            <a:endParaRPr lang="en-US" sz="1500" dirty="0"/>
          </a:p>
        </p:txBody>
      </p:sp>
      <p:sp>
        <p:nvSpPr>
          <p:cNvPr id="20" name="Text 3"/>
          <p:cNvSpPr/>
          <p:nvPr/>
        </p:nvSpPr>
        <p:spPr>
          <a:xfrm>
            <a:off x="800100" y="2118271"/>
            <a:ext cx="443522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495057"/>
                </a:solidFill>
              </a:rPr>
              <a:t>사내 소스코드, 기밀 문서 및 고객 데이터의 외부 유출을 원천 차단합니다. 폐쇄망 환경에서도 에이전틱 워크플로우를 안전하게 실행할 수 있습니다. </a:t>
            </a:r>
            <a:pPr indent="0" marL="0">
              <a:lnSpc>
                <a:spcPts val="1560"/>
              </a:lnSpc>
              <a:buNone/>
            </a:pPr>
            <a:r>
              <a:rPr lang="en-US" sz="975" b="1" dirty="0">
                <a:solidFill>
                  <a:srgbClr val="1B5E20"/>
                </a:solidFill>
                <a:highlight>
                  <a:srgbClr val="1B5E20"/>
                </a:highlight>
              </a:rPr>
              <a:t>기업 거버넌스 준수 핵심</a:t>
            </a:r>
            <a:endParaRPr lang="en-US" sz="1125" dirty="0"/>
          </a:p>
        </p:txBody>
      </p:sp>
      <p:sp>
        <p:nvSpPr>
          <p:cNvPr id="21" name="Text 4"/>
          <p:cNvSpPr/>
          <p:nvPr/>
        </p:nvSpPr>
        <p:spPr>
          <a:xfrm>
            <a:off x="1323975" y="3469630"/>
            <a:ext cx="27432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12529"/>
                </a:solidFill>
              </a:rPr>
              <a:t>지속 가능한 운영 비용</a:t>
            </a:r>
            <a:endParaRPr lang="en-US" sz="1500" dirty="0"/>
          </a:p>
        </p:txBody>
      </p:sp>
      <p:sp>
        <p:nvSpPr>
          <p:cNvPr id="22" name="Text 5"/>
          <p:cNvSpPr/>
          <p:nvPr/>
        </p:nvSpPr>
        <p:spPr>
          <a:xfrm>
            <a:off x="800100" y="3869680"/>
            <a:ext cx="44352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495057"/>
                </a:solidFill>
              </a:rPr>
              <a:t>토큰당 과금되는 Cloud LLM과 달리, 인프라 구축 후 추가 비용 없이 무제한으로 에이전트 루프를 수행합니다. 대량의 반복 작업에 최적화되어 있습니다.</a:t>
            </a:r>
            <a:endParaRPr lang="en-US" sz="1125" dirty="0"/>
          </a:p>
        </p:txBody>
      </p:sp>
      <p:sp>
        <p:nvSpPr>
          <p:cNvPr id="23" name="Text 6"/>
          <p:cNvSpPr/>
          <p:nvPr/>
        </p:nvSpPr>
        <p:spPr>
          <a:xfrm>
            <a:off x="1323975" y="5221039"/>
            <a:ext cx="27432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12529"/>
                </a:solidFill>
              </a:rPr>
              <a:t>맞춤형 에이전트 하네스</a:t>
            </a:r>
            <a:endParaRPr lang="en-US" sz="1500" dirty="0"/>
          </a:p>
        </p:txBody>
      </p:sp>
      <p:sp>
        <p:nvSpPr>
          <p:cNvPr id="24" name="Text 7"/>
          <p:cNvSpPr/>
          <p:nvPr/>
        </p:nvSpPr>
        <p:spPr>
          <a:xfrm>
            <a:off x="800100" y="5621089"/>
            <a:ext cx="44352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495057"/>
                </a:solidFill>
              </a:rPr>
              <a:t>Cline과 직접 연동하여 특정 업무 도메인에 최적화된 시스템 프롬프트와 도구 사용(Tool-use) 권한을 세밀하게 제어하고 관리할 수 있습니다.</a:t>
            </a:r>
            <a:endParaRPr lang="en-US" sz="1125" dirty="0"/>
          </a:p>
        </p:txBody>
      </p:sp>
      <p:sp>
        <p:nvSpPr>
          <p:cNvPr id="25" name="Text 8"/>
          <p:cNvSpPr/>
          <p:nvPr/>
        </p:nvSpPr>
        <p:spPr>
          <a:xfrm>
            <a:off x="6392614" y="1718221"/>
            <a:ext cx="579938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212529"/>
                </a:solidFill>
              </a:rPr>
              <a:t>초거대 컨텍스트 활용 (Qwen 2.5 1M)</a:t>
            </a:r>
            <a:endParaRPr lang="en-US" sz="1650" dirty="0"/>
          </a:p>
        </p:txBody>
      </p:sp>
      <p:sp>
        <p:nvSpPr>
          <p:cNvPr id="26" name="Text 9"/>
          <p:cNvSpPr/>
          <p:nvPr/>
        </p:nvSpPr>
        <p:spPr>
          <a:xfrm>
            <a:off x="6316414" y="5867400"/>
            <a:ext cx="587558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 </a:t>
            </a:r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6C757D"/>
                </a:solidFill>
              </a:rPr>
              <a:t>Long-context RAG: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 별도의 분할 없이 대규모 프로젝트 전체 인덱싱 가능</a:t>
            </a:r>
            <a:endParaRPr lang="en-US" sz="1050" dirty="0"/>
          </a:p>
        </p:txBody>
      </p:sp>
      <p:sp>
        <p:nvSpPr>
          <p:cNvPr id="27" name="Text 10"/>
          <p:cNvSpPr/>
          <p:nvPr/>
        </p:nvSpPr>
        <p:spPr>
          <a:xfrm>
            <a:off x="6316414" y="6124575"/>
            <a:ext cx="587558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 </a:t>
            </a:r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6C757D"/>
                </a:solidFill>
              </a:rPr>
              <a:t>재현 가능성: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 동일한 로컬 환경에서 에이전트의 추론 과정을 일관되게 유지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94863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139130"/>
            <a:ext cx="3657600" cy="497592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750" y="1424880"/>
            <a:ext cx="3086100" cy="6096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375" y="1525042"/>
            <a:ext cx="381000" cy="3048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20826" y="2952452"/>
            <a:ext cx="1019175" cy="50423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67200" y="1139130"/>
            <a:ext cx="3657600" cy="497592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52950" y="1424880"/>
            <a:ext cx="3086100" cy="6096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00575" y="1525042"/>
            <a:ext cx="381000" cy="3048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55879" y="3211413"/>
            <a:ext cx="504825" cy="50423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53400" y="1139130"/>
            <a:ext cx="3657600" cy="497592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39150" y="1424880"/>
            <a:ext cx="3086100" cy="6096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86775" y="1525042"/>
            <a:ext cx="381000" cy="3048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78975" y="3211413"/>
            <a:ext cx="676275" cy="271165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381000" y="285750"/>
            <a:ext cx="114300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212529"/>
                </a:solidFill>
              </a:rPr>
              <a:t>온프레미스 구축의 핵심 가치: 거버넌스와 보안</a:t>
            </a:r>
            <a:endParaRPr lang="en-US" sz="2100" dirty="0"/>
          </a:p>
        </p:txBody>
      </p:sp>
      <p:sp>
        <p:nvSpPr>
          <p:cNvPr id="18" name="Text 1"/>
          <p:cNvSpPr/>
          <p:nvPr/>
        </p:nvSpPr>
        <p:spPr>
          <a:xfrm>
            <a:off x="381000" y="653355"/>
            <a:ext cx="114300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데이터 프라이버시, 보안 규정 준수, 결과의 재현 가능성 측면에서 온프레미스 LLM이 제공하는 이점을 강조합니다.</a:t>
            </a:r>
            <a:endParaRPr lang="en-US" sz="1050" dirty="0"/>
          </a:p>
        </p:txBody>
      </p:sp>
      <p:sp>
        <p:nvSpPr>
          <p:cNvPr id="19" name="Text 2"/>
          <p:cNvSpPr/>
          <p:nvPr/>
        </p:nvSpPr>
        <p:spPr>
          <a:xfrm>
            <a:off x="1257300" y="1496318"/>
            <a:ext cx="301752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212529"/>
                </a:solidFill>
              </a:rPr>
              <a:t>Data Privacy</a:t>
            </a:r>
            <a:endParaRPr lang="en-US" sz="1650" dirty="0"/>
          </a:p>
        </p:txBody>
      </p:sp>
      <p:sp>
        <p:nvSpPr>
          <p:cNvPr id="20" name="Text 3"/>
          <p:cNvSpPr/>
          <p:nvPr/>
        </p:nvSpPr>
        <p:spPr>
          <a:xfrm>
            <a:off x="838200" y="2263080"/>
            <a:ext cx="3086100" cy="51792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275" dirty="0">
                <a:solidFill>
                  <a:srgbClr val="212529"/>
                </a:solidFill>
              </a:rPr>
              <a:t>민감한 사내 비즈니스 데이터 및 사용자 쿼리의 외부 서버 전송을 원천적으로 차단합니다.</a:t>
            </a:r>
            <a:endParaRPr lang="en-US" sz="1275" dirty="0"/>
          </a:p>
        </p:txBody>
      </p:sp>
      <p:sp>
        <p:nvSpPr>
          <p:cNvPr id="21" name="Text 4"/>
          <p:cNvSpPr/>
          <p:nvPr/>
        </p:nvSpPr>
        <p:spPr>
          <a:xfrm>
            <a:off x="838200" y="2952452"/>
            <a:ext cx="3086100" cy="103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275" dirty="0">
                <a:solidFill>
                  <a:srgbClr val="212529"/>
                </a:solidFill>
              </a:rPr>
              <a:t>LLM 추론 및 캐싱 과정이 로컬 인프라 내에서만 수행되어 완벽한</a:t>
            </a:r>
            <a:pPr algn="l" indent="0" marL="0">
              <a:lnSpc>
                <a:spcPts val="1836"/>
              </a:lnSpc>
              <a:buNone/>
            </a:pPr>
            <a:r>
              <a:rPr lang="en-US" sz="1148" dirty="0">
                <a:solidFill>
                  <a:srgbClr val="2125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 Sovereignty</a:t>
            </a:r>
            <a:pPr algn="l" indent="0" marL="0">
              <a:lnSpc>
                <a:spcPts val="2040"/>
              </a:lnSpc>
              <a:buNone/>
            </a:pPr>
            <a:r>
              <a:rPr lang="en-US" sz="1275" dirty="0">
                <a:solidFill>
                  <a:srgbClr val="212529"/>
                </a:solidFill>
              </a:rPr>
              <a:t>를 확보합니다.</a:t>
            </a:r>
            <a:endParaRPr lang="en-US" sz="1275" dirty="0"/>
          </a:p>
        </p:txBody>
      </p:sp>
      <p:sp>
        <p:nvSpPr>
          <p:cNvPr id="22" name="Text 5"/>
          <p:cNvSpPr/>
          <p:nvPr/>
        </p:nvSpPr>
        <p:spPr>
          <a:xfrm>
            <a:off x="666750" y="4159746"/>
            <a:ext cx="490347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1B5E20"/>
                </a:solidFill>
              </a:rPr>
              <a:t>[Security] 망 분리 환경 및 폐쇄망 구축 대응 가능</a:t>
            </a:r>
            <a:endParaRPr lang="en-US" sz="975" dirty="0"/>
          </a:p>
        </p:txBody>
      </p:sp>
      <p:sp>
        <p:nvSpPr>
          <p:cNvPr id="23" name="Text 6"/>
          <p:cNvSpPr/>
          <p:nvPr/>
        </p:nvSpPr>
        <p:spPr>
          <a:xfrm>
            <a:off x="5143500" y="1496318"/>
            <a:ext cx="25146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212529"/>
                </a:solidFill>
              </a:rPr>
              <a:t>Compliance</a:t>
            </a:r>
            <a:endParaRPr lang="en-US" sz="1650" dirty="0"/>
          </a:p>
        </p:txBody>
      </p:sp>
      <p:sp>
        <p:nvSpPr>
          <p:cNvPr id="24" name="Text 7"/>
          <p:cNvSpPr/>
          <p:nvPr/>
        </p:nvSpPr>
        <p:spPr>
          <a:xfrm>
            <a:off x="4724400" y="2263080"/>
            <a:ext cx="3086100" cy="77688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275" dirty="0">
                <a:solidFill>
                  <a:srgbClr val="212529"/>
                </a:solidFill>
              </a:rPr>
              <a:t>기업 내부 IT 보안 가이드라인과 개인정보보호법 등 법적 규제 요구사항을 엄격히 준수할 수 있습니다.</a:t>
            </a:r>
            <a:endParaRPr lang="en-US" sz="1275" dirty="0"/>
          </a:p>
        </p:txBody>
      </p:sp>
      <p:sp>
        <p:nvSpPr>
          <p:cNvPr id="25" name="Text 8"/>
          <p:cNvSpPr/>
          <p:nvPr/>
        </p:nvSpPr>
        <p:spPr>
          <a:xfrm>
            <a:off x="4724400" y="3211413"/>
            <a:ext cx="3086100" cy="77688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275" dirty="0">
                <a:solidFill>
                  <a:srgbClr val="212529"/>
                </a:solidFill>
              </a:rPr>
              <a:t>자체 로깅 시스템을 통해 모든 AI 상호작용에 대한 실시간 모니터링 및</a:t>
            </a:r>
            <a:pPr algn="l" indent="0" marL="0">
              <a:lnSpc>
                <a:spcPts val="1836"/>
              </a:lnSpc>
              <a:buNone/>
            </a:pPr>
            <a:r>
              <a:rPr lang="en-US" sz="1148" dirty="0">
                <a:solidFill>
                  <a:srgbClr val="2125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Audit Trail</a:t>
            </a:r>
            <a:pPr algn="l" indent="0" marL="0">
              <a:lnSpc>
                <a:spcPts val="2040"/>
              </a:lnSpc>
              <a:buNone/>
            </a:pPr>
            <a:r>
              <a:rPr lang="en-US" sz="1275" dirty="0">
                <a:solidFill>
                  <a:srgbClr val="212529"/>
                </a:solidFill>
              </a:rPr>
              <a:t>확보가 가능합니다.</a:t>
            </a:r>
            <a:endParaRPr lang="en-US" sz="1275" dirty="0"/>
          </a:p>
        </p:txBody>
      </p:sp>
      <p:sp>
        <p:nvSpPr>
          <p:cNvPr id="26" name="Text 9"/>
          <p:cNvSpPr/>
          <p:nvPr/>
        </p:nvSpPr>
        <p:spPr>
          <a:xfrm>
            <a:off x="4552950" y="4159746"/>
            <a:ext cx="534924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1B5E20"/>
                </a:solidFill>
              </a:rPr>
              <a:t>[Governance] 전용 감사 게이트웨이 및 IAM 연동 지원</a:t>
            </a:r>
            <a:endParaRPr lang="en-US" sz="975" dirty="0"/>
          </a:p>
        </p:txBody>
      </p:sp>
      <p:sp>
        <p:nvSpPr>
          <p:cNvPr id="27" name="Text 10"/>
          <p:cNvSpPr/>
          <p:nvPr/>
        </p:nvSpPr>
        <p:spPr>
          <a:xfrm>
            <a:off x="9029700" y="1496318"/>
            <a:ext cx="226314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212529"/>
                </a:solidFill>
              </a:rPr>
              <a:t>Stability</a:t>
            </a:r>
            <a:endParaRPr lang="en-US" sz="1650" dirty="0"/>
          </a:p>
        </p:txBody>
      </p:sp>
      <p:sp>
        <p:nvSpPr>
          <p:cNvPr id="28" name="Text 11"/>
          <p:cNvSpPr/>
          <p:nvPr/>
        </p:nvSpPr>
        <p:spPr>
          <a:xfrm>
            <a:off x="8610600" y="2263080"/>
            <a:ext cx="3086100" cy="77688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275" dirty="0">
                <a:solidFill>
                  <a:srgbClr val="212529"/>
                </a:solidFill>
              </a:rPr>
              <a:t>클라우드 제공사의 모델 업데이트나 정책 변경에 영향을 받지 않고 고정된 성능을 지속적으로 유지합니다.</a:t>
            </a:r>
            <a:endParaRPr lang="en-US" sz="1275" dirty="0"/>
          </a:p>
        </p:txBody>
      </p:sp>
      <p:sp>
        <p:nvSpPr>
          <p:cNvPr id="29" name="Text 12"/>
          <p:cNvSpPr/>
          <p:nvPr/>
        </p:nvSpPr>
        <p:spPr>
          <a:xfrm>
            <a:off x="8610600" y="3211413"/>
            <a:ext cx="3086100" cy="103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275" dirty="0">
                <a:solidFill>
                  <a:srgbClr val="212529"/>
                </a:solidFill>
              </a:rPr>
              <a:t>외부 API의 지연 시간(</a:t>
            </a:r>
            <a:pPr algn="l" indent="0" marL="0">
              <a:lnSpc>
                <a:spcPts val="1836"/>
              </a:lnSpc>
              <a:buNone/>
            </a:pPr>
            <a:r>
              <a:rPr lang="en-US" sz="1148" dirty="0">
                <a:solidFill>
                  <a:srgbClr val="2125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Latency</a:t>
            </a:r>
            <a:pPr algn="l" indent="0" marL="0">
              <a:lnSpc>
                <a:spcPts val="2040"/>
              </a:lnSpc>
              <a:buNone/>
            </a:pPr>
            <a:r>
              <a:rPr lang="en-US" sz="1275" dirty="0">
                <a:solidFill>
                  <a:srgbClr val="212529"/>
                </a:solidFill>
              </a:rPr>
              <a:t>) 변동이나 네트워크 장애 리스크 없이 안정적인 자동화 루프를 운영합니다.</a:t>
            </a:r>
            <a:endParaRPr lang="en-US" sz="1275" dirty="0"/>
          </a:p>
        </p:txBody>
      </p:sp>
      <p:sp>
        <p:nvSpPr>
          <p:cNvPr id="30" name="Text 13"/>
          <p:cNvSpPr/>
          <p:nvPr/>
        </p:nvSpPr>
        <p:spPr>
          <a:xfrm>
            <a:off x="8439150" y="4418707"/>
            <a:ext cx="37528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1B5E20"/>
                </a:solidFill>
              </a:rPr>
              <a:t>[Reliability] 워크플로우 재현성 및 결과값 일관성 보장</a:t>
            </a:r>
            <a:endParaRPr lang="en-US" sz="975" dirty="0"/>
          </a:p>
        </p:txBody>
      </p:sp>
      <p:sp>
        <p:nvSpPr>
          <p:cNvPr id="31" name="Text 14"/>
          <p:cNvSpPr/>
          <p:nvPr/>
        </p:nvSpPr>
        <p:spPr>
          <a:xfrm>
            <a:off x="0" y="6496050"/>
            <a:ext cx="1143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C757D"/>
                </a:solidFill>
              </a:rPr>
              <a:t>Source: Enterprise AI Governance Framework &amp; On-premise Infrastructure Best Practices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381000"/>
            <a:ext cx="11715750" cy="1146721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1866305"/>
            <a:ext cx="11239500" cy="4243388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1866305"/>
            <a:ext cx="2023021" cy="600075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99271" y="1866305"/>
            <a:ext cx="4608165" cy="600075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07436" y="1866305"/>
            <a:ext cx="4608314" cy="600075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6250" y="2466380"/>
            <a:ext cx="2023021" cy="728663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7636" y="2759273"/>
            <a:ext cx="190500" cy="142875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99271" y="2466380"/>
            <a:ext cx="4608165" cy="728663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07436" y="2466380"/>
            <a:ext cx="4608314" cy="728663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6250" y="3195042"/>
            <a:ext cx="2023021" cy="728663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25723" y="3487936"/>
            <a:ext cx="190500" cy="142875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499271" y="3195042"/>
            <a:ext cx="4608165" cy="728663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107436" y="3195042"/>
            <a:ext cx="4608314" cy="728663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76250" y="3923705"/>
            <a:ext cx="2023021" cy="728663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06673" y="4216598"/>
            <a:ext cx="190500" cy="142875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499271" y="3923705"/>
            <a:ext cx="4608165" cy="728663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107436" y="3923705"/>
            <a:ext cx="4608314" cy="728663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76250" y="4652367"/>
            <a:ext cx="2023021" cy="728663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20961" y="4945261"/>
            <a:ext cx="190500" cy="142875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499271" y="4652367"/>
            <a:ext cx="4608165" cy="728663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107436" y="4652367"/>
            <a:ext cx="4608314" cy="728663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76250" y="5381030"/>
            <a:ext cx="2023021" cy="728663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87636" y="5673923"/>
            <a:ext cx="190500" cy="142875"/>
          </a:xfrm>
          <a:prstGeom prst="rect">
            <a:avLst/>
          </a:prstGeom>
        </p:spPr>
      </p:pic>
      <p:pic>
        <p:nvPicPr>
          <p:cNvPr id="27" name="Image 25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499271" y="5381030"/>
            <a:ext cx="4608165" cy="728663"/>
          </a:xfrm>
          <a:prstGeom prst="rect">
            <a:avLst/>
          </a:prstGeom>
        </p:spPr>
      </p:pic>
      <p:pic>
        <p:nvPicPr>
          <p:cNvPr id="28" name="Image 26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107436" y="5381030"/>
            <a:ext cx="4608314" cy="728663"/>
          </a:xfrm>
          <a:prstGeom prst="rect">
            <a:avLst/>
          </a:prstGeom>
        </p:spPr>
      </p:pic>
      <p:sp>
        <p:nvSpPr>
          <p:cNvPr id="29" name="Text 0"/>
          <p:cNvSpPr/>
          <p:nvPr/>
        </p:nvSpPr>
        <p:spPr>
          <a:xfrm>
            <a:off x="952500" y="762000"/>
            <a:ext cx="1123950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212529"/>
                </a:solidFill>
              </a:rPr>
              <a:t>Cloud LLM vs On-premise LLM 비교표</a:t>
            </a:r>
            <a:endParaRPr lang="en-US" sz="2400" dirty="0"/>
          </a:p>
        </p:txBody>
      </p:sp>
      <p:sp>
        <p:nvSpPr>
          <p:cNvPr id="30" name="Text 1"/>
          <p:cNvSpPr/>
          <p:nvPr/>
        </p:nvSpPr>
        <p:spPr>
          <a:xfrm>
            <a:off x="952500" y="1203871"/>
            <a:ext cx="11239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C757D"/>
                </a:solidFill>
              </a:rPr>
              <a:t>비용, 보안, 속도, 규제 준수 등 주요 지표를 바탕으로 클라우드와 온프레미스 환경의 차이점을 상세히 비교합니다.</a:t>
            </a:r>
            <a:endParaRPr lang="en-US" sz="1200" dirty="0"/>
          </a:p>
        </p:txBody>
      </p:sp>
      <p:sp>
        <p:nvSpPr>
          <p:cNvPr id="31" name="Text 2"/>
          <p:cNvSpPr/>
          <p:nvPr/>
        </p:nvSpPr>
        <p:spPr>
          <a:xfrm>
            <a:off x="476250" y="1866305"/>
            <a:ext cx="1680121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FFFFF"/>
                </a:solidFill>
              </a:rPr>
              <a:t>구분</a:t>
            </a:r>
            <a:endParaRPr lang="en-US" sz="1350" dirty="0"/>
          </a:p>
        </p:txBody>
      </p:sp>
      <p:sp>
        <p:nvSpPr>
          <p:cNvPr id="32" name="Text 3"/>
          <p:cNvSpPr/>
          <p:nvPr/>
        </p:nvSpPr>
        <p:spPr>
          <a:xfrm>
            <a:off x="2499271" y="1866305"/>
            <a:ext cx="426526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FFFFF"/>
                </a:solidFill>
              </a:rPr>
              <a:t>Cloud LLM (SaaS)</a:t>
            </a:r>
            <a:endParaRPr lang="en-US" sz="1350" dirty="0"/>
          </a:p>
        </p:txBody>
      </p:sp>
      <p:sp>
        <p:nvSpPr>
          <p:cNvPr id="33" name="Text 4"/>
          <p:cNvSpPr/>
          <p:nvPr/>
        </p:nvSpPr>
        <p:spPr>
          <a:xfrm>
            <a:off x="7107436" y="1866305"/>
            <a:ext cx="4265414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FFFFF"/>
                </a:solidFill>
              </a:rPr>
              <a:t>On-premise LLM (Local)</a:t>
            </a:r>
            <a:endParaRPr lang="en-US" sz="1350" dirty="0"/>
          </a:p>
        </p:txBody>
      </p:sp>
      <p:sp>
        <p:nvSpPr>
          <p:cNvPr id="34" name="Text 5"/>
          <p:cNvSpPr/>
          <p:nvPr/>
        </p:nvSpPr>
        <p:spPr>
          <a:xfrm>
            <a:off x="1354336" y="2723555"/>
            <a:ext cx="5334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95057"/>
                </a:solidFill>
              </a:rPr>
              <a:t>비용 구조</a:t>
            </a:r>
            <a:endParaRPr lang="en-US" sz="1125" dirty="0"/>
          </a:p>
        </p:txBody>
      </p:sp>
      <p:sp>
        <p:nvSpPr>
          <p:cNvPr id="35" name="Text 6"/>
          <p:cNvSpPr/>
          <p:nvPr/>
        </p:nvSpPr>
        <p:spPr>
          <a:xfrm>
            <a:off x="2689771" y="2466380"/>
            <a:ext cx="4227165" cy="7286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C00000"/>
                </a:solidFill>
              </a:rPr>
              <a:t>가변 비용:</a:t>
            </a:r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212529"/>
                </a:solidFill>
              </a:rPr>
              <a:t> 종량제 (Token 단위 과금)</a:t>
            </a:r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212529"/>
                </a:solidFill>
              </a:rPr>
              <a:t>
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B5E20"/>
                </a:solidFill>
              </a:rPr>
              <a:t>* 대량 자동화 시 비용 예측 불확실성 증가</a:t>
            </a:r>
            <a:endParaRPr lang="en-US" sz="1125" dirty="0"/>
          </a:p>
        </p:txBody>
      </p:sp>
      <p:sp>
        <p:nvSpPr>
          <p:cNvPr id="36" name="Text 7"/>
          <p:cNvSpPr/>
          <p:nvPr/>
        </p:nvSpPr>
        <p:spPr>
          <a:xfrm>
            <a:off x="7297936" y="2466380"/>
            <a:ext cx="4227314" cy="7286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B5E20"/>
                </a:solidFill>
              </a:rPr>
              <a:t>고정 비용:</a:t>
            </a:r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212529"/>
                </a:solidFill>
              </a:rPr>
              <a:t> 인프라 구축 및 운영비</a:t>
            </a:r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212529"/>
                </a:solidFill>
              </a:rPr>
              <a:t>
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B5E20"/>
                </a:solidFill>
              </a:rPr>
              <a:t>* 장기 사용 시 TCO(총소유비용) 절감 유리</a:t>
            </a:r>
            <a:endParaRPr lang="en-US" sz="1125" dirty="0"/>
          </a:p>
        </p:txBody>
      </p:sp>
      <p:sp>
        <p:nvSpPr>
          <p:cNvPr id="37" name="Text 8"/>
          <p:cNvSpPr/>
          <p:nvPr/>
        </p:nvSpPr>
        <p:spPr>
          <a:xfrm>
            <a:off x="1292423" y="3452217"/>
            <a:ext cx="65722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95057"/>
                </a:solidFill>
              </a:rPr>
              <a:t>데이터 보안</a:t>
            </a:r>
            <a:endParaRPr lang="en-US" sz="1125" dirty="0"/>
          </a:p>
        </p:txBody>
      </p:sp>
      <p:sp>
        <p:nvSpPr>
          <p:cNvPr id="38" name="Text 9"/>
          <p:cNvSpPr/>
          <p:nvPr/>
        </p:nvSpPr>
        <p:spPr>
          <a:xfrm>
            <a:off x="2689771" y="3195042"/>
            <a:ext cx="4227165" cy="7286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212529"/>
                </a:solidFill>
              </a:rPr>
              <a:t>외부 서버 데이터 전송 (API 방식)</a:t>
            </a:r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212529"/>
                </a:solidFill>
              </a:rPr>
              <a:t>
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B5E20"/>
                </a:solidFill>
              </a:rPr>
              <a:t>* 데이터 유출 리스크 및 거버넌스 제약</a:t>
            </a:r>
            <a:endParaRPr lang="en-US" sz="1125" dirty="0"/>
          </a:p>
        </p:txBody>
      </p:sp>
      <p:sp>
        <p:nvSpPr>
          <p:cNvPr id="39" name="Text 10"/>
          <p:cNvSpPr/>
          <p:nvPr/>
        </p:nvSpPr>
        <p:spPr>
          <a:xfrm>
            <a:off x="7297936" y="3195042"/>
            <a:ext cx="4227314" cy="7286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B5E20"/>
                </a:solidFill>
              </a:rPr>
              <a:t>폐쇄망 내 처리:</a:t>
            </a:r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212529"/>
                </a:solidFill>
              </a:rPr>
              <a:t> 데이터 외부 유출 원천 차단</a:t>
            </a:r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212529"/>
                </a:solidFill>
              </a:rPr>
              <a:t>
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B5E20"/>
                </a:solidFill>
              </a:rPr>
              <a:t>* 사내 기밀 및 민감 정보 처리에 최적</a:t>
            </a:r>
            <a:endParaRPr lang="en-US" sz="1125" dirty="0"/>
          </a:p>
        </p:txBody>
      </p:sp>
      <p:sp>
        <p:nvSpPr>
          <p:cNvPr id="40" name="Text 11"/>
          <p:cNvSpPr/>
          <p:nvPr/>
        </p:nvSpPr>
        <p:spPr>
          <a:xfrm>
            <a:off x="1273373" y="4180880"/>
            <a:ext cx="69532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95057"/>
                </a:solidFill>
              </a:rPr>
              <a:t>성능 및 속도</a:t>
            </a:r>
            <a:endParaRPr lang="en-US" sz="1125" dirty="0"/>
          </a:p>
        </p:txBody>
      </p:sp>
      <p:sp>
        <p:nvSpPr>
          <p:cNvPr id="41" name="Text 12"/>
          <p:cNvSpPr/>
          <p:nvPr/>
        </p:nvSpPr>
        <p:spPr>
          <a:xfrm>
            <a:off x="2689771" y="3923705"/>
            <a:ext cx="4227165" cy="7286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212529"/>
                </a:solidFill>
              </a:rPr>
              <a:t>인터넷 속도 및 서버 부하에 영향</a:t>
            </a:r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212529"/>
                </a:solidFill>
              </a:rPr>
              <a:t>
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B5E20"/>
                </a:solidFill>
              </a:rPr>
              <a:t>* 네트워크 레이턴시 발생 가능성</a:t>
            </a:r>
            <a:endParaRPr lang="en-US" sz="1125" dirty="0"/>
          </a:p>
        </p:txBody>
      </p:sp>
      <p:sp>
        <p:nvSpPr>
          <p:cNvPr id="42" name="Text 13"/>
          <p:cNvSpPr/>
          <p:nvPr/>
        </p:nvSpPr>
        <p:spPr>
          <a:xfrm>
            <a:off x="7297936" y="3923705"/>
            <a:ext cx="4227314" cy="7286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B5E20"/>
                </a:solidFill>
              </a:rPr>
              <a:t>초고속 응답:</a:t>
            </a:r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212529"/>
                </a:solidFill>
              </a:rPr>
              <a:t> 내부망 대역폭 활용</a:t>
            </a:r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212529"/>
                </a:solidFill>
              </a:rPr>
              <a:t>
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B5E20"/>
                </a:solidFill>
              </a:rPr>
              <a:t>* 실시간 에이전트 워크플로우 수행에 유리</a:t>
            </a:r>
            <a:endParaRPr lang="en-US" sz="1125" dirty="0"/>
          </a:p>
        </p:txBody>
      </p:sp>
      <p:sp>
        <p:nvSpPr>
          <p:cNvPr id="43" name="Text 14"/>
          <p:cNvSpPr/>
          <p:nvPr/>
        </p:nvSpPr>
        <p:spPr>
          <a:xfrm>
            <a:off x="1287661" y="4909542"/>
            <a:ext cx="6667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95057"/>
                </a:solidFill>
              </a:rPr>
              <a:t>재현성/관리</a:t>
            </a:r>
            <a:endParaRPr lang="en-US" sz="1125" dirty="0"/>
          </a:p>
        </p:txBody>
      </p:sp>
      <p:sp>
        <p:nvSpPr>
          <p:cNvPr id="44" name="Text 15"/>
          <p:cNvSpPr/>
          <p:nvPr/>
        </p:nvSpPr>
        <p:spPr>
          <a:xfrm>
            <a:off x="2689771" y="4652367"/>
            <a:ext cx="4227165" cy="7286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212529"/>
                </a:solidFill>
              </a:rPr>
              <a:t>모델 업데이트 시 프롬프트 결과 변동</a:t>
            </a:r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212529"/>
                </a:solidFill>
              </a:rPr>
              <a:t>
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B5E20"/>
                </a:solidFill>
              </a:rPr>
              <a:t>* 서비스 제공자의 정책에 종속됨</a:t>
            </a:r>
            <a:endParaRPr lang="en-US" sz="1125" dirty="0"/>
          </a:p>
        </p:txBody>
      </p:sp>
      <p:sp>
        <p:nvSpPr>
          <p:cNvPr id="45" name="Text 16"/>
          <p:cNvSpPr/>
          <p:nvPr/>
        </p:nvSpPr>
        <p:spPr>
          <a:xfrm>
            <a:off x="7297936" y="4652367"/>
            <a:ext cx="4227314" cy="7286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B5E20"/>
                </a:solidFill>
              </a:rPr>
              <a:t>완전한 통제:</a:t>
            </a:r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212529"/>
                </a:solidFill>
              </a:rPr>
              <a:t> 모델 버전 및 파라미터 고정</a:t>
            </a:r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212529"/>
                </a:solidFill>
              </a:rPr>
              <a:t>
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B5E20"/>
                </a:solidFill>
              </a:rPr>
              <a:t>* 워크플로우의 일관된 결과 보장</a:t>
            </a:r>
            <a:endParaRPr lang="en-US" sz="1125" dirty="0"/>
          </a:p>
        </p:txBody>
      </p:sp>
      <p:sp>
        <p:nvSpPr>
          <p:cNvPr id="46" name="Text 17"/>
          <p:cNvSpPr/>
          <p:nvPr/>
        </p:nvSpPr>
        <p:spPr>
          <a:xfrm>
            <a:off x="1354336" y="5638205"/>
            <a:ext cx="5334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95057"/>
                </a:solidFill>
              </a:rPr>
              <a:t>규제 준수</a:t>
            </a:r>
            <a:endParaRPr lang="en-US" sz="1125" dirty="0"/>
          </a:p>
        </p:txBody>
      </p:sp>
      <p:sp>
        <p:nvSpPr>
          <p:cNvPr id="47" name="Text 18"/>
          <p:cNvSpPr/>
          <p:nvPr/>
        </p:nvSpPr>
        <p:spPr>
          <a:xfrm>
            <a:off x="2689771" y="5381030"/>
            <a:ext cx="4227165" cy="7286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212529"/>
                </a:solidFill>
              </a:rPr>
              <a:t>국가별 데이터 주권 및 규제 충돌 위험</a:t>
            </a:r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212529"/>
                </a:solidFill>
              </a:rPr>
              <a:t>
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B5E20"/>
                </a:solidFill>
              </a:rPr>
              <a:t>* 산업별 특수 보안 규정 준수 어려움</a:t>
            </a:r>
            <a:endParaRPr lang="en-US" sz="1125" dirty="0"/>
          </a:p>
        </p:txBody>
      </p:sp>
      <p:sp>
        <p:nvSpPr>
          <p:cNvPr id="48" name="Text 19"/>
          <p:cNvSpPr/>
          <p:nvPr/>
        </p:nvSpPr>
        <p:spPr>
          <a:xfrm>
            <a:off x="7297936" y="5381030"/>
            <a:ext cx="4227314" cy="7286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B5E20"/>
                </a:solidFill>
              </a:rPr>
              <a:t>컴플라이언스:</a:t>
            </a:r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212529"/>
                </a:solidFill>
              </a:rPr>
              <a:t> 내부 보안 정책 100% 준수</a:t>
            </a:r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212529"/>
                </a:solidFill>
              </a:rPr>
              <a:t>
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B5E20"/>
                </a:solidFill>
              </a:rPr>
              <a:t>* 감사(Audit) 및 이력 관리 용이성</a:t>
            </a:r>
            <a:endParaRPr lang="en-US" sz="1125" dirty="0"/>
          </a:p>
        </p:txBody>
      </p:sp>
      <p:sp>
        <p:nvSpPr>
          <p:cNvPr id="49" name="Text 20"/>
          <p:cNvSpPr/>
          <p:nvPr/>
        </p:nvSpPr>
        <p:spPr>
          <a:xfrm>
            <a:off x="476250" y="6252567"/>
            <a:ext cx="11144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C757D"/>
                </a:solidFill>
              </a:rPr>
              <a:t>Source: Internal Evaluation of On-premise LLM Governance (2026)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86290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015305"/>
            <a:ext cx="5572125" cy="1641128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891" y="1245394"/>
            <a:ext cx="226219" cy="186779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2808833"/>
            <a:ext cx="5572125" cy="1641128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891" y="3038921"/>
            <a:ext cx="226219" cy="186779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000" y="4602361"/>
            <a:ext cx="5572125" cy="1641128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8891" y="4832449"/>
            <a:ext cx="226219" cy="186779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38875" y="1343471"/>
            <a:ext cx="5572125" cy="45720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24688" y="1400026"/>
            <a:ext cx="4000500" cy="5143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905875" y="2057251"/>
            <a:ext cx="238125" cy="1905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24688" y="2390626"/>
            <a:ext cx="4000500" cy="51435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872413" y="2578745"/>
            <a:ext cx="190500" cy="1524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905875" y="3047851"/>
            <a:ext cx="238125" cy="1905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024688" y="3381226"/>
            <a:ext cx="4000500" cy="51435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24625" y="4086076"/>
            <a:ext cx="5000625" cy="1458516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381000" y="228600"/>
            <a:ext cx="114300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212529"/>
                </a:solidFill>
              </a:rPr>
              <a:t>구조화된 업무 맥락: Markdown Rules의 의미</a:t>
            </a:r>
            <a:endParaRPr lang="en-US" sz="2100" dirty="0"/>
          </a:p>
        </p:txBody>
      </p:sp>
      <p:sp>
        <p:nvSpPr>
          <p:cNvPr id="20" name="Text 1"/>
          <p:cNvSpPr/>
          <p:nvPr/>
        </p:nvSpPr>
        <p:spPr>
          <a:xfrm>
            <a:off x="381000" y="586680"/>
            <a:ext cx="114300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AI가 참조할 수 있도록 나의 업무 지식과 절차를 마크다운 형식으로 구조화하는 방법론의 중요성</a:t>
            </a:r>
            <a:endParaRPr lang="en-US" sz="1050" dirty="0"/>
          </a:p>
        </p:txBody>
      </p:sp>
      <p:sp>
        <p:nvSpPr>
          <p:cNvPr id="21" name="Text 2"/>
          <p:cNvSpPr/>
          <p:nvPr/>
        </p:nvSpPr>
        <p:spPr>
          <a:xfrm>
            <a:off x="1028700" y="1203424"/>
            <a:ext cx="596646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12529"/>
                </a:solidFill>
              </a:rPr>
              <a:t>AI 에이전트의 행동 강령 (Constitution)</a:t>
            </a:r>
            <a:endParaRPr lang="en-US" sz="1350" dirty="0"/>
          </a:p>
        </p:txBody>
      </p:sp>
      <p:sp>
        <p:nvSpPr>
          <p:cNvPr id="22" name="Text 3"/>
          <p:cNvSpPr/>
          <p:nvPr/>
        </p:nvSpPr>
        <p:spPr>
          <a:xfrm>
            <a:off x="800100" y="1562993"/>
            <a:ext cx="662459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495057"/>
                </a:solidFill>
              </a:rPr>
              <a:t>프롬프팅의 휘발성을 극복하고 명확한 제약 조건과 절차를 영구적으로 제공합니다.</a:t>
            </a:r>
            <a:endParaRPr lang="en-US" sz="1050" dirty="0"/>
          </a:p>
        </p:txBody>
      </p:sp>
      <p:sp>
        <p:nvSpPr>
          <p:cNvPr id="23" name="Text 4"/>
          <p:cNvSpPr/>
          <p:nvPr/>
        </p:nvSpPr>
        <p:spPr>
          <a:xfrm>
            <a:off x="800100" y="1833414"/>
            <a:ext cx="801113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495057"/>
                </a:solidFill>
              </a:rPr>
              <a:t>AI가 수행 가능한 작업의 범위(Scope)와 권한을 정의하는 "가드레일" 역할을 수행합니다.</a:t>
            </a:r>
            <a:endParaRPr lang="en-US" sz="1050" dirty="0"/>
          </a:p>
        </p:txBody>
      </p:sp>
      <p:sp>
        <p:nvSpPr>
          <p:cNvPr id="24" name="Text 5"/>
          <p:cNvSpPr/>
          <p:nvPr/>
        </p:nvSpPr>
        <p:spPr>
          <a:xfrm>
            <a:off x="609600" y="2237184"/>
            <a:ext cx="60350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B5E20"/>
                </a:solidFill>
              </a:rPr>
              <a:t>※ 명시적인 규칙은 AI의 할루시네이션(환각) 발생 확률을 획기적으로 낮춥니다.</a:t>
            </a:r>
            <a:endParaRPr lang="en-US" sz="900" dirty="0"/>
          </a:p>
        </p:txBody>
      </p:sp>
      <p:sp>
        <p:nvSpPr>
          <p:cNvPr id="25" name="Text 6"/>
          <p:cNvSpPr/>
          <p:nvPr/>
        </p:nvSpPr>
        <p:spPr>
          <a:xfrm>
            <a:off x="1028700" y="2996952"/>
            <a:ext cx="329184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12529"/>
                </a:solidFill>
              </a:rPr>
              <a:t>인간과 AI의 공통 인터페이스</a:t>
            </a:r>
            <a:endParaRPr lang="en-US" sz="1350" dirty="0"/>
          </a:p>
        </p:txBody>
      </p:sp>
      <p:sp>
        <p:nvSpPr>
          <p:cNvPr id="26" name="Text 7"/>
          <p:cNvSpPr/>
          <p:nvPr/>
        </p:nvSpPr>
        <p:spPr>
          <a:xfrm>
            <a:off x="800100" y="3356521"/>
            <a:ext cx="4924425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495057"/>
                </a:solidFill>
              </a:rPr>
              <a:t>Markdown은 사람이 읽기 쉽고(Human-readable), AI가 파싱하기 쉬운(Machine-readable) 최적의 포맷입니다.</a:t>
            </a:r>
            <a:endParaRPr lang="en-US" sz="1050" dirty="0"/>
          </a:p>
        </p:txBody>
      </p:sp>
      <p:sp>
        <p:nvSpPr>
          <p:cNvPr id="27" name="Text 8"/>
          <p:cNvSpPr/>
          <p:nvPr/>
        </p:nvSpPr>
        <p:spPr>
          <a:xfrm>
            <a:off x="800100" y="3840212"/>
            <a:ext cx="785707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495057"/>
                </a:solidFill>
              </a:rPr>
              <a:t>Git을 통한 버전 관리가 용이하여, 업무 규칙의 변경 이력을 투명하게 추적할 수 있습니다.</a:t>
            </a:r>
            <a:endParaRPr lang="en-US" sz="1050" dirty="0"/>
          </a:p>
        </p:txBody>
      </p:sp>
      <p:sp>
        <p:nvSpPr>
          <p:cNvPr id="28" name="Text 9"/>
          <p:cNvSpPr/>
          <p:nvPr/>
        </p:nvSpPr>
        <p:spPr>
          <a:xfrm>
            <a:off x="1028700" y="4790480"/>
            <a:ext cx="288036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12529"/>
                </a:solidFill>
              </a:rPr>
              <a:t>지식의 자산화 및 재사용성</a:t>
            </a:r>
            <a:endParaRPr lang="en-US" sz="1350" dirty="0"/>
          </a:p>
        </p:txBody>
      </p:sp>
      <p:sp>
        <p:nvSpPr>
          <p:cNvPr id="29" name="Text 10"/>
          <p:cNvSpPr/>
          <p:nvPr/>
        </p:nvSpPr>
        <p:spPr>
          <a:xfrm>
            <a:off x="800100" y="5150048"/>
            <a:ext cx="754895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495057"/>
                </a:solidFill>
              </a:rPr>
              <a:t>일회성 채팅 기록이 아닌, 반복 가능한 워크플로우를 문서화하여 업무 효율을 극대화합니다.</a:t>
            </a:r>
            <a:endParaRPr lang="en-US" sz="1050" dirty="0"/>
          </a:p>
        </p:txBody>
      </p:sp>
      <p:sp>
        <p:nvSpPr>
          <p:cNvPr id="30" name="Text 11"/>
          <p:cNvSpPr/>
          <p:nvPr/>
        </p:nvSpPr>
        <p:spPr>
          <a:xfrm>
            <a:off x="800100" y="5420469"/>
            <a:ext cx="739489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495057"/>
                </a:solidFill>
              </a:rPr>
              <a:t>복잡한 업무 맥락을 모듈화(Skills)하여 필요할 때만 AI에게 로드할 수 있습니다.</a:t>
            </a:r>
            <a:endParaRPr lang="en-US" sz="1050" dirty="0"/>
          </a:p>
        </p:txBody>
      </p:sp>
      <p:sp>
        <p:nvSpPr>
          <p:cNvPr id="31" name="Text 12"/>
          <p:cNvSpPr/>
          <p:nvPr/>
        </p:nvSpPr>
        <p:spPr>
          <a:xfrm>
            <a:off x="7024688" y="1400026"/>
            <a:ext cx="37147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12529"/>
                </a:solidFill>
              </a:rPr>
              <a:t>사용자 의도 (Human Intent)</a:t>
            </a:r>
            <a:endParaRPr lang="en-US" sz="1200" dirty="0"/>
          </a:p>
        </p:txBody>
      </p:sp>
      <p:sp>
        <p:nvSpPr>
          <p:cNvPr id="32" name="Text 13"/>
          <p:cNvSpPr/>
          <p:nvPr/>
        </p:nvSpPr>
        <p:spPr>
          <a:xfrm>
            <a:off x="8062913" y="2390626"/>
            <a:ext cx="267652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C00000"/>
                </a:solidFill>
              </a:rPr>
              <a:t> Markdown Rules (Structure)</a:t>
            </a:r>
            <a:endParaRPr lang="en-US" sz="1200" dirty="0"/>
          </a:p>
        </p:txBody>
      </p:sp>
      <p:sp>
        <p:nvSpPr>
          <p:cNvPr id="33" name="Text 14"/>
          <p:cNvSpPr/>
          <p:nvPr/>
        </p:nvSpPr>
        <p:spPr>
          <a:xfrm>
            <a:off x="7024688" y="3381226"/>
            <a:ext cx="37147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971C2"/>
                </a:solidFill>
              </a:rPr>
              <a:t>Cline Agent (Execution)</a:t>
            </a:r>
            <a:endParaRPr lang="en-US" sz="1200" dirty="0"/>
          </a:p>
        </p:txBody>
      </p:sp>
      <p:sp>
        <p:nvSpPr>
          <p:cNvPr id="34" name="Text 15"/>
          <p:cNvSpPr/>
          <p:nvPr/>
        </p:nvSpPr>
        <p:spPr>
          <a:xfrm>
            <a:off x="6667500" y="4086076"/>
            <a:ext cx="4714875" cy="145851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7B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 Role: Daily Report Assistant</a:t>
            </a:r>
            <a:pPr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8F9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79C0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## Rules</a:t>
            </a:r>
            <a:pPr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8F9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8F9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Use 'Daily_Template.md' for all outputs</a:t>
            </a:r>
            <a:pPr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8F9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8F9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Group tasks by project category</a:t>
            </a:r>
            <a:pPr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8F9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8F9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</a:t>
            </a:r>
            <a:pPr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7EE78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[Critical]</a:t>
            </a:r>
            <a:pPr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8F9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Do not include internal URLs</a:t>
            </a:r>
            <a:pPr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8F9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79C0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## Context</a:t>
            </a:r>
            <a:pPr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8F9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8F9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Workspace: /docs/reports/</a:t>
            </a:r>
            <a:pPr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8F9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8F9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Reference: AGENTS.md</a:t>
            </a:r>
            <a:endParaRPr lang="en-US" sz="825" dirty="0"/>
          </a:p>
        </p:txBody>
      </p:sp>
      <p:sp>
        <p:nvSpPr>
          <p:cNvPr id="35" name="Text 16"/>
          <p:cNvSpPr/>
          <p:nvPr/>
        </p:nvSpPr>
        <p:spPr>
          <a:xfrm>
            <a:off x="6924675" y="5687467"/>
            <a:ext cx="42005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B5E20"/>
                </a:solidFill>
              </a:rPr>
              <a:t>"AI를 잘 쓰는 것보다 중요한 것은, AI가 참조할 수 있는 업무 맥락과 절차를 잘 구조화하는 것이다."</a:t>
            </a:r>
            <a:endParaRPr lang="en-US" sz="900" dirty="0"/>
          </a:p>
        </p:txBody>
      </p:sp>
      <p:sp>
        <p:nvSpPr>
          <p:cNvPr id="36" name="Text 17"/>
          <p:cNvSpPr/>
          <p:nvPr/>
        </p:nvSpPr>
        <p:spPr>
          <a:xfrm>
            <a:off x="0" y="6548438"/>
            <a:ext cx="11430000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C757D"/>
                </a:solidFill>
              </a:rPr>
              <a:t>Source: Agentic Workflow Engineering Guide (2026) | 내부 교육용 자료</a:t>
            </a:r>
            <a:endParaRPr lang="en-US" sz="8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862905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015305"/>
            <a:ext cx="4457700" cy="1515814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167705"/>
            <a:ext cx="342900" cy="3429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794" y="1251496"/>
            <a:ext cx="214313" cy="17532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586805"/>
            <a:ext cx="1285875" cy="2286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90788" y="2683520"/>
            <a:ext cx="238125" cy="1905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000" y="3026420"/>
            <a:ext cx="4457700" cy="1515814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3178820"/>
            <a:ext cx="342900" cy="3429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5794" y="3262610"/>
            <a:ext cx="214313" cy="17532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71700" y="3252639"/>
            <a:ext cx="790575" cy="195263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1500" y="3597920"/>
            <a:ext cx="2219325" cy="2286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490788" y="4694634"/>
            <a:ext cx="238125" cy="1905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81000" y="5037534"/>
            <a:ext cx="4457700" cy="1515814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1500" y="5189934"/>
            <a:ext cx="342900" cy="3429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5794" y="5273725"/>
            <a:ext cx="214313" cy="17532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71500" y="5609034"/>
            <a:ext cx="885825" cy="2286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124450" y="1015305"/>
            <a:ext cx="6686550" cy="5537895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362575" y="2219771"/>
            <a:ext cx="166688" cy="13722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643563" y="2934146"/>
            <a:ext cx="142875" cy="11430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362575" y="3296096"/>
            <a:ext cx="166688" cy="13722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362575" y="4105721"/>
            <a:ext cx="166688" cy="137220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362575" y="4915346"/>
            <a:ext cx="166688" cy="137220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643563" y="5429696"/>
            <a:ext cx="142875" cy="114300"/>
          </a:xfrm>
          <a:prstGeom prst="rect">
            <a:avLst/>
          </a:prstGeom>
        </p:spPr>
      </p:pic>
      <p:sp>
        <p:nvSpPr>
          <p:cNvPr id="26" name="Text 0"/>
          <p:cNvSpPr/>
          <p:nvPr/>
        </p:nvSpPr>
        <p:spPr>
          <a:xfrm>
            <a:off x="381000" y="228600"/>
            <a:ext cx="114300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212529"/>
                </a:solidFill>
              </a:rPr>
              <a:t>Markdown 규칙의 계층 구조: Global vs Local</a:t>
            </a:r>
            <a:endParaRPr lang="en-US" sz="2100" dirty="0"/>
          </a:p>
        </p:txBody>
      </p:sp>
      <p:sp>
        <p:nvSpPr>
          <p:cNvPr id="27" name="Text 1"/>
          <p:cNvSpPr/>
          <p:nvPr/>
        </p:nvSpPr>
        <p:spPr>
          <a:xfrm>
            <a:off x="381000" y="586680"/>
            <a:ext cx="114300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모든 작업에 적용되는 전역 원칙과 특정 프로젝트에 한정된 지역 규칙으로 구성된 계층적 관리 체계</a:t>
            </a:r>
            <a:endParaRPr lang="en-US" sz="1050" dirty="0"/>
          </a:p>
        </p:txBody>
      </p:sp>
      <p:sp>
        <p:nvSpPr>
          <p:cNvPr id="28" name="Text 2"/>
          <p:cNvSpPr/>
          <p:nvPr/>
        </p:nvSpPr>
        <p:spPr>
          <a:xfrm>
            <a:off x="1028700" y="1210568"/>
            <a:ext cx="246888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12529"/>
                </a:solidFill>
              </a:rPr>
              <a:t>Global Rules</a:t>
            </a:r>
            <a:endParaRPr lang="en-US" sz="1350" dirty="0"/>
          </a:p>
        </p:txBody>
      </p:sp>
      <p:sp>
        <p:nvSpPr>
          <p:cNvPr id="29" name="Text 3"/>
          <p:cNvSpPr/>
          <p:nvPr/>
        </p:nvSpPr>
        <p:spPr>
          <a:xfrm>
            <a:off x="647700" y="1586805"/>
            <a:ext cx="2055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~/rules/global.md</a:t>
            </a:r>
            <a:endParaRPr lang="en-US" sz="900" dirty="0"/>
          </a:p>
        </p:txBody>
      </p:sp>
      <p:sp>
        <p:nvSpPr>
          <p:cNvPr id="30" name="Text 4"/>
          <p:cNvSpPr/>
          <p:nvPr/>
        </p:nvSpPr>
        <p:spPr>
          <a:xfrm>
            <a:off x="571500" y="1891605"/>
            <a:ext cx="40767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95057"/>
                </a:solidFill>
              </a:rPr>
              <a:t>모든 프로젝트와 세션에 공통 적용되는 기본 원칙. 개인의 코딩 철학 및 보안 가이드라인 정의.</a:t>
            </a:r>
            <a:endParaRPr lang="en-US" sz="1050" dirty="0"/>
          </a:p>
        </p:txBody>
      </p:sp>
      <p:sp>
        <p:nvSpPr>
          <p:cNvPr id="31" name="Text 5"/>
          <p:cNvSpPr/>
          <p:nvPr/>
        </p:nvSpPr>
        <p:spPr>
          <a:xfrm>
            <a:off x="1028700" y="3221682"/>
            <a:ext cx="226314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12529"/>
                </a:solidFill>
              </a:rPr>
              <a:t>Local Rules</a:t>
            </a:r>
            <a:endParaRPr lang="en-US" sz="1350" dirty="0"/>
          </a:p>
        </p:txBody>
      </p:sp>
      <p:sp>
        <p:nvSpPr>
          <p:cNvPr id="32" name="Text 6"/>
          <p:cNvSpPr/>
          <p:nvPr/>
        </p:nvSpPr>
        <p:spPr>
          <a:xfrm>
            <a:off x="2228850" y="3252639"/>
            <a:ext cx="1398178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FFFFFF"/>
                </a:solidFill>
              </a:rPr>
              <a:t>High Priority</a:t>
            </a:r>
            <a:endParaRPr lang="en-US" sz="825" dirty="0"/>
          </a:p>
        </p:txBody>
      </p:sp>
      <p:sp>
        <p:nvSpPr>
          <p:cNvPr id="33" name="Text 7"/>
          <p:cNvSpPr/>
          <p:nvPr/>
        </p:nvSpPr>
        <p:spPr>
          <a:xfrm>
            <a:off x="647700" y="3597920"/>
            <a:ext cx="39599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./.clinerules (or .cursorrules)</a:t>
            </a:r>
            <a:endParaRPr lang="en-US" sz="900" dirty="0"/>
          </a:p>
        </p:txBody>
      </p:sp>
      <p:sp>
        <p:nvSpPr>
          <p:cNvPr id="34" name="Text 8"/>
          <p:cNvSpPr/>
          <p:nvPr/>
        </p:nvSpPr>
        <p:spPr>
          <a:xfrm>
            <a:off x="571500" y="3902720"/>
            <a:ext cx="40767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95057"/>
                </a:solidFill>
              </a:rPr>
              <a:t>특정 프로젝트에 최적화된 기술 스택, 디렉토리 구조, 네이밍 컨벤션 등 구체적 지시 사항.</a:t>
            </a:r>
            <a:endParaRPr lang="en-US" sz="1050" dirty="0"/>
          </a:p>
        </p:txBody>
      </p:sp>
      <p:sp>
        <p:nvSpPr>
          <p:cNvPr id="35" name="Text 9"/>
          <p:cNvSpPr/>
          <p:nvPr/>
        </p:nvSpPr>
        <p:spPr>
          <a:xfrm>
            <a:off x="1028700" y="5232797"/>
            <a:ext cx="185166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12529"/>
                </a:solidFill>
              </a:rPr>
              <a:t>AGENTS.md</a:t>
            </a:r>
            <a:endParaRPr lang="en-US" sz="1350" dirty="0"/>
          </a:p>
        </p:txBody>
      </p:sp>
      <p:sp>
        <p:nvSpPr>
          <p:cNvPr id="36" name="Text 10"/>
          <p:cNvSpPr/>
          <p:nvPr/>
        </p:nvSpPr>
        <p:spPr>
          <a:xfrm>
            <a:off x="647700" y="5609034"/>
            <a:ext cx="12491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./AGENTS.md</a:t>
            </a:r>
            <a:endParaRPr lang="en-US" sz="900" dirty="0"/>
          </a:p>
        </p:txBody>
      </p:sp>
      <p:sp>
        <p:nvSpPr>
          <p:cNvPr id="37" name="Text 11"/>
          <p:cNvSpPr/>
          <p:nvPr/>
        </p:nvSpPr>
        <p:spPr>
          <a:xfrm>
            <a:off x="571500" y="5913834"/>
            <a:ext cx="40767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95057"/>
                </a:solidFill>
              </a:rPr>
              <a:t>현재 활성화된 에이전트의 역할, 권한, 작업 목표를 명시한 인간-AI 간의 실행 계약서.</a:t>
            </a:r>
            <a:endParaRPr lang="en-US" sz="1050" dirty="0"/>
          </a:p>
        </p:txBody>
      </p:sp>
      <p:sp>
        <p:nvSpPr>
          <p:cNvPr id="38" name="Text 12"/>
          <p:cNvSpPr/>
          <p:nvPr/>
        </p:nvSpPr>
        <p:spPr>
          <a:xfrm>
            <a:off x="5495925" y="1705421"/>
            <a:ext cx="62103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212529"/>
                </a:solidFill>
              </a:rPr>
              <a:t>계층적 관리의 핵심 원칙</a:t>
            </a:r>
            <a:endParaRPr lang="en-US" sz="1500" dirty="0"/>
          </a:p>
        </p:txBody>
      </p:sp>
      <p:sp>
        <p:nvSpPr>
          <p:cNvPr id="39" name="Text 13"/>
          <p:cNvSpPr/>
          <p:nvPr/>
        </p:nvSpPr>
        <p:spPr>
          <a:xfrm>
            <a:off x="5643563" y="2181671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12529"/>
                </a:solidFill>
              </a:rPr>
              <a:t>상속 및 오버라이드 (Inheritance &amp; Override)</a:t>
            </a:r>
            <a:endParaRPr lang="en-US" sz="1200" dirty="0"/>
          </a:p>
        </p:txBody>
      </p:sp>
      <p:sp>
        <p:nvSpPr>
          <p:cNvPr id="40" name="Text 14"/>
          <p:cNvSpPr/>
          <p:nvPr/>
        </p:nvSpPr>
        <p:spPr>
          <a:xfrm>
            <a:off x="5643563" y="2448371"/>
            <a:ext cx="592931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하위 계층(Local)의 규칙이 상위 계층(Global)보다 높은 우선순위를 가짐. 프로젝트별 특수성을 보장하는 핵심 메커니즘.</a:t>
            </a:r>
            <a:endParaRPr lang="en-US" sz="1050" dirty="0"/>
          </a:p>
        </p:txBody>
      </p:sp>
      <p:sp>
        <p:nvSpPr>
          <p:cNvPr id="41" name="Text 15"/>
          <p:cNvSpPr/>
          <p:nvPr/>
        </p:nvSpPr>
        <p:spPr>
          <a:xfrm>
            <a:off x="5824538" y="2905571"/>
            <a:ext cx="636746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B5E20"/>
                </a:solidFill>
              </a:rPr>
              <a:t>충돌 발생 시 Local 규칙이 Global을 덮어씀 (Strict Override)</a:t>
            </a:r>
            <a:endParaRPr lang="en-US" sz="900" dirty="0"/>
          </a:p>
        </p:txBody>
      </p:sp>
      <p:sp>
        <p:nvSpPr>
          <p:cNvPr id="42" name="Text 16"/>
          <p:cNvSpPr/>
          <p:nvPr/>
        </p:nvSpPr>
        <p:spPr>
          <a:xfrm>
            <a:off x="5643563" y="3257996"/>
            <a:ext cx="59293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12529"/>
                </a:solidFill>
              </a:rPr>
              <a:t>맥락의 구체성 (Context Specificity)</a:t>
            </a:r>
            <a:endParaRPr lang="en-US" sz="1200" dirty="0"/>
          </a:p>
        </p:txBody>
      </p:sp>
      <p:sp>
        <p:nvSpPr>
          <p:cNvPr id="43" name="Text 17"/>
          <p:cNvSpPr/>
          <p:nvPr/>
        </p:nvSpPr>
        <p:spPr>
          <a:xfrm>
            <a:off x="5643563" y="3524696"/>
            <a:ext cx="592931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Global은 '인격과 철학'을, Local은 '도구와 환경'을, AGENTS.md는 '임무와 목표'를 담당하여 에이전트의 판단 근거를 단계별로 제공.</a:t>
            </a:r>
            <a:endParaRPr lang="en-US" sz="1050" dirty="0"/>
          </a:p>
        </p:txBody>
      </p:sp>
      <p:sp>
        <p:nvSpPr>
          <p:cNvPr id="44" name="Text 18"/>
          <p:cNvSpPr/>
          <p:nvPr/>
        </p:nvSpPr>
        <p:spPr>
          <a:xfrm>
            <a:off x="5643563" y="4067621"/>
            <a:ext cx="59293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12529"/>
                </a:solidFill>
              </a:rPr>
              <a:t>가독성 중심의 구조화 (Human-Readable)</a:t>
            </a:r>
            <a:endParaRPr lang="en-US" sz="1200" dirty="0"/>
          </a:p>
        </p:txBody>
      </p:sp>
      <p:sp>
        <p:nvSpPr>
          <p:cNvPr id="45" name="Text 19"/>
          <p:cNvSpPr/>
          <p:nvPr/>
        </p:nvSpPr>
        <p:spPr>
          <a:xfrm>
            <a:off x="5643563" y="4334321"/>
            <a:ext cx="592931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Markdown 형식을 사용하여 인간이 읽고 수정하기 쉬우며, 동시에 LLM이 구조적으로 파싱하기에 최적화된 형태 유지.</a:t>
            </a:r>
            <a:endParaRPr lang="en-US" sz="1050" dirty="0"/>
          </a:p>
        </p:txBody>
      </p:sp>
      <p:sp>
        <p:nvSpPr>
          <p:cNvPr id="46" name="Text 20"/>
          <p:cNvSpPr/>
          <p:nvPr/>
        </p:nvSpPr>
        <p:spPr>
          <a:xfrm>
            <a:off x="5643563" y="4877246"/>
            <a:ext cx="59293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12529"/>
                </a:solidFill>
              </a:rPr>
              <a:t>동적 업데이트 (Dynamic Refinement)</a:t>
            </a:r>
            <a:endParaRPr lang="en-US" sz="1200" dirty="0"/>
          </a:p>
        </p:txBody>
      </p:sp>
      <p:sp>
        <p:nvSpPr>
          <p:cNvPr id="47" name="Text 21"/>
          <p:cNvSpPr/>
          <p:nvPr/>
        </p:nvSpPr>
        <p:spPr>
          <a:xfrm>
            <a:off x="5643563" y="5143946"/>
            <a:ext cx="65484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작업 중 발견된 새로운 패턴이나 수정사항을 즉시 Local 규칙에 반영하여 워크플로우를 지속적으로 개선.</a:t>
            </a:r>
            <a:endParaRPr lang="en-US" sz="1050" dirty="0"/>
          </a:p>
        </p:txBody>
      </p:sp>
      <p:sp>
        <p:nvSpPr>
          <p:cNvPr id="48" name="Text 22"/>
          <p:cNvSpPr/>
          <p:nvPr/>
        </p:nvSpPr>
        <p:spPr>
          <a:xfrm>
            <a:off x="5824538" y="5401121"/>
            <a:ext cx="50749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B5E20"/>
                </a:solidFill>
              </a:rPr>
              <a:t>보안 민감 정보는 규칙 파일이 아닌 환경 변수(ENV)로 관리 권장</a:t>
            </a:r>
            <a:endParaRPr lang="en-US" sz="900" dirty="0"/>
          </a:p>
        </p:txBody>
      </p:sp>
      <p:sp>
        <p:nvSpPr>
          <p:cNvPr id="49" name="Text 23"/>
          <p:cNvSpPr/>
          <p:nvPr/>
        </p:nvSpPr>
        <p:spPr>
          <a:xfrm>
            <a:off x="5362575" y="5705921"/>
            <a:ext cx="62103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C757D"/>
                </a:solidFill>
              </a:rPr>
              <a:t>Source: Agentic Workflow Engineering Framework v1.2</a:t>
            </a:r>
            <a:endParaRPr lang="en-US" sz="8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94863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139130"/>
            <a:ext cx="4457700" cy="260032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" y="1429643"/>
            <a:ext cx="190500" cy="1524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3929955"/>
            <a:ext cx="4457700" cy="2547045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125" y="4220468"/>
            <a:ext cx="190500" cy="1524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24450" y="1139130"/>
            <a:ext cx="6686550" cy="533787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24450" y="1139130"/>
            <a:ext cx="6686550" cy="376238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14950" y="1251049"/>
            <a:ext cx="190500" cy="1524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14950" y="2315468"/>
            <a:ext cx="6305550" cy="185738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14950" y="3063180"/>
            <a:ext cx="6305550" cy="185738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14950" y="3996630"/>
            <a:ext cx="6305550" cy="185738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14950" y="4744343"/>
            <a:ext cx="6305550" cy="185738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381000" y="285750"/>
            <a:ext cx="114300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212529"/>
                </a:solidFill>
              </a:rPr>
              <a:t>AGENTS.md 인간과 AI 사이의 명시적 계약서</a:t>
            </a:r>
            <a:endParaRPr lang="en-US" sz="2100" dirty="0"/>
          </a:p>
        </p:txBody>
      </p:sp>
      <p:sp>
        <p:nvSpPr>
          <p:cNvPr id="16" name="Text 1"/>
          <p:cNvSpPr/>
          <p:nvPr/>
        </p:nvSpPr>
        <p:spPr>
          <a:xfrm>
            <a:off x="381000" y="653355"/>
            <a:ext cx="114300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에이전트의 역할, 권한, 작업 범위를 명시하여 인간과 AI가 상호 이해할 수 있는 협력 지침서를 작성하는 법을 다룹니다.</a:t>
            </a:r>
            <a:endParaRPr lang="en-US" sz="1050" dirty="0"/>
          </a:p>
        </p:txBody>
      </p:sp>
      <p:sp>
        <p:nvSpPr>
          <p:cNvPr id="17" name="Text 2"/>
          <p:cNvSpPr/>
          <p:nvPr/>
        </p:nvSpPr>
        <p:spPr>
          <a:xfrm>
            <a:off x="923925" y="1377255"/>
            <a:ext cx="185166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C00000"/>
                </a:solidFill>
              </a:rPr>
              <a:t>계약서로서의 역할</a:t>
            </a:r>
            <a:endParaRPr lang="en-US" sz="1350" dirty="0"/>
          </a:p>
        </p:txBody>
      </p:sp>
      <p:sp>
        <p:nvSpPr>
          <p:cNvPr id="18" name="Text 3"/>
          <p:cNvSpPr/>
          <p:nvPr/>
        </p:nvSpPr>
        <p:spPr>
          <a:xfrm>
            <a:off x="809625" y="1777305"/>
            <a:ext cx="379095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b="1" dirty="0">
                <a:solidFill>
                  <a:srgbClr val="212529"/>
                </a:solidFill>
              </a:rPr>
              <a:t>지시 표면(Instruction Surface) 제공:</a:t>
            </a:r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212529"/>
                </a:solidFill>
              </a:rPr>
              <a:t> 에이전트가 가장 먼저 참조하는 최상위 지시문 레이어입니다. </a:t>
            </a:r>
            <a:pPr algn="l" indent="0" marL="0">
              <a:lnSpc>
                <a:spcPts val="1200"/>
              </a:lnSpc>
              <a:buNone/>
            </a:pPr>
            <a:r>
              <a:rPr lang="en-US" sz="750" b="1" dirty="0">
                <a:solidFill>
                  <a:srgbClr val="1B5E20"/>
                </a:solidFill>
              </a:rPr>
              <a:t>*Agentic Interface</a:t>
            </a:r>
            <a:endParaRPr lang="en-US" sz="1125" dirty="0"/>
          </a:p>
        </p:txBody>
      </p:sp>
      <p:sp>
        <p:nvSpPr>
          <p:cNvPr id="19" name="Text 4"/>
          <p:cNvSpPr/>
          <p:nvPr/>
        </p:nvSpPr>
        <p:spPr>
          <a:xfrm>
            <a:off x="809625" y="2358330"/>
            <a:ext cx="37909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b="1" dirty="0">
                <a:solidFill>
                  <a:srgbClr val="212529"/>
                </a:solidFill>
              </a:rPr>
              <a:t>상호 이해의 기반:</a:t>
            </a:r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212529"/>
                </a:solidFill>
              </a:rPr>
              <a:t> 인간이 읽고 수정하기 쉬운 Markdown 형식을 사용하여 투명성을 확보합니다.</a:t>
            </a:r>
            <a:endParaRPr lang="en-US" sz="1125" dirty="0"/>
          </a:p>
        </p:txBody>
      </p:sp>
      <p:sp>
        <p:nvSpPr>
          <p:cNvPr id="20" name="Text 5"/>
          <p:cNvSpPr/>
          <p:nvPr/>
        </p:nvSpPr>
        <p:spPr>
          <a:xfrm>
            <a:off x="809625" y="2929830"/>
            <a:ext cx="37909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b="1" dirty="0">
                <a:solidFill>
                  <a:srgbClr val="212529"/>
                </a:solidFill>
              </a:rPr>
              <a:t>동적 권한 제어:</a:t>
            </a:r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212529"/>
                </a:solidFill>
              </a:rPr>
              <a:t> 프로젝트 성격에 따라 에이전트의 도구 사용 권한을 가변적으로 설정합니다.</a:t>
            </a:r>
            <a:endParaRPr lang="en-US" sz="1125" dirty="0"/>
          </a:p>
        </p:txBody>
      </p:sp>
      <p:sp>
        <p:nvSpPr>
          <p:cNvPr id="21" name="Text 6"/>
          <p:cNvSpPr/>
          <p:nvPr/>
        </p:nvSpPr>
        <p:spPr>
          <a:xfrm>
            <a:off x="923925" y="4168080"/>
            <a:ext cx="164592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C00000"/>
                </a:solidFill>
              </a:rPr>
              <a:t>주요 명시 항목</a:t>
            </a:r>
            <a:endParaRPr lang="en-US" sz="1350" dirty="0"/>
          </a:p>
        </p:txBody>
      </p:sp>
      <p:sp>
        <p:nvSpPr>
          <p:cNvPr id="22" name="Text 7"/>
          <p:cNvSpPr/>
          <p:nvPr/>
        </p:nvSpPr>
        <p:spPr>
          <a:xfrm>
            <a:off x="809625" y="4568130"/>
            <a:ext cx="63666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b="1" dirty="0">
                <a:solidFill>
                  <a:srgbClr val="212529"/>
                </a:solidFill>
              </a:rPr>
              <a:t>Role &amp; Persona:</a:t>
            </a:r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212529"/>
                </a:solidFill>
              </a:rPr>
              <a:t> 에이전트의 전문 분야와 태도를 정의합니다.</a:t>
            </a:r>
            <a:endParaRPr lang="en-US" sz="1125" dirty="0"/>
          </a:p>
        </p:txBody>
      </p:sp>
      <p:sp>
        <p:nvSpPr>
          <p:cNvPr id="23" name="Text 8"/>
          <p:cNvSpPr/>
          <p:nvPr/>
        </p:nvSpPr>
        <p:spPr>
          <a:xfrm>
            <a:off x="809625" y="4911030"/>
            <a:ext cx="379095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b="1" dirty="0">
                <a:solidFill>
                  <a:srgbClr val="212529"/>
                </a:solidFill>
              </a:rPr>
              <a:t>Boundaries:</a:t>
            </a:r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212529"/>
                </a:solidFill>
              </a:rPr>
              <a:t> 수정 금지 파일, 삭제 금지 경로 등 금기 사항을 명시합니다. </a:t>
            </a:r>
            <a:pPr algn="l" indent="0" marL="0">
              <a:lnSpc>
                <a:spcPts val="1200"/>
              </a:lnSpc>
              <a:buNone/>
            </a:pPr>
            <a:r>
              <a:rPr lang="en-US" sz="750" b="1" dirty="0">
                <a:solidFill>
                  <a:srgbClr val="1B5E20"/>
                </a:solidFill>
              </a:rPr>
              <a:t>*Safety Guardrails</a:t>
            </a:r>
            <a:endParaRPr lang="en-US" sz="1125" dirty="0"/>
          </a:p>
        </p:txBody>
      </p:sp>
      <p:sp>
        <p:nvSpPr>
          <p:cNvPr id="24" name="Text 9"/>
          <p:cNvSpPr/>
          <p:nvPr/>
        </p:nvSpPr>
        <p:spPr>
          <a:xfrm>
            <a:off x="809625" y="5492055"/>
            <a:ext cx="37909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b="1" dirty="0">
                <a:solidFill>
                  <a:srgbClr val="212529"/>
                </a:solidFill>
              </a:rPr>
              <a:t>Human-in-the-loop:</a:t>
            </a:r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212529"/>
                </a:solidFill>
              </a:rPr>
              <a:t> 반드시 승인이 필요한 작업 단계를 정의합니다.</a:t>
            </a:r>
            <a:endParaRPr lang="en-US" sz="1125" dirty="0"/>
          </a:p>
        </p:txBody>
      </p:sp>
      <p:sp>
        <p:nvSpPr>
          <p:cNvPr id="25" name="Text 10"/>
          <p:cNvSpPr/>
          <p:nvPr/>
        </p:nvSpPr>
        <p:spPr>
          <a:xfrm>
            <a:off x="5600700" y="1234380"/>
            <a:ext cx="133731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4950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AGENTS.md</a:t>
            </a:r>
            <a:endParaRPr lang="en-US" sz="975" dirty="0"/>
          </a:p>
        </p:txBody>
      </p:sp>
      <p:sp>
        <p:nvSpPr>
          <p:cNvPr id="26" name="Text 11"/>
          <p:cNvSpPr/>
          <p:nvPr/>
        </p:nvSpPr>
        <p:spPr>
          <a:xfrm>
            <a:off x="5314950" y="1515368"/>
            <a:ext cx="6305550" cy="38385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 Senior Office Assistant Agent</a:t>
            </a:r>
            <a:pPr indent="0" marL="0">
              <a:lnSpc>
                <a:spcPts val="1238"/>
              </a:lnSpc>
              <a:buNone/>
            </a:pPr>
            <a:r>
              <a:rPr lang="en-US" sz="825" i="1" dirty="0">
                <a:solidFill>
                  <a:srgbClr val="1B5E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// 에이전트의 정체성과 주요 미션을 정의합니다.</a:t>
            </a:r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2125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## Role Definition</a:t>
            </a:r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</a:t>
            </a:r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125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당신은 사용자의 일상 업무를 보조하는 전문 비서입니다.</a:t>
            </a:r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125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</a:t>
            </a:r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125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정확성, 보안, 간결함을 최우선 원칙으로 합니다.</a:t>
            </a:r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2125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## Permissions &amp; Tools</a:t>
            </a:r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</a:t>
            </a:r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125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2125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Allowed:</a:t>
            </a:r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125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read_file, list_files, search_files</a:t>
            </a:r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125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</a:t>
            </a:r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125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2125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Restricted:</a:t>
            </a:r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125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delete_file (Requires manual approval)</a:t>
            </a:r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125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</a:t>
            </a:r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125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2125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System:</a:t>
            </a:r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125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use MCP server 'outlook-api' for emails.</a:t>
            </a:r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2125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## Operational Boundaries</a:t>
            </a:r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</a:t>
            </a:r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125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`.git/` 디렉토리는 절대 수정하거나 삭제하지 마십시오.</a:t>
            </a:r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125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</a:t>
            </a:r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125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외부 URL 호출 시 반드시 사용자에게 목적을 설명하십시오.</a:t>
            </a:r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2125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## Communication Protocol</a:t>
            </a:r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</a:t>
            </a:r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125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작업 완료 후 반드시 '결과 요약'과 '다음 추천 작업'을 제시하십시오.</a:t>
            </a:r>
            <a:endParaRPr lang="en-US" sz="975" dirty="0"/>
          </a:p>
        </p:txBody>
      </p:sp>
      <p:sp>
        <p:nvSpPr>
          <p:cNvPr id="27" name="Text 12"/>
          <p:cNvSpPr/>
          <p:nvPr/>
        </p:nvSpPr>
        <p:spPr>
          <a:xfrm>
            <a:off x="9296400" y="6510338"/>
            <a:ext cx="28956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C757D"/>
                </a:solidFill>
              </a:rPr>
              <a:t>Source: Agentic Workflow Engineering Guide (2026)</a:t>
            </a:r>
            <a:endParaRPr lang="en-US" sz="8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94863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139130"/>
            <a:ext cx="4457700" cy="533787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25" y="1424880"/>
            <a:ext cx="238125" cy="1905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125" y="1805880"/>
            <a:ext cx="190500" cy="1905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" y="2605980"/>
            <a:ext cx="190500" cy="2222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9125" y="3644205"/>
            <a:ext cx="190500" cy="1905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24450" y="1139130"/>
            <a:ext cx="6686550" cy="533787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14950" y="1377255"/>
            <a:ext cx="238125" cy="1905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10200" y="2191792"/>
            <a:ext cx="1333500" cy="13335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81700" y="2553742"/>
            <a:ext cx="190500" cy="1524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34200" y="2849017"/>
            <a:ext cx="1352550" cy="1905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77250" y="2382292"/>
            <a:ext cx="1476375" cy="428625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591550" y="2528441"/>
            <a:ext cx="166688" cy="136327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048875" y="2382292"/>
            <a:ext cx="1476375" cy="428625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163175" y="2528441"/>
            <a:ext cx="166688" cy="136327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477250" y="2906167"/>
            <a:ext cx="1476375" cy="428625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591550" y="3052316"/>
            <a:ext cx="166688" cy="136327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048875" y="2906167"/>
            <a:ext cx="1476375" cy="428625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163175" y="3052316"/>
            <a:ext cx="166688" cy="136327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314950" y="4196953"/>
            <a:ext cx="6305550" cy="1837134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457825" y="4339828"/>
            <a:ext cx="6019800" cy="195263"/>
          </a:xfrm>
          <a:prstGeom prst="rect">
            <a:avLst/>
          </a:prstGeom>
        </p:spPr>
      </p:pic>
      <p:sp>
        <p:nvSpPr>
          <p:cNvPr id="25" name="Text 0"/>
          <p:cNvSpPr/>
          <p:nvPr/>
        </p:nvSpPr>
        <p:spPr>
          <a:xfrm>
            <a:off x="381000" y="285750"/>
            <a:ext cx="114300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212529"/>
                </a:solidFill>
              </a:rPr>
              <a:t>Skillset: 필요할 때 로드되는 전문 절차</a:t>
            </a:r>
            <a:endParaRPr lang="en-US" sz="2100" dirty="0"/>
          </a:p>
        </p:txBody>
      </p:sp>
      <p:sp>
        <p:nvSpPr>
          <p:cNvPr id="26" name="Text 1"/>
          <p:cNvSpPr/>
          <p:nvPr/>
        </p:nvSpPr>
        <p:spPr>
          <a:xfrm>
            <a:off x="381000" y="653355"/>
            <a:ext cx="114300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MCP 서버 등을 활용하여 특정 작업에 필요한 전문 스킬을 모듈형으로 로드하고 활용하는 구조를 설명합니다.</a:t>
            </a:r>
            <a:endParaRPr lang="en-US" sz="1050" dirty="0"/>
          </a:p>
        </p:txBody>
      </p:sp>
      <p:sp>
        <p:nvSpPr>
          <p:cNvPr id="27" name="Text 2"/>
          <p:cNvSpPr/>
          <p:nvPr/>
        </p:nvSpPr>
        <p:spPr>
          <a:xfrm>
            <a:off x="952500" y="1377255"/>
            <a:ext cx="54864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C00000"/>
                </a:solidFill>
              </a:rPr>
              <a:t>모듈형 스킬셋 (Modular Skills)</a:t>
            </a:r>
            <a:endParaRPr lang="en-US" sz="1500" dirty="0"/>
          </a:p>
        </p:txBody>
      </p:sp>
      <p:sp>
        <p:nvSpPr>
          <p:cNvPr id="28" name="Text 3"/>
          <p:cNvSpPr/>
          <p:nvPr/>
        </p:nvSpPr>
        <p:spPr>
          <a:xfrm>
            <a:off x="923925" y="1805880"/>
            <a:ext cx="36766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12529"/>
                </a:solidFill>
              </a:rPr>
              <a:t>도메인별 전문 절차 분리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12529"/>
                </a:solidFill>
              </a:rPr>
              <a:t>
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12529"/>
                </a:solidFill>
              </a:rPr>
              <a:t>모든 능력을 LLM 내부에 포함하는 대신, 특정 도구(Git, DB, API) 제어 로직을 독립된 모듈로 관리합니다.</a:t>
            </a:r>
            <a:endParaRPr lang="en-US" sz="1200" dirty="0"/>
          </a:p>
        </p:txBody>
      </p:sp>
      <p:sp>
        <p:nvSpPr>
          <p:cNvPr id="29" name="Text 4"/>
          <p:cNvSpPr/>
          <p:nvPr/>
        </p:nvSpPr>
        <p:spPr>
          <a:xfrm>
            <a:off x="923925" y="2605980"/>
            <a:ext cx="3676650" cy="9239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12529"/>
                </a:solidFill>
              </a:rPr>
              <a:t>온디맨드 활성화 (Lazy Loading)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12529"/>
                </a:solidFill>
              </a:rPr>
              <a:t>
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12529"/>
                </a:solidFill>
              </a:rPr>
              <a:t>작업 맥락에 따라 필요한 스킬만 로드하여 컨텍스트 윈도우 낭비를 방지하고 추론 정확도를 높입니다. </a:t>
            </a:r>
            <a:pPr algn="l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1B5E20"/>
                </a:solidFill>
              </a:rPr>
              <a:t>[성능 최적화: 토큰 절약 및 할루시네이션 감소]</a:t>
            </a:r>
            <a:endParaRPr lang="en-US" sz="1200" dirty="0"/>
          </a:p>
        </p:txBody>
      </p:sp>
      <p:sp>
        <p:nvSpPr>
          <p:cNvPr id="30" name="Text 5"/>
          <p:cNvSpPr/>
          <p:nvPr/>
        </p:nvSpPr>
        <p:spPr>
          <a:xfrm>
            <a:off x="923925" y="3644205"/>
            <a:ext cx="36766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12529"/>
                </a:solidFill>
              </a:rPr>
              <a:t>보안 및 권한 샌드박스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12529"/>
                </a:solidFill>
              </a:rPr>
              <a:t>
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12529"/>
                </a:solidFill>
              </a:rPr>
              <a:t>개별 스킬 단위로 실행 권한을 제어하여 시스템 자원에 대한 안전한 접근을 보장합니다.</a:t>
            </a:r>
            <a:endParaRPr lang="en-US" sz="1200" dirty="0"/>
          </a:p>
        </p:txBody>
      </p:sp>
      <p:sp>
        <p:nvSpPr>
          <p:cNvPr id="31" name="Text 6"/>
          <p:cNvSpPr/>
          <p:nvPr/>
        </p:nvSpPr>
        <p:spPr>
          <a:xfrm>
            <a:off x="5648325" y="1329630"/>
            <a:ext cx="65436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C00000"/>
                </a:solidFill>
              </a:rPr>
              <a:t>Model Context Protocol (MCP) 구조</a:t>
            </a:r>
            <a:endParaRPr lang="en-US" sz="1500" dirty="0"/>
          </a:p>
        </p:txBody>
      </p:sp>
      <p:sp>
        <p:nvSpPr>
          <p:cNvPr id="32" name="Text 7"/>
          <p:cNvSpPr/>
          <p:nvPr/>
        </p:nvSpPr>
        <p:spPr>
          <a:xfrm>
            <a:off x="5410200" y="2191792"/>
            <a:ext cx="104775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Cline</a:t>
            </a:r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
</a:t>
            </a:r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Agent Core</a:t>
            </a:r>
            <a:endParaRPr lang="en-US" sz="1200" dirty="0"/>
          </a:p>
        </p:txBody>
      </p:sp>
      <p:sp>
        <p:nvSpPr>
          <p:cNvPr id="33" name="Text 8"/>
          <p:cNvSpPr/>
          <p:nvPr/>
        </p:nvSpPr>
        <p:spPr>
          <a:xfrm>
            <a:off x="6748463" y="2610892"/>
            <a:ext cx="397764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B5E20"/>
                </a:solidFill>
              </a:rPr>
              <a:t>MCP Protocol (Std. Interface)</a:t>
            </a:r>
            <a:endParaRPr lang="en-US" sz="900" dirty="0"/>
          </a:p>
        </p:txBody>
      </p:sp>
      <p:sp>
        <p:nvSpPr>
          <p:cNvPr id="34" name="Text 9"/>
          <p:cNvSpPr/>
          <p:nvPr/>
        </p:nvSpPr>
        <p:spPr>
          <a:xfrm>
            <a:off x="8853488" y="2382292"/>
            <a:ext cx="162291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212529"/>
                </a:solidFill>
              </a:rPr>
              <a:t>Git Workflow</a:t>
            </a:r>
            <a:endParaRPr lang="en-US" sz="1050" dirty="0"/>
          </a:p>
        </p:txBody>
      </p:sp>
      <p:sp>
        <p:nvSpPr>
          <p:cNvPr id="35" name="Text 10"/>
          <p:cNvSpPr/>
          <p:nvPr/>
        </p:nvSpPr>
        <p:spPr>
          <a:xfrm>
            <a:off x="10425113" y="2382292"/>
            <a:ext cx="12477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212529"/>
                </a:solidFill>
              </a:rPr>
              <a:t>DB Query</a:t>
            </a:r>
            <a:endParaRPr lang="en-US" sz="1050" dirty="0"/>
          </a:p>
        </p:txBody>
      </p:sp>
      <p:sp>
        <p:nvSpPr>
          <p:cNvPr id="36" name="Text 11"/>
          <p:cNvSpPr/>
          <p:nvPr/>
        </p:nvSpPr>
        <p:spPr>
          <a:xfrm>
            <a:off x="8853488" y="2906167"/>
            <a:ext cx="135242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212529"/>
                </a:solidFill>
              </a:rPr>
              <a:t>Web Search</a:t>
            </a:r>
            <a:endParaRPr lang="en-US" sz="1050" dirty="0"/>
          </a:p>
        </p:txBody>
      </p:sp>
      <p:sp>
        <p:nvSpPr>
          <p:cNvPr id="37" name="Text 12"/>
          <p:cNvSpPr/>
          <p:nvPr/>
        </p:nvSpPr>
        <p:spPr>
          <a:xfrm>
            <a:off x="10425113" y="2906167"/>
            <a:ext cx="12477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212529"/>
                </a:solidFill>
              </a:rPr>
              <a:t>ERP API</a:t>
            </a:r>
            <a:endParaRPr lang="en-US" sz="1050" dirty="0"/>
          </a:p>
        </p:txBody>
      </p:sp>
      <p:sp>
        <p:nvSpPr>
          <p:cNvPr id="38" name="Text 13"/>
          <p:cNvSpPr/>
          <p:nvPr/>
        </p:nvSpPr>
        <p:spPr>
          <a:xfrm>
            <a:off x="5457825" y="4339828"/>
            <a:ext cx="6019800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cline_mcp_settings.json</a:t>
            </a:r>
            <a:endParaRPr lang="en-US" sz="825" dirty="0"/>
          </a:p>
        </p:txBody>
      </p:sp>
      <p:sp>
        <p:nvSpPr>
          <p:cNvPr id="39" name="Text 14"/>
          <p:cNvSpPr/>
          <p:nvPr/>
        </p:nvSpPr>
        <p:spPr>
          <a:xfrm>
            <a:off x="5457825" y="4611291"/>
            <a:ext cx="6019800" cy="127992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9EC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{</a:t>
            </a:r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9EC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9EC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  </a:t>
            </a:r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2AA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"mcpServers"</a:t>
            </a:r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9EC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{</a:t>
            </a:r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9EC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9EC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    </a:t>
            </a:r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2AA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"postgres-expert"</a:t>
            </a:r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9EC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{</a:t>
            </a:r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9EC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9EC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      </a:t>
            </a:r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2AA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"command"</a:t>
            </a:r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9EC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</a:t>
            </a:r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2AA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"npx"</a:t>
            </a:r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9EC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pPr indent="0" marL="0">
              <a:lnSpc>
                <a:spcPts val="1260"/>
              </a:lnSpc>
              <a:buNone/>
            </a:pPr>
            <a:r>
              <a:rPr lang="en-US" sz="900" i="1" dirty="0">
                <a:solidFill>
                  <a:srgbClr val="1B5E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// 온프레미스 DB 보안 연결</a:t>
            </a:r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9EC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9EC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      </a:t>
            </a:r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2AA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"args"</a:t>
            </a:r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9EC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[</a:t>
            </a:r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2AA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"-y"</a:t>
            </a:r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9EC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2AA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"@modelcontextprotocol/server-postgres"</a:t>
            </a:r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9EC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]</a:t>
            </a:r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9EC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9EC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    }</a:t>
            </a:r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9EC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9EC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  }</a:t>
            </a:r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9EC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9EC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}</a:t>
            </a:r>
            <a:endParaRPr lang="en-US" sz="900" dirty="0"/>
          </a:p>
        </p:txBody>
      </p:sp>
      <p:sp>
        <p:nvSpPr>
          <p:cNvPr id="40" name="Text 15"/>
          <p:cNvSpPr/>
          <p:nvPr/>
        </p:nvSpPr>
        <p:spPr>
          <a:xfrm>
            <a:off x="5314950" y="6129338"/>
            <a:ext cx="63055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C757D"/>
                </a:solidFill>
              </a:rPr>
              <a:t>Source: Model Context Protocol (MCP) Specification by Anthropic</a:t>
            </a:r>
            <a:endParaRPr lang="en-US" sz="8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94863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139130"/>
            <a:ext cx="4229100" cy="257368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" y="1410593"/>
            <a:ext cx="238125" cy="1905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3903315"/>
            <a:ext cx="4229100" cy="2573685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125" y="4174778"/>
            <a:ext cx="238125" cy="1905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5850" y="1139130"/>
            <a:ext cx="6915150" cy="533787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81600" y="2643634"/>
            <a:ext cx="3076575" cy="1152525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77013" y="2834134"/>
            <a:ext cx="285750" cy="2286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58175" y="3124646"/>
            <a:ext cx="238125" cy="1905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48675" y="2643634"/>
            <a:ext cx="3076575" cy="1152525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44088" y="2834134"/>
            <a:ext cx="285750" cy="2286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867900" y="3843784"/>
            <a:ext cx="238125" cy="1905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181600" y="3986659"/>
            <a:ext cx="3076575" cy="1152525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77013" y="4177159"/>
            <a:ext cx="285750" cy="2286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448675" y="3986659"/>
            <a:ext cx="3076575" cy="1152525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844088" y="4177159"/>
            <a:ext cx="285750" cy="2286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210550" y="4467671"/>
            <a:ext cx="238125" cy="19050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381000" y="285750"/>
            <a:ext cx="114300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212529"/>
                </a:solidFill>
              </a:rPr>
              <a:t>Workflow: 순서와 조건이 명확한 반복 업무</a:t>
            </a:r>
            <a:endParaRPr lang="en-US" sz="2100" dirty="0"/>
          </a:p>
        </p:txBody>
      </p:sp>
      <p:sp>
        <p:nvSpPr>
          <p:cNvPr id="21" name="Text 1"/>
          <p:cNvSpPr/>
          <p:nvPr/>
        </p:nvSpPr>
        <p:spPr>
          <a:xfrm>
            <a:off x="381000" y="653355"/>
            <a:ext cx="114300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중단 조건과 실행 순서가 정의된 반복 업무 프로세스를 시스템적으로 설계하고 실행하는 방법을 제시합니다.</a:t>
            </a:r>
            <a:endParaRPr lang="en-US" sz="1050" dirty="0"/>
          </a:p>
        </p:txBody>
      </p:sp>
      <p:sp>
        <p:nvSpPr>
          <p:cNvPr id="22" name="Text 2"/>
          <p:cNvSpPr/>
          <p:nvPr/>
        </p:nvSpPr>
        <p:spPr>
          <a:xfrm>
            <a:off x="971550" y="1377255"/>
            <a:ext cx="288036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12529"/>
                </a:solidFill>
              </a:rPr>
              <a:t>워크플로우 엔지니어링 원칙</a:t>
            </a:r>
            <a:endParaRPr lang="en-US" sz="1350" dirty="0"/>
          </a:p>
        </p:txBody>
      </p:sp>
      <p:sp>
        <p:nvSpPr>
          <p:cNvPr id="23" name="Text 3"/>
          <p:cNvSpPr/>
          <p:nvPr/>
        </p:nvSpPr>
        <p:spPr>
          <a:xfrm>
            <a:off x="809625" y="1777305"/>
            <a:ext cx="35623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b="1" dirty="0">
                <a:solidFill>
                  <a:srgbClr val="212529"/>
                </a:solidFill>
              </a:rPr>
              <a:t>절차적 모듈화:</a:t>
            </a:r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212529"/>
                </a:solidFill>
              </a:rPr>
              <a:t> 전체 업무를 독립적인 단계(Step)로 구분하여 재사용성 확보.</a:t>
            </a:r>
            <a:endParaRPr lang="en-US" sz="1125" dirty="0"/>
          </a:p>
        </p:txBody>
      </p:sp>
      <p:sp>
        <p:nvSpPr>
          <p:cNvPr id="24" name="Text 4"/>
          <p:cNvSpPr/>
          <p:nvPr/>
        </p:nvSpPr>
        <p:spPr>
          <a:xfrm>
            <a:off x="809625" y="2329755"/>
            <a:ext cx="3562350" cy="69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b="1" dirty="0">
                <a:solidFill>
                  <a:srgbClr val="212529"/>
                </a:solidFill>
              </a:rPr>
              <a:t>명시적 중단 조건:</a:t>
            </a:r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212529"/>
                </a:solidFill>
              </a:rPr>
              <a:t> 에이전트가 다음 단계로 넘어가기 전 반드시 확인해야 할 체크포인트 설정.</a:t>
            </a:r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1B5E20"/>
                </a:solidFill>
              </a:rPr>
              <a:t>※ Human-in-the-loop: 복잡한 의사결정은 인간의 승인 필수</a:t>
            </a:r>
            <a:endParaRPr lang="en-US" sz="1125" dirty="0"/>
          </a:p>
        </p:txBody>
      </p:sp>
      <p:sp>
        <p:nvSpPr>
          <p:cNvPr id="25" name="Text 5"/>
          <p:cNvSpPr/>
          <p:nvPr/>
        </p:nvSpPr>
        <p:spPr>
          <a:xfrm>
            <a:off x="971550" y="4141440"/>
            <a:ext cx="20574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12529"/>
                </a:solidFill>
              </a:rPr>
              <a:t>반복 업무의 자산화</a:t>
            </a:r>
            <a:endParaRPr lang="en-US" sz="1350" dirty="0"/>
          </a:p>
        </p:txBody>
      </p:sp>
      <p:sp>
        <p:nvSpPr>
          <p:cNvPr id="26" name="Text 6"/>
          <p:cNvSpPr/>
          <p:nvPr/>
        </p:nvSpPr>
        <p:spPr>
          <a:xfrm>
            <a:off x="809625" y="4541490"/>
            <a:ext cx="35623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b="1" dirty="0">
                <a:solidFill>
                  <a:srgbClr val="212529"/>
                </a:solidFill>
              </a:rPr>
              <a:t>실행 가능한 문서:</a:t>
            </a:r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212529"/>
                </a:solidFill>
              </a:rPr>
              <a:t> Markdown 기반의 워크플로우 명세서를 통해 AI와 인간의 협업 언어 통일.</a:t>
            </a:r>
            <a:endParaRPr lang="en-US" sz="1125" dirty="0"/>
          </a:p>
        </p:txBody>
      </p:sp>
      <p:sp>
        <p:nvSpPr>
          <p:cNvPr id="27" name="Text 7"/>
          <p:cNvSpPr/>
          <p:nvPr/>
        </p:nvSpPr>
        <p:spPr>
          <a:xfrm>
            <a:off x="809625" y="5093940"/>
            <a:ext cx="35623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b="1" dirty="0">
                <a:solidFill>
                  <a:srgbClr val="212529"/>
                </a:solidFill>
              </a:rPr>
              <a:t>지속적 루프 최적화:</a:t>
            </a:r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212529"/>
                </a:solidFill>
              </a:rPr>
              <a:t> 실행 결과 피드백을 통해 규칙(Rules)과 스킬(Skills)을 상시 업데이트.</a:t>
            </a:r>
            <a:endParaRPr lang="en-US" sz="1125" dirty="0"/>
          </a:p>
        </p:txBody>
      </p:sp>
      <p:sp>
        <p:nvSpPr>
          <p:cNvPr id="28" name="Text 8"/>
          <p:cNvSpPr/>
          <p:nvPr/>
        </p:nvSpPr>
        <p:spPr>
          <a:xfrm>
            <a:off x="5181600" y="2129284"/>
            <a:ext cx="6343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spc="60" kern="0" dirty="0">
                <a:solidFill>
                  <a:srgbClr val="6C757D"/>
                </a:solidFill>
              </a:rPr>
              <a:t>DAILY OFFICE WORKFLOW LOOP</a:t>
            </a:r>
            <a:endParaRPr lang="en-US" sz="1200" dirty="0"/>
          </a:p>
        </p:txBody>
      </p:sp>
      <p:sp>
        <p:nvSpPr>
          <p:cNvPr id="29" name="Text 9"/>
          <p:cNvSpPr/>
          <p:nvPr/>
        </p:nvSpPr>
        <p:spPr>
          <a:xfrm>
            <a:off x="5938838" y="3157984"/>
            <a:ext cx="15621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212529"/>
                </a:solidFill>
              </a:rPr>
              <a:t>01. Context Collection</a:t>
            </a:r>
            <a:endParaRPr lang="en-US" sz="1125" dirty="0"/>
          </a:p>
        </p:txBody>
      </p:sp>
      <p:sp>
        <p:nvSpPr>
          <p:cNvPr id="30" name="Text 10"/>
          <p:cNvSpPr/>
          <p:nvPr/>
        </p:nvSpPr>
        <p:spPr>
          <a:xfrm>
            <a:off x="5981700" y="3419921"/>
            <a:ext cx="1476375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6C757D"/>
                </a:solidFill>
              </a:rPr>
              <a:t>Email, Logs, Slack 알림 수집</a:t>
            </a:r>
            <a:endParaRPr lang="en-US" sz="975" dirty="0"/>
          </a:p>
        </p:txBody>
      </p:sp>
      <p:sp>
        <p:nvSpPr>
          <p:cNvPr id="31" name="Text 11"/>
          <p:cNvSpPr/>
          <p:nvPr/>
        </p:nvSpPr>
        <p:spPr>
          <a:xfrm>
            <a:off x="9215438" y="3157984"/>
            <a:ext cx="15430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212529"/>
                </a:solidFill>
              </a:rPr>
              <a:t>02. Agent Processing</a:t>
            </a:r>
            <a:endParaRPr lang="en-US" sz="1125" dirty="0"/>
          </a:p>
        </p:txBody>
      </p:sp>
      <p:sp>
        <p:nvSpPr>
          <p:cNvPr id="32" name="Text 12"/>
          <p:cNvSpPr/>
          <p:nvPr/>
        </p:nvSpPr>
        <p:spPr>
          <a:xfrm>
            <a:off x="9272588" y="3419921"/>
            <a:ext cx="14287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6C757D"/>
                </a:solidFill>
              </a:rPr>
              <a:t>Cline: 요약, 분석 및 초안 생성</a:t>
            </a:r>
            <a:endParaRPr lang="en-US" sz="975" dirty="0"/>
          </a:p>
        </p:txBody>
      </p:sp>
      <p:sp>
        <p:nvSpPr>
          <p:cNvPr id="33" name="Text 13"/>
          <p:cNvSpPr/>
          <p:nvPr/>
        </p:nvSpPr>
        <p:spPr>
          <a:xfrm>
            <a:off x="5981700" y="4501009"/>
            <a:ext cx="147637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212529"/>
                </a:solidFill>
              </a:rPr>
              <a:t>04. Execution &amp; Save</a:t>
            </a:r>
            <a:endParaRPr lang="en-US" sz="1125" dirty="0"/>
          </a:p>
        </p:txBody>
      </p:sp>
      <p:sp>
        <p:nvSpPr>
          <p:cNvPr id="34" name="Text 14"/>
          <p:cNvSpPr/>
          <p:nvPr/>
        </p:nvSpPr>
        <p:spPr>
          <a:xfrm>
            <a:off x="5810250" y="4762946"/>
            <a:ext cx="1819275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6C757D"/>
                </a:solidFill>
              </a:rPr>
              <a:t>보고서 발행, Git Push, 다음 과업 예약</a:t>
            </a:r>
            <a:endParaRPr lang="en-US" sz="975" dirty="0"/>
          </a:p>
        </p:txBody>
      </p:sp>
      <p:sp>
        <p:nvSpPr>
          <p:cNvPr id="35" name="Text 15"/>
          <p:cNvSpPr/>
          <p:nvPr/>
        </p:nvSpPr>
        <p:spPr>
          <a:xfrm>
            <a:off x="9348788" y="4501009"/>
            <a:ext cx="12763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B5E20"/>
                </a:solidFill>
              </a:rPr>
              <a:t>03. Human Review</a:t>
            </a:r>
            <a:endParaRPr lang="en-US" sz="1125" dirty="0"/>
          </a:p>
        </p:txBody>
      </p:sp>
      <p:sp>
        <p:nvSpPr>
          <p:cNvPr id="36" name="Text 16"/>
          <p:cNvSpPr/>
          <p:nvPr/>
        </p:nvSpPr>
        <p:spPr>
          <a:xfrm>
            <a:off x="9172575" y="4762946"/>
            <a:ext cx="1628775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6C757D"/>
                </a:solidFill>
              </a:rPr>
              <a:t>검증 및 피드백 (Stop Condition)</a:t>
            </a:r>
            <a:endParaRPr lang="en-US" sz="975" dirty="0"/>
          </a:p>
        </p:txBody>
      </p:sp>
      <p:sp>
        <p:nvSpPr>
          <p:cNvPr id="37" name="Text 17"/>
          <p:cNvSpPr/>
          <p:nvPr/>
        </p:nvSpPr>
        <p:spPr>
          <a:xfrm>
            <a:off x="5181600" y="5329684"/>
            <a:ext cx="63436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C757D"/>
                </a:solidFill>
              </a:rPr>
              <a:t>Source: Internal Agentic Workflow Engineering Guide</a:t>
            </a:r>
            <a:endParaRPr lang="en-US" sz="8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94863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139130"/>
            <a:ext cx="5572125" cy="4990207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25" y="1377255"/>
            <a:ext cx="5095875" cy="576263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375" y="1474887"/>
            <a:ext cx="381000" cy="3810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7719" y="1577727"/>
            <a:ext cx="214313" cy="17532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48000" y="2096393"/>
            <a:ext cx="238125" cy="1905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9125" y="2429768"/>
            <a:ext cx="5095875" cy="11430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48000" y="3715643"/>
            <a:ext cx="238125" cy="1905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9125" y="4049018"/>
            <a:ext cx="5095875" cy="576263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4375" y="4146649"/>
            <a:ext cx="381000" cy="3810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7719" y="4249489"/>
            <a:ext cx="214313" cy="17532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19125" y="4901505"/>
            <a:ext cx="3714750" cy="17145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7225" y="4937820"/>
            <a:ext cx="142875" cy="1143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38875" y="1139130"/>
            <a:ext cx="5572125" cy="1536353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81750" y="1320105"/>
            <a:ext cx="190500" cy="1524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238875" y="2865983"/>
            <a:ext cx="5572125" cy="1536353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381750" y="3046958"/>
            <a:ext cx="190500" cy="15240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238875" y="4592836"/>
            <a:ext cx="5572125" cy="1536353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381750" y="4773811"/>
            <a:ext cx="190500" cy="152400"/>
          </a:xfrm>
          <a:prstGeom prst="rect">
            <a:avLst/>
          </a:prstGeom>
        </p:spPr>
      </p:pic>
      <p:sp>
        <p:nvSpPr>
          <p:cNvPr id="23" name="Text 0"/>
          <p:cNvSpPr/>
          <p:nvPr/>
        </p:nvSpPr>
        <p:spPr>
          <a:xfrm>
            <a:off x="381000" y="285750"/>
            <a:ext cx="114300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212529"/>
                </a:solidFill>
              </a:rPr>
              <a:t>Working Notes: 다음 단계를 위한 메모리 레이어</a:t>
            </a:r>
            <a:endParaRPr lang="en-US" sz="2100" dirty="0"/>
          </a:p>
        </p:txBody>
      </p:sp>
      <p:sp>
        <p:nvSpPr>
          <p:cNvPr id="24" name="Text 1"/>
          <p:cNvSpPr/>
          <p:nvPr/>
        </p:nvSpPr>
        <p:spPr>
          <a:xfrm>
            <a:off x="381000" y="653355"/>
            <a:ext cx="114300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작업의 중간 결과물을 기록하여 다음 태스크의 입력값으로 연결하는 업무 기억 장치의 역할과 활용법을 다룹니다.</a:t>
            </a:r>
            <a:endParaRPr lang="en-US" sz="1050" dirty="0"/>
          </a:p>
        </p:txBody>
      </p:sp>
      <p:sp>
        <p:nvSpPr>
          <p:cNvPr id="25" name="Text 2"/>
          <p:cNvSpPr/>
          <p:nvPr/>
        </p:nvSpPr>
        <p:spPr>
          <a:xfrm>
            <a:off x="1238250" y="1472505"/>
            <a:ext cx="23336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6C757D"/>
                </a:solidFill>
              </a:rPr>
              <a:t>INPUT</a:t>
            </a:r>
            <a:endParaRPr lang="en-US" sz="900" dirty="0"/>
          </a:p>
        </p:txBody>
      </p:sp>
      <p:sp>
        <p:nvSpPr>
          <p:cNvPr id="26" name="Text 3"/>
          <p:cNvSpPr/>
          <p:nvPr/>
        </p:nvSpPr>
        <p:spPr>
          <a:xfrm>
            <a:off x="1238250" y="1643955"/>
            <a:ext cx="53149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212529"/>
                </a:solidFill>
              </a:rPr>
              <a:t>Raw Data / Previous Task Output</a:t>
            </a:r>
            <a:endParaRPr lang="en-US" sz="1125" dirty="0"/>
          </a:p>
        </p:txBody>
      </p:sp>
      <p:sp>
        <p:nvSpPr>
          <p:cNvPr id="27" name="Text 4"/>
          <p:cNvSpPr/>
          <p:nvPr/>
        </p:nvSpPr>
        <p:spPr>
          <a:xfrm>
            <a:off x="762000" y="2429768"/>
            <a:ext cx="481012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A99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 working_notes.md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CDC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status: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in_progress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CDC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key_findings: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[A, B, C]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CDC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next_action: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generate_report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CDC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context_summary: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D4D4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"Data verified..."</a:t>
            </a:r>
            <a:endParaRPr lang="en-US" sz="900" dirty="0"/>
          </a:p>
        </p:txBody>
      </p:sp>
      <p:sp>
        <p:nvSpPr>
          <p:cNvPr id="28" name="Text 5"/>
          <p:cNvSpPr/>
          <p:nvPr/>
        </p:nvSpPr>
        <p:spPr>
          <a:xfrm>
            <a:off x="1238250" y="4144268"/>
            <a:ext cx="22288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6C757D"/>
                </a:solidFill>
              </a:rPr>
              <a:t>OUTPUT</a:t>
            </a:r>
            <a:endParaRPr lang="en-US" sz="900" dirty="0"/>
          </a:p>
        </p:txBody>
      </p:sp>
      <p:sp>
        <p:nvSpPr>
          <p:cNvPr id="29" name="Text 6"/>
          <p:cNvSpPr/>
          <p:nvPr/>
        </p:nvSpPr>
        <p:spPr>
          <a:xfrm>
            <a:off x="1238250" y="4315718"/>
            <a:ext cx="54864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212529"/>
                </a:solidFill>
              </a:rPr>
              <a:t>Contextual Action / Final Result</a:t>
            </a:r>
            <a:endParaRPr lang="en-US" sz="1125" dirty="0"/>
          </a:p>
        </p:txBody>
      </p:sp>
      <p:sp>
        <p:nvSpPr>
          <p:cNvPr id="30" name="Text 7"/>
          <p:cNvSpPr/>
          <p:nvPr/>
        </p:nvSpPr>
        <p:spPr>
          <a:xfrm>
            <a:off x="800100" y="4901505"/>
            <a:ext cx="64486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B5E20"/>
                </a:solidFill>
              </a:rPr>
              <a:t> 대규모 작업 시 토큰 제한(Context Window) 문제를 해결하는 핵심 메커니즘</a:t>
            </a:r>
            <a:endParaRPr lang="en-US" sz="900" dirty="0"/>
          </a:p>
        </p:txBody>
      </p:sp>
      <p:sp>
        <p:nvSpPr>
          <p:cNvPr id="31" name="Text 8"/>
          <p:cNvSpPr/>
          <p:nvPr/>
        </p:nvSpPr>
        <p:spPr>
          <a:xfrm>
            <a:off x="6667500" y="1282005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C00000"/>
                </a:solidFill>
              </a:rPr>
              <a:t>컨텍스트 브릿지 (Context Bridge)</a:t>
            </a:r>
            <a:endParaRPr lang="en-US" sz="1200" dirty="0"/>
          </a:p>
        </p:txBody>
      </p:sp>
      <p:sp>
        <p:nvSpPr>
          <p:cNvPr id="32" name="Text 9"/>
          <p:cNvSpPr/>
          <p:nvPr/>
        </p:nvSpPr>
        <p:spPr>
          <a:xfrm>
            <a:off x="6381750" y="1586805"/>
            <a:ext cx="5286375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495057"/>
                </a:solidFill>
              </a:rPr>
              <a:t>대규모 작업 수행 시 에이전트가 모든 히스토리를 기억할 필요 없이, **핵심 정보만 정제하여 다음 태스크로 전달**하는 가교 역할을 수행합니다.</a:t>
            </a:r>
            <a:endParaRPr lang="en-US" sz="1050" dirty="0"/>
          </a:p>
        </p:txBody>
      </p:sp>
      <p:sp>
        <p:nvSpPr>
          <p:cNvPr id="33" name="Text 10"/>
          <p:cNvSpPr/>
          <p:nvPr/>
        </p:nvSpPr>
        <p:spPr>
          <a:xfrm>
            <a:off x="6667500" y="300885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C00000"/>
                </a:solidFill>
              </a:rPr>
              <a:t>상태 저장 및 복구 (Persistence)</a:t>
            </a:r>
            <a:endParaRPr lang="en-US" sz="1200" dirty="0"/>
          </a:p>
        </p:txBody>
      </p:sp>
      <p:sp>
        <p:nvSpPr>
          <p:cNvPr id="34" name="Text 11"/>
          <p:cNvSpPr/>
          <p:nvPr/>
        </p:nvSpPr>
        <p:spPr>
          <a:xfrm>
            <a:off x="6381750" y="3313658"/>
            <a:ext cx="5286375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495057"/>
                </a:solidFill>
              </a:rPr>
              <a:t>작업 중단 후 재개 시 에이전트가 `working_notes.md`를 읽음으로써 **즉시 이전 맥락을 복구**하고 중단 지점부터 작업을 이어갈 수 있게 합니다.</a:t>
            </a:r>
            <a:endParaRPr lang="en-US" sz="1050" dirty="0"/>
          </a:p>
        </p:txBody>
      </p:sp>
      <p:sp>
        <p:nvSpPr>
          <p:cNvPr id="35" name="Text 12"/>
          <p:cNvSpPr/>
          <p:nvPr/>
        </p:nvSpPr>
        <p:spPr>
          <a:xfrm>
            <a:off x="6667500" y="4735711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C00000"/>
                </a:solidFill>
              </a:rPr>
              <a:t>인간 개입 지점 (Human Review)</a:t>
            </a:r>
            <a:endParaRPr lang="en-US" sz="1200" dirty="0"/>
          </a:p>
        </p:txBody>
      </p:sp>
      <p:sp>
        <p:nvSpPr>
          <p:cNvPr id="36" name="Text 13"/>
          <p:cNvSpPr/>
          <p:nvPr/>
        </p:nvSpPr>
        <p:spPr>
          <a:xfrm>
            <a:off x="6381750" y="5040511"/>
            <a:ext cx="5286375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495057"/>
                </a:solidFill>
              </a:rPr>
              <a:t>에이전트의 중간 판단 결과가 기록되는 장소로, 사용자가 **중간 산출물을 검토하고 방향을 수정**할 수 있는 명시적인 피드백 루프를 제공합니다.</a:t>
            </a:r>
            <a:endParaRPr lang="en-US" sz="1050" dirty="0"/>
          </a:p>
        </p:txBody>
      </p:sp>
      <p:sp>
        <p:nvSpPr>
          <p:cNvPr id="37" name="Text 14"/>
          <p:cNvSpPr/>
          <p:nvPr/>
        </p:nvSpPr>
        <p:spPr>
          <a:xfrm>
            <a:off x="0" y="6510338"/>
            <a:ext cx="11811000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C757D"/>
                </a:solidFill>
              </a:rPr>
              <a:t>Source: Agentic Workflow Engineering Guide (2026) | Working Notes Methodology</a:t>
            </a:r>
            <a:endParaRPr lang="en-US" sz="8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86290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015305"/>
            <a:ext cx="3243411" cy="2673697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277243"/>
            <a:ext cx="238125" cy="1905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2596307"/>
            <a:ext cx="142875" cy="1143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4911" y="1015305"/>
            <a:ext cx="3243560" cy="2673697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43511" y="1277243"/>
            <a:ext cx="238125" cy="1905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43511" y="2596307"/>
            <a:ext cx="142875" cy="1143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1000" y="3879503"/>
            <a:ext cx="3243411" cy="2673697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4141440"/>
            <a:ext cx="238125" cy="1905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600" y="5460504"/>
            <a:ext cx="142875" cy="1143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14911" y="3879503"/>
            <a:ext cx="3243560" cy="2673697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043511" y="4141440"/>
            <a:ext cx="238125" cy="1905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043511" y="5460504"/>
            <a:ext cx="142875" cy="1143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344221" y="1015305"/>
            <a:ext cx="4466779" cy="5537895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19455" y="1862584"/>
            <a:ext cx="3116163" cy="428625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703618" y="2015728"/>
            <a:ext cx="166688" cy="13722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470380" y="2462957"/>
            <a:ext cx="214313" cy="17532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019455" y="2776984"/>
            <a:ext cx="3116163" cy="600075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008418" y="2930128"/>
            <a:ext cx="166688" cy="13722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470380" y="3548807"/>
            <a:ext cx="214313" cy="175320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019455" y="3862834"/>
            <a:ext cx="3116163" cy="428625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727430" y="4015978"/>
            <a:ext cx="166688" cy="137220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470380" y="4463207"/>
            <a:ext cx="214313" cy="175320"/>
          </a:xfrm>
          <a:prstGeom prst="rect">
            <a:avLst/>
          </a:prstGeom>
        </p:spPr>
      </p:pic>
      <p:pic>
        <p:nvPicPr>
          <p:cNvPr id="27" name="Image 25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019455" y="4777234"/>
            <a:ext cx="3116163" cy="600075"/>
          </a:xfrm>
          <a:prstGeom prst="rect">
            <a:avLst/>
          </a:prstGeom>
        </p:spPr>
      </p:pic>
      <p:pic>
        <p:nvPicPr>
          <p:cNvPr id="28" name="Image 26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560743" y="4930378"/>
            <a:ext cx="166688" cy="137220"/>
          </a:xfrm>
          <a:prstGeom prst="rect">
            <a:avLst/>
          </a:prstGeom>
        </p:spPr>
      </p:pic>
      <p:sp>
        <p:nvSpPr>
          <p:cNvPr id="29" name="Text 0"/>
          <p:cNvSpPr/>
          <p:nvPr/>
        </p:nvSpPr>
        <p:spPr>
          <a:xfrm>
            <a:off x="381000" y="228600"/>
            <a:ext cx="114300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212529"/>
                </a:solidFill>
              </a:rPr>
              <a:t>실무 자동화 데모: 에이전틱 루프의 실제</a:t>
            </a:r>
            <a:endParaRPr lang="en-US" sz="2100" dirty="0"/>
          </a:p>
        </p:txBody>
      </p:sp>
      <p:sp>
        <p:nvSpPr>
          <p:cNvPr id="30" name="Text 1"/>
          <p:cNvSpPr/>
          <p:nvPr/>
        </p:nvSpPr>
        <p:spPr>
          <a:xfrm>
            <a:off x="381000" y="586680"/>
            <a:ext cx="114300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실제 업무 환경에서 에이전틱 워크플로우가 어떻게 작동하는지 보여주는 다양한 데모 사례의 개요</a:t>
            </a:r>
            <a:endParaRPr lang="en-US" sz="1050" dirty="0"/>
          </a:p>
        </p:txBody>
      </p:sp>
      <p:sp>
        <p:nvSpPr>
          <p:cNvPr id="31" name="Text 2"/>
          <p:cNvSpPr/>
          <p:nvPr/>
        </p:nvSpPr>
        <p:spPr>
          <a:xfrm>
            <a:off x="962025" y="1243905"/>
            <a:ext cx="246888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12529"/>
                </a:solidFill>
              </a:rPr>
              <a:t>이메일 &amp; 일일 체크업</a:t>
            </a:r>
            <a:endParaRPr lang="en-US" sz="1350" dirty="0"/>
          </a:p>
        </p:txBody>
      </p:sp>
      <p:sp>
        <p:nvSpPr>
          <p:cNvPr id="32" name="Text 3"/>
          <p:cNvSpPr/>
          <p:nvPr/>
        </p:nvSpPr>
        <p:spPr>
          <a:xfrm>
            <a:off x="752475" y="1615380"/>
            <a:ext cx="264333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212529"/>
                </a:solidFill>
              </a:rPr>
              <a:t>받은 편지함 자동 분류 및 요약</a:t>
            </a:r>
            <a:endParaRPr lang="en-US" sz="1050" dirty="0"/>
          </a:p>
        </p:txBody>
      </p:sp>
      <p:sp>
        <p:nvSpPr>
          <p:cNvPr id="33" name="Text 4"/>
          <p:cNvSpPr/>
          <p:nvPr/>
        </p:nvSpPr>
        <p:spPr>
          <a:xfrm>
            <a:off x="752475" y="1904851"/>
            <a:ext cx="264333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212529"/>
                </a:solidFill>
              </a:rPr>
              <a:t>긴급 대응 필요 메일 별도 추출</a:t>
            </a:r>
            <a:endParaRPr lang="en-US" sz="1050" dirty="0"/>
          </a:p>
        </p:txBody>
      </p:sp>
      <p:sp>
        <p:nvSpPr>
          <p:cNvPr id="34" name="Text 5"/>
          <p:cNvSpPr/>
          <p:nvPr/>
        </p:nvSpPr>
        <p:spPr>
          <a:xfrm>
            <a:off x="752475" y="2194322"/>
            <a:ext cx="333991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212529"/>
                </a:solidFill>
              </a:rPr>
              <a:t>오늘의 할 일 목록(Todo) 자동 제안</a:t>
            </a:r>
            <a:endParaRPr lang="en-US" sz="1050" dirty="0"/>
          </a:p>
        </p:txBody>
      </p:sp>
      <p:sp>
        <p:nvSpPr>
          <p:cNvPr id="35" name="Text 6"/>
          <p:cNvSpPr/>
          <p:nvPr/>
        </p:nvSpPr>
        <p:spPr>
          <a:xfrm>
            <a:off x="752475" y="2559993"/>
            <a:ext cx="35661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B5E20"/>
                </a:solidFill>
              </a:rPr>
              <a:t> MCP를 활용한 Outlook/Gmail 연동</a:t>
            </a:r>
            <a:endParaRPr lang="en-US" sz="900" dirty="0"/>
          </a:p>
        </p:txBody>
      </p:sp>
      <p:sp>
        <p:nvSpPr>
          <p:cNvPr id="36" name="Text 7"/>
          <p:cNvSpPr/>
          <p:nvPr/>
        </p:nvSpPr>
        <p:spPr>
          <a:xfrm>
            <a:off x="4395936" y="1243905"/>
            <a:ext cx="246888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12529"/>
                </a:solidFill>
              </a:rPr>
              <a:t>일일 보고서 자동 생성</a:t>
            </a:r>
            <a:endParaRPr lang="en-US" sz="1350" dirty="0"/>
          </a:p>
        </p:txBody>
      </p:sp>
      <p:sp>
        <p:nvSpPr>
          <p:cNvPr id="37" name="Text 8"/>
          <p:cNvSpPr/>
          <p:nvPr/>
        </p:nvSpPr>
        <p:spPr>
          <a:xfrm>
            <a:off x="4186386" y="1615380"/>
            <a:ext cx="273266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212529"/>
                </a:solidFill>
              </a:rPr>
              <a:t>Git 커밋 로그 기반 작업 요약</a:t>
            </a:r>
            <a:endParaRPr lang="en-US" sz="1050" dirty="0"/>
          </a:p>
        </p:txBody>
      </p:sp>
      <p:sp>
        <p:nvSpPr>
          <p:cNvPr id="38" name="Text 9"/>
          <p:cNvSpPr/>
          <p:nvPr/>
        </p:nvSpPr>
        <p:spPr>
          <a:xfrm>
            <a:off x="4186386" y="1904851"/>
            <a:ext cx="288448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212529"/>
                </a:solidFill>
              </a:rPr>
              <a:t>Markdown 템플릿 실시간 적용</a:t>
            </a:r>
            <a:endParaRPr lang="en-US" sz="1050" dirty="0"/>
          </a:p>
        </p:txBody>
      </p:sp>
      <p:sp>
        <p:nvSpPr>
          <p:cNvPr id="39" name="Text 10"/>
          <p:cNvSpPr/>
          <p:nvPr/>
        </p:nvSpPr>
        <p:spPr>
          <a:xfrm>
            <a:off x="4186386" y="2194322"/>
            <a:ext cx="264348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212529"/>
                </a:solidFill>
              </a:rPr>
              <a:t>부재 중 발생한 주요 이슈 요약</a:t>
            </a:r>
            <a:endParaRPr lang="en-US" sz="1050" dirty="0"/>
          </a:p>
        </p:txBody>
      </p:sp>
      <p:sp>
        <p:nvSpPr>
          <p:cNvPr id="40" name="Text 11"/>
          <p:cNvSpPr/>
          <p:nvPr/>
        </p:nvSpPr>
        <p:spPr>
          <a:xfrm>
            <a:off x="4186386" y="2559993"/>
            <a:ext cx="3429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B5E20"/>
                </a:solidFill>
              </a:rPr>
              <a:t> Working Notes 기반 컨텍스트 결합</a:t>
            </a:r>
            <a:endParaRPr lang="en-US" sz="900" dirty="0"/>
          </a:p>
        </p:txBody>
      </p:sp>
      <p:sp>
        <p:nvSpPr>
          <p:cNvPr id="41" name="Text 12"/>
          <p:cNvSpPr/>
          <p:nvPr/>
        </p:nvSpPr>
        <p:spPr>
          <a:xfrm>
            <a:off x="962025" y="4108103"/>
            <a:ext cx="30861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12529"/>
                </a:solidFill>
              </a:rPr>
              <a:t>Git &amp; DevOps 통합</a:t>
            </a:r>
            <a:endParaRPr lang="en-US" sz="1350" dirty="0"/>
          </a:p>
        </p:txBody>
      </p:sp>
      <p:sp>
        <p:nvSpPr>
          <p:cNvPr id="42" name="Text 13"/>
          <p:cNvSpPr/>
          <p:nvPr/>
        </p:nvSpPr>
        <p:spPr>
          <a:xfrm>
            <a:off x="752475" y="4479578"/>
            <a:ext cx="349172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212529"/>
                </a:solidFill>
              </a:rPr>
              <a:t>PR Description 자동 초안 작성</a:t>
            </a:r>
            <a:endParaRPr lang="en-US" sz="1050" dirty="0"/>
          </a:p>
        </p:txBody>
      </p:sp>
      <p:sp>
        <p:nvSpPr>
          <p:cNvPr id="43" name="Text 14"/>
          <p:cNvSpPr/>
          <p:nvPr/>
        </p:nvSpPr>
        <p:spPr>
          <a:xfrm>
            <a:off x="752475" y="4769048"/>
            <a:ext cx="303628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212529"/>
                </a:solidFill>
              </a:rPr>
              <a:t>변경 사항에 따른 문서 자동 업데이트</a:t>
            </a:r>
            <a:endParaRPr lang="en-US" sz="1050" dirty="0"/>
          </a:p>
        </p:txBody>
      </p:sp>
      <p:sp>
        <p:nvSpPr>
          <p:cNvPr id="44" name="Text 15"/>
          <p:cNvSpPr/>
          <p:nvPr/>
        </p:nvSpPr>
        <p:spPr>
          <a:xfrm>
            <a:off x="752475" y="5058519"/>
            <a:ext cx="333991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212529"/>
                </a:solidFill>
              </a:rPr>
              <a:t>CI/CD 실패 로그 분석 및 수정 제안</a:t>
            </a:r>
            <a:endParaRPr lang="en-US" sz="1050" dirty="0"/>
          </a:p>
        </p:txBody>
      </p:sp>
      <p:sp>
        <p:nvSpPr>
          <p:cNvPr id="45" name="Text 16"/>
          <p:cNvSpPr/>
          <p:nvPr/>
        </p:nvSpPr>
        <p:spPr>
          <a:xfrm>
            <a:off x="752475" y="5424190"/>
            <a:ext cx="3429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B5E20"/>
                </a:solidFill>
              </a:rPr>
              <a:t> Cline의 Terminal 제어 기능 활용</a:t>
            </a:r>
            <a:endParaRPr lang="en-US" sz="900" dirty="0"/>
          </a:p>
        </p:txBody>
      </p:sp>
      <p:sp>
        <p:nvSpPr>
          <p:cNvPr id="46" name="Text 17"/>
          <p:cNvSpPr/>
          <p:nvPr/>
        </p:nvSpPr>
        <p:spPr>
          <a:xfrm>
            <a:off x="4395936" y="4108103"/>
            <a:ext cx="432054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12529"/>
                </a:solidFill>
              </a:rPr>
              <a:t>Project &amp; Obsidian 연동</a:t>
            </a:r>
            <a:endParaRPr lang="en-US" sz="1350" dirty="0"/>
          </a:p>
        </p:txBody>
      </p:sp>
      <p:sp>
        <p:nvSpPr>
          <p:cNvPr id="47" name="Text 18"/>
          <p:cNvSpPr/>
          <p:nvPr/>
        </p:nvSpPr>
        <p:spPr>
          <a:xfrm>
            <a:off x="4186386" y="4479578"/>
            <a:ext cx="349173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212529"/>
                </a:solidFill>
              </a:rPr>
              <a:t>OpenProject 티켓 상태 자동 갱신</a:t>
            </a:r>
            <a:endParaRPr lang="en-US" sz="1050" dirty="0"/>
          </a:p>
        </p:txBody>
      </p:sp>
      <p:sp>
        <p:nvSpPr>
          <p:cNvPr id="48" name="Text 19"/>
          <p:cNvSpPr/>
          <p:nvPr/>
        </p:nvSpPr>
        <p:spPr>
          <a:xfrm>
            <a:off x="4186386" y="4769048"/>
            <a:ext cx="318810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212529"/>
                </a:solidFill>
              </a:rPr>
              <a:t>회의록 Obsidian 저장 및 지식화</a:t>
            </a:r>
            <a:endParaRPr lang="en-US" sz="1050" dirty="0"/>
          </a:p>
        </p:txBody>
      </p:sp>
      <p:sp>
        <p:nvSpPr>
          <p:cNvPr id="49" name="Text 20"/>
          <p:cNvSpPr/>
          <p:nvPr/>
        </p:nvSpPr>
        <p:spPr>
          <a:xfrm>
            <a:off x="4186386" y="5058519"/>
            <a:ext cx="264348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212529"/>
                </a:solidFill>
              </a:rPr>
              <a:t>도구 간 데이터 동기화 자동화</a:t>
            </a:r>
            <a:endParaRPr lang="en-US" sz="1050" dirty="0"/>
          </a:p>
        </p:txBody>
      </p:sp>
      <p:sp>
        <p:nvSpPr>
          <p:cNvPr id="50" name="Text 21"/>
          <p:cNvSpPr/>
          <p:nvPr/>
        </p:nvSpPr>
        <p:spPr>
          <a:xfrm>
            <a:off x="4186386" y="5424190"/>
            <a:ext cx="30175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B5E20"/>
                </a:solidFill>
              </a:rPr>
              <a:t> API 및 로컬 파일 시스템 직접 조작</a:t>
            </a:r>
            <a:endParaRPr lang="en-US" sz="900" dirty="0"/>
          </a:p>
        </p:txBody>
      </p:sp>
      <p:sp>
        <p:nvSpPr>
          <p:cNvPr id="51" name="Text 22"/>
          <p:cNvSpPr/>
          <p:nvPr/>
        </p:nvSpPr>
        <p:spPr>
          <a:xfrm>
            <a:off x="8444061" y="1405384"/>
            <a:ext cx="2266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spc="60" kern="0" dirty="0">
                <a:solidFill>
                  <a:srgbClr val="C00000"/>
                </a:solidFill>
              </a:rPr>
              <a:t>AGENTIC LOOP STRUCTURE</a:t>
            </a:r>
            <a:endParaRPr lang="en-US" sz="1200" dirty="0"/>
          </a:p>
        </p:txBody>
      </p:sp>
      <p:sp>
        <p:nvSpPr>
          <p:cNvPr id="52" name="Text 23"/>
          <p:cNvSpPr/>
          <p:nvPr/>
        </p:nvSpPr>
        <p:spPr>
          <a:xfrm>
            <a:off x="8870305" y="1862584"/>
            <a:ext cx="197956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212529"/>
                </a:solidFill>
              </a:rPr>
              <a:t> 1. 요청 (Request) </a:t>
            </a:r>
            <a:pPr algn="ctr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FFFFFF"/>
                </a:solidFill>
                <a:highlight>
                  <a:srgbClr val="1B5E20"/>
                </a:highlight>
              </a:rPr>
              <a:t>Human</a:t>
            </a:r>
            <a:endParaRPr lang="en-US" sz="1050" dirty="0"/>
          </a:p>
        </p:txBody>
      </p:sp>
      <p:sp>
        <p:nvSpPr>
          <p:cNvPr id="53" name="Text 24"/>
          <p:cNvSpPr/>
          <p:nvPr/>
        </p:nvSpPr>
        <p:spPr>
          <a:xfrm>
            <a:off x="8019455" y="2776984"/>
            <a:ext cx="2830413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C00000"/>
                </a:solidFill>
              </a:rPr>
              <a:t> 2. 실행 (Action)</a:t>
            </a:r>
            <a:pPr algn="ctr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C00000"/>
                </a:solidFill>
              </a:rPr>
              <a:t>Cline + Tool Usage</a:t>
            </a:r>
            <a:endParaRPr lang="en-US" sz="1050" dirty="0"/>
          </a:p>
        </p:txBody>
      </p:sp>
      <p:sp>
        <p:nvSpPr>
          <p:cNvPr id="54" name="Text 25"/>
          <p:cNvSpPr/>
          <p:nvPr/>
        </p:nvSpPr>
        <p:spPr>
          <a:xfrm>
            <a:off x="8894118" y="3862834"/>
            <a:ext cx="19557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212529"/>
                </a:solidFill>
              </a:rPr>
              <a:t> 3. 검토 (Review) </a:t>
            </a:r>
            <a:pPr algn="ctr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FFFFFF"/>
                </a:solidFill>
                <a:highlight>
                  <a:srgbClr val="1B5E20"/>
                </a:highlight>
              </a:rPr>
              <a:t>Human</a:t>
            </a:r>
            <a:endParaRPr lang="en-US" sz="1050" dirty="0"/>
          </a:p>
        </p:txBody>
      </p:sp>
      <p:sp>
        <p:nvSpPr>
          <p:cNvPr id="55" name="Text 26"/>
          <p:cNvSpPr/>
          <p:nvPr/>
        </p:nvSpPr>
        <p:spPr>
          <a:xfrm>
            <a:off x="8019455" y="4777234"/>
            <a:ext cx="2830413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C00000"/>
                </a:solidFill>
              </a:rPr>
              <a:t> 4. 수정 및 저장 (Refine &amp; Save)</a:t>
            </a:r>
            <a:pPr algn="ctr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C00000"/>
                </a:solidFill>
              </a:rPr>
              <a:t>Workflow Assetization</a:t>
            </a:r>
            <a:endParaRPr lang="en-US" sz="1050" dirty="0"/>
          </a:p>
        </p:txBody>
      </p:sp>
      <p:sp>
        <p:nvSpPr>
          <p:cNvPr id="56" name="Text 27"/>
          <p:cNvSpPr/>
          <p:nvPr/>
        </p:nvSpPr>
        <p:spPr>
          <a:xfrm>
            <a:off x="8444061" y="5605909"/>
            <a:ext cx="226695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6C757D"/>
                </a:solidFill>
              </a:rPr>
              <a:t>단순 자동화와 다른 점은</a:t>
            </a:r>
            <a:pPr algn="ctr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6C757D"/>
                </a:solidFill>
              </a:rPr>
              <a:t>
</a:t>
            </a:r>
            <a:pPr algn="ctr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6C757D"/>
                </a:solidFill>
              </a:rPr>
              <a:t>'인간의 개입(Human-in-the-loop)'</a:t>
            </a:r>
            <a:pPr algn="ctr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6C757D"/>
                </a:solidFill>
              </a:rPr>
              <a:t>을 통한</a:t>
            </a:r>
            <a:pPr algn="ctr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6C757D"/>
                </a:solidFill>
              </a:rPr>
              <a:t>
</a:t>
            </a:r>
            <a:pPr algn="ctr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6C757D"/>
                </a:solidFill>
              </a:rPr>
              <a:t>지속적인 신뢰도 확보입니다.</a:t>
            </a:r>
            <a:endParaRPr lang="en-US" sz="975" dirty="0"/>
          </a:p>
        </p:txBody>
      </p:sp>
      <p:sp>
        <p:nvSpPr>
          <p:cNvPr id="57" name="Text 28"/>
          <p:cNvSpPr/>
          <p:nvPr/>
        </p:nvSpPr>
        <p:spPr>
          <a:xfrm>
            <a:off x="8667750" y="6510338"/>
            <a:ext cx="35242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C757D"/>
                </a:solidFill>
              </a:rPr>
              <a:t>Source: Internal Demo Scenarios &amp; Agentic Workflow Best Practices</a:t>
            </a:r>
            <a:endParaRPr lang="en-US" sz="8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94863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752749"/>
            <a:ext cx="4457700" cy="1421011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984177"/>
            <a:ext cx="214313" cy="17532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3316635"/>
            <a:ext cx="4457700" cy="1201936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3548063"/>
            <a:ext cx="214313" cy="17532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000" y="4661446"/>
            <a:ext cx="4457700" cy="1201936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4892873"/>
            <a:ext cx="214313" cy="17532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24450" y="1139130"/>
            <a:ext cx="6686550" cy="1429048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14950" y="1615529"/>
            <a:ext cx="476250" cy="4762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434013" y="1758404"/>
            <a:ext cx="238125" cy="1905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84381" y="2663428"/>
            <a:ext cx="166688" cy="13722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124450" y="2895898"/>
            <a:ext cx="6686550" cy="1429048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314950" y="3372296"/>
            <a:ext cx="476250" cy="47625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434013" y="3515171"/>
            <a:ext cx="238125" cy="1905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981700" y="3703290"/>
            <a:ext cx="5638800" cy="36195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384381" y="4420195"/>
            <a:ext cx="166688" cy="13722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124450" y="4652665"/>
            <a:ext cx="6686550" cy="1429048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314950" y="5129064"/>
            <a:ext cx="476250" cy="47625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434013" y="5271939"/>
            <a:ext cx="238125" cy="190500"/>
          </a:xfrm>
          <a:prstGeom prst="rect">
            <a:avLst/>
          </a:prstGeom>
        </p:spPr>
      </p:pic>
      <p:sp>
        <p:nvSpPr>
          <p:cNvPr id="23" name="Text 0"/>
          <p:cNvSpPr/>
          <p:nvPr/>
        </p:nvSpPr>
        <p:spPr>
          <a:xfrm>
            <a:off x="381000" y="285750"/>
            <a:ext cx="114300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212529"/>
                </a:solidFill>
              </a:rPr>
              <a:t>데모 1: 이메일 요약 및 일일 체크업 자동화</a:t>
            </a:r>
            <a:endParaRPr lang="en-US" sz="2100" dirty="0"/>
          </a:p>
        </p:txBody>
      </p:sp>
      <p:sp>
        <p:nvSpPr>
          <p:cNvPr id="24" name="Text 1"/>
          <p:cNvSpPr/>
          <p:nvPr/>
        </p:nvSpPr>
        <p:spPr>
          <a:xfrm>
            <a:off x="381000" y="653355"/>
            <a:ext cx="114300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쏟아지는 이메일을 자동으로 요약하고 오늘 처리해야 할 주요 항목을 점검하는 워크플로우를 시연합니다.</a:t>
            </a:r>
            <a:endParaRPr lang="en-US" sz="1050" dirty="0"/>
          </a:p>
        </p:txBody>
      </p:sp>
      <p:sp>
        <p:nvSpPr>
          <p:cNvPr id="25" name="Text 2"/>
          <p:cNvSpPr/>
          <p:nvPr/>
        </p:nvSpPr>
        <p:spPr>
          <a:xfrm>
            <a:off x="881063" y="1943249"/>
            <a:ext cx="40767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C00000"/>
                </a:solidFill>
              </a:rPr>
              <a:t>지능형 이메일 파싱</a:t>
            </a:r>
            <a:endParaRPr lang="en-US" sz="1350" dirty="0"/>
          </a:p>
        </p:txBody>
      </p:sp>
      <p:sp>
        <p:nvSpPr>
          <p:cNvPr id="26" name="Text 3"/>
          <p:cNvSpPr/>
          <p:nvPr/>
        </p:nvSpPr>
        <p:spPr>
          <a:xfrm>
            <a:off x="571500" y="2276624"/>
            <a:ext cx="407670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495057"/>
                </a:solidFill>
              </a:rPr>
              <a:t>Cline이 메일함에 접근하여 미처리 메일을 수집하고, 업무 연관성 및 긴급도에 따라 컨텍스트를 분류합니다.</a:t>
            </a:r>
            <a:endParaRPr lang="en-US" sz="1200" dirty="0"/>
          </a:p>
        </p:txBody>
      </p:sp>
      <p:sp>
        <p:nvSpPr>
          <p:cNvPr id="27" name="Text 4"/>
          <p:cNvSpPr/>
          <p:nvPr/>
        </p:nvSpPr>
        <p:spPr>
          <a:xfrm>
            <a:off x="571500" y="2811810"/>
            <a:ext cx="40767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B5E20"/>
                </a:solidFill>
              </a:rPr>
              <a:t>* OAuth2 또는 전용 API 권한 설정 필요</a:t>
            </a:r>
            <a:endParaRPr lang="en-US" sz="900" dirty="0"/>
          </a:p>
        </p:txBody>
      </p:sp>
      <p:sp>
        <p:nvSpPr>
          <p:cNvPr id="28" name="Text 5"/>
          <p:cNvSpPr/>
          <p:nvPr/>
        </p:nvSpPr>
        <p:spPr>
          <a:xfrm>
            <a:off x="881063" y="3507135"/>
            <a:ext cx="40767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C00000"/>
                </a:solidFill>
              </a:rPr>
              <a:t>Action Item 추출</a:t>
            </a:r>
            <a:endParaRPr lang="en-US" sz="1350" dirty="0"/>
          </a:p>
        </p:txBody>
      </p:sp>
      <p:sp>
        <p:nvSpPr>
          <p:cNvPr id="29" name="Text 6"/>
          <p:cNvSpPr/>
          <p:nvPr/>
        </p:nvSpPr>
        <p:spPr>
          <a:xfrm>
            <a:off x="571500" y="3840510"/>
            <a:ext cx="407670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495057"/>
                </a:solidFill>
              </a:rPr>
              <a:t>단순 요약을 넘어 "누가, 무엇을, 언제까지" 해야 하는지 구체적인 실행 항목(Action Items)을 도출합니다.</a:t>
            </a:r>
            <a:endParaRPr lang="en-US" sz="1200" dirty="0"/>
          </a:p>
        </p:txBody>
      </p:sp>
      <p:sp>
        <p:nvSpPr>
          <p:cNvPr id="30" name="Text 7"/>
          <p:cNvSpPr/>
          <p:nvPr/>
        </p:nvSpPr>
        <p:spPr>
          <a:xfrm>
            <a:off x="881063" y="4851946"/>
            <a:ext cx="40767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C00000"/>
                </a:solidFill>
              </a:rPr>
              <a:t>루프 기반 피드백</a:t>
            </a:r>
            <a:endParaRPr lang="en-US" sz="1350" dirty="0"/>
          </a:p>
        </p:txBody>
      </p:sp>
      <p:sp>
        <p:nvSpPr>
          <p:cNvPr id="31" name="Text 8"/>
          <p:cNvSpPr/>
          <p:nvPr/>
        </p:nvSpPr>
        <p:spPr>
          <a:xfrm>
            <a:off x="571500" y="5185321"/>
            <a:ext cx="407670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495057"/>
                </a:solidFill>
              </a:rPr>
              <a:t>사용자가 요약본을 검토하고, 특정 항목을 'Daily Todo'로 확정하면 자동으로 마크다운 일일 노트에 반영합니다.</a:t>
            </a:r>
            <a:endParaRPr lang="en-US" sz="1200" dirty="0"/>
          </a:p>
        </p:txBody>
      </p:sp>
      <p:sp>
        <p:nvSpPr>
          <p:cNvPr id="32" name="Text 9"/>
          <p:cNvSpPr/>
          <p:nvPr/>
        </p:nvSpPr>
        <p:spPr>
          <a:xfrm>
            <a:off x="5981700" y="1627436"/>
            <a:ext cx="563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12529"/>
                </a:solidFill>
              </a:rPr>
              <a:t>Step 1: Fetch &amp; Categorize</a:t>
            </a:r>
            <a:endParaRPr lang="en-US" sz="1200" dirty="0"/>
          </a:p>
        </p:txBody>
      </p:sp>
      <p:sp>
        <p:nvSpPr>
          <p:cNvPr id="33" name="Text 10"/>
          <p:cNvSpPr/>
          <p:nvPr/>
        </p:nvSpPr>
        <p:spPr>
          <a:xfrm>
            <a:off x="5981700" y="1894136"/>
            <a:ext cx="563880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6C757D"/>
                </a:solidFill>
              </a:rPr>
              <a:t>최신 메일 50건 수집 및 프로젝트 키워드 기반 분류</a:t>
            </a:r>
            <a:endParaRPr lang="en-US" sz="975" dirty="0"/>
          </a:p>
        </p:txBody>
      </p:sp>
      <p:sp>
        <p:nvSpPr>
          <p:cNvPr id="34" name="Text 11"/>
          <p:cNvSpPr/>
          <p:nvPr/>
        </p:nvSpPr>
        <p:spPr>
          <a:xfrm>
            <a:off x="5981700" y="3155603"/>
            <a:ext cx="563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12529"/>
                </a:solidFill>
              </a:rPr>
              <a:t>Step 2: Summarize &amp; Extract</a:t>
            </a:r>
            <a:endParaRPr lang="en-US" sz="1200" dirty="0"/>
          </a:p>
        </p:txBody>
      </p:sp>
      <p:sp>
        <p:nvSpPr>
          <p:cNvPr id="35" name="Text 12"/>
          <p:cNvSpPr/>
          <p:nvPr/>
        </p:nvSpPr>
        <p:spPr>
          <a:xfrm>
            <a:off x="5981700" y="3422303"/>
            <a:ext cx="563880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6C757D"/>
                </a:solidFill>
              </a:rPr>
              <a:t>LLM을 통한 핵심 맥락 분석 및 Action Item 도출</a:t>
            </a:r>
            <a:endParaRPr lang="en-US" sz="975" dirty="0"/>
          </a:p>
        </p:txBody>
      </p:sp>
      <p:sp>
        <p:nvSpPr>
          <p:cNvPr id="36" name="Text 13"/>
          <p:cNvSpPr/>
          <p:nvPr/>
        </p:nvSpPr>
        <p:spPr>
          <a:xfrm>
            <a:off x="6076950" y="3703290"/>
            <a:ext cx="54483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8F9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[ ] 이메일: 설계 변경 건 (Due: 04/29)</a:t>
            </a:r>
            <a:endParaRPr lang="en-US" sz="900" dirty="0"/>
          </a:p>
        </p:txBody>
      </p:sp>
      <p:sp>
        <p:nvSpPr>
          <p:cNvPr id="37" name="Text 14"/>
          <p:cNvSpPr/>
          <p:nvPr/>
        </p:nvSpPr>
        <p:spPr>
          <a:xfrm>
            <a:off x="5981700" y="5031432"/>
            <a:ext cx="563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12529"/>
                </a:solidFill>
              </a:rPr>
              <a:t>Step 3: Human Review &amp; Sync</a:t>
            </a:r>
            <a:endParaRPr lang="en-US" sz="1200" dirty="0"/>
          </a:p>
        </p:txBody>
      </p:sp>
      <p:sp>
        <p:nvSpPr>
          <p:cNvPr id="38" name="Text 15"/>
          <p:cNvSpPr/>
          <p:nvPr/>
        </p:nvSpPr>
        <p:spPr>
          <a:xfrm>
            <a:off x="5981700" y="5298132"/>
            <a:ext cx="621030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6C757D"/>
                </a:solidFill>
              </a:rPr>
              <a:t>사용자 승인 후 Daily Note (Obsidian/Markdown) 업데이트</a:t>
            </a:r>
            <a:endParaRPr lang="en-US" sz="975" dirty="0"/>
          </a:p>
        </p:txBody>
      </p:sp>
      <p:sp>
        <p:nvSpPr>
          <p:cNvPr id="39" name="Text 16"/>
          <p:cNvSpPr/>
          <p:nvPr/>
        </p:nvSpPr>
        <p:spPr>
          <a:xfrm>
            <a:off x="5981700" y="5531495"/>
            <a:ext cx="56388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B5E20"/>
                </a:solidFill>
              </a:rPr>
              <a:t>Human-in-the-loop: 최종 컨펌 후 파일 기록</a:t>
            </a:r>
            <a:endParaRPr lang="en-US" sz="900" dirty="0"/>
          </a:p>
        </p:txBody>
      </p:sp>
      <p:sp>
        <p:nvSpPr>
          <p:cNvPr id="40" name="Text 17"/>
          <p:cNvSpPr/>
          <p:nvPr/>
        </p:nvSpPr>
        <p:spPr>
          <a:xfrm>
            <a:off x="5124450" y="6319838"/>
            <a:ext cx="66865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C757D"/>
                </a:solidFill>
              </a:rPr>
              <a:t>Source: Agentic Workflow Demo Case Study #01</a:t>
            </a:r>
            <a:endParaRPr lang="en-US" sz="8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94863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091357"/>
            <a:ext cx="5108823" cy="1263104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75" y="1484709"/>
            <a:ext cx="476250" cy="47625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938" y="1627584"/>
            <a:ext cx="238125" cy="1905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2497336"/>
            <a:ext cx="5108823" cy="1263104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875" y="2890689"/>
            <a:ext cx="476250" cy="4762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2938" y="3033564"/>
            <a:ext cx="238125" cy="1905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1000" y="3903315"/>
            <a:ext cx="5108823" cy="1263104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3875" y="4296668"/>
            <a:ext cx="476250" cy="4762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2938" y="4439543"/>
            <a:ext cx="238125" cy="1905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1000" y="5309295"/>
            <a:ext cx="5108823" cy="1263104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23875" y="5702647"/>
            <a:ext cx="476250" cy="47625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2938" y="5845522"/>
            <a:ext cx="238125" cy="1905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680323" y="1091505"/>
            <a:ext cx="6130677" cy="2527995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823198" y="1234380"/>
            <a:ext cx="5844927" cy="24765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525250" y="1234380"/>
            <a:ext cx="142875" cy="17145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680323" y="3762375"/>
            <a:ext cx="6130677" cy="2809875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870823" y="3952875"/>
            <a:ext cx="5749677" cy="204788"/>
          </a:xfrm>
          <a:prstGeom prst="rect">
            <a:avLst/>
          </a:prstGeom>
        </p:spPr>
      </p:pic>
      <p:sp>
        <p:nvSpPr>
          <p:cNvPr id="21" name="Text 0"/>
          <p:cNvSpPr/>
          <p:nvPr/>
        </p:nvSpPr>
        <p:spPr>
          <a:xfrm>
            <a:off x="381000" y="285750"/>
            <a:ext cx="114300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212529"/>
                </a:solidFill>
              </a:rPr>
              <a:t>데모 2: 일일 보고서 자동 생성 및 템플릿 적용</a:t>
            </a:r>
            <a:endParaRPr lang="en-US" sz="2100" dirty="0"/>
          </a:p>
        </p:txBody>
      </p:sp>
      <p:sp>
        <p:nvSpPr>
          <p:cNvPr id="22" name="Text 1"/>
          <p:cNvSpPr/>
          <p:nvPr/>
        </p:nvSpPr>
        <p:spPr>
          <a:xfrm>
            <a:off x="381000" y="653355"/>
            <a:ext cx="114300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작업 내역을 바탕으로 마크다운 템플릿이 적용된 일일 보고서를 자동으로 생성하는 과정을 보여줍니다.</a:t>
            </a:r>
            <a:endParaRPr lang="en-US" sz="1050" dirty="0"/>
          </a:p>
        </p:txBody>
      </p:sp>
      <p:sp>
        <p:nvSpPr>
          <p:cNvPr id="23" name="Text 2"/>
          <p:cNvSpPr/>
          <p:nvPr/>
        </p:nvSpPr>
        <p:spPr>
          <a:xfrm>
            <a:off x="1143000" y="1328142"/>
            <a:ext cx="42039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12529"/>
                </a:solidFill>
              </a:rPr>
              <a:t>1. Context Scanning</a:t>
            </a:r>
            <a:endParaRPr lang="en-US" sz="1200" dirty="0"/>
          </a:p>
        </p:txBody>
      </p:sp>
      <p:sp>
        <p:nvSpPr>
          <p:cNvPr id="24" name="Text 3"/>
          <p:cNvSpPr/>
          <p:nvPr/>
        </p:nvSpPr>
        <p:spPr>
          <a:xfrm>
            <a:off x="1143000" y="1594842"/>
            <a:ext cx="4203948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95057"/>
                </a:solidFill>
              </a:rPr>
              <a:t>Git Commit, Jira/OpenProject 이슈, 오늘 작성한 Working Notes 및 이메일을 스캔합니다.</a:t>
            </a:r>
            <a:endParaRPr lang="en-US" sz="975" dirty="0"/>
          </a:p>
        </p:txBody>
      </p:sp>
      <p:sp>
        <p:nvSpPr>
          <p:cNvPr id="25" name="Text 4"/>
          <p:cNvSpPr/>
          <p:nvPr/>
        </p:nvSpPr>
        <p:spPr>
          <a:xfrm>
            <a:off x="1143000" y="1960364"/>
            <a:ext cx="699897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1B5E20"/>
                </a:solidFill>
              </a:rPr>
              <a:t>* Cline이 `read_file`, `list_files` 도구를 사용하여 로컬 데이터를 수집함</a:t>
            </a:r>
            <a:endParaRPr lang="en-US" sz="825" dirty="0"/>
          </a:p>
        </p:txBody>
      </p:sp>
      <p:sp>
        <p:nvSpPr>
          <p:cNvPr id="26" name="Text 5"/>
          <p:cNvSpPr/>
          <p:nvPr/>
        </p:nvSpPr>
        <p:spPr>
          <a:xfrm>
            <a:off x="1143000" y="2908846"/>
            <a:ext cx="42039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12529"/>
                </a:solidFill>
              </a:rPr>
              <a:t>2. Template Mapping</a:t>
            </a:r>
            <a:endParaRPr lang="en-US" sz="1200" dirty="0"/>
          </a:p>
        </p:txBody>
      </p:sp>
      <p:sp>
        <p:nvSpPr>
          <p:cNvPr id="27" name="Text 6"/>
          <p:cNvSpPr/>
          <p:nvPr/>
        </p:nvSpPr>
        <p:spPr>
          <a:xfrm>
            <a:off x="1143000" y="3175546"/>
            <a:ext cx="787527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95057"/>
                </a:solidFill>
              </a:rPr>
              <a:t>사전에 정의된 `Daily_Report_Template.md`를 로드하여 빈 슬롯을 파악합니다.</a:t>
            </a:r>
            <a:endParaRPr lang="en-US" sz="975" dirty="0"/>
          </a:p>
        </p:txBody>
      </p:sp>
      <p:sp>
        <p:nvSpPr>
          <p:cNvPr id="28" name="Text 7"/>
          <p:cNvSpPr/>
          <p:nvPr/>
        </p:nvSpPr>
        <p:spPr>
          <a:xfrm>
            <a:off x="1143000" y="4226719"/>
            <a:ext cx="42039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12529"/>
                </a:solidFill>
              </a:rPr>
              <a:t>3. AI Synthesis</a:t>
            </a:r>
            <a:endParaRPr lang="en-US" sz="1200" dirty="0"/>
          </a:p>
        </p:txBody>
      </p:sp>
      <p:sp>
        <p:nvSpPr>
          <p:cNvPr id="29" name="Text 8"/>
          <p:cNvSpPr/>
          <p:nvPr/>
        </p:nvSpPr>
        <p:spPr>
          <a:xfrm>
            <a:off x="1143000" y="4493419"/>
            <a:ext cx="698373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95057"/>
                </a:solidFill>
              </a:rPr>
              <a:t>수집된 맥락을 템플릿 구조에 맞춰 요약 및 재구성합니다. 불확실한 지점은 질문합니다.</a:t>
            </a:r>
            <a:endParaRPr lang="en-US" sz="975" dirty="0"/>
          </a:p>
        </p:txBody>
      </p:sp>
      <p:sp>
        <p:nvSpPr>
          <p:cNvPr id="30" name="Text 9"/>
          <p:cNvSpPr/>
          <p:nvPr/>
        </p:nvSpPr>
        <p:spPr>
          <a:xfrm>
            <a:off x="1143000" y="4685705"/>
            <a:ext cx="540639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1B5E20"/>
                </a:solidFill>
              </a:rPr>
              <a:t>* On-premise LLM(Qwen 2.5)을 통한 보안 처리 및 요약</a:t>
            </a:r>
            <a:endParaRPr lang="en-US" sz="825" dirty="0"/>
          </a:p>
        </p:txBody>
      </p:sp>
      <p:sp>
        <p:nvSpPr>
          <p:cNvPr id="31" name="Text 10"/>
          <p:cNvSpPr/>
          <p:nvPr/>
        </p:nvSpPr>
        <p:spPr>
          <a:xfrm>
            <a:off x="1143000" y="5720804"/>
            <a:ext cx="42039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12529"/>
                </a:solidFill>
              </a:rPr>
              <a:t>4. Final Artifact</a:t>
            </a:r>
            <a:endParaRPr lang="en-US" sz="1200" dirty="0"/>
          </a:p>
        </p:txBody>
      </p:sp>
      <p:sp>
        <p:nvSpPr>
          <p:cNvPr id="32" name="Text 11"/>
          <p:cNvSpPr/>
          <p:nvPr/>
        </p:nvSpPr>
        <p:spPr>
          <a:xfrm>
            <a:off x="1143000" y="5987504"/>
            <a:ext cx="802386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95057"/>
                </a:solidFill>
              </a:rPr>
              <a:t>최종 보고서를 생성하고, 필요 시 Git 레포지토리의 `reports/` 폴더에 자동 커밋합니다.</a:t>
            </a:r>
            <a:endParaRPr lang="en-US" sz="975" dirty="0"/>
          </a:p>
        </p:txBody>
      </p:sp>
      <p:sp>
        <p:nvSpPr>
          <p:cNvPr id="33" name="Text 12"/>
          <p:cNvSpPr/>
          <p:nvPr/>
        </p:nvSpPr>
        <p:spPr>
          <a:xfrm>
            <a:off x="5823198" y="1234380"/>
            <a:ext cx="32918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ADB5B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Daily_Report_Template.md</a:t>
            </a:r>
            <a:endParaRPr lang="en-US" sz="900" dirty="0"/>
          </a:p>
        </p:txBody>
      </p:sp>
      <p:sp>
        <p:nvSpPr>
          <p:cNvPr id="34" name="Text 13"/>
          <p:cNvSpPr/>
          <p:nvPr/>
        </p:nvSpPr>
        <p:spPr>
          <a:xfrm>
            <a:off x="5823198" y="1586805"/>
            <a:ext cx="381381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61AF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 Daily Report - {{date}}</a:t>
            </a:r>
            <a:endParaRPr lang="en-US" sz="975" dirty="0"/>
          </a:p>
        </p:txBody>
      </p:sp>
      <p:sp>
        <p:nvSpPr>
          <p:cNvPr id="35" name="Text 14"/>
          <p:cNvSpPr/>
          <p:nvPr/>
        </p:nvSpPr>
        <p:spPr>
          <a:xfrm>
            <a:off x="7728198" y="1586805"/>
            <a:ext cx="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E9EC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endParaRPr lang="en-US" sz="975" dirty="0"/>
          </a:p>
        </p:txBody>
      </p:sp>
      <p:sp>
        <p:nvSpPr>
          <p:cNvPr id="36" name="Text 15"/>
          <p:cNvSpPr/>
          <p:nvPr/>
        </p:nvSpPr>
        <p:spPr>
          <a:xfrm>
            <a:off x="5823198" y="1784896"/>
            <a:ext cx="237744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98C37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## 1. 주요 달성 사항</a:t>
            </a:r>
            <a:endParaRPr lang="en-US" sz="975" dirty="0"/>
          </a:p>
        </p:txBody>
      </p:sp>
      <p:sp>
        <p:nvSpPr>
          <p:cNvPr id="37" name="Text 16"/>
          <p:cNvSpPr/>
          <p:nvPr/>
        </p:nvSpPr>
        <p:spPr>
          <a:xfrm>
            <a:off x="7175748" y="1784896"/>
            <a:ext cx="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E9EC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endParaRPr lang="en-US" sz="975" dirty="0"/>
          </a:p>
        </p:txBody>
      </p:sp>
      <p:sp>
        <p:nvSpPr>
          <p:cNvPr id="38" name="Text 17"/>
          <p:cNvSpPr/>
          <p:nvPr/>
        </p:nvSpPr>
        <p:spPr>
          <a:xfrm>
            <a:off x="5823198" y="1982986"/>
            <a:ext cx="341757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E06C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{{git_commits_summary}}</a:t>
            </a:r>
            <a:endParaRPr lang="en-US" sz="975" dirty="0"/>
          </a:p>
        </p:txBody>
      </p:sp>
      <p:sp>
        <p:nvSpPr>
          <p:cNvPr id="39" name="Text 18"/>
          <p:cNvSpPr/>
          <p:nvPr/>
        </p:nvSpPr>
        <p:spPr>
          <a:xfrm>
            <a:off x="7575798" y="1982986"/>
            <a:ext cx="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E9EC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endParaRPr lang="en-US" sz="975" dirty="0"/>
          </a:p>
        </p:txBody>
      </p:sp>
      <p:sp>
        <p:nvSpPr>
          <p:cNvPr id="40" name="Text 19"/>
          <p:cNvSpPr/>
          <p:nvPr/>
        </p:nvSpPr>
        <p:spPr>
          <a:xfrm>
            <a:off x="5823198" y="2181076"/>
            <a:ext cx="26746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98C37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## 2. 미결 및 익일 예정</a:t>
            </a:r>
            <a:endParaRPr lang="en-US" sz="975" dirty="0"/>
          </a:p>
        </p:txBody>
      </p:sp>
      <p:sp>
        <p:nvSpPr>
          <p:cNvPr id="41" name="Text 20"/>
          <p:cNvSpPr/>
          <p:nvPr/>
        </p:nvSpPr>
        <p:spPr>
          <a:xfrm>
            <a:off x="7375773" y="2181076"/>
            <a:ext cx="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E9EC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endParaRPr lang="en-US" sz="975" dirty="0"/>
          </a:p>
        </p:txBody>
      </p:sp>
      <p:sp>
        <p:nvSpPr>
          <p:cNvPr id="42" name="Text 21"/>
          <p:cNvSpPr/>
          <p:nvPr/>
        </p:nvSpPr>
        <p:spPr>
          <a:xfrm>
            <a:off x="5823198" y="2379166"/>
            <a:ext cx="252603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E06C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{{pending_tasks}}</a:t>
            </a:r>
            <a:endParaRPr lang="en-US" sz="975" dirty="0"/>
          </a:p>
        </p:txBody>
      </p:sp>
      <p:sp>
        <p:nvSpPr>
          <p:cNvPr id="43" name="Text 22"/>
          <p:cNvSpPr/>
          <p:nvPr/>
        </p:nvSpPr>
        <p:spPr>
          <a:xfrm>
            <a:off x="7118598" y="2379166"/>
            <a:ext cx="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E9EC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endParaRPr lang="en-US" sz="975" dirty="0"/>
          </a:p>
        </p:txBody>
      </p:sp>
      <p:sp>
        <p:nvSpPr>
          <p:cNvPr id="44" name="Text 23"/>
          <p:cNvSpPr/>
          <p:nvPr/>
        </p:nvSpPr>
        <p:spPr>
          <a:xfrm>
            <a:off x="5823198" y="2577257"/>
            <a:ext cx="193167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98C37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## 3. 특이 사항</a:t>
            </a:r>
            <a:endParaRPr lang="en-US" sz="975" dirty="0"/>
          </a:p>
        </p:txBody>
      </p:sp>
      <p:sp>
        <p:nvSpPr>
          <p:cNvPr id="45" name="Text 24"/>
          <p:cNvSpPr/>
          <p:nvPr/>
        </p:nvSpPr>
        <p:spPr>
          <a:xfrm>
            <a:off x="6851898" y="2577257"/>
            <a:ext cx="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E9EC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endParaRPr lang="en-US" sz="975" dirty="0"/>
          </a:p>
        </p:txBody>
      </p:sp>
      <p:sp>
        <p:nvSpPr>
          <p:cNvPr id="46" name="Text 25"/>
          <p:cNvSpPr/>
          <p:nvPr/>
        </p:nvSpPr>
        <p:spPr>
          <a:xfrm>
            <a:off x="5823198" y="2775347"/>
            <a:ext cx="312039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E06C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{{blockers_or_notes}}</a:t>
            </a:r>
            <a:endParaRPr lang="en-US" sz="975" dirty="0"/>
          </a:p>
        </p:txBody>
      </p:sp>
      <p:sp>
        <p:nvSpPr>
          <p:cNvPr id="47" name="Text 26"/>
          <p:cNvSpPr/>
          <p:nvPr/>
        </p:nvSpPr>
        <p:spPr>
          <a:xfrm>
            <a:off x="5870823" y="3952875"/>
            <a:ext cx="5749677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6C757D"/>
                </a:solidFill>
              </a:rPr>
              <a:t>GENERATED PREVIEW (MARKDOWN RENDERED)</a:t>
            </a:r>
            <a:endParaRPr lang="en-US" sz="825" dirty="0"/>
          </a:p>
        </p:txBody>
      </p:sp>
      <p:sp>
        <p:nvSpPr>
          <p:cNvPr id="48" name="Text 27"/>
          <p:cNvSpPr/>
          <p:nvPr/>
        </p:nvSpPr>
        <p:spPr>
          <a:xfrm>
            <a:off x="5870823" y="4252913"/>
            <a:ext cx="624078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12529"/>
                </a:solidFill>
              </a:rPr>
              <a:t>Daily Report - 2026-04-28</a:t>
            </a:r>
            <a:endParaRPr lang="en-US" sz="1350" dirty="0"/>
          </a:p>
        </p:txBody>
      </p:sp>
      <p:sp>
        <p:nvSpPr>
          <p:cNvPr id="49" name="Text 28"/>
          <p:cNvSpPr/>
          <p:nvPr/>
        </p:nvSpPr>
        <p:spPr>
          <a:xfrm>
            <a:off x="5870823" y="4605338"/>
            <a:ext cx="5749677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C00000"/>
                </a:solidFill>
              </a:rPr>
              <a:t>1. 주요 달성 사항</a:t>
            </a:r>
            <a:endParaRPr lang="en-US" sz="1125" dirty="0"/>
          </a:p>
        </p:txBody>
      </p:sp>
      <p:sp>
        <p:nvSpPr>
          <p:cNvPr id="50" name="Text 29"/>
          <p:cNvSpPr/>
          <p:nvPr/>
        </p:nvSpPr>
        <p:spPr>
          <a:xfrm>
            <a:off x="6013698" y="4867275"/>
            <a:ext cx="574967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212529"/>
                </a:solidFill>
              </a:rPr>
              <a:t>Cline 워크플로우 엔진 고도화 (3건의 PR 완료)</a:t>
            </a:r>
            <a:endParaRPr lang="en-US" sz="1050" dirty="0"/>
          </a:p>
        </p:txBody>
      </p:sp>
      <p:sp>
        <p:nvSpPr>
          <p:cNvPr id="51" name="Text 30"/>
          <p:cNvSpPr/>
          <p:nvPr/>
        </p:nvSpPr>
        <p:spPr>
          <a:xfrm>
            <a:off x="6013698" y="5095875"/>
            <a:ext cx="574967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212529"/>
                </a:solidFill>
              </a:rPr>
              <a:t>On-premise Qwen 2.5 API 연동 테스트 성공</a:t>
            </a:r>
            <a:endParaRPr lang="en-US" sz="1050" dirty="0"/>
          </a:p>
        </p:txBody>
      </p:sp>
      <p:sp>
        <p:nvSpPr>
          <p:cNvPr id="52" name="Text 31"/>
          <p:cNvSpPr/>
          <p:nvPr/>
        </p:nvSpPr>
        <p:spPr>
          <a:xfrm>
            <a:off x="5870823" y="5391150"/>
            <a:ext cx="5749677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C00000"/>
                </a:solidFill>
              </a:rPr>
              <a:t>2. 미결 및 익일 예정</a:t>
            </a:r>
            <a:endParaRPr lang="en-US" sz="1125" dirty="0"/>
          </a:p>
        </p:txBody>
      </p:sp>
      <p:sp>
        <p:nvSpPr>
          <p:cNvPr id="53" name="Text 32"/>
          <p:cNvSpPr/>
          <p:nvPr/>
        </p:nvSpPr>
        <p:spPr>
          <a:xfrm>
            <a:off x="6013698" y="5653088"/>
            <a:ext cx="574967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212529"/>
                </a:solidFill>
              </a:rPr>
              <a:t>AGENTS.md 전역 규칙 최적화 작업 (진행 중)</a:t>
            </a:r>
            <a:endParaRPr lang="en-US" sz="1050" dirty="0"/>
          </a:p>
        </p:txBody>
      </p:sp>
      <p:sp>
        <p:nvSpPr>
          <p:cNvPr id="54" name="Text 33"/>
          <p:cNvSpPr/>
          <p:nvPr/>
        </p:nvSpPr>
        <p:spPr>
          <a:xfrm>
            <a:off x="6013698" y="5881688"/>
            <a:ext cx="574967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212529"/>
                </a:solidFill>
              </a:rPr>
              <a:t>내일 오전 주간 회의 자료 업데이트 예정</a:t>
            </a:r>
            <a:endParaRPr lang="en-US" sz="1050" dirty="0"/>
          </a:p>
        </p:txBody>
      </p:sp>
      <p:sp>
        <p:nvSpPr>
          <p:cNvPr id="55" name="Text 34"/>
          <p:cNvSpPr/>
          <p:nvPr/>
        </p:nvSpPr>
        <p:spPr>
          <a:xfrm>
            <a:off x="5870823" y="6224588"/>
            <a:ext cx="599313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1B5E20"/>
                </a:solidFill>
              </a:rPr>
              <a:t>* Human-in-the-loop: 내용 확인 후 `Save` 명령 시 파일 생성됨</a:t>
            </a:r>
            <a:endParaRPr lang="en-US" sz="825" dirty="0"/>
          </a:p>
        </p:txBody>
      </p:sp>
      <p:sp>
        <p:nvSpPr>
          <p:cNvPr id="56" name="Text 35"/>
          <p:cNvSpPr/>
          <p:nvPr/>
        </p:nvSpPr>
        <p:spPr>
          <a:xfrm>
            <a:off x="9086850" y="6510338"/>
            <a:ext cx="31051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C757D"/>
                </a:solidFill>
              </a:rPr>
              <a:t>Source: Agentic Workflow Automation Case Study (2026)</a:t>
            </a:r>
            <a:endParaRPr lang="en-US" sz="82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285750"/>
            <a:ext cx="11811000" cy="94863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329630"/>
            <a:ext cx="214313" cy="1714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701105"/>
            <a:ext cx="214313" cy="17145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2072580"/>
            <a:ext cx="214313" cy="1714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2615505"/>
            <a:ext cx="2714625" cy="2041624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2858393"/>
            <a:ext cx="190500" cy="1524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3680222"/>
            <a:ext cx="2333625" cy="556022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86125" y="2615505"/>
            <a:ext cx="2714625" cy="2041624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76625" y="2858393"/>
            <a:ext cx="190500" cy="1524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76625" y="3680222"/>
            <a:ext cx="2333625" cy="373261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91250" y="2615505"/>
            <a:ext cx="2714625" cy="2041624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81750" y="2858393"/>
            <a:ext cx="190500" cy="1524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81750" y="3680222"/>
            <a:ext cx="2333625" cy="373261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096375" y="2615505"/>
            <a:ext cx="2714625" cy="2041624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286875" y="2858393"/>
            <a:ext cx="190500" cy="1524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286875" y="3680222"/>
            <a:ext cx="2333625" cy="373261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762000" y="571500"/>
            <a:ext cx="110490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212529"/>
                </a:solidFill>
              </a:rPr>
              <a:t>데모 3: Git 및 DevOps 워크플로우 통합</a:t>
            </a:r>
            <a:endParaRPr lang="en-US" sz="2100" dirty="0"/>
          </a:p>
        </p:txBody>
      </p:sp>
      <p:sp>
        <p:nvSpPr>
          <p:cNvPr id="20" name="Text 1"/>
          <p:cNvSpPr/>
          <p:nvPr/>
        </p:nvSpPr>
        <p:spPr>
          <a:xfrm>
            <a:off x="762000" y="939105"/>
            <a:ext cx="110490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코드 변경 사항 관리부터 배포 파이프라인 연동까지 개발 운영 전반의 자동화 사례</a:t>
            </a:r>
            <a:endParaRPr lang="en-US" sz="1050" dirty="0"/>
          </a:p>
        </p:txBody>
      </p:sp>
      <p:sp>
        <p:nvSpPr>
          <p:cNvPr id="21" name="Text 2"/>
          <p:cNvSpPr/>
          <p:nvPr/>
        </p:nvSpPr>
        <p:spPr>
          <a:xfrm>
            <a:off x="690563" y="1329630"/>
            <a:ext cx="1150143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212529"/>
                </a:solidFill>
              </a:rPr>
              <a:t>Cline을 통한 Git 작업 자동화: 브랜치 생성, 커밋 메시지 작성부터 PR 설명 생성까지의 엔드투엔드 흐름 구현</a:t>
            </a:r>
            <a:endParaRPr lang="en-US" sz="1350" dirty="0"/>
          </a:p>
        </p:txBody>
      </p:sp>
      <p:sp>
        <p:nvSpPr>
          <p:cNvPr id="22" name="Text 3"/>
          <p:cNvSpPr/>
          <p:nvPr/>
        </p:nvSpPr>
        <p:spPr>
          <a:xfrm>
            <a:off x="690563" y="1701105"/>
            <a:ext cx="1150143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212529"/>
                </a:solidFill>
              </a:rPr>
              <a:t>터미널 도구 연동: 에이전트가 직접 Lint, Unit Test, Build 명령어를 수행하고 오류 발생 시 자율적 트러블슈팅 수행</a:t>
            </a:r>
            <a:endParaRPr lang="en-US" sz="1350" dirty="0"/>
          </a:p>
        </p:txBody>
      </p:sp>
      <p:sp>
        <p:nvSpPr>
          <p:cNvPr id="23" name="Text 4"/>
          <p:cNvSpPr/>
          <p:nvPr/>
        </p:nvSpPr>
        <p:spPr>
          <a:xfrm>
            <a:off x="690563" y="2072580"/>
            <a:ext cx="1150143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212529"/>
                </a:solidFill>
              </a:rPr>
              <a:t>DevOps 가시성 확보: CI/CD 파이프라인 상태 모니터링 및 배포 로그 분석을 통한 즉각적인 피드백 루프 구축</a:t>
            </a:r>
            <a:endParaRPr lang="en-US" sz="1350" dirty="0"/>
          </a:p>
        </p:txBody>
      </p:sp>
      <p:sp>
        <p:nvSpPr>
          <p:cNvPr id="24" name="Text 5"/>
          <p:cNvSpPr/>
          <p:nvPr/>
        </p:nvSpPr>
        <p:spPr>
          <a:xfrm>
            <a:off x="857250" y="2806005"/>
            <a:ext cx="226314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12529"/>
                </a:solidFill>
              </a:rPr>
              <a:t>변경 감지 및 브랜칭</a:t>
            </a:r>
            <a:endParaRPr lang="en-US" sz="1350" dirty="0"/>
          </a:p>
        </p:txBody>
      </p:sp>
      <p:sp>
        <p:nvSpPr>
          <p:cNvPr id="25" name="Text 6"/>
          <p:cNvSpPr/>
          <p:nvPr/>
        </p:nvSpPr>
        <p:spPr>
          <a:xfrm>
            <a:off x="571500" y="3206055"/>
            <a:ext cx="2333625" cy="126057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495057"/>
                </a:solidFill>
              </a:rPr>
              <a:t>요청된 기능 구현을 위해 새 브랜치를 생성하고 관련 파일을 분석합니다.</a:t>
            </a:r>
            <a:pPr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8F8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$ git checkout -b feature/auth-fix</a:t>
            </a:r>
            <a:pPr indent="0" marL="0">
              <a:lnSpc>
                <a:spcPts val="1440"/>
              </a:lnSpc>
              <a:buNone/>
            </a:pPr>
            <a:r>
              <a:rPr lang="en-US" sz="900" b="1" dirty="0">
                <a:solidFill>
                  <a:srgbClr val="1B5E20"/>
                </a:solidFill>
              </a:rPr>
              <a:t>* Git Workflow Instruction 준수</a:t>
            </a:r>
            <a:endParaRPr lang="en-US" sz="1050" dirty="0"/>
          </a:p>
        </p:txBody>
      </p:sp>
      <p:sp>
        <p:nvSpPr>
          <p:cNvPr id="26" name="Text 7"/>
          <p:cNvSpPr/>
          <p:nvPr/>
        </p:nvSpPr>
        <p:spPr>
          <a:xfrm>
            <a:off x="3762375" y="2806005"/>
            <a:ext cx="164592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12529"/>
                </a:solidFill>
              </a:rPr>
              <a:t>검증 및 테스트</a:t>
            </a:r>
            <a:endParaRPr lang="en-US" sz="1350" dirty="0"/>
          </a:p>
        </p:txBody>
      </p:sp>
      <p:sp>
        <p:nvSpPr>
          <p:cNvPr id="27" name="Text 8"/>
          <p:cNvSpPr/>
          <p:nvPr/>
        </p:nvSpPr>
        <p:spPr>
          <a:xfrm>
            <a:off x="3476625" y="3206055"/>
            <a:ext cx="2333625" cy="10778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495057"/>
                </a:solidFill>
              </a:rPr>
              <a:t>코드를 수정한 후 터미널에서 테스트를 실행하여 무결성을 검증합니다.</a:t>
            </a:r>
            <a:pPr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8F8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$ npm test -- auth.spec.ts</a:t>
            </a:r>
            <a:pPr indent="0" marL="0">
              <a:lnSpc>
                <a:spcPts val="1440"/>
              </a:lnSpc>
              <a:buNone/>
            </a:pPr>
            <a:r>
              <a:rPr lang="en-US" sz="900" b="1" dirty="0">
                <a:solidFill>
                  <a:srgbClr val="1B5E20"/>
                </a:solidFill>
              </a:rPr>
              <a:t>* 실패 시 에이전트가 코드 자동 수정</a:t>
            </a:r>
            <a:endParaRPr lang="en-US" sz="1050" dirty="0"/>
          </a:p>
        </p:txBody>
      </p:sp>
      <p:sp>
        <p:nvSpPr>
          <p:cNvPr id="28" name="Text 9"/>
          <p:cNvSpPr/>
          <p:nvPr/>
        </p:nvSpPr>
        <p:spPr>
          <a:xfrm>
            <a:off x="6667500" y="2806005"/>
            <a:ext cx="226314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12529"/>
                </a:solidFill>
              </a:rPr>
              <a:t>PR 생성 및 문서화</a:t>
            </a:r>
            <a:endParaRPr lang="en-US" sz="1350" dirty="0"/>
          </a:p>
        </p:txBody>
      </p:sp>
      <p:sp>
        <p:nvSpPr>
          <p:cNvPr id="29" name="Text 10"/>
          <p:cNvSpPr/>
          <p:nvPr/>
        </p:nvSpPr>
        <p:spPr>
          <a:xfrm>
            <a:off x="6381750" y="3206055"/>
            <a:ext cx="2333625" cy="10778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495057"/>
                </a:solidFill>
              </a:rPr>
              <a:t>변경 내역을 요약하여 Conventional Commit을 작성하고 PR을 생성합니다.</a:t>
            </a:r>
            <a:pPr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8F8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feat(auth): fix token leak...</a:t>
            </a:r>
            <a:pPr indent="0" marL="0">
              <a:lnSpc>
                <a:spcPts val="1440"/>
              </a:lnSpc>
              <a:buNone/>
            </a:pPr>
            <a:r>
              <a:rPr lang="en-US" sz="900" b="1" dirty="0">
                <a:solidFill>
                  <a:srgbClr val="1B5E20"/>
                </a:solidFill>
              </a:rPr>
              <a:t>* Human-in-the-loop 검토 필수</a:t>
            </a:r>
            <a:endParaRPr lang="en-US" sz="1050" dirty="0"/>
          </a:p>
        </p:txBody>
      </p:sp>
      <p:sp>
        <p:nvSpPr>
          <p:cNvPr id="30" name="Text 11"/>
          <p:cNvSpPr/>
          <p:nvPr/>
        </p:nvSpPr>
        <p:spPr>
          <a:xfrm>
            <a:off x="9572625" y="2806005"/>
            <a:ext cx="185166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12529"/>
                </a:solidFill>
              </a:rPr>
              <a:t>배포 및 모니터링</a:t>
            </a:r>
            <a:endParaRPr lang="en-US" sz="1350" dirty="0"/>
          </a:p>
        </p:txBody>
      </p:sp>
      <p:sp>
        <p:nvSpPr>
          <p:cNvPr id="31" name="Text 12"/>
          <p:cNvSpPr/>
          <p:nvPr/>
        </p:nvSpPr>
        <p:spPr>
          <a:xfrm>
            <a:off x="9286875" y="3206055"/>
            <a:ext cx="2333625" cy="10778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495057"/>
                </a:solidFill>
              </a:rPr>
              <a:t>CI 파이프라인 상태를 확인하고 배포 결과를 리포트합니다.</a:t>
            </a:r>
            <a:pPr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F8F8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CI Status: Success (2m 30s)</a:t>
            </a:r>
            <a:pPr indent="0" marL="0">
              <a:lnSpc>
                <a:spcPts val="1440"/>
              </a:lnSpc>
              <a:buNone/>
            </a:pPr>
            <a:r>
              <a:rPr lang="en-US" sz="900" b="1" dirty="0">
                <a:solidFill>
                  <a:srgbClr val="1B5E20"/>
                </a:solidFill>
              </a:rPr>
              <a:t>* OpenProject 티켓 상태 자동 업데이트</a:t>
            </a:r>
            <a:endParaRPr lang="en-US" sz="1050" dirty="0"/>
          </a:p>
        </p:txBody>
      </p:sp>
      <p:sp>
        <p:nvSpPr>
          <p:cNvPr id="32" name="Text 13"/>
          <p:cNvSpPr/>
          <p:nvPr/>
        </p:nvSpPr>
        <p:spPr>
          <a:xfrm>
            <a:off x="381000" y="4942880"/>
            <a:ext cx="11430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C757D"/>
                </a:solidFill>
              </a:rPr>
              <a:t>Source: Internal Case Study - DevOps Automation with Cline (2026)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04800"/>
            <a:ext cx="11811000" cy="862905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320105"/>
            <a:ext cx="6915150" cy="4847332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" y="2044452"/>
            <a:ext cx="6343650" cy="7620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2187327"/>
            <a:ext cx="476250" cy="4762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688" y="2330202"/>
            <a:ext cx="238125" cy="1905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31419" y="2996952"/>
            <a:ext cx="214313" cy="17532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6750" y="3362771"/>
            <a:ext cx="6343650" cy="7620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9625" y="3505646"/>
            <a:ext cx="476250" cy="4762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8688" y="3648521"/>
            <a:ext cx="238125" cy="1905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31419" y="4315271"/>
            <a:ext cx="214313" cy="17532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6750" y="4681091"/>
            <a:ext cx="6343650" cy="7620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9625" y="4823966"/>
            <a:ext cx="476250" cy="47625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8688" y="4966841"/>
            <a:ext cx="238125" cy="1905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581900" y="1320105"/>
            <a:ext cx="4229100" cy="2384524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772400" y="1510605"/>
            <a:ext cx="190500" cy="1524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772400" y="3266480"/>
            <a:ext cx="3848100" cy="28575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886700" y="3359944"/>
            <a:ext cx="142875" cy="1143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581900" y="3857030"/>
            <a:ext cx="4229100" cy="2310408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772400" y="4047530"/>
            <a:ext cx="190500" cy="152400"/>
          </a:xfrm>
          <a:prstGeom prst="rect">
            <a:avLst/>
          </a:prstGeom>
        </p:spPr>
      </p:pic>
      <p:sp>
        <p:nvSpPr>
          <p:cNvPr id="22" name="Text 0"/>
          <p:cNvSpPr/>
          <p:nvPr/>
        </p:nvSpPr>
        <p:spPr>
          <a:xfrm>
            <a:off x="762000" y="533400"/>
            <a:ext cx="110490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212529"/>
                </a:solidFill>
              </a:rPr>
              <a:t>데모 4: OpenProject 및 Obsidian 연동</a:t>
            </a:r>
            <a:endParaRPr lang="en-US" sz="2100" dirty="0"/>
          </a:p>
        </p:txBody>
      </p:sp>
      <p:sp>
        <p:nvSpPr>
          <p:cNvPr id="23" name="Text 1"/>
          <p:cNvSpPr/>
          <p:nvPr/>
        </p:nvSpPr>
        <p:spPr>
          <a:xfrm>
            <a:off x="762000" y="891480"/>
            <a:ext cx="110490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프로젝트 관리 도구와 지식 관리 도구를 연결하여 정보의 흐름을 자동화하는 통합 워크플로우를 제시합니다.</a:t>
            </a:r>
            <a:endParaRPr lang="en-US" sz="1050" dirty="0"/>
          </a:p>
        </p:txBody>
      </p:sp>
      <p:sp>
        <p:nvSpPr>
          <p:cNvPr id="24" name="Text 2"/>
          <p:cNvSpPr/>
          <p:nvPr/>
        </p:nvSpPr>
        <p:spPr>
          <a:xfrm>
            <a:off x="1476375" y="2208758"/>
            <a:ext cx="5391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12529"/>
                </a:solidFill>
              </a:rPr>
              <a:t>Obsidian (Personal Knowledge)</a:t>
            </a:r>
            <a:endParaRPr lang="en-US" sz="1200" dirty="0"/>
          </a:p>
        </p:txBody>
      </p:sp>
      <p:sp>
        <p:nvSpPr>
          <p:cNvPr id="25" name="Text 3"/>
          <p:cNvSpPr/>
          <p:nvPr/>
        </p:nvSpPr>
        <p:spPr>
          <a:xfrm>
            <a:off x="1476375" y="2456408"/>
            <a:ext cx="53911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6C757D"/>
                </a:solidFill>
              </a:rPr>
              <a:t>비정형 데이터: 일일 노트, 회의록, 아이디어 스케치</a:t>
            </a:r>
            <a:endParaRPr lang="en-US" sz="975" dirty="0"/>
          </a:p>
        </p:txBody>
      </p:sp>
      <p:sp>
        <p:nvSpPr>
          <p:cNvPr id="26" name="Text 4"/>
          <p:cNvSpPr/>
          <p:nvPr/>
        </p:nvSpPr>
        <p:spPr>
          <a:xfrm>
            <a:off x="1476375" y="3527078"/>
            <a:ext cx="5391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12529"/>
                </a:solidFill>
              </a:rPr>
              <a:t>Cline Agent (Orchestrator)</a:t>
            </a:r>
            <a:endParaRPr lang="en-US" sz="1200" dirty="0"/>
          </a:p>
        </p:txBody>
      </p:sp>
      <p:sp>
        <p:nvSpPr>
          <p:cNvPr id="27" name="Text 5"/>
          <p:cNvSpPr/>
          <p:nvPr/>
        </p:nvSpPr>
        <p:spPr>
          <a:xfrm>
            <a:off x="1476375" y="3774728"/>
            <a:ext cx="53911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6C757D"/>
                </a:solidFill>
              </a:rPr>
              <a:t>맥락 분석: 텍스트 추출, 도구 호출, 데이터 구조화</a:t>
            </a:r>
            <a:endParaRPr lang="en-US" sz="975" dirty="0"/>
          </a:p>
        </p:txBody>
      </p:sp>
      <p:sp>
        <p:nvSpPr>
          <p:cNvPr id="28" name="Text 6"/>
          <p:cNvSpPr/>
          <p:nvPr/>
        </p:nvSpPr>
        <p:spPr>
          <a:xfrm>
            <a:off x="1476375" y="4845397"/>
            <a:ext cx="5391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12529"/>
                </a:solidFill>
              </a:rPr>
              <a:t>OpenProject (Shared Task)</a:t>
            </a:r>
            <a:endParaRPr lang="en-US" sz="1200" dirty="0"/>
          </a:p>
        </p:txBody>
      </p:sp>
      <p:sp>
        <p:nvSpPr>
          <p:cNvPr id="29" name="Text 7"/>
          <p:cNvSpPr/>
          <p:nvPr/>
        </p:nvSpPr>
        <p:spPr>
          <a:xfrm>
            <a:off x="1476375" y="5093047"/>
            <a:ext cx="53911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6C757D"/>
                </a:solidFill>
              </a:rPr>
              <a:t>정형 데이터: 티켓 생성, 상태 업데이트, 일정 관리</a:t>
            </a:r>
            <a:endParaRPr lang="en-US" sz="975" dirty="0"/>
          </a:p>
        </p:txBody>
      </p:sp>
      <p:sp>
        <p:nvSpPr>
          <p:cNvPr id="30" name="Text 8"/>
          <p:cNvSpPr/>
          <p:nvPr/>
        </p:nvSpPr>
        <p:spPr>
          <a:xfrm>
            <a:off x="8058150" y="1472505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12529"/>
                </a:solidFill>
              </a:rPr>
              <a:t>통합 워크플로우 핵심</a:t>
            </a:r>
            <a:endParaRPr lang="en-US" sz="1200" dirty="0"/>
          </a:p>
        </p:txBody>
      </p:sp>
      <p:sp>
        <p:nvSpPr>
          <p:cNvPr id="31" name="Text 9"/>
          <p:cNvSpPr/>
          <p:nvPr/>
        </p:nvSpPr>
        <p:spPr>
          <a:xfrm>
            <a:off x="7915275" y="1796355"/>
            <a:ext cx="3705225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b="1" dirty="0">
                <a:solidFill>
                  <a:srgbClr val="495057"/>
                </a:solidFill>
              </a:rPr>
              <a:t>비정형 데이터의 구조화:</a:t>
            </a:r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495057"/>
                </a:solidFill>
              </a:rPr>
              <a:t> Obsidian 회의록을 분석하여 OpenProject 작업(Task)으로 자동 변환.</a:t>
            </a:r>
            <a:endParaRPr lang="en-US" sz="1050" dirty="0"/>
          </a:p>
        </p:txBody>
      </p:sp>
      <p:sp>
        <p:nvSpPr>
          <p:cNvPr id="32" name="Text 10"/>
          <p:cNvSpPr/>
          <p:nvPr/>
        </p:nvSpPr>
        <p:spPr>
          <a:xfrm>
            <a:off x="7915275" y="2280047"/>
            <a:ext cx="3705225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b="1" dirty="0">
                <a:solidFill>
                  <a:srgbClr val="495057"/>
                </a:solidFill>
              </a:rPr>
              <a:t>상태 동기화:</a:t>
            </a:r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495057"/>
                </a:solidFill>
              </a:rPr>
              <a:t> Git 커밋과 연동하여 Obsidian 일일 노트와 OpenProject 진행률을 동시 업데이트.</a:t>
            </a:r>
            <a:endParaRPr lang="en-US" sz="1050" dirty="0"/>
          </a:p>
        </p:txBody>
      </p:sp>
      <p:sp>
        <p:nvSpPr>
          <p:cNvPr id="33" name="Text 11"/>
          <p:cNvSpPr/>
          <p:nvPr/>
        </p:nvSpPr>
        <p:spPr>
          <a:xfrm>
            <a:off x="7915275" y="2763738"/>
            <a:ext cx="3705225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b="1" dirty="0">
                <a:solidFill>
                  <a:srgbClr val="495057"/>
                </a:solidFill>
              </a:rPr>
              <a:t>지식 자산화:</a:t>
            </a:r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495057"/>
                </a:solidFill>
              </a:rPr>
              <a:t> 프로젝트 이력과 개인 노트를 결합하여 재사용 가능한 위키(Wiki) 문서 자동 생성.</a:t>
            </a:r>
            <a:endParaRPr lang="en-US" sz="1050" dirty="0"/>
          </a:p>
        </p:txBody>
      </p:sp>
      <p:sp>
        <p:nvSpPr>
          <p:cNvPr id="34" name="Text 12"/>
          <p:cNvSpPr/>
          <p:nvPr/>
        </p:nvSpPr>
        <p:spPr>
          <a:xfrm>
            <a:off x="8029575" y="3266480"/>
            <a:ext cx="41624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B5E20"/>
                </a:solidFill>
              </a:rPr>
              <a:t> API Key 및 엔드포인트는 환경변수(.env)를 통해 안전하게 관리되어야 함.</a:t>
            </a:r>
            <a:endParaRPr lang="en-US" sz="900" dirty="0"/>
          </a:p>
        </p:txBody>
      </p:sp>
      <p:sp>
        <p:nvSpPr>
          <p:cNvPr id="35" name="Text 13"/>
          <p:cNvSpPr/>
          <p:nvPr/>
        </p:nvSpPr>
        <p:spPr>
          <a:xfrm>
            <a:off x="8058150" y="400943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12529"/>
                </a:solidFill>
              </a:rPr>
              <a:t>기대 효과</a:t>
            </a:r>
            <a:endParaRPr lang="en-US" sz="1200" dirty="0"/>
          </a:p>
        </p:txBody>
      </p:sp>
      <p:sp>
        <p:nvSpPr>
          <p:cNvPr id="36" name="Text 14"/>
          <p:cNvSpPr/>
          <p:nvPr/>
        </p:nvSpPr>
        <p:spPr>
          <a:xfrm>
            <a:off x="7915275" y="4333280"/>
            <a:ext cx="3705225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b="1" dirty="0">
                <a:solidFill>
                  <a:srgbClr val="495057"/>
                </a:solidFill>
              </a:rPr>
              <a:t>정보 파편화 방지:</a:t>
            </a:r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495057"/>
                </a:solidFill>
              </a:rPr>
              <a:t> 개인 기록과 공용 프로젝트 관리 도구 간의 데이터 일관성 유지.</a:t>
            </a:r>
            <a:endParaRPr lang="en-US" sz="1050" dirty="0"/>
          </a:p>
        </p:txBody>
      </p:sp>
      <p:sp>
        <p:nvSpPr>
          <p:cNvPr id="37" name="Text 15"/>
          <p:cNvSpPr/>
          <p:nvPr/>
        </p:nvSpPr>
        <p:spPr>
          <a:xfrm>
            <a:off x="7915275" y="4816971"/>
            <a:ext cx="3705225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b="1" dirty="0">
                <a:solidFill>
                  <a:srgbClr val="495057"/>
                </a:solidFill>
              </a:rPr>
              <a:t>보고 업무 최소화:</a:t>
            </a:r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495057"/>
                </a:solidFill>
              </a:rPr>
              <a:t> 작업 수행 기록이 자동으로 시스템에 반영되어 수동 보고 시간 단축.</a:t>
            </a:r>
            <a:endParaRPr lang="en-US" sz="1050" dirty="0"/>
          </a:p>
        </p:txBody>
      </p:sp>
      <p:sp>
        <p:nvSpPr>
          <p:cNvPr id="38" name="Text 16"/>
          <p:cNvSpPr/>
          <p:nvPr/>
        </p:nvSpPr>
        <p:spPr>
          <a:xfrm>
            <a:off x="0" y="6472238"/>
            <a:ext cx="1143000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C757D"/>
                </a:solidFill>
              </a:rPr>
              <a:t>Source: Agentic Workflow Demo Case Study (2026) | Internal Methodology</a:t>
            </a:r>
            <a:endParaRPr lang="en-US" sz="82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94863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139130"/>
            <a:ext cx="6915150" cy="502354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2430" y="2534692"/>
            <a:ext cx="666750" cy="6667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9118" y="2734717"/>
            <a:ext cx="333375" cy="2667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45010" y="2931765"/>
            <a:ext cx="238125" cy="1905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88815" y="2534692"/>
            <a:ext cx="666750" cy="6667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55503" y="2734717"/>
            <a:ext cx="333375" cy="2667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61395" y="2931765"/>
            <a:ext cx="238125" cy="1905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05200" y="2339429"/>
            <a:ext cx="666750" cy="6667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71888" y="2539454"/>
            <a:ext cx="333375" cy="2667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77779" y="2931765"/>
            <a:ext cx="238125" cy="1905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21585" y="2534692"/>
            <a:ext cx="666750" cy="66675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988272" y="2734717"/>
            <a:ext cx="333375" cy="2667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694164" y="2931765"/>
            <a:ext cx="238125" cy="1905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137970" y="2534692"/>
            <a:ext cx="666750" cy="66675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04657" y="2734717"/>
            <a:ext cx="333375" cy="2667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301055" y="4979640"/>
            <a:ext cx="5074890" cy="485775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533376" y="5146328"/>
            <a:ext cx="190500" cy="15240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581900" y="1139130"/>
            <a:ext cx="4229100" cy="2416522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820025" y="1616720"/>
            <a:ext cx="214313" cy="175320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820025" y="1975842"/>
            <a:ext cx="178594" cy="178594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820025" y="2547342"/>
            <a:ext cx="178594" cy="164753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581900" y="3746153"/>
            <a:ext cx="4229100" cy="2416522"/>
          </a:xfrm>
          <a:prstGeom prst="rect">
            <a:avLst/>
          </a:prstGeom>
        </p:spPr>
      </p:pic>
      <p:pic>
        <p:nvPicPr>
          <p:cNvPr id="27" name="Image 25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820025" y="4051399"/>
            <a:ext cx="214313" cy="175320"/>
          </a:xfrm>
          <a:prstGeom prst="rect">
            <a:avLst/>
          </a:prstGeom>
        </p:spPr>
      </p:pic>
      <p:pic>
        <p:nvPicPr>
          <p:cNvPr id="28" name="Image 26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820025" y="4410521"/>
            <a:ext cx="178594" cy="178594"/>
          </a:xfrm>
          <a:prstGeom prst="rect">
            <a:avLst/>
          </a:prstGeom>
        </p:spPr>
      </p:pic>
      <p:pic>
        <p:nvPicPr>
          <p:cNvPr id="29" name="Image 27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820025" y="4982021"/>
            <a:ext cx="178594" cy="178594"/>
          </a:xfrm>
          <a:prstGeom prst="rect">
            <a:avLst/>
          </a:prstGeom>
        </p:spPr>
      </p:pic>
      <p:pic>
        <p:nvPicPr>
          <p:cNvPr id="30" name="Image 28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820025" y="5553521"/>
            <a:ext cx="178594" cy="142875"/>
          </a:xfrm>
          <a:prstGeom prst="rect">
            <a:avLst/>
          </a:prstGeom>
        </p:spPr>
      </p:pic>
      <p:sp>
        <p:nvSpPr>
          <p:cNvPr id="31" name="Text 0"/>
          <p:cNvSpPr/>
          <p:nvPr/>
        </p:nvSpPr>
        <p:spPr>
          <a:xfrm>
            <a:off x="381000" y="285750"/>
            <a:ext cx="114300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212529"/>
                </a:solidFill>
              </a:rPr>
              <a:t>Human-in-the-loop 피드백 사이클의 중요성</a:t>
            </a:r>
            <a:endParaRPr lang="en-US" sz="2100" dirty="0"/>
          </a:p>
        </p:txBody>
      </p:sp>
      <p:sp>
        <p:nvSpPr>
          <p:cNvPr id="32" name="Text 1"/>
          <p:cNvSpPr/>
          <p:nvPr/>
        </p:nvSpPr>
        <p:spPr>
          <a:xfrm>
            <a:off x="381000" y="653355"/>
            <a:ext cx="114300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요청, 실행, 인간의 검토, 지시 수정으로 이어지는 선순환 구조를 통해 에이전트의 정확도를 높이는 방법을 설명합니다.</a:t>
            </a:r>
            <a:endParaRPr lang="en-US" sz="1050" dirty="0"/>
          </a:p>
        </p:txBody>
      </p:sp>
      <p:sp>
        <p:nvSpPr>
          <p:cNvPr id="33" name="Text 2"/>
          <p:cNvSpPr/>
          <p:nvPr/>
        </p:nvSpPr>
        <p:spPr>
          <a:xfrm>
            <a:off x="858143" y="3344317"/>
            <a:ext cx="6953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12529"/>
                </a:solidFill>
              </a:rPr>
              <a:t>Request</a:t>
            </a:r>
            <a:endParaRPr lang="en-US" sz="1350" dirty="0"/>
          </a:p>
        </p:txBody>
      </p:sp>
      <p:sp>
        <p:nvSpPr>
          <p:cNvPr id="34" name="Text 3"/>
          <p:cNvSpPr/>
          <p:nvPr/>
        </p:nvSpPr>
        <p:spPr>
          <a:xfrm>
            <a:off x="666750" y="3649117"/>
            <a:ext cx="887760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C757D"/>
                </a:solidFill>
              </a:rPr>
              <a:t>사용자 의도 및 태스크 입력</a:t>
            </a:r>
            <a:endParaRPr lang="en-US" sz="975" dirty="0"/>
          </a:p>
        </p:txBody>
      </p:sp>
      <p:sp>
        <p:nvSpPr>
          <p:cNvPr id="35" name="Text 4"/>
          <p:cNvSpPr/>
          <p:nvPr/>
        </p:nvSpPr>
        <p:spPr>
          <a:xfrm>
            <a:off x="2241203" y="3344317"/>
            <a:ext cx="5619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12529"/>
                </a:solidFill>
              </a:rPr>
              <a:t>Action</a:t>
            </a:r>
            <a:endParaRPr lang="en-US" sz="1350" dirty="0"/>
          </a:p>
        </p:txBody>
      </p:sp>
      <p:sp>
        <p:nvSpPr>
          <p:cNvPr id="36" name="Text 5"/>
          <p:cNvSpPr/>
          <p:nvPr/>
        </p:nvSpPr>
        <p:spPr>
          <a:xfrm>
            <a:off x="1983135" y="3649117"/>
            <a:ext cx="887760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C757D"/>
                </a:solidFill>
              </a:rPr>
              <a:t>에이전트 도구 사용 및 실행</a:t>
            </a:r>
            <a:endParaRPr lang="en-US" sz="975" dirty="0"/>
          </a:p>
        </p:txBody>
      </p:sp>
      <p:sp>
        <p:nvSpPr>
          <p:cNvPr id="37" name="Text 6"/>
          <p:cNvSpPr/>
          <p:nvPr/>
        </p:nvSpPr>
        <p:spPr>
          <a:xfrm>
            <a:off x="3538538" y="3149054"/>
            <a:ext cx="6000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12529"/>
                </a:solidFill>
              </a:rPr>
              <a:t>Review</a:t>
            </a:r>
            <a:endParaRPr lang="en-US" sz="1350" dirty="0"/>
          </a:p>
        </p:txBody>
      </p:sp>
      <p:sp>
        <p:nvSpPr>
          <p:cNvPr id="38" name="Text 7"/>
          <p:cNvSpPr/>
          <p:nvPr/>
        </p:nvSpPr>
        <p:spPr>
          <a:xfrm>
            <a:off x="3299520" y="3453854"/>
            <a:ext cx="887760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C757D"/>
                </a:solidFill>
              </a:rPr>
              <a:t>인간의 결과물 검토 및 승인</a:t>
            </a:r>
            <a:endParaRPr lang="en-US" sz="975" dirty="0"/>
          </a:p>
        </p:txBody>
      </p:sp>
      <p:sp>
        <p:nvSpPr>
          <p:cNvPr id="39" name="Text 8"/>
          <p:cNvSpPr/>
          <p:nvPr/>
        </p:nvSpPr>
        <p:spPr>
          <a:xfrm>
            <a:off x="3299520" y="3847951"/>
            <a:ext cx="10782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B5E20"/>
                </a:solidFill>
              </a:rPr>
              <a:t>* Critical Control Point</a:t>
            </a:r>
            <a:endParaRPr lang="en-US" sz="900" dirty="0"/>
          </a:p>
        </p:txBody>
      </p:sp>
      <p:sp>
        <p:nvSpPr>
          <p:cNvPr id="40" name="Text 9"/>
          <p:cNvSpPr/>
          <p:nvPr/>
        </p:nvSpPr>
        <p:spPr>
          <a:xfrm>
            <a:off x="4883497" y="3344317"/>
            <a:ext cx="5429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12529"/>
                </a:solidFill>
              </a:rPr>
              <a:t>Refine</a:t>
            </a:r>
            <a:endParaRPr lang="en-US" sz="1350" dirty="0"/>
          </a:p>
        </p:txBody>
      </p:sp>
      <p:sp>
        <p:nvSpPr>
          <p:cNvPr id="41" name="Text 10"/>
          <p:cNvSpPr/>
          <p:nvPr/>
        </p:nvSpPr>
        <p:spPr>
          <a:xfrm>
            <a:off x="4615904" y="3649117"/>
            <a:ext cx="887760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C757D"/>
                </a:solidFill>
              </a:rPr>
              <a:t>지시사항 수정 및 예외 학습</a:t>
            </a:r>
            <a:endParaRPr lang="en-US" sz="975" dirty="0"/>
          </a:p>
        </p:txBody>
      </p:sp>
      <p:sp>
        <p:nvSpPr>
          <p:cNvPr id="42" name="Text 11"/>
          <p:cNvSpPr/>
          <p:nvPr/>
        </p:nvSpPr>
        <p:spPr>
          <a:xfrm>
            <a:off x="6261795" y="3344317"/>
            <a:ext cx="4191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12529"/>
                </a:solidFill>
              </a:rPr>
              <a:t>Save</a:t>
            </a:r>
            <a:endParaRPr lang="en-US" sz="1350" dirty="0"/>
          </a:p>
        </p:txBody>
      </p:sp>
      <p:sp>
        <p:nvSpPr>
          <p:cNvPr id="43" name="Text 12"/>
          <p:cNvSpPr/>
          <p:nvPr/>
        </p:nvSpPr>
        <p:spPr>
          <a:xfrm>
            <a:off x="5932289" y="3649117"/>
            <a:ext cx="887760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C757D"/>
                </a:solidFill>
              </a:rPr>
              <a:t>검증된 워크플로우 자산화</a:t>
            </a:r>
            <a:endParaRPr lang="en-US" sz="975" dirty="0"/>
          </a:p>
        </p:txBody>
      </p:sp>
      <p:sp>
        <p:nvSpPr>
          <p:cNvPr id="44" name="Text 13"/>
          <p:cNvSpPr/>
          <p:nvPr/>
        </p:nvSpPr>
        <p:spPr>
          <a:xfrm>
            <a:off x="1819126" y="5122515"/>
            <a:ext cx="83210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95057"/>
                </a:solidFill>
              </a:rPr>
              <a:t>Continuous Improvement Loop: 반복을 통한 에이전트 성능의 점진적 고도화</a:t>
            </a:r>
            <a:endParaRPr lang="en-US" sz="1050" dirty="0"/>
          </a:p>
        </p:txBody>
      </p:sp>
      <p:sp>
        <p:nvSpPr>
          <p:cNvPr id="45" name="Text 14"/>
          <p:cNvSpPr/>
          <p:nvPr/>
        </p:nvSpPr>
        <p:spPr>
          <a:xfrm>
            <a:off x="8129588" y="1575792"/>
            <a:ext cx="37528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C00000"/>
                </a:solidFill>
              </a:rPr>
              <a:t>자율성과 통제의 균형</a:t>
            </a:r>
            <a:endParaRPr lang="en-US" sz="1350" dirty="0"/>
          </a:p>
        </p:txBody>
      </p:sp>
      <p:sp>
        <p:nvSpPr>
          <p:cNvPr id="46" name="Text 15"/>
          <p:cNvSpPr/>
          <p:nvPr/>
        </p:nvSpPr>
        <p:spPr>
          <a:xfrm>
            <a:off x="8093869" y="1975842"/>
            <a:ext cx="34790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495057"/>
                </a:solidFill>
              </a:rPr>
              <a:t>에이전트의 독단적 판단 방지 및 </a:t>
            </a:r>
            <a:pPr algn="l" indent="0" marL="0">
              <a:lnSpc>
                <a:spcPts val="1800"/>
              </a:lnSpc>
              <a:buNone/>
            </a:pPr>
            <a:r>
              <a:rPr lang="en-US" sz="1125" b="1" dirty="0">
                <a:solidFill>
                  <a:srgbClr val="495057"/>
                </a:solidFill>
              </a:rPr>
              <a:t>인간의 최종 결정권(Human Agency)</a:t>
            </a:r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495057"/>
                </a:solidFill>
              </a:rPr>
              <a:t> 유지</a:t>
            </a:r>
            <a:endParaRPr lang="en-US" sz="1125" dirty="0"/>
          </a:p>
        </p:txBody>
      </p:sp>
      <p:sp>
        <p:nvSpPr>
          <p:cNvPr id="47" name="Text 16"/>
          <p:cNvSpPr/>
          <p:nvPr/>
        </p:nvSpPr>
        <p:spPr>
          <a:xfrm>
            <a:off x="8093869" y="2547342"/>
            <a:ext cx="34790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495057"/>
                </a:solidFill>
              </a:rPr>
              <a:t>실시간 중간 검토를 통해 잘못된 방향으로의 '에이전트 표류' 즉시 차단</a:t>
            </a:r>
            <a:endParaRPr lang="en-US" sz="1125" dirty="0"/>
          </a:p>
        </p:txBody>
      </p:sp>
      <p:sp>
        <p:nvSpPr>
          <p:cNvPr id="48" name="Text 17"/>
          <p:cNvSpPr/>
          <p:nvPr/>
        </p:nvSpPr>
        <p:spPr>
          <a:xfrm>
            <a:off x="8129588" y="4010471"/>
            <a:ext cx="37528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C00000"/>
                </a:solidFill>
              </a:rPr>
              <a:t>워크플로우의 자산화</a:t>
            </a:r>
            <a:endParaRPr lang="en-US" sz="1350" dirty="0"/>
          </a:p>
        </p:txBody>
      </p:sp>
      <p:sp>
        <p:nvSpPr>
          <p:cNvPr id="49" name="Text 18"/>
          <p:cNvSpPr/>
          <p:nvPr/>
        </p:nvSpPr>
        <p:spPr>
          <a:xfrm>
            <a:off x="8093869" y="4410521"/>
            <a:ext cx="34790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495057"/>
                </a:solidFill>
              </a:rPr>
              <a:t>수정된 지시사항을 </a:t>
            </a:r>
            <a:pPr algn="l" indent="0" marL="0">
              <a:lnSpc>
                <a:spcPts val="1800"/>
              </a:lnSpc>
              <a:buNone/>
            </a:pPr>
            <a:r>
              <a:rPr lang="en-US" sz="1125" b="1" dirty="0">
                <a:solidFill>
                  <a:srgbClr val="495057"/>
                </a:solidFill>
              </a:rPr>
              <a:t>Markdown Rules</a:t>
            </a:r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495057"/>
                </a:solidFill>
              </a:rPr>
              <a:t>에 반영하여 영구적 지식으로 전환</a:t>
            </a:r>
            <a:endParaRPr lang="en-US" sz="1125" dirty="0"/>
          </a:p>
        </p:txBody>
      </p:sp>
      <p:sp>
        <p:nvSpPr>
          <p:cNvPr id="50" name="Text 19"/>
          <p:cNvSpPr/>
          <p:nvPr/>
        </p:nvSpPr>
        <p:spPr>
          <a:xfrm>
            <a:off x="8093869" y="4982021"/>
            <a:ext cx="34790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495057"/>
                </a:solidFill>
              </a:rPr>
              <a:t>성공적인 피드백 루프를 거친 작업은 '재사용 가능한 모듈형 워크플로우'로 저장</a:t>
            </a:r>
            <a:endParaRPr lang="en-US" sz="1125" dirty="0"/>
          </a:p>
        </p:txBody>
      </p:sp>
      <p:sp>
        <p:nvSpPr>
          <p:cNvPr id="51" name="Text 20"/>
          <p:cNvSpPr/>
          <p:nvPr/>
        </p:nvSpPr>
        <p:spPr>
          <a:xfrm>
            <a:off x="8093869" y="5601146"/>
            <a:ext cx="4098131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1B5E20"/>
                </a:solidFill>
              </a:rPr>
              <a:t>개인의 암묵적 노하우를 AI가 참조 가능한 형식지로 구조화</a:t>
            </a:r>
            <a:endParaRPr lang="en-US" sz="900" dirty="0"/>
          </a:p>
        </p:txBody>
      </p:sp>
      <p:sp>
        <p:nvSpPr>
          <p:cNvPr id="52" name="Text 21"/>
          <p:cNvSpPr/>
          <p:nvPr/>
        </p:nvSpPr>
        <p:spPr>
          <a:xfrm>
            <a:off x="0" y="6543675"/>
            <a:ext cx="118110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C757D"/>
                </a:solidFill>
              </a:rPr>
              <a:t>Source: Agentic Workflow Engineering Framework (2026) | 내부 교육용 자료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04800"/>
            <a:ext cx="11049000" cy="1201936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659136"/>
            <a:ext cx="5667375" cy="4570214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2020193"/>
            <a:ext cx="5095875" cy="8382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5375" y="2340620"/>
            <a:ext cx="285750" cy="2286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86125" y="3112740"/>
            <a:ext cx="238125" cy="1905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7250" y="3525143"/>
            <a:ext cx="5095875" cy="8382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5375" y="3845570"/>
            <a:ext cx="285750" cy="2286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86125" y="4617690"/>
            <a:ext cx="238125" cy="1905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7250" y="5030093"/>
            <a:ext cx="5095875" cy="8382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95375" y="5350520"/>
            <a:ext cx="285750" cy="2286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24625" y="1659136"/>
            <a:ext cx="5095875" cy="2208907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62750" y="2095054"/>
            <a:ext cx="190500" cy="1524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762750" y="2409379"/>
            <a:ext cx="190500" cy="173087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762750" y="2954089"/>
            <a:ext cx="190500" cy="173087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24625" y="4020443"/>
            <a:ext cx="5095875" cy="2208907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762750" y="4549676"/>
            <a:ext cx="190500" cy="1524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762750" y="4864001"/>
            <a:ext cx="190500" cy="158651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762750" y="5164931"/>
            <a:ext cx="190500" cy="158651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762750" y="5465862"/>
            <a:ext cx="190500" cy="158651"/>
          </a:xfrm>
          <a:prstGeom prst="rect">
            <a:avLst/>
          </a:prstGeom>
        </p:spPr>
      </p:pic>
      <p:sp>
        <p:nvSpPr>
          <p:cNvPr id="23" name="Text 0"/>
          <p:cNvSpPr/>
          <p:nvPr/>
        </p:nvSpPr>
        <p:spPr>
          <a:xfrm>
            <a:off x="1143000" y="609600"/>
            <a:ext cx="990600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212529"/>
                </a:solidFill>
              </a:rPr>
              <a:t>워크플로우의 자산화: 저장과 지속적 개선</a:t>
            </a:r>
            <a:endParaRPr lang="en-US" sz="2700" dirty="0"/>
          </a:p>
        </p:txBody>
      </p:sp>
      <p:sp>
        <p:nvSpPr>
          <p:cNvPr id="24" name="Text 1"/>
          <p:cNvSpPr/>
          <p:nvPr/>
        </p:nvSpPr>
        <p:spPr>
          <a:xfrm>
            <a:off x="1143000" y="1097161"/>
            <a:ext cx="99060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6C757D"/>
                </a:solidFill>
              </a:rPr>
              <a:t>검증된 워크플로우를 저장하고 지식 자산으로 전환하는 체계적 프로세스</a:t>
            </a:r>
            <a:endParaRPr lang="en-US" sz="1350" dirty="0"/>
          </a:p>
        </p:txBody>
      </p:sp>
      <p:sp>
        <p:nvSpPr>
          <p:cNvPr id="25" name="Text 2"/>
          <p:cNvSpPr/>
          <p:nvPr/>
        </p:nvSpPr>
        <p:spPr>
          <a:xfrm>
            <a:off x="1571625" y="2210693"/>
            <a:ext cx="630936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12529"/>
                </a:solidFill>
              </a:rPr>
              <a:t>1. Feedback Loop (Interaction)</a:t>
            </a:r>
            <a:endParaRPr lang="en-US" sz="1350" dirty="0"/>
          </a:p>
        </p:txBody>
      </p:sp>
      <p:sp>
        <p:nvSpPr>
          <p:cNvPr id="26" name="Text 3"/>
          <p:cNvSpPr/>
          <p:nvPr/>
        </p:nvSpPr>
        <p:spPr>
          <a:xfrm>
            <a:off x="1571625" y="2467868"/>
            <a:ext cx="464058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실제 업무 수행 및 Human Review 기반 수정</a:t>
            </a:r>
            <a:endParaRPr lang="en-US" sz="1050" dirty="0"/>
          </a:p>
        </p:txBody>
      </p:sp>
      <p:sp>
        <p:nvSpPr>
          <p:cNvPr id="27" name="Text 4"/>
          <p:cNvSpPr/>
          <p:nvPr/>
        </p:nvSpPr>
        <p:spPr>
          <a:xfrm>
            <a:off x="1571625" y="3715643"/>
            <a:ext cx="672084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12529"/>
                </a:solidFill>
              </a:rPr>
              <a:t>2. Formalization (Markdown Docs)</a:t>
            </a:r>
            <a:endParaRPr lang="en-US" sz="1350" dirty="0"/>
          </a:p>
        </p:txBody>
      </p:sp>
      <p:sp>
        <p:nvSpPr>
          <p:cNvPr id="28" name="Text 5"/>
          <p:cNvSpPr/>
          <p:nvPr/>
        </p:nvSpPr>
        <p:spPr>
          <a:xfrm>
            <a:off x="1571625" y="3972818"/>
            <a:ext cx="43205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검증된 절차를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C757D"/>
                </a:solidFill>
                <a:highlight>
                  <a:srgbClr val="E9ECEF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rules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 및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C757D"/>
                </a:solidFill>
                <a:highlight>
                  <a:srgbClr val="E9ECEF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skills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로 문서화</a:t>
            </a:r>
            <a:endParaRPr lang="en-US" sz="1050" dirty="0"/>
          </a:p>
        </p:txBody>
      </p:sp>
      <p:sp>
        <p:nvSpPr>
          <p:cNvPr id="29" name="Text 6"/>
          <p:cNvSpPr/>
          <p:nvPr/>
        </p:nvSpPr>
        <p:spPr>
          <a:xfrm>
            <a:off x="1571625" y="5220593"/>
            <a:ext cx="589788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12529"/>
                </a:solidFill>
              </a:rPr>
              <a:t>3. Permanent Asset (Storage)</a:t>
            </a:r>
            <a:endParaRPr lang="en-US" sz="1350" dirty="0"/>
          </a:p>
        </p:txBody>
      </p:sp>
      <p:sp>
        <p:nvSpPr>
          <p:cNvPr id="30" name="Text 7"/>
          <p:cNvSpPr/>
          <p:nvPr/>
        </p:nvSpPr>
        <p:spPr>
          <a:xfrm>
            <a:off x="1571625" y="5477768"/>
            <a:ext cx="36804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Git 저장소 및 지식 베이스에 통합 관리</a:t>
            </a:r>
            <a:endParaRPr lang="en-US" sz="1050" dirty="0"/>
          </a:p>
        </p:txBody>
      </p:sp>
      <p:sp>
        <p:nvSpPr>
          <p:cNvPr id="31" name="Text 8"/>
          <p:cNvSpPr/>
          <p:nvPr/>
        </p:nvSpPr>
        <p:spPr>
          <a:xfrm>
            <a:off x="7048500" y="2028379"/>
            <a:ext cx="27432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C00000"/>
                </a:solidFill>
              </a:rPr>
              <a:t>지속적 개선 및 표준화</a:t>
            </a:r>
            <a:endParaRPr lang="en-US" sz="1500" dirty="0"/>
          </a:p>
        </p:txBody>
      </p:sp>
      <p:sp>
        <p:nvSpPr>
          <p:cNvPr id="32" name="Text 9"/>
          <p:cNvSpPr/>
          <p:nvPr/>
        </p:nvSpPr>
        <p:spPr>
          <a:xfrm>
            <a:off x="7029450" y="2409379"/>
            <a:ext cx="4352925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212529"/>
                </a:solidFill>
              </a:rPr>
              <a:t>성공적인 결과물을 냈던 프롬프트 시퀀스를 '재사용 가능한 템플릿'으로 모듈화</a:t>
            </a:r>
            <a:endParaRPr lang="en-US" sz="1200" dirty="0"/>
          </a:p>
        </p:txBody>
      </p:sp>
      <p:sp>
        <p:nvSpPr>
          <p:cNvPr id="33" name="Text 10"/>
          <p:cNvSpPr/>
          <p:nvPr/>
        </p:nvSpPr>
        <p:spPr>
          <a:xfrm>
            <a:off x="7029450" y="2954089"/>
            <a:ext cx="4352925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212529"/>
                </a:solidFill>
              </a:rPr>
              <a:t>중단 조건과 예외 처리 로직을 명시하여 워크플로우의 안정성 확보 </a:t>
            </a:r>
            <a:pPr algn="l" indent="0" marL="0">
              <a:lnSpc>
                <a:spcPts val="1560"/>
              </a:lnSpc>
              <a:buNone/>
            </a:pPr>
            <a:r>
              <a:rPr lang="en-US" sz="975" b="1" dirty="0">
                <a:solidFill>
                  <a:srgbClr val="1B5E20"/>
                </a:solidFill>
              </a:rPr>
              <a:t>*에이전트 표류 방지</a:t>
            </a:r>
            <a:endParaRPr lang="en-US" sz="1200" dirty="0"/>
          </a:p>
        </p:txBody>
      </p:sp>
      <p:sp>
        <p:nvSpPr>
          <p:cNvPr id="34" name="Text 11"/>
          <p:cNvSpPr/>
          <p:nvPr/>
        </p:nvSpPr>
        <p:spPr>
          <a:xfrm>
            <a:off x="7048500" y="4483001"/>
            <a:ext cx="29718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C00000"/>
                </a:solidFill>
              </a:rPr>
              <a:t>버전 관리 및 지식 전이</a:t>
            </a:r>
            <a:endParaRPr lang="en-US" sz="1500" dirty="0"/>
          </a:p>
        </p:txBody>
      </p:sp>
      <p:sp>
        <p:nvSpPr>
          <p:cNvPr id="35" name="Text 12"/>
          <p:cNvSpPr/>
          <p:nvPr/>
        </p:nvSpPr>
        <p:spPr>
          <a:xfrm>
            <a:off x="7029450" y="4864001"/>
            <a:ext cx="5162550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212529"/>
                </a:solidFill>
              </a:rPr>
              <a:t>Git을 활용한 워크플로우 이력 추적: '누가, 왜, 어떻게' 변경했는지 기록</a:t>
            </a:r>
            <a:endParaRPr lang="en-US" sz="1200" dirty="0"/>
          </a:p>
        </p:txBody>
      </p:sp>
      <p:sp>
        <p:nvSpPr>
          <p:cNvPr id="36" name="Text 13"/>
          <p:cNvSpPr/>
          <p:nvPr/>
        </p:nvSpPr>
        <p:spPr>
          <a:xfrm>
            <a:off x="7067550" y="5164931"/>
            <a:ext cx="5162550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212529"/>
                </a:solidFill>
                <a:highlight>
                  <a:srgbClr val="E9ECEF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AGENTS.md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212529"/>
                </a:solidFill>
              </a:rPr>
              <a:t> 공유를 통해 팀 전체의 에이전트 성능 상향 평준화 유도</a:t>
            </a:r>
            <a:endParaRPr lang="en-US" sz="1200" dirty="0"/>
          </a:p>
        </p:txBody>
      </p:sp>
      <p:sp>
        <p:nvSpPr>
          <p:cNvPr id="37" name="Text 14"/>
          <p:cNvSpPr/>
          <p:nvPr/>
        </p:nvSpPr>
        <p:spPr>
          <a:xfrm>
            <a:off x="7029450" y="5465862"/>
            <a:ext cx="5162550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212529"/>
                </a:solidFill>
              </a:rPr>
              <a:t>개별 노하우를 '기계가 읽을 수 있는 지침'으로 변환하여 조직 자산화</a:t>
            </a:r>
            <a:endParaRPr lang="en-US" sz="1200" dirty="0"/>
          </a:p>
        </p:txBody>
      </p:sp>
      <p:sp>
        <p:nvSpPr>
          <p:cNvPr id="38" name="Text 15"/>
          <p:cNvSpPr/>
          <p:nvPr/>
        </p:nvSpPr>
        <p:spPr>
          <a:xfrm>
            <a:off x="0" y="6534150"/>
            <a:ext cx="11620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C757D"/>
                </a:solidFill>
              </a:rPr>
              <a:t>Source: Agentic Workflow Engineering Framework (2026) | Internal Methodology Guide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86290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015305"/>
            <a:ext cx="3683050" cy="2033141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25" y="1248966"/>
            <a:ext cx="190500" cy="156418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54550" y="1015305"/>
            <a:ext cx="3683050" cy="2033141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92675" y="1248966"/>
            <a:ext cx="190500" cy="156418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28099" y="1015305"/>
            <a:ext cx="3683050" cy="2033141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66224" y="1248966"/>
            <a:ext cx="190500" cy="156418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1000" y="3277046"/>
            <a:ext cx="11430000" cy="7048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43125" y="3429446"/>
            <a:ext cx="781050" cy="4000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52800" y="3429446"/>
            <a:ext cx="752475" cy="40005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33900" y="3429446"/>
            <a:ext cx="1247775" cy="40005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10300" y="3429446"/>
            <a:ext cx="1619250" cy="40005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258175" y="3429446"/>
            <a:ext cx="1790700" cy="40005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81000" y="4210496"/>
            <a:ext cx="11430000" cy="1726704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381000" y="228600"/>
            <a:ext cx="114300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212529"/>
                </a:solidFill>
              </a:rPr>
              <a:t>결론: AI 시대의 새로운 실무 방법론</a:t>
            </a:r>
            <a:endParaRPr lang="en-US" sz="2100" dirty="0"/>
          </a:p>
        </p:txBody>
      </p:sp>
      <p:sp>
        <p:nvSpPr>
          <p:cNvPr id="19" name="Text 1"/>
          <p:cNvSpPr/>
          <p:nvPr/>
        </p:nvSpPr>
        <p:spPr>
          <a:xfrm>
            <a:off x="381000" y="586680"/>
            <a:ext cx="114300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AI 가용성 극대화를 위한 '맥락 구조화'와 '절차 설계'의 중요성</a:t>
            </a:r>
            <a:endParaRPr lang="en-US" sz="1050" dirty="0"/>
          </a:p>
        </p:txBody>
      </p:sp>
      <p:sp>
        <p:nvSpPr>
          <p:cNvPr id="20" name="Text 2"/>
          <p:cNvSpPr/>
          <p:nvPr/>
        </p:nvSpPr>
        <p:spPr>
          <a:xfrm>
            <a:off x="923925" y="1205805"/>
            <a:ext cx="330327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C00000"/>
                </a:solidFill>
              </a:rPr>
              <a:t>맥락의 구조화 (Context)</a:t>
            </a:r>
            <a:endParaRPr lang="en-US" sz="1275" dirty="0"/>
          </a:p>
        </p:txBody>
      </p:sp>
      <p:sp>
        <p:nvSpPr>
          <p:cNvPr id="21" name="Text 3"/>
          <p:cNvSpPr/>
          <p:nvPr/>
        </p:nvSpPr>
        <p:spPr>
          <a:xfrm>
            <a:off x="752475" y="1562993"/>
            <a:ext cx="3206800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212529"/>
                </a:solidFill>
              </a:rPr>
              <a:t>단순 프롬프트가 아닌 Markdown 기반의 업무 규칙 체계 구축</a:t>
            </a:r>
            <a:endParaRPr lang="en-US" sz="1050" dirty="0"/>
          </a:p>
        </p:txBody>
      </p:sp>
      <p:sp>
        <p:nvSpPr>
          <p:cNvPr id="22" name="Text 4"/>
          <p:cNvSpPr/>
          <p:nvPr/>
        </p:nvSpPr>
        <p:spPr>
          <a:xfrm>
            <a:off x="752475" y="2065734"/>
            <a:ext cx="3206800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212529"/>
                </a:solidFill>
              </a:rPr>
              <a:t>Global/Local Rules를 통한 AI의 행동 경계(Boundary) 설정</a:t>
            </a:r>
            <a:endParaRPr lang="en-US" sz="1050" dirty="0"/>
          </a:p>
        </p:txBody>
      </p:sp>
      <p:sp>
        <p:nvSpPr>
          <p:cNvPr id="23" name="Text 5"/>
          <p:cNvSpPr/>
          <p:nvPr/>
        </p:nvSpPr>
        <p:spPr>
          <a:xfrm>
            <a:off x="752475" y="2568476"/>
            <a:ext cx="544068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212529"/>
                </a:solidFill>
              </a:rPr>
              <a:t>AGENTS.md를 활용한 인간-AI 간의 명시적 계약서 작성</a:t>
            </a:r>
            <a:endParaRPr lang="en-US" sz="1050" dirty="0"/>
          </a:p>
        </p:txBody>
      </p:sp>
      <p:sp>
        <p:nvSpPr>
          <p:cNvPr id="24" name="Text 6"/>
          <p:cNvSpPr/>
          <p:nvPr/>
        </p:nvSpPr>
        <p:spPr>
          <a:xfrm>
            <a:off x="4797475" y="1205805"/>
            <a:ext cx="369189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C00000"/>
                </a:solidFill>
              </a:rPr>
              <a:t>절차의 모듈화 (Execution)</a:t>
            </a:r>
            <a:endParaRPr lang="en-US" sz="1275" dirty="0"/>
          </a:p>
        </p:txBody>
      </p:sp>
      <p:sp>
        <p:nvSpPr>
          <p:cNvPr id="25" name="Text 7"/>
          <p:cNvSpPr/>
          <p:nvPr/>
        </p:nvSpPr>
        <p:spPr>
          <a:xfrm>
            <a:off x="4626025" y="1562993"/>
            <a:ext cx="512064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212529"/>
                </a:solidFill>
              </a:rPr>
              <a:t>반복되는 업무를 Skillset과 Workflow로 자산화</a:t>
            </a:r>
            <a:endParaRPr lang="en-US" sz="1050" dirty="0"/>
          </a:p>
        </p:txBody>
      </p:sp>
      <p:sp>
        <p:nvSpPr>
          <p:cNvPr id="26" name="Text 8"/>
          <p:cNvSpPr/>
          <p:nvPr/>
        </p:nvSpPr>
        <p:spPr>
          <a:xfrm>
            <a:off x="4626025" y="1852464"/>
            <a:ext cx="416052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212529"/>
                </a:solidFill>
              </a:rPr>
              <a:t>MCP 서버 등을 활용한 도구 활용 능력의 확장</a:t>
            </a:r>
            <a:endParaRPr lang="en-US" sz="1050" dirty="0"/>
          </a:p>
        </p:txBody>
      </p:sp>
      <p:sp>
        <p:nvSpPr>
          <p:cNvPr id="27" name="Text 9"/>
          <p:cNvSpPr/>
          <p:nvPr/>
        </p:nvSpPr>
        <p:spPr>
          <a:xfrm>
            <a:off x="4626025" y="2141934"/>
            <a:ext cx="400050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212529"/>
                </a:solidFill>
              </a:rPr>
              <a:t>중단 조건과 검토 단계가 명확한 프로세스 설계</a:t>
            </a:r>
            <a:endParaRPr lang="en-US" sz="1050" dirty="0"/>
          </a:p>
        </p:txBody>
      </p:sp>
      <p:sp>
        <p:nvSpPr>
          <p:cNvPr id="28" name="Text 10"/>
          <p:cNvSpPr/>
          <p:nvPr/>
        </p:nvSpPr>
        <p:spPr>
          <a:xfrm>
            <a:off x="8671024" y="1205805"/>
            <a:ext cx="330327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C00000"/>
                </a:solidFill>
              </a:rPr>
              <a:t>지속적 개선 (Feedback)</a:t>
            </a:r>
            <a:endParaRPr lang="en-US" sz="1275" dirty="0"/>
          </a:p>
        </p:txBody>
      </p:sp>
      <p:sp>
        <p:nvSpPr>
          <p:cNvPr id="29" name="Text 11"/>
          <p:cNvSpPr/>
          <p:nvPr/>
        </p:nvSpPr>
        <p:spPr>
          <a:xfrm>
            <a:off x="8499574" y="1562993"/>
            <a:ext cx="36924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212529"/>
                </a:solidFill>
              </a:rPr>
              <a:t>Working Notes를 통한 작업 맥락의 연속성 확보</a:t>
            </a:r>
            <a:endParaRPr lang="en-US" sz="1050" dirty="0"/>
          </a:p>
        </p:txBody>
      </p:sp>
      <p:sp>
        <p:nvSpPr>
          <p:cNvPr id="30" name="Text 12"/>
          <p:cNvSpPr/>
          <p:nvPr/>
        </p:nvSpPr>
        <p:spPr>
          <a:xfrm>
            <a:off x="8499574" y="1852464"/>
            <a:ext cx="36924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212529"/>
                </a:solidFill>
              </a:rPr>
              <a:t>Human-in-the-loop: 에이전트 결과물의 상시 검증</a:t>
            </a:r>
            <a:endParaRPr lang="en-US" sz="1050" dirty="0"/>
          </a:p>
        </p:txBody>
      </p:sp>
      <p:sp>
        <p:nvSpPr>
          <p:cNvPr id="31" name="Text 13"/>
          <p:cNvSpPr/>
          <p:nvPr/>
        </p:nvSpPr>
        <p:spPr>
          <a:xfrm>
            <a:off x="8499574" y="2141934"/>
            <a:ext cx="36924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212529"/>
                </a:solidFill>
              </a:rPr>
              <a:t>피드백을 통한 규칙(Rules)의 고도화 및 재현성 강화</a:t>
            </a:r>
            <a:endParaRPr lang="en-US" sz="1050" dirty="0"/>
          </a:p>
        </p:txBody>
      </p:sp>
      <p:sp>
        <p:nvSpPr>
          <p:cNvPr id="32" name="Text 14"/>
          <p:cNvSpPr/>
          <p:nvPr/>
        </p:nvSpPr>
        <p:spPr>
          <a:xfrm>
            <a:off x="2286000" y="3429446"/>
            <a:ext cx="72482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</a:rPr>
              <a:t>Rules</a:t>
            </a:r>
            <a:endParaRPr lang="en-US" sz="1500" dirty="0"/>
          </a:p>
        </p:txBody>
      </p:sp>
      <p:sp>
        <p:nvSpPr>
          <p:cNvPr id="33" name="Text 15"/>
          <p:cNvSpPr/>
          <p:nvPr/>
        </p:nvSpPr>
        <p:spPr>
          <a:xfrm>
            <a:off x="3067050" y="3465165"/>
            <a:ext cx="26289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588"/>
              </a:lnSpc>
              <a:buNone/>
            </a:pPr>
            <a:r>
              <a:rPr lang="en-US" sz="1725" b="1" dirty="0">
                <a:solidFill>
                  <a:srgbClr val="C00000"/>
                </a:solidFill>
              </a:rPr>
              <a:t>+</a:t>
            </a:r>
            <a:endParaRPr lang="en-US" sz="1725" dirty="0"/>
          </a:p>
        </p:txBody>
      </p:sp>
      <p:sp>
        <p:nvSpPr>
          <p:cNvPr id="34" name="Text 16"/>
          <p:cNvSpPr/>
          <p:nvPr/>
        </p:nvSpPr>
        <p:spPr>
          <a:xfrm>
            <a:off x="3495675" y="3429446"/>
            <a:ext cx="85073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</a:rPr>
              <a:t>Skills</a:t>
            </a:r>
            <a:endParaRPr lang="en-US" sz="1500" dirty="0"/>
          </a:p>
        </p:txBody>
      </p:sp>
      <p:sp>
        <p:nvSpPr>
          <p:cNvPr id="35" name="Text 17"/>
          <p:cNvSpPr/>
          <p:nvPr/>
        </p:nvSpPr>
        <p:spPr>
          <a:xfrm>
            <a:off x="4248150" y="3465165"/>
            <a:ext cx="26289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588"/>
              </a:lnSpc>
              <a:buNone/>
            </a:pPr>
            <a:r>
              <a:rPr lang="en-US" sz="1725" b="1" dirty="0">
                <a:solidFill>
                  <a:srgbClr val="C00000"/>
                </a:solidFill>
              </a:rPr>
              <a:t>+</a:t>
            </a:r>
            <a:endParaRPr lang="en-US" sz="1725" dirty="0"/>
          </a:p>
        </p:txBody>
      </p:sp>
      <p:sp>
        <p:nvSpPr>
          <p:cNvPr id="36" name="Text 18"/>
          <p:cNvSpPr/>
          <p:nvPr/>
        </p:nvSpPr>
        <p:spPr>
          <a:xfrm>
            <a:off x="4676775" y="3429446"/>
            <a:ext cx="158624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</a:rPr>
              <a:t>Workflows</a:t>
            </a:r>
            <a:endParaRPr lang="en-US" sz="1500" dirty="0"/>
          </a:p>
        </p:txBody>
      </p:sp>
      <p:sp>
        <p:nvSpPr>
          <p:cNvPr id="37" name="Text 19"/>
          <p:cNvSpPr/>
          <p:nvPr/>
        </p:nvSpPr>
        <p:spPr>
          <a:xfrm>
            <a:off x="5924550" y="3465165"/>
            <a:ext cx="26289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588"/>
              </a:lnSpc>
              <a:buNone/>
            </a:pPr>
            <a:r>
              <a:rPr lang="en-US" sz="1725" b="1" dirty="0">
                <a:solidFill>
                  <a:srgbClr val="C00000"/>
                </a:solidFill>
              </a:rPr>
              <a:t>+</a:t>
            </a:r>
            <a:endParaRPr lang="en-US" sz="1725" dirty="0"/>
          </a:p>
        </p:txBody>
      </p:sp>
      <p:sp>
        <p:nvSpPr>
          <p:cNvPr id="38" name="Text 20"/>
          <p:cNvSpPr/>
          <p:nvPr/>
        </p:nvSpPr>
        <p:spPr>
          <a:xfrm>
            <a:off x="6353175" y="3429446"/>
            <a:ext cx="244736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</a:rPr>
              <a:t>Working Notes</a:t>
            </a:r>
            <a:endParaRPr lang="en-US" sz="1500" dirty="0"/>
          </a:p>
        </p:txBody>
      </p:sp>
      <p:sp>
        <p:nvSpPr>
          <p:cNvPr id="39" name="Text 21"/>
          <p:cNvSpPr/>
          <p:nvPr/>
        </p:nvSpPr>
        <p:spPr>
          <a:xfrm>
            <a:off x="7972425" y="3465165"/>
            <a:ext cx="26289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588"/>
              </a:lnSpc>
              <a:buNone/>
            </a:pPr>
            <a:r>
              <a:rPr lang="en-US" sz="1725" b="1" dirty="0">
                <a:solidFill>
                  <a:srgbClr val="C00000"/>
                </a:solidFill>
              </a:rPr>
              <a:t>=</a:t>
            </a:r>
            <a:endParaRPr lang="en-US" sz="1725" dirty="0"/>
          </a:p>
        </p:txBody>
      </p:sp>
      <p:sp>
        <p:nvSpPr>
          <p:cNvPr id="40" name="Text 22"/>
          <p:cNvSpPr/>
          <p:nvPr/>
        </p:nvSpPr>
        <p:spPr>
          <a:xfrm>
            <a:off x="8401050" y="3429446"/>
            <a:ext cx="288181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</a:rPr>
              <a:t>Agentic Harness</a:t>
            </a:r>
            <a:endParaRPr lang="en-US" sz="1500" dirty="0"/>
          </a:p>
        </p:txBody>
      </p:sp>
      <p:sp>
        <p:nvSpPr>
          <p:cNvPr id="41" name="Text 23"/>
          <p:cNvSpPr/>
          <p:nvPr/>
        </p:nvSpPr>
        <p:spPr>
          <a:xfrm>
            <a:off x="666750" y="4439096"/>
            <a:ext cx="108585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spc="120" kern="0" dirty="0">
                <a:solidFill>
                  <a:srgbClr val="C00000"/>
                </a:solidFill>
              </a:rPr>
              <a:t>KEY TAKEAWAY</a:t>
            </a:r>
            <a:endParaRPr lang="en-US" sz="1050" dirty="0"/>
          </a:p>
        </p:txBody>
      </p:sp>
      <p:sp>
        <p:nvSpPr>
          <p:cNvPr id="42" name="Text 24"/>
          <p:cNvSpPr/>
          <p:nvPr/>
        </p:nvSpPr>
        <p:spPr>
          <a:xfrm>
            <a:off x="666750" y="4715321"/>
            <a:ext cx="10858500" cy="69324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730"/>
              </a:lnSpc>
              <a:buNone/>
            </a:pPr>
            <a:r>
              <a:rPr lang="en-US" sz="1950" b="1" dirty="0">
                <a:solidFill>
                  <a:srgbClr val="212529"/>
                </a:solidFill>
              </a:rPr>
              <a:t>"AI를 잘 쓰는 것보다 중요한 것은,</a:t>
            </a:r>
            <a:pPr algn="ctr" indent="0" marL="0">
              <a:lnSpc>
                <a:spcPts val="2730"/>
              </a:lnSpc>
              <a:buNone/>
            </a:pPr>
            <a:r>
              <a:rPr lang="en-US" sz="1950" b="1" dirty="0">
                <a:solidFill>
                  <a:srgbClr val="212529"/>
                </a:solidFill>
              </a:rPr>
              <a:t>
</a:t>
            </a:r>
            <a:pPr algn="ctr" indent="0" marL="0">
              <a:lnSpc>
                <a:spcPts val="2730"/>
              </a:lnSpc>
              <a:buNone/>
            </a:pPr>
            <a:r>
              <a:rPr lang="en-US" sz="1950" b="1" dirty="0">
                <a:solidFill>
                  <a:srgbClr val="212529"/>
                </a:solidFill>
              </a:rPr>
              <a:t>AI가 참조할 수 있는 </a:t>
            </a:r>
            <a:pPr algn="ctr" indent="0" marL="0">
              <a:lnSpc>
                <a:spcPts val="2730"/>
              </a:lnSpc>
              <a:buNone/>
            </a:pPr>
            <a:r>
              <a:rPr lang="en-US" sz="1950" b="1" dirty="0">
                <a:solidFill>
                  <a:srgbClr val="C00000"/>
                </a:solidFill>
              </a:rPr>
              <a:t>나의 업무 맥락과 절차를 잘 구조화</a:t>
            </a:r>
            <a:pPr algn="ctr" indent="0" marL="0">
              <a:lnSpc>
                <a:spcPts val="2730"/>
              </a:lnSpc>
              <a:buNone/>
            </a:pPr>
            <a:r>
              <a:rPr lang="en-US" sz="1950" b="1" dirty="0">
                <a:solidFill>
                  <a:srgbClr val="212529"/>
                </a:solidFill>
              </a:rPr>
              <a:t>하는 것이다."</a:t>
            </a:r>
            <a:endParaRPr lang="en-US" sz="1950" dirty="0"/>
          </a:p>
        </p:txBody>
      </p:sp>
      <p:sp>
        <p:nvSpPr>
          <p:cNvPr id="43" name="Text 25"/>
          <p:cNvSpPr/>
          <p:nvPr/>
        </p:nvSpPr>
        <p:spPr>
          <a:xfrm>
            <a:off x="666750" y="5522863"/>
            <a:ext cx="1085850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1B5E20"/>
                </a:solidFill>
              </a:rPr>
              <a:t>* Cline은 단순한 코딩 도우미를 넘어, 이러한 구조를 실행하는 '워크플로우 하네스' 역할을 수행합니다.</a:t>
            </a:r>
            <a:endParaRPr lang="en-US" sz="975" dirty="0"/>
          </a:p>
        </p:txBody>
      </p:sp>
      <p:sp>
        <p:nvSpPr>
          <p:cNvPr id="44" name="Text 26"/>
          <p:cNvSpPr/>
          <p:nvPr/>
        </p:nvSpPr>
        <p:spPr>
          <a:xfrm>
            <a:off x="381000" y="6242000"/>
            <a:ext cx="11811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C757D"/>
                </a:solidFill>
              </a:rPr>
              <a:t>Source: From Prompt to Workflow Methodology Guide (2026) | VS Code + Cline + On-premise LLM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86705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148209"/>
            <a:ext cx="5572125" cy="2205038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" y="1338709"/>
            <a:ext cx="5095875" cy="319088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25" y="1381423"/>
            <a:ext cx="190500" cy="157311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125" y="1772096"/>
            <a:ext cx="166688" cy="14094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" y="2267396"/>
            <a:ext cx="166688" cy="14094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9125" y="2762696"/>
            <a:ext cx="166688" cy="14094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1000" y="3505646"/>
            <a:ext cx="5572125" cy="1709738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9125" y="3696146"/>
            <a:ext cx="5095875" cy="319088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9125" y="3738860"/>
            <a:ext cx="190500" cy="157311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9125" y="4129534"/>
            <a:ext cx="166688" cy="14094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9125" y="4624834"/>
            <a:ext cx="166688" cy="14094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38875" y="1067246"/>
            <a:ext cx="5572125" cy="2395538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77000" y="1257746"/>
            <a:ext cx="5095875" cy="319088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77000" y="1300460"/>
            <a:ext cx="190500" cy="157311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77000" y="1691134"/>
            <a:ext cx="166688" cy="14094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77000" y="2376934"/>
            <a:ext cx="166688" cy="14094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77000" y="2872234"/>
            <a:ext cx="166688" cy="14094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238875" y="3586609"/>
            <a:ext cx="5572125" cy="1709738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77000" y="3777109"/>
            <a:ext cx="5095875" cy="319088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77000" y="3819823"/>
            <a:ext cx="190500" cy="157311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477000" y="4210496"/>
            <a:ext cx="166688" cy="140940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477000" y="4705796"/>
            <a:ext cx="166688" cy="140940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81000" y="5634038"/>
            <a:ext cx="11430000" cy="723900"/>
          </a:xfrm>
          <a:prstGeom prst="rect">
            <a:avLst/>
          </a:prstGeom>
        </p:spPr>
      </p:pic>
      <p:pic>
        <p:nvPicPr>
          <p:cNvPr id="27" name="Image 25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71500" y="5757863"/>
            <a:ext cx="476250" cy="476250"/>
          </a:xfrm>
          <a:prstGeom prst="rect">
            <a:avLst/>
          </a:prstGeom>
        </p:spPr>
      </p:pic>
      <p:pic>
        <p:nvPicPr>
          <p:cNvPr id="28" name="Image 26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72703" y="5883473"/>
            <a:ext cx="273844" cy="224879"/>
          </a:xfrm>
          <a:prstGeom prst="rect">
            <a:avLst/>
          </a:prstGeom>
        </p:spPr>
      </p:pic>
      <p:sp>
        <p:nvSpPr>
          <p:cNvPr id="29" name="Text 0"/>
          <p:cNvSpPr/>
          <p:nvPr/>
        </p:nvSpPr>
        <p:spPr>
          <a:xfrm>
            <a:off x="381000" y="180975"/>
            <a:ext cx="114300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212529"/>
                </a:solidFill>
              </a:rPr>
              <a:t>거버넌스 및 리스크 관리: 책임 있는 AI 사용</a:t>
            </a:r>
            <a:endParaRPr lang="en-US" sz="2100" dirty="0"/>
          </a:p>
        </p:txBody>
      </p:sp>
      <p:sp>
        <p:nvSpPr>
          <p:cNvPr id="30" name="Text 1"/>
          <p:cNvSpPr/>
          <p:nvPr/>
        </p:nvSpPr>
        <p:spPr>
          <a:xfrm>
            <a:off x="381000" y="529530"/>
            <a:ext cx="114300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AI 에이전트의 활동 경계를 설정하고 발생 가능한 리스크를 관리하며 책임감 있게 기술을 활용하는 방안을 제시합니다.</a:t>
            </a:r>
            <a:endParaRPr lang="en-US" sz="1050" dirty="0"/>
          </a:p>
        </p:txBody>
      </p:sp>
      <p:sp>
        <p:nvSpPr>
          <p:cNvPr id="31" name="Text 2"/>
          <p:cNvSpPr/>
          <p:nvPr/>
        </p:nvSpPr>
        <p:spPr>
          <a:xfrm>
            <a:off x="923925" y="1338709"/>
            <a:ext cx="505206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212529"/>
                </a:solidFill>
              </a:rPr>
              <a:t>활동 경계 및 권한 제어 (Guardrails)</a:t>
            </a:r>
            <a:endParaRPr lang="en-US" sz="1275" dirty="0"/>
          </a:p>
        </p:txBody>
      </p:sp>
      <p:sp>
        <p:nvSpPr>
          <p:cNvPr id="32" name="Text 3"/>
          <p:cNvSpPr/>
          <p:nvPr/>
        </p:nvSpPr>
        <p:spPr>
          <a:xfrm>
            <a:off x="881063" y="1772096"/>
            <a:ext cx="35052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212529"/>
                </a:solidFill>
              </a:rPr>
              <a:t>최소 권한 원칙 (Principle of Least Privilege)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212529"/>
                </a:solidFill>
              </a:rPr>
              <a:t>
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212529"/>
                </a:solidFill>
              </a:rPr>
              <a:t>에이전트의 파일 시스템 접근 범위를 특정 프로젝트 디렉토리로 한정</a:t>
            </a:r>
            <a:endParaRPr lang="en-US" sz="1050" dirty="0"/>
          </a:p>
        </p:txBody>
      </p:sp>
      <p:sp>
        <p:nvSpPr>
          <p:cNvPr id="33" name="Text 4"/>
          <p:cNvSpPr/>
          <p:nvPr/>
        </p:nvSpPr>
        <p:spPr>
          <a:xfrm>
            <a:off x="881063" y="2267396"/>
            <a:ext cx="36576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212529"/>
                </a:solidFill>
              </a:rPr>
              <a:t>실행 승인 루프 (Human-in-the-loop)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212529"/>
                </a:solidFill>
              </a:rPr>
              <a:t>
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212529"/>
                </a:solidFill>
              </a:rPr>
              <a:t>터미널 명령 실행 및 파일 쓰기 작업 전 반드시 인간의 명시적 승인 필요</a:t>
            </a:r>
            <a:endParaRPr lang="en-US" sz="1050" dirty="0"/>
          </a:p>
        </p:txBody>
      </p:sp>
      <p:sp>
        <p:nvSpPr>
          <p:cNvPr id="34" name="Text 5"/>
          <p:cNvSpPr/>
          <p:nvPr/>
        </p:nvSpPr>
        <p:spPr>
          <a:xfrm>
            <a:off x="881063" y="2762696"/>
            <a:ext cx="34480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212529"/>
                </a:solidFill>
              </a:rPr>
              <a:t>온프레미스 격리 (On-premise Isolation)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212529"/>
                </a:solidFill>
              </a:rPr>
              <a:t>
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212529"/>
                </a:solidFill>
              </a:rPr>
              <a:t>외부망 차단 환경에서 LLM을 구동하여 데이터 유출 경로 원천 봉쇄</a:t>
            </a:r>
            <a:endParaRPr lang="en-US" sz="1050" dirty="0"/>
          </a:p>
        </p:txBody>
      </p:sp>
      <p:sp>
        <p:nvSpPr>
          <p:cNvPr id="35" name="Text 6"/>
          <p:cNvSpPr/>
          <p:nvPr/>
        </p:nvSpPr>
        <p:spPr>
          <a:xfrm>
            <a:off x="923925" y="3696146"/>
            <a:ext cx="524637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212529"/>
                </a:solidFill>
              </a:rPr>
              <a:t>투명성 및 감사 가능성 (Auditability)</a:t>
            </a:r>
            <a:endParaRPr lang="en-US" sz="1275" dirty="0"/>
          </a:p>
        </p:txBody>
      </p:sp>
      <p:sp>
        <p:nvSpPr>
          <p:cNvPr id="36" name="Text 7"/>
          <p:cNvSpPr/>
          <p:nvPr/>
        </p:nvSpPr>
        <p:spPr>
          <a:xfrm>
            <a:off x="881063" y="4129534"/>
            <a:ext cx="38481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212529"/>
                </a:solidFill>
              </a:rPr>
              <a:t>작업 로그 아카이빙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212529"/>
                </a:solidFill>
              </a:rPr>
              <a:t>
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212529"/>
                </a:solidFill>
              </a:rPr>
              <a:t>Cline의 모든 대화 기록 및 실행 히스토리를 Markdown 형태로 자동 저장</a:t>
            </a:r>
            <a:endParaRPr lang="en-US" sz="1050" dirty="0"/>
          </a:p>
        </p:txBody>
      </p:sp>
      <p:sp>
        <p:nvSpPr>
          <p:cNvPr id="37" name="Text 8"/>
          <p:cNvSpPr/>
          <p:nvPr/>
        </p:nvSpPr>
        <p:spPr>
          <a:xfrm>
            <a:off x="881063" y="4624834"/>
            <a:ext cx="3048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212529"/>
                </a:solidFill>
              </a:rPr>
              <a:t>출처 확인 (Provenance)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212529"/>
                </a:solidFill>
              </a:rPr>
              <a:t>
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212529"/>
                </a:solidFill>
              </a:rPr>
              <a:t>생성된 코드나 문서의 근거가 되는 참조 문서를 명확히 기록</a:t>
            </a:r>
            <a:endParaRPr lang="en-US" sz="1050" dirty="0"/>
          </a:p>
        </p:txBody>
      </p:sp>
      <p:sp>
        <p:nvSpPr>
          <p:cNvPr id="38" name="Text 9"/>
          <p:cNvSpPr/>
          <p:nvPr/>
        </p:nvSpPr>
        <p:spPr>
          <a:xfrm>
            <a:off x="6781800" y="1257746"/>
            <a:ext cx="272034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212529"/>
                </a:solidFill>
              </a:rPr>
              <a:t>리스크 식별 및 대응 전략</a:t>
            </a:r>
            <a:endParaRPr lang="en-US" sz="1275" dirty="0"/>
          </a:p>
        </p:txBody>
      </p:sp>
      <p:sp>
        <p:nvSpPr>
          <p:cNvPr id="39" name="Text 10"/>
          <p:cNvSpPr/>
          <p:nvPr/>
        </p:nvSpPr>
        <p:spPr>
          <a:xfrm>
            <a:off x="6738938" y="1691134"/>
            <a:ext cx="389572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212529"/>
                </a:solidFill>
              </a:rPr>
              <a:t>할루시네이션 및 모델 표류 (Drift)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212529"/>
                </a:solidFill>
              </a:rPr>
              <a:t>
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212529"/>
                </a:solidFill>
              </a:rPr>
              <a:t>정기적인 Expert Verification 단계를 워크플로우에 삽입하여 결과물 검증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B5E20"/>
                </a:solidFill>
              </a:rPr>
              <a:t>※ Working Notes를 활용한 중간 결과물 검토 필수</a:t>
            </a:r>
            <a:endParaRPr lang="en-US" sz="1050" dirty="0"/>
          </a:p>
        </p:txBody>
      </p:sp>
      <p:sp>
        <p:nvSpPr>
          <p:cNvPr id="40" name="Text 11"/>
          <p:cNvSpPr/>
          <p:nvPr/>
        </p:nvSpPr>
        <p:spPr>
          <a:xfrm>
            <a:off x="6738938" y="2376934"/>
            <a:ext cx="40767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212529"/>
                </a:solidFill>
              </a:rPr>
              <a:t>보안 취약점 코드 생성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212529"/>
                </a:solidFill>
              </a:rPr>
              <a:t>
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212529"/>
                </a:solidFill>
              </a:rPr>
              <a:t>AI 생성 코드에 대한 정적 분석(SAST) 도구 연동 및 보안 가이드라인 준수 확인</a:t>
            </a:r>
            <a:endParaRPr lang="en-US" sz="1050" dirty="0"/>
          </a:p>
        </p:txBody>
      </p:sp>
      <p:sp>
        <p:nvSpPr>
          <p:cNvPr id="41" name="Text 12"/>
          <p:cNvSpPr/>
          <p:nvPr/>
        </p:nvSpPr>
        <p:spPr>
          <a:xfrm>
            <a:off x="6738938" y="2872234"/>
            <a:ext cx="39528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212529"/>
                </a:solidFill>
              </a:rPr>
              <a:t>지적 재산권 및 라이선스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212529"/>
                </a:solidFill>
              </a:rPr>
              <a:t>
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212529"/>
                </a:solidFill>
              </a:rPr>
              <a:t>사용된 모델과 라이브러리의 라이선스 규정을 준수하도록 Rules 파일에 명시</a:t>
            </a:r>
            <a:endParaRPr lang="en-US" sz="1050" dirty="0"/>
          </a:p>
        </p:txBody>
      </p:sp>
      <p:sp>
        <p:nvSpPr>
          <p:cNvPr id="42" name="Text 13"/>
          <p:cNvSpPr/>
          <p:nvPr/>
        </p:nvSpPr>
        <p:spPr>
          <a:xfrm>
            <a:off x="6781800" y="3777109"/>
            <a:ext cx="174879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212529"/>
                </a:solidFill>
              </a:rPr>
              <a:t>사용자 책임 원칙</a:t>
            </a:r>
            <a:endParaRPr lang="en-US" sz="1275" dirty="0"/>
          </a:p>
        </p:txBody>
      </p:sp>
      <p:sp>
        <p:nvSpPr>
          <p:cNvPr id="43" name="Text 14"/>
          <p:cNvSpPr/>
          <p:nvPr/>
        </p:nvSpPr>
        <p:spPr>
          <a:xfrm>
            <a:off x="6738938" y="4210496"/>
            <a:ext cx="40767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212529"/>
                </a:solidFill>
              </a:rPr>
              <a:t>최종 검토 책임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212529"/>
                </a:solidFill>
              </a:rPr>
              <a:t>
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212529"/>
                </a:solidFill>
              </a:rPr>
              <a:t>AI는 보조 도구이며, 최종 결과물의 정확성과 보안에 대한 책임은 인간에게 있음</a:t>
            </a:r>
            <a:endParaRPr lang="en-US" sz="1050" dirty="0"/>
          </a:p>
        </p:txBody>
      </p:sp>
      <p:sp>
        <p:nvSpPr>
          <p:cNvPr id="44" name="Text 15"/>
          <p:cNvSpPr/>
          <p:nvPr/>
        </p:nvSpPr>
        <p:spPr>
          <a:xfrm>
            <a:off x="6738938" y="4705796"/>
            <a:ext cx="30099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212529"/>
                </a:solidFill>
              </a:rPr>
              <a:t>윤리적 사용 가이드라인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212529"/>
                </a:solidFill>
              </a:rPr>
              <a:t>
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212529"/>
                </a:solidFill>
              </a:rPr>
              <a:t>편향된 정보 생성 방지 및 사내 보안 규정 미준수 행위 금지</a:t>
            </a:r>
            <a:endParaRPr lang="en-US" sz="1050" dirty="0"/>
          </a:p>
        </p:txBody>
      </p:sp>
      <p:sp>
        <p:nvSpPr>
          <p:cNvPr id="45" name="Text 16"/>
          <p:cNvSpPr/>
          <p:nvPr/>
        </p:nvSpPr>
        <p:spPr>
          <a:xfrm>
            <a:off x="1238250" y="5772150"/>
            <a:ext cx="10382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핵심 전략: 강력한 성능일수록 더 정교한 '하네스(Harness)'로 통제하라</a:t>
            </a:r>
            <a:endParaRPr lang="en-US" sz="1200" dirty="0"/>
          </a:p>
        </p:txBody>
      </p:sp>
      <p:sp>
        <p:nvSpPr>
          <p:cNvPr id="46" name="Text 17"/>
          <p:cNvSpPr/>
          <p:nvPr/>
        </p:nvSpPr>
        <p:spPr>
          <a:xfrm>
            <a:off x="1238250" y="6019800"/>
            <a:ext cx="109537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CED4DA"/>
                </a:solidFill>
              </a:rPr>
              <a:t>기술적 통제(On-premise, Sandbox)와 절차적 통제(Rules, Human Review)의 결합이 안전한 업무 자동화의 기반입니다.</a:t>
            </a:r>
            <a:endParaRPr lang="en-US" sz="1050" dirty="0"/>
          </a:p>
        </p:txBody>
      </p:sp>
      <p:sp>
        <p:nvSpPr>
          <p:cNvPr id="47" name="Text 18"/>
          <p:cNvSpPr/>
          <p:nvPr/>
        </p:nvSpPr>
        <p:spPr>
          <a:xfrm>
            <a:off x="0" y="6605588"/>
            <a:ext cx="1181100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C757D"/>
                </a:solidFill>
              </a:rPr>
              <a:t>Source: LGD AI Agent Governance Framework (Proposed) | 2026-04-28</a:t>
            </a:r>
            <a:endParaRPr lang="en-US" sz="82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94863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062930"/>
            <a:ext cx="11430000" cy="5334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222921"/>
            <a:ext cx="261937" cy="21342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1774775"/>
            <a:ext cx="142875" cy="1143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2034480"/>
            <a:ext cx="6766620" cy="5524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4350" y="2148780"/>
            <a:ext cx="166688" cy="13722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1000" y="2663130"/>
            <a:ext cx="6766620" cy="5524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4350" y="2777430"/>
            <a:ext cx="166688" cy="13722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1000" y="3291780"/>
            <a:ext cx="6766620" cy="5524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4350" y="3406080"/>
            <a:ext cx="166688" cy="13722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00020" y="1811982"/>
            <a:ext cx="142875" cy="1143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300020" y="2071688"/>
            <a:ext cx="4510980" cy="527596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433370" y="2185988"/>
            <a:ext cx="166688" cy="13722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300020" y="2675483"/>
            <a:ext cx="4510980" cy="527596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433370" y="2789783"/>
            <a:ext cx="166688" cy="13722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300020" y="3279279"/>
            <a:ext cx="4510980" cy="527596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433370" y="3393579"/>
            <a:ext cx="166688" cy="13722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81000" y="3977580"/>
            <a:ext cx="2771775" cy="527596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14350" y="4153644"/>
            <a:ext cx="214313" cy="17532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267075" y="3977580"/>
            <a:ext cx="2771775" cy="527596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400425" y="4153644"/>
            <a:ext cx="214313" cy="175320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153150" y="3977580"/>
            <a:ext cx="2771775" cy="527596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286500" y="4153644"/>
            <a:ext cx="214313" cy="175320"/>
          </a:xfrm>
          <a:prstGeom prst="rect">
            <a:avLst/>
          </a:prstGeom>
        </p:spPr>
      </p:pic>
      <p:pic>
        <p:nvPicPr>
          <p:cNvPr id="27" name="Image 25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039225" y="3977580"/>
            <a:ext cx="2771775" cy="527596"/>
          </a:xfrm>
          <a:prstGeom prst="rect">
            <a:avLst/>
          </a:prstGeom>
        </p:spPr>
      </p:pic>
      <p:pic>
        <p:nvPicPr>
          <p:cNvPr id="28" name="Image 26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172575" y="4153644"/>
            <a:ext cx="214313" cy="175320"/>
          </a:xfrm>
          <a:prstGeom prst="rect">
            <a:avLst/>
          </a:prstGeom>
        </p:spPr>
      </p:pic>
      <p:pic>
        <p:nvPicPr>
          <p:cNvPr id="29" name="Image 27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268141" y="4718893"/>
            <a:ext cx="130969" cy="110728"/>
          </a:xfrm>
          <a:prstGeom prst="rect">
            <a:avLst/>
          </a:prstGeom>
        </p:spPr>
      </p:pic>
      <p:sp>
        <p:nvSpPr>
          <p:cNvPr id="30" name="Text 0"/>
          <p:cNvSpPr/>
          <p:nvPr/>
        </p:nvSpPr>
        <p:spPr>
          <a:xfrm>
            <a:off x="381000" y="285750"/>
            <a:ext cx="114300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2125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질의응답 및 마무리</a:t>
            </a:r>
            <a:endParaRPr lang="en-US" sz="2100" dirty="0"/>
          </a:p>
        </p:txBody>
      </p:sp>
      <p:sp>
        <p:nvSpPr>
          <p:cNvPr id="31" name="Text 1"/>
          <p:cNvSpPr/>
          <p:nvPr/>
        </p:nvSpPr>
        <p:spPr>
          <a:xfrm>
            <a:off x="381000" y="653355"/>
            <a:ext cx="114300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 내용을 정리하고 참석자들의 질문에 답변하며 세션을 마무리합니다.</a:t>
            </a:r>
            <a:endParaRPr lang="en-US" sz="1050" dirty="0"/>
          </a:p>
        </p:txBody>
      </p:sp>
      <p:sp>
        <p:nvSpPr>
          <p:cNvPr id="32" name="Text 2"/>
          <p:cNvSpPr/>
          <p:nvPr/>
        </p:nvSpPr>
        <p:spPr>
          <a:xfrm>
            <a:off x="1023938" y="1215330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125" b="1" dirty="0">
                <a:solidFill>
                  <a:srgbClr val="FF6B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AI를 잘 쓰는 것보다 중요한 것은, </a:t>
            </a:r>
            <a:pPr indent="0" marL="0">
              <a:lnSpc>
                <a:spcPts val="1800"/>
              </a:lnSpc>
              <a:buNone/>
            </a:pPr>
            <a:r>
              <a:rPr lang="en-US" sz="1125" b="1" dirty="0">
                <a:solidFill>
                  <a:srgbClr val="FF6B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AI가 참조할 수 있는 나의 업무 맥락과 절차를 잘 구조화하는 것</a:t>
            </a:r>
            <a:pPr indent="0" marL="0">
              <a:lnSpc>
                <a:spcPts val="1800"/>
              </a:lnSpc>
              <a:buNone/>
            </a:pPr>
            <a:r>
              <a:rPr lang="en-US" sz="1125" b="1" dirty="0">
                <a:solidFill>
                  <a:srgbClr val="FF6B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이다.</a:t>
            </a:r>
            <a:endParaRPr lang="en-US" sz="1125" dirty="0"/>
          </a:p>
        </p:txBody>
      </p:sp>
      <p:sp>
        <p:nvSpPr>
          <p:cNvPr id="33" name="Text 3"/>
          <p:cNvSpPr/>
          <p:nvPr/>
        </p:nvSpPr>
        <p:spPr>
          <a:xfrm>
            <a:off x="523875" y="1729680"/>
            <a:ext cx="67666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spc="60" kern="0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 핵심 요약 — KEY TAKEAWAYS</a:t>
            </a:r>
            <a:endParaRPr lang="en-US" sz="900" dirty="0"/>
          </a:p>
        </p:txBody>
      </p:sp>
      <p:sp>
        <p:nvSpPr>
          <p:cNvPr id="34" name="Text 4"/>
          <p:cNvSpPr/>
          <p:nvPr/>
        </p:nvSpPr>
        <p:spPr>
          <a:xfrm>
            <a:off x="795338" y="2129730"/>
            <a:ext cx="4600575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2125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Harness Engineering이 모델보다 중요하다</a:t>
            </a:r>
            <a:endParaRPr lang="en-US" sz="975" dirty="0"/>
          </a:p>
        </p:txBody>
      </p:sp>
      <p:sp>
        <p:nvSpPr>
          <p:cNvPr id="35" name="Text 5"/>
          <p:cNvSpPr/>
          <p:nvPr/>
        </p:nvSpPr>
        <p:spPr>
          <a:xfrm>
            <a:off x="795338" y="2334518"/>
            <a:ext cx="909447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Claude Code 분석 사례: 인프라 98.4%, AI 의사결정 1.6% — 모델을 감싸는 시스템 설계가 성패를 가른다.</a:t>
            </a:r>
            <a:endParaRPr lang="en-US" sz="825" dirty="0"/>
          </a:p>
        </p:txBody>
      </p:sp>
      <p:sp>
        <p:nvSpPr>
          <p:cNvPr id="36" name="Text 6"/>
          <p:cNvSpPr/>
          <p:nvPr/>
        </p:nvSpPr>
        <p:spPr>
          <a:xfrm>
            <a:off x="795338" y="2758380"/>
            <a:ext cx="564642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2125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Prompting → Workflow Engineering으로의 전환</a:t>
            </a:r>
            <a:endParaRPr lang="en-US" sz="975" dirty="0"/>
          </a:p>
        </p:txBody>
      </p:sp>
      <p:sp>
        <p:nvSpPr>
          <p:cNvPr id="37" name="Text 7"/>
          <p:cNvSpPr/>
          <p:nvPr/>
        </p:nvSpPr>
        <p:spPr>
          <a:xfrm>
            <a:off x="795338" y="2963168"/>
            <a:ext cx="94297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Rules + Skills + Workflows + Working Notes를 구조화해 에이전트가 참조할 수 있는 업무 맥락을 만든다.</a:t>
            </a:r>
            <a:endParaRPr lang="en-US" sz="825" dirty="0"/>
          </a:p>
        </p:txBody>
      </p:sp>
      <p:sp>
        <p:nvSpPr>
          <p:cNvPr id="38" name="Text 8"/>
          <p:cNvSpPr/>
          <p:nvPr/>
        </p:nvSpPr>
        <p:spPr>
          <a:xfrm>
            <a:off x="795338" y="3387030"/>
            <a:ext cx="52006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2125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On-premise + Human-in-the-loop 거버넌스</a:t>
            </a:r>
            <a:endParaRPr lang="en-US" sz="975" dirty="0"/>
          </a:p>
        </p:txBody>
      </p:sp>
      <p:sp>
        <p:nvSpPr>
          <p:cNvPr id="39" name="Text 9"/>
          <p:cNvSpPr/>
          <p:nvPr/>
        </p:nvSpPr>
        <p:spPr>
          <a:xfrm>
            <a:off x="795338" y="3591818"/>
            <a:ext cx="766953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보안·프라이버시·재현 가능성을 위한 온프레미스 LLM과, 에이전트 표류 방지를 위한 인간 검토 사이클이 필수.</a:t>
            </a:r>
            <a:endParaRPr lang="en-US" sz="825" dirty="0"/>
          </a:p>
        </p:txBody>
      </p:sp>
      <p:sp>
        <p:nvSpPr>
          <p:cNvPr id="40" name="Text 10"/>
          <p:cNvSpPr/>
          <p:nvPr/>
        </p:nvSpPr>
        <p:spPr>
          <a:xfrm>
            <a:off x="7442895" y="1766888"/>
            <a:ext cx="45109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spc="60" kern="0" dirty="0">
                <a:solidFill>
                  <a:srgbClr val="1B5E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 질의응답 안내</a:t>
            </a:r>
            <a:endParaRPr lang="en-US" sz="900" dirty="0"/>
          </a:p>
        </p:txBody>
      </p:sp>
      <p:sp>
        <p:nvSpPr>
          <p:cNvPr id="41" name="Text 11"/>
          <p:cNvSpPr/>
          <p:nvPr/>
        </p:nvSpPr>
        <p:spPr>
          <a:xfrm>
            <a:off x="7714357" y="2166938"/>
            <a:ext cx="26060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2125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자유 질의 — 기술·환경·적용 범위</a:t>
            </a:r>
            <a:endParaRPr lang="en-US" sz="900" dirty="0"/>
          </a:p>
        </p:txBody>
      </p:sp>
      <p:sp>
        <p:nvSpPr>
          <p:cNvPr id="42" name="Text 12"/>
          <p:cNvSpPr/>
          <p:nvPr/>
        </p:nvSpPr>
        <p:spPr>
          <a:xfrm>
            <a:off x="7714357" y="2357438"/>
            <a:ext cx="447764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B5E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Cline 설치, LLM 선택, 팀 도입 방법 등 실무 질문 환영</a:t>
            </a:r>
            <a:endParaRPr lang="en-US" sz="825" dirty="0"/>
          </a:p>
        </p:txBody>
      </p:sp>
      <p:sp>
        <p:nvSpPr>
          <p:cNvPr id="43" name="Text 13"/>
          <p:cNvSpPr/>
          <p:nvPr/>
        </p:nvSpPr>
        <p:spPr>
          <a:xfrm>
            <a:off x="7714357" y="2770733"/>
            <a:ext cx="28860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2125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보안·거버넌스 관련 질문</a:t>
            </a:r>
            <a:endParaRPr lang="en-US" sz="900" dirty="0"/>
          </a:p>
        </p:txBody>
      </p:sp>
      <p:sp>
        <p:nvSpPr>
          <p:cNvPr id="44" name="Text 14"/>
          <p:cNvSpPr/>
          <p:nvPr/>
        </p:nvSpPr>
        <p:spPr>
          <a:xfrm>
            <a:off x="7714357" y="2961233"/>
            <a:ext cx="447764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B5E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환경 구체 정보는 별도 확인 필요 — 사례 기반 시사점으로 답변</a:t>
            </a:r>
            <a:endParaRPr lang="en-US" sz="825" dirty="0"/>
          </a:p>
        </p:txBody>
      </p:sp>
      <p:sp>
        <p:nvSpPr>
          <p:cNvPr id="45" name="Text 15"/>
          <p:cNvSpPr/>
          <p:nvPr/>
        </p:nvSpPr>
        <p:spPr>
          <a:xfrm>
            <a:off x="7714357" y="3374529"/>
            <a:ext cx="32575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2125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Appendix 참조 가능</a:t>
            </a:r>
            <a:endParaRPr lang="en-US" sz="900" dirty="0"/>
          </a:p>
        </p:txBody>
      </p:sp>
      <p:sp>
        <p:nvSpPr>
          <p:cNvPr id="46" name="Text 16"/>
          <p:cNvSpPr/>
          <p:nvPr/>
        </p:nvSpPr>
        <p:spPr>
          <a:xfrm>
            <a:off x="7714357" y="3565029"/>
            <a:ext cx="447764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B5E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Global Rule · Local Rule · Daily Report · Git Workflow 예시 자료 수록</a:t>
            </a:r>
            <a:endParaRPr lang="en-US" sz="825" dirty="0"/>
          </a:p>
        </p:txBody>
      </p:sp>
      <p:sp>
        <p:nvSpPr>
          <p:cNvPr id="47" name="Text 17"/>
          <p:cNvSpPr/>
          <p:nvPr/>
        </p:nvSpPr>
        <p:spPr>
          <a:xfrm>
            <a:off x="823913" y="4072830"/>
            <a:ext cx="39776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2125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시작: Cline 설치 &amp; Global Rule 작성</a:t>
            </a:r>
            <a:endParaRPr lang="en-US" sz="900" dirty="0"/>
          </a:p>
        </p:txBody>
      </p:sp>
      <p:sp>
        <p:nvSpPr>
          <p:cNvPr id="48" name="Text 18"/>
          <p:cNvSpPr/>
          <p:nvPr/>
        </p:nvSpPr>
        <p:spPr>
          <a:xfrm>
            <a:off x="823913" y="4263330"/>
            <a:ext cx="264033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 당장 VS Code에서 시작 가능</a:t>
            </a:r>
            <a:endParaRPr lang="en-US" sz="825" dirty="0"/>
          </a:p>
        </p:txBody>
      </p:sp>
      <p:sp>
        <p:nvSpPr>
          <p:cNvPr id="49" name="Text 19"/>
          <p:cNvSpPr/>
          <p:nvPr/>
        </p:nvSpPr>
        <p:spPr>
          <a:xfrm>
            <a:off x="3709988" y="4072830"/>
            <a:ext cx="20574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2125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AGENTS.md 초안 작성</a:t>
            </a:r>
            <a:endParaRPr lang="en-US" sz="900" dirty="0"/>
          </a:p>
        </p:txBody>
      </p:sp>
      <p:sp>
        <p:nvSpPr>
          <p:cNvPr id="50" name="Text 20"/>
          <p:cNvSpPr/>
          <p:nvPr/>
        </p:nvSpPr>
        <p:spPr>
          <a:xfrm>
            <a:off x="3709988" y="4263330"/>
            <a:ext cx="213741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에이전트 역할·권한 범위 명문화</a:t>
            </a:r>
            <a:endParaRPr lang="en-US" sz="825" dirty="0"/>
          </a:p>
        </p:txBody>
      </p:sp>
      <p:sp>
        <p:nvSpPr>
          <p:cNvPr id="51" name="Text 21"/>
          <p:cNvSpPr/>
          <p:nvPr/>
        </p:nvSpPr>
        <p:spPr>
          <a:xfrm>
            <a:off x="6596063" y="4072830"/>
            <a:ext cx="30175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2125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반복 업무 하나를 Workflow로 전환</a:t>
            </a:r>
            <a:endParaRPr lang="en-US" sz="900" dirty="0"/>
          </a:p>
        </p:txBody>
      </p:sp>
      <p:sp>
        <p:nvSpPr>
          <p:cNvPr id="52" name="Text 22"/>
          <p:cNvSpPr/>
          <p:nvPr/>
        </p:nvSpPr>
        <p:spPr>
          <a:xfrm>
            <a:off x="6596063" y="4263330"/>
            <a:ext cx="22631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이메일 요약 또는 일일 보고서부터</a:t>
            </a:r>
            <a:endParaRPr lang="en-US" sz="825" dirty="0"/>
          </a:p>
        </p:txBody>
      </p:sp>
      <p:sp>
        <p:nvSpPr>
          <p:cNvPr id="53" name="Text 23"/>
          <p:cNvSpPr/>
          <p:nvPr/>
        </p:nvSpPr>
        <p:spPr>
          <a:xfrm>
            <a:off x="9482138" y="4072830"/>
            <a:ext cx="16459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2125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내 공유 및 자산화</a:t>
            </a:r>
            <a:endParaRPr lang="en-US" sz="900" dirty="0"/>
          </a:p>
        </p:txBody>
      </p:sp>
      <p:sp>
        <p:nvSpPr>
          <p:cNvPr id="54" name="Text 24"/>
          <p:cNvSpPr/>
          <p:nvPr/>
        </p:nvSpPr>
        <p:spPr>
          <a:xfrm>
            <a:off x="9482138" y="4263330"/>
            <a:ext cx="22631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검증된 워크플로우를 조직 지식으로</a:t>
            </a:r>
            <a:endParaRPr lang="en-US" sz="825" dirty="0"/>
          </a:p>
        </p:txBody>
      </p:sp>
      <p:sp>
        <p:nvSpPr>
          <p:cNvPr id="55" name="Text 25"/>
          <p:cNvSpPr/>
          <p:nvPr/>
        </p:nvSpPr>
        <p:spPr>
          <a:xfrm>
            <a:off x="2475309" y="4695676"/>
            <a:ext cx="74485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 발표 자료 및 Appendix 예시는 </a:t>
            </a:r>
            <a:pPr algn="ctr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2125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자료 확인 후</a:t>
            </a:r>
            <a:pPr algn="ctr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실제 환경에 맞게 조정하여 적용하십시오.  |  사례 기반 시사점으로 제공된 수치는 Claude Code 사례 연구에 한정됩니다.</a:t>
            </a:r>
            <a:endParaRPr lang="en-US" sz="82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04800"/>
            <a:ext cx="11620500" cy="1127671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584871"/>
            <a:ext cx="6457950" cy="4644479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1813471"/>
            <a:ext cx="5886450" cy="27622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1856333"/>
            <a:ext cx="114300" cy="1143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7750" y="1856333"/>
            <a:ext cx="114300" cy="1143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38250" y="1856333"/>
            <a:ext cx="114300" cy="1143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5200" y="1584871"/>
            <a:ext cx="4305300" cy="142116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05700" y="1860054"/>
            <a:ext cx="214313" cy="17532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15200" y="3196530"/>
            <a:ext cx="4305300" cy="142116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05700" y="3581251"/>
            <a:ext cx="214313" cy="17532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15200" y="4808190"/>
            <a:ext cx="4305300" cy="142116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505700" y="5083373"/>
            <a:ext cx="214313" cy="175320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1143000" y="609600"/>
            <a:ext cx="1104900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212529"/>
                </a:solidFill>
              </a:rPr>
              <a:t>Appendix: 예시 Markdown Global Rule</a:t>
            </a:r>
            <a:endParaRPr lang="en-US" sz="2400" dirty="0"/>
          </a:p>
        </p:txBody>
      </p:sp>
      <p:sp>
        <p:nvSpPr>
          <p:cNvPr id="16" name="Text 1"/>
          <p:cNvSpPr/>
          <p:nvPr/>
        </p:nvSpPr>
        <p:spPr>
          <a:xfrm>
            <a:off x="1143000" y="1051471"/>
            <a:ext cx="1047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C757D"/>
                </a:solidFill>
              </a:rPr>
              <a:t>모든 프로젝트에 공통으로 적용할 수 있는 전역 규칙의 실제 마크다운 작성 예시</a:t>
            </a:r>
            <a:endParaRPr lang="en-US" sz="1200" dirty="0"/>
          </a:p>
        </p:txBody>
      </p:sp>
      <p:sp>
        <p:nvSpPr>
          <p:cNvPr id="17" name="Text 2"/>
          <p:cNvSpPr/>
          <p:nvPr/>
        </p:nvSpPr>
        <p:spPr>
          <a:xfrm>
            <a:off x="1524000" y="1813471"/>
            <a:ext cx="35204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85858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.cline/rules/global.md</a:t>
            </a:r>
            <a:endParaRPr lang="en-US" sz="1050" dirty="0"/>
          </a:p>
        </p:txBody>
      </p:sp>
      <p:sp>
        <p:nvSpPr>
          <p:cNvPr id="18" name="Text 3"/>
          <p:cNvSpPr/>
          <p:nvPr/>
        </p:nvSpPr>
        <p:spPr>
          <a:xfrm>
            <a:off x="857250" y="2242096"/>
            <a:ext cx="5886450" cy="375865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125" b="1" dirty="0">
                <a:solidFill>
                  <a:srgbClr val="569CD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 Global Personas &amp; Rules</a:t>
            </a:r>
            <a:pPr indent="0" marL="0">
              <a:lnSpc>
                <a:spcPts val="1800"/>
              </a:lnSpc>
              <a:buNone/>
            </a:pPr>
            <a:r>
              <a:rPr lang="en-US" sz="1125" b="1" dirty="0">
                <a:solidFill>
                  <a:srgbClr val="569CD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## 1. Core Identity</a:t>
            </a:r>
            <a:pPr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CE91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</a:t>
            </a:r>
            <a:pPr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D4D4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당신은 사용자의 업무 효율을 극대화하는 </a:t>
            </a:r>
            <a:pPr indent="0" marL="0">
              <a:lnSpc>
                <a:spcPts val="1800"/>
              </a:lnSpc>
              <a:buNone/>
            </a:pPr>
            <a:r>
              <a:rPr lang="en-US" sz="1125" b="1" dirty="0">
                <a:solidFill>
                  <a:srgbClr val="DCDC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Agentic Assistant</a:t>
            </a:r>
            <a:pPr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D4D4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입니다.
</a:t>
            </a:r>
            <a:pPr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CE91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</a:t>
            </a:r>
            <a:pPr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D4D4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모든 답변은 한국어로 작성하며, 전문적이고 간결한 톤을 유지합니다.
</a:t>
            </a:r>
            <a:pPr indent="0" marL="0">
              <a:lnSpc>
                <a:spcPts val="1800"/>
              </a:lnSpc>
              <a:buNone/>
            </a:pPr>
            <a:r>
              <a:rPr lang="en-US" sz="1125" b="1" dirty="0">
                <a:solidFill>
                  <a:srgbClr val="569CD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## 2. Decision Boundaries</a:t>
            </a:r>
            <a:pPr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CE91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</a:t>
            </a:r>
            <a:pPr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D4D4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indent="0" marL="0">
              <a:lnSpc>
                <a:spcPts val="1800"/>
              </a:lnSpc>
              <a:buNone/>
            </a:pPr>
            <a:r>
              <a:rPr lang="en-US" sz="1125" b="1" dirty="0">
                <a:solidFill>
                  <a:srgbClr val="DCDC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Safety First:</a:t>
            </a:r>
            <a:pPr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D4D4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파일 삭제, 강제 푸시, 대량 데이터 수정 전에는 반드시 확인을 구합니다.
</a:t>
            </a:r>
            <a:pPr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CE91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</a:t>
            </a:r>
            <a:pPr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D4D4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indent="0" marL="0">
              <a:lnSpc>
                <a:spcPts val="1800"/>
              </a:lnSpc>
              <a:buNone/>
            </a:pPr>
            <a:r>
              <a:rPr lang="en-US" sz="1125" b="1" dirty="0">
                <a:solidFill>
                  <a:srgbClr val="DCDC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Context Awareness:</a:t>
            </a:r>
            <a:pPr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D4D4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현재 디렉토리의 `.clinerules`나 `AGENTS.md`를 최우선으로 참조합니다.
</a:t>
            </a:r>
            <a:pPr indent="0" marL="0">
              <a:lnSpc>
                <a:spcPts val="1800"/>
              </a:lnSpc>
              <a:buNone/>
            </a:pPr>
            <a:r>
              <a:rPr lang="en-US" sz="1125" b="1" dirty="0">
                <a:solidFill>
                  <a:srgbClr val="569CD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## 3. Communication Protocol</a:t>
            </a:r>
            <a:pPr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CE91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</a:t>
            </a:r>
            <a:pPr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D4D4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도구 사용 전: </a:t>
            </a:r>
            <a:pPr indent="0" marL="0">
              <a:lnSpc>
                <a:spcPts val="1800"/>
              </a:lnSpc>
              <a:buNone/>
            </a:pPr>
            <a:r>
              <a:rPr lang="en-US" sz="1125" i="1" dirty="0">
                <a:solidFill>
                  <a:srgbClr val="6A99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"작업 목적과 사용할 도구를 짧게 설명"</a:t>
            </a:r>
            <a:pPr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CE91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</a:t>
            </a:r>
            <a:pPr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D4D4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작업 완료 후: </a:t>
            </a:r>
            <a:pPr indent="0" marL="0">
              <a:lnSpc>
                <a:spcPts val="1800"/>
              </a:lnSpc>
              <a:buNone/>
            </a:pPr>
            <a:r>
              <a:rPr lang="en-US" sz="1125" i="1" dirty="0">
                <a:solidFill>
                  <a:srgbClr val="6A99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"변경된 사항을 리스트 형태로 요약 보고"</a:t>
            </a:r>
            <a:pPr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CE91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</a:t>
            </a:r>
            <a:pPr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D4D4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모호성 발생 시: 임의로 판단하지 말고 질문하여 의도를 파악합니다.</a:t>
            </a:r>
            <a:endParaRPr lang="en-US" sz="1125" dirty="0"/>
          </a:p>
        </p:txBody>
      </p:sp>
      <p:sp>
        <p:nvSpPr>
          <p:cNvPr id="19" name="Text 4"/>
          <p:cNvSpPr/>
          <p:nvPr/>
        </p:nvSpPr>
        <p:spPr>
          <a:xfrm>
            <a:off x="7815263" y="1819126"/>
            <a:ext cx="39243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12529"/>
                </a:solidFill>
              </a:rPr>
              <a:t>범용적 정체성 정의</a:t>
            </a:r>
            <a:endParaRPr lang="en-US" sz="1350" dirty="0"/>
          </a:p>
        </p:txBody>
      </p:sp>
      <p:sp>
        <p:nvSpPr>
          <p:cNvPr id="20" name="Text 5"/>
          <p:cNvSpPr/>
          <p:nvPr/>
        </p:nvSpPr>
        <p:spPr>
          <a:xfrm>
            <a:off x="7505700" y="2152501"/>
            <a:ext cx="39243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95057"/>
                </a:solidFill>
              </a:rPr>
              <a:t>에이전트가 어떤 프로젝트에서도 일관된 톤앤매너(한국어 사용, 전문적 태도)를 유지하도록 강제하는 기본 레이어입니다.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B5E20"/>
                </a:solidFill>
              </a:rPr>
              <a:t>※ LLM의 기본 시스템 프롬프트보다 높은 우선순위를 가집니다.</a:t>
            </a:r>
            <a:endParaRPr lang="en-US" sz="1050" dirty="0"/>
          </a:p>
        </p:txBody>
      </p:sp>
      <p:sp>
        <p:nvSpPr>
          <p:cNvPr id="21" name="Text 6"/>
          <p:cNvSpPr/>
          <p:nvPr/>
        </p:nvSpPr>
        <p:spPr>
          <a:xfrm>
            <a:off x="7815263" y="3540323"/>
            <a:ext cx="39243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12529"/>
                </a:solidFill>
              </a:rPr>
              <a:t>행동 경계 및 안전 장치</a:t>
            </a:r>
            <a:endParaRPr lang="en-US" sz="1350" dirty="0"/>
          </a:p>
        </p:txBody>
      </p:sp>
      <p:sp>
        <p:nvSpPr>
          <p:cNvPr id="22" name="Text 7"/>
          <p:cNvSpPr/>
          <p:nvPr/>
        </p:nvSpPr>
        <p:spPr>
          <a:xfrm>
            <a:off x="7505700" y="3873698"/>
            <a:ext cx="3924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95057"/>
                </a:solidFill>
              </a:rPr>
              <a:t>파괴적인 작업에 대한 사용자 승인 절차를 명시하여, 자동화 과정에서 발생할 수 있는 사고를 미연에 방지합니다.</a:t>
            </a:r>
            <a:endParaRPr lang="en-US" sz="1050" dirty="0"/>
          </a:p>
        </p:txBody>
      </p:sp>
      <p:sp>
        <p:nvSpPr>
          <p:cNvPr id="23" name="Text 8"/>
          <p:cNvSpPr/>
          <p:nvPr/>
        </p:nvSpPr>
        <p:spPr>
          <a:xfrm>
            <a:off x="7815263" y="5042446"/>
            <a:ext cx="39243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12529"/>
                </a:solidFill>
              </a:rPr>
              <a:t>커뮤니케이션 프로토콜</a:t>
            </a:r>
            <a:endParaRPr lang="en-US" sz="1350" dirty="0"/>
          </a:p>
        </p:txBody>
      </p:sp>
      <p:sp>
        <p:nvSpPr>
          <p:cNvPr id="24" name="Text 9"/>
          <p:cNvSpPr/>
          <p:nvPr/>
        </p:nvSpPr>
        <p:spPr>
          <a:xfrm>
            <a:off x="7505700" y="5375821"/>
            <a:ext cx="39243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95057"/>
                </a:solidFill>
              </a:rPr>
              <a:t>'생각-실행-보고'의 단계를 구조화하여 인간이 에이전트의 작업 과정을 실시간으로 모니터링하기 쉽게 만듭니다.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B5E20"/>
                </a:solidFill>
              </a:rPr>
              <a:t>※ Human-in-the-loop 구현의 핵심 지침입니다.</a:t>
            </a:r>
            <a:endParaRPr lang="en-US" sz="1050" dirty="0"/>
          </a:p>
        </p:txBody>
      </p:sp>
      <p:sp>
        <p:nvSpPr>
          <p:cNvPr id="25" name="Text 10"/>
          <p:cNvSpPr/>
          <p:nvPr/>
        </p:nvSpPr>
        <p:spPr>
          <a:xfrm>
            <a:off x="0" y="6534150"/>
            <a:ext cx="11620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C757D"/>
                </a:solidFill>
              </a:rPr>
              <a:t>Source: Agentic Workflow Best Practices for Cline &amp; VS Code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94863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348234"/>
            <a:ext cx="6686550" cy="45720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25" y="1586359"/>
            <a:ext cx="6210300" cy="2667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125" y="1622971"/>
            <a:ext cx="142875" cy="1143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" y="5520184"/>
            <a:ext cx="3821906" cy="261937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5325" y="5595789"/>
            <a:ext cx="154781" cy="12576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53300" y="2057846"/>
            <a:ext cx="4457700" cy="3152775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39050" y="2372171"/>
            <a:ext cx="214313" cy="214313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39050" y="3296096"/>
            <a:ext cx="214313" cy="214313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39050" y="4220021"/>
            <a:ext cx="214313" cy="241102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381000" y="285750"/>
            <a:ext cx="118110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212529"/>
                </a:solidFill>
              </a:rPr>
              <a:t>Appendix: 예시 Project-specific Local Rule</a:t>
            </a:r>
            <a:endParaRPr lang="en-US" sz="2100" dirty="0"/>
          </a:p>
        </p:txBody>
      </p:sp>
      <p:sp>
        <p:nvSpPr>
          <p:cNvPr id="15" name="Text 1"/>
          <p:cNvSpPr/>
          <p:nvPr/>
        </p:nvSpPr>
        <p:spPr>
          <a:xfrm>
            <a:off x="381000" y="653355"/>
            <a:ext cx="114300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특정 프로젝트의 성격과 요구사항에 맞춘 지역 규칙의 구체적인 작성 사례를 보여줍니다.</a:t>
            </a:r>
            <a:endParaRPr lang="en-US" sz="1050" dirty="0"/>
          </a:p>
        </p:txBody>
      </p:sp>
      <p:sp>
        <p:nvSpPr>
          <p:cNvPr id="16" name="Text 2"/>
          <p:cNvSpPr/>
          <p:nvPr/>
        </p:nvSpPr>
        <p:spPr>
          <a:xfrm>
            <a:off x="762000" y="1586359"/>
            <a:ext cx="16459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.clinerules</a:t>
            </a:r>
            <a:endParaRPr lang="en-US" sz="900" dirty="0"/>
          </a:p>
        </p:txBody>
      </p:sp>
      <p:sp>
        <p:nvSpPr>
          <p:cNvPr id="17" name="Text 3"/>
          <p:cNvSpPr/>
          <p:nvPr/>
        </p:nvSpPr>
        <p:spPr>
          <a:xfrm>
            <a:off x="6296025" y="1586359"/>
            <a:ext cx="10972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markdown</a:t>
            </a:r>
            <a:endParaRPr lang="en-US" sz="900" dirty="0"/>
          </a:p>
        </p:txBody>
      </p:sp>
      <p:sp>
        <p:nvSpPr>
          <p:cNvPr id="18" name="Text 4"/>
          <p:cNvSpPr/>
          <p:nvPr/>
        </p:nvSpPr>
        <p:spPr>
          <a:xfrm>
            <a:off x="619125" y="1995934"/>
            <a:ext cx="62103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125" b="1" dirty="0">
                <a:solidFill>
                  <a:srgbClr val="569CD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 Project: Smart-Inventory-Dashboard</a:t>
            </a:r>
            <a:pPr indent="0" marL="0">
              <a:lnSpc>
                <a:spcPts val="1800"/>
              </a:lnSpc>
              <a:buNone/>
            </a:pPr>
            <a:r>
              <a:rPr lang="en-US" sz="1125" b="1" dirty="0">
                <a:solidFill>
                  <a:srgbClr val="569CD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## Tech Stack Context</a:t>
            </a:r>
            <a:pPr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CE91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</a:t>
            </a:r>
            <a:pPr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D4D4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Backend: FastAPI (Python 3.11)
</a:t>
            </a:r>
            <a:pPr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CE91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</a:t>
            </a:r>
            <a:pPr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D4D4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Frontend: React with Tailwind CSS
</a:t>
            </a:r>
            <a:pPr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CE91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</a:t>
            </a:r>
            <a:pPr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D4D4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DB: PostgreSQL </a:t>
            </a:r>
            <a:pPr indent="0" marL="0">
              <a:lnSpc>
                <a:spcPts val="1800"/>
              </a:lnSpc>
              <a:buNone/>
            </a:pPr>
            <a:r>
              <a:rPr lang="en-US" sz="1125" i="1" dirty="0">
                <a:solidFill>
                  <a:srgbClr val="6A99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(On-premise internal instance)</a:t>
            </a:r>
            <a:pPr indent="0" marL="0">
              <a:lnSpc>
                <a:spcPts val="1800"/>
              </a:lnSpc>
              <a:buNone/>
            </a:pPr>
            <a:r>
              <a:rPr lang="en-US" sz="1125" b="1" dirty="0">
                <a:solidFill>
                  <a:srgbClr val="569CD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## Project Rules</a:t>
            </a:r>
            <a:pPr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CE91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</a:t>
            </a:r>
            <a:pPr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D4D4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C586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Naming:</a:t>
            </a:r>
            <a:pPr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D4D4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All API routes must use </a:t>
            </a:r>
            <a:pPr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C586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kebab-case</a:t>
            </a:r>
            <a:pPr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D4D4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
</a:t>
            </a:r>
            <a:pPr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CE91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</a:t>
            </a:r>
            <a:pPr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D4D4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C586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Security:</a:t>
            </a:r>
            <a:pPr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D4D4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Do NOT use external CDNs for JS/CSS.
</a:t>
            </a:r>
            <a:pPr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CE91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</a:t>
            </a:r>
            <a:pPr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D4D4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C586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Error Handling:</a:t>
            </a:r>
            <a:pPr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D4D4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Use the custom `AppException` class.
</a:t>
            </a:r>
            <a:pPr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CE91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</a:t>
            </a:r>
            <a:pPr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D4D4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C586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Auth:</a:t>
            </a:r>
            <a:pPr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D4D4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Every endpoint requires `internal_token_required` dependency.
</a:t>
            </a:r>
            <a:pPr indent="0" marL="0">
              <a:lnSpc>
                <a:spcPts val="1800"/>
              </a:lnSpc>
              <a:buNone/>
            </a:pPr>
            <a:r>
              <a:rPr lang="en-US" sz="1125" b="1" dirty="0">
                <a:solidFill>
                  <a:srgbClr val="569CD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## File Boundaries</a:t>
            </a:r>
            <a:pPr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CE91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</a:t>
            </a:r>
            <a:pPr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D4D4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Never modify files in `/legacy/v1` folder.
</a:t>
            </a:r>
            <a:pPr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CE91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</a:t>
            </a:r>
            <a:pPr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D4D4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All new models must be defined in `src/models/*.py`.</a:t>
            </a:r>
            <a:endParaRPr lang="en-US" sz="1125" dirty="0"/>
          </a:p>
        </p:txBody>
      </p:sp>
      <p:sp>
        <p:nvSpPr>
          <p:cNvPr id="19" name="Text 5"/>
          <p:cNvSpPr/>
          <p:nvPr/>
        </p:nvSpPr>
        <p:spPr>
          <a:xfrm>
            <a:off x="850106" y="5520184"/>
            <a:ext cx="6515031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1B5E20"/>
                </a:solidFill>
              </a:rPr>
              <a:t> * 프로젝트 루트 디렉토리에 위치하며 Global Rule보다 우선 적용됩니다.</a:t>
            </a:r>
            <a:endParaRPr lang="en-US" sz="975" dirty="0"/>
          </a:p>
        </p:txBody>
      </p:sp>
      <p:sp>
        <p:nvSpPr>
          <p:cNvPr id="20" name="Text 6"/>
          <p:cNvSpPr/>
          <p:nvPr/>
        </p:nvSpPr>
        <p:spPr>
          <a:xfrm>
            <a:off x="7996237" y="2343596"/>
            <a:ext cx="419576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12529"/>
                </a:solidFill>
              </a:rPr>
              <a:t>컨텍스트 격리 (Context Isolation)</a:t>
            </a:r>
            <a:endParaRPr lang="en-US" sz="1350" dirty="0"/>
          </a:p>
        </p:txBody>
      </p:sp>
      <p:sp>
        <p:nvSpPr>
          <p:cNvPr id="21" name="Text 7"/>
          <p:cNvSpPr/>
          <p:nvPr/>
        </p:nvSpPr>
        <p:spPr>
          <a:xfrm>
            <a:off x="7996237" y="2648396"/>
            <a:ext cx="352901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95057"/>
                </a:solidFill>
              </a:rPr>
              <a:t>에이전트에게 현재 작업 중인 프로젝트의 특정 기술 스택과 라이브러리 버전을 명시하여 엉뚱한 코드 생성을 방지합니다.</a:t>
            </a:r>
            <a:endParaRPr lang="en-US" sz="1125" dirty="0"/>
          </a:p>
        </p:txBody>
      </p:sp>
      <p:sp>
        <p:nvSpPr>
          <p:cNvPr id="22" name="Text 8"/>
          <p:cNvSpPr/>
          <p:nvPr/>
        </p:nvSpPr>
        <p:spPr>
          <a:xfrm>
            <a:off x="7996237" y="3267521"/>
            <a:ext cx="352901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12529"/>
                </a:solidFill>
              </a:rPr>
              <a:t>보안 및 규정 준수</a:t>
            </a:r>
            <a:endParaRPr lang="en-US" sz="1350" dirty="0"/>
          </a:p>
        </p:txBody>
      </p:sp>
      <p:sp>
        <p:nvSpPr>
          <p:cNvPr id="23" name="Text 9"/>
          <p:cNvSpPr/>
          <p:nvPr/>
        </p:nvSpPr>
        <p:spPr>
          <a:xfrm>
            <a:off x="7996237" y="3572321"/>
            <a:ext cx="352901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95057"/>
                </a:solidFill>
              </a:rPr>
              <a:t>폐쇄망(On-premise) 환경에서의 제약 사항(외부 자원 사용 금지 등)을 명시하여 보안 위배 사항을 사전 차단합니다.</a:t>
            </a:r>
            <a:endParaRPr lang="en-US" sz="1125" dirty="0"/>
          </a:p>
        </p:txBody>
      </p:sp>
      <p:sp>
        <p:nvSpPr>
          <p:cNvPr id="24" name="Text 10"/>
          <p:cNvSpPr/>
          <p:nvPr/>
        </p:nvSpPr>
        <p:spPr>
          <a:xfrm>
            <a:off x="7996237" y="4191446"/>
            <a:ext cx="352901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212529"/>
                </a:solidFill>
              </a:rPr>
              <a:t>작업 경계 설정</a:t>
            </a:r>
            <a:endParaRPr lang="en-US" sz="1350" dirty="0"/>
          </a:p>
        </p:txBody>
      </p:sp>
      <p:sp>
        <p:nvSpPr>
          <p:cNvPr id="25" name="Text 11"/>
          <p:cNvSpPr/>
          <p:nvPr/>
        </p:nvSpPr>
        <p:spPr>
          <a:xfrm>
            <a:off x="7996237" y="4496246"/>
            <a:ext cx="352901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95057"/>
                </a:solidFill>
              </a:rPr>
              <a:t>수정 금지 폴더나 특정 패턴의 파일 위치를 지정하여 에이전트의 활동 범위를 안전하게 제어합니다.</a:t>
            </a:r>
            <a:endParaRPr lang="en-US" sz="1125" dirty="0"/>
          </a:p>
        </p:txBody>
      </p:sp>
      <p:sp>
        <p:nvSpPr>
          <p:cNvPr id="26" name="Text 12"/>
          <p:cNvSpPr/>
          <p:nvPr/>
        </p:nvSpPr>
        <p:spPr>
          <a:xfrm>
            <a:off x="0" y="6510338"/>
            <a:ext cx="11430000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C757D"/>
                </a:solidFill>
              </a:rPr>
              <a:t>Source: Agentic Workflow Engineering Guide &amp; Project-specific Harness Case Study (2026)</a:t>
            </a:r>
            <a:endParaRPr lang="en-US" sz="82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94863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139130"/>
            <a:ext cx="4457700" cy="533787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" y="2536627"/>
            <a:ext cx="214313" cy="17532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25" y="4786461"/>
            <a:ext cx="154781" cy="12576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4450" y="1331565"/>
            <a:ext cx="6686550" cy="49530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24450" y="1331565"/>
            <a:ext cx="6686550" cy="376238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14950" y="1456730"/>
            <a:ext cx="154781" cy="12576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25200" y="1462534"/>
            <a:ext cx="114300" cy="1143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315700" y="1462534"/>
            <a:ext cx="114300" cy="1143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506200" y="1462534"/>
            <a:ext cx="114300" cy="114300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381000" y="285750"/>
            <a:ext cx="114300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212529"/>
                </a:solidFill>
              </a:rPr>
              <a:t>Appendix: 예시 Daily Report Template</a:t>
            </a:r>
            <a:endParaRPr lang="en-US" sz="2100" dirty="0"/>
          </a:p>
        </p:txBody>
      </p:sp>
      <p:sp>
        <p:nvSpPr>
          <p:cNvPr id="14" name="Text 1"/>
          <p:cNvSpPr/>
          <p:nvPr/>
        </p:nvSpPr>
        <p:spPr>
          <a:xfrm>
            <a:off x="381000" y="653355"/>
            <a:ext cx="114300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에이전트가 일일 보고서를 생성할 때 참조할 수 있는 표준화된 마크다운 템플릿 구조입니다.</a:t>
            </a:r>
            <a:endParaRPr lang="en-US" sz="1050" dirty="0"/>
          </a:p>
        </p:txBody>
      </p:sp>
      <p:sp>
        <p:nvSpPr>
          <p:cNvPr id="15" name="Text 2"/>
          <p:cNvSpPr/>
          <p:nvPr/>
        </p:nvSpPr>
        <p:spPr>
          <a:xfrm>
            <a:off x="928688" y="2495699"/>
            <a:ext cx="39814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C00000"/>
                </a:solidFill>
              </a:rPr>
              <a:t>템플릿 구조화의 목적</a:t>
            </a:r>
            <a:endParaRPr lang="en-US" sz="1350" dirty="0"/>
          </a:p>
        </p:txBody>
      </p:sp>
      <p:sp>
        <p:nvSpPr>
          <p:cNvPr id="16" name="Text 3"/>
          <p:cNvSpPr/>
          <p:nvPr/>
        </p:nvSpPr>
        <p:spPr>
          <a:xfrm>
            <a:off x="809625" y="2895749"/>
            <a:ext cx="379095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212529"/>
                </a:solidFill>
              </a:rPr>
              <a:t>일관된 데이터 추출: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212529"/>
                </a:solidFill>
              </a:rPr>
              <a:t> 고정된 섹션을 통해 LLM이 작업 내역을 체계적으로 분류하도록 유도</a:t>
            </a:r>
            <a:endParaRPr lang="en-US" sz="1200" dirty="0"/>
          </a:p>
        </p:txBody>
      </p:sp>
      <p:sp>
        <p:nvSpPr>
          <p:cNvPr id="17" name="Text 4"/>
          <p:cNvSpPr/>
          <p:nvPr/>
        </p:nvSpPr>
        <p:spPr>
          <a:xfrm>
            <a:off x="809625" y="3497610"/>
            <a:ext cx="379095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212529"/>
                </a:solidFill>
              </a:rPr>
              <a:t>히스토리 추적성: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212529"/>
                </a:solidFill>
              </a:rPr>
              <a:t> 날짜별로 정형화된 기록을 남겨 추후 검색 및 워킹 노트 연동 최적화</a:t>
            </a:r>
            <a:endParaRPr lang="en-US" sz="1200" dirty="0"/>
          </a:p>
        </p:txBody>
      </p:sp>
      <p:sp>
        <p:nvSpPr>
          <p:cNvPr id="18" name="Text 5"/>
          <p:cNvSpPr/>
          <p:nvPr/>
        </p:nvSpPr>
        <p:spPr>
          <a:xfrm>
            <a:off x="809625" y="4099471"/>
            <a:ext cx="379095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212529"/>
                </a:solidFill>
              </a:rPr>
              <a:t>자동화 연동: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212529"/>
                </a:solidFill>
              </a:rPr>
              <a:t> 생성된 Markdown을 Git 커밋 메시지나 프로젝트 관리 도구(Obsidian 등)로 자동 전송</a:t>
            </a:r>
            <a:endParaRPr lang="en-US" sz="1200" dirty="0"/>
          </a:p>
        </p:txBody>
      </p:sp>
      <p:sp>
        <p:nvSpPr>
          <p:cNvPr id="19" name="Text 6"/>
          <p:cNvSpPr/>
          <p:nvPr/>
        </p:nvSpPr>
        <p:spPr>
          <a:xfrm>
            <a:off x="773906" y="4748957"/>
            <a:ext cx="398145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1B5E20"/>
                </a:solidFill>
              </a:rPr>
              <a:t> 해당 템플릿은 .clinerules 또는 프로젝트 루트의 TEMPLATE.md에 저장하여 참조합니다.</a:t>
            </a:r>
            <a:endParaRPr lang="en-US" sz="975" dirty="0"/>
          </a:p>
        </p:txBody>
      </p:sp>
      <p:sp>
        <p:nvSpPr>
          <p:cNvPr id="20" name="Text 7"/>
          <p:cNvSpPr/>
          <p:nvPr/>
        </p:nvSpPr>
        <p:spPr>
          <a:xfrm>
            <a:off x="5545931" y="1426815"/>
            <a:ext cx="356616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ABB2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DAILY_REPORT_TEMPLATE.md</a:t>
            </a:r>
            <a:endParaRPr lang="en-US" sz="975" dirty="0"/>
          </a:p>
        </p:txBody>
      </p:sp>
      <p:sp>
        <p:nvSpPr>
          <p:cNvPr id="21" name="Text 8"/>
          <p:cNvSpPr/>
          <p:nvPr/>
        </p:nvSpPr>
        <p:spPr>
          <a:xfrm>
            <a:off x="5314950" y="1707803"/>
            <a:ext cx="6305550" cy="45767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E06C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 Daily Report - [YYYY-MM-DD]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19A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## 1. 오늘의 요약 (Executive Summary)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575"/>
              </a:lnSpc>
              <a:buNone/>
            </a:pPr>
            <a:r>
              <a:rPr lang="en-US" sz="1050" i="1" dirty="0">
                <a:solidFill>
                  <a:srgbClr val="5C63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&gt; 오늘 수행한 작업의 핵심 성과를 1~2문장으로 요약합니다.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19A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## 2. 완료된 작업 (Completed Tasks)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1AF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[Task ID]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작업 내용 (관련 커밋: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8C37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#hash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1AF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[Feature]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신규 기능 구현 및 로컬 테스트 완료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1AF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[Docs]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기술 설계서 업데이트 (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8C37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docs/arch.md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19A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## 3. 진행 중 및 이슈 (In-progress &amp; Issues)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1AF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[Issue]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외부 API 응답 지연 발생 (추적 중)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1AF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[Draft]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리팩토링 모듈 초안 작성 완료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19A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## 4. 내일의 계획 (Next Steps)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1AF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이슈 원인 분석 및 패치 적용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1AF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주간 보고서 데이터 취합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575"/>
              </a:lnSpc>
              <a:buNone/>
            </a:pPr>
            <a:r>
              <a:rPr lang="en-US" sz="1050" i="1" dirty="0">
                <a:solidFill>
                  <a:srgbClr val="5C63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---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ABB2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575"/>
              </a:lnSpc>
              <a:buNone/>
            </a:pPr>
            <a:r>
              <a:rPr lang="en-US" sz="1050" i="1" dirty="0">
                <a:solidFill>
                  <a:srgbClr val="5C63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Generated by Cline Agent @ [HH:mm:ss]</a:t>
            </a:r>
            <a:endParaRPr lang="en-US" sz="1050" dirty="0"/>
          </a:p>
        </p:txBody>
      </p:sp>
      <p:sp>
        <p:nvSpPr>
          <p:cNvPr id="22" name="Text 9"/>
          <p:cNvSpPr/>
          <p:nvPr/>
        </p:nvSpPr>
        <p:spPr>
          <a:xfrm>
            <a:off x="8982075" y="6496050"/>
            <a:ext cx="32099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C757D"/>
                </a:solidFill>
              </a:rPr>
              <a:t>Source: Agentic Workflow Implementation Guide v2.0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8670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910530"/>
            <a:ext cx="6686550" cy="540454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062930"/>
            <a:ext cx="6305550" cy="290513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088231"/>
            <a:ext cx="202406" cy="163711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1467743"/>
            <a:ext cx="6305550" cy="4694932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53300" y="910530"/>
            <a:ext cx="4457700" cy="2626072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43800" y="1103858"/>
            <a:ext cx="214313" cy="17532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53300" y="3689003"/>
            <a:ext cx="4457700" cy="2626072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43800" y="3882330"/>
            <a:ext cx="214313" cy="175320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381000" y="180975"/>
            <a:ext cx="1152144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212529"/>
                </a:solidFill>
              </a:rPr>
              <a:t>Appendix 예시 Git Workflow Instruction</a:t>
            </a:r>
            <a:endParaRPr lang="en-US" sz="2100" dirty="0"/>
          </a:p>
        </p:txBody>
      </p:sp>
      <p:sp>
        <p:nvSpPr>
          <p:cNvPr id="14" name="Text 1"/>
          <p:cNvSpPr/>
          <p:nvPr/>
        </p:nvSpPr>
        <p:spPr>
          <a:xfrm>
            <a:off x="381000" y="529530"/>
            <a:ext cx="114300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C757D"/>
                </a:solidFill>
              </a:rPr>
              <a:t>Git 작업을 수행할 때 에이전트가 준수해야 할 단계별 지시문과 절차의 예시입니다.</a:t>
            </a:r>
            <a:endParaRPr lang="en-US" sz="1050" dirty="0"/>
          </a:p>
        </p:txBody>
      </p:sp>
      <p:sp>
        <p:nvSpPr>
          <p:cNvPr id="15" name="Text 2"/>
          <p:cNvSpPr/>
          <p:nvPr/>
        </p:nvSpPr>
        <p:spPr>
          <a:xfrm>
            <a:off x="869156" y="1062930"/>
            <a:ext cx="36004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495057"/>
                </a:solidFill>
              </a:rPr>
              <a:t>skill-git-workflow.md</a:t>
            </a:r>
            <a:endParaRPr lang="en-US" sz="1125" dirty="0"/>
          </a:p>
        </p:txBody>
      </p:sp>
      <p:sp>
        <p:nvSpPr>
          <p:cNvPr id="16" name="Text 3"/>
          <p:cNvSpPr/>
          <p:nvPr/>
        </p:nvSpPr>
        <p:spPr>
          <a:xfrm>
            <a:off x="666750" y="1467743"/>
            <a:ext cx="6115050" cy="469493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 Git Operations Standard Procedure</a:t>
            </a:r>
            <a:endParaRPr lang="en-US" sz="975" dirty="0"/>
          </a:p>
          <a:p>
            <a:pPr indent="0" marL="0">
              <a:lnSpc>
                <a:spcPts val="1560"/>
              </a:lnSpc>
              <a:buNone/>
            </a:pPr>
            <a:endParaRPr lang="en-US" sz="975" dirty="0"/>
          </a:p>
          <a:p>
            <a:pPr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**Pre-Task Check**</a:t>
            </a:r>
            <a:endParaRPr lang="en-US" sz="975" dirty="0"/>
          </a:p>
          <a:p>
            <a:pPr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- 현재 브랜치 확인: `git branch --show-current`</a:t>
            </a:r>
            <a:endParaRPr lang="en-US" sz="975" dirty="0"/>
          </a:p>
          <a:p>
            <a:pPr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- 로컬 상태 동기화: `git fetch origin`</a:t>
            </a:r>
            <a:endParaRPr lang="en-US" sz="975" dirty="0"/>
          </a:p>
          <a:p>
            <a:pPr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- 작업 시작 전 `git status`로 깨끗한 상태인지 확인</a:t>
            </a:r>
            <a:endParaRPr lang="en-US" sz="975" dirty="0"/>
          </a:p>
          <a:p>
            <a:pPr indent="0" marL="0">
              <a:lnSpc>
                <a:spcPts val="1560"/>
              </a:lnSpc>
              <a:buNone/>
            </a:pPr>
            <a:endParaRPr lang="en-US" sz="975" dirty="0"/>
          </a:p>
          <a:p>
            <a:pPr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**Branching Strategy**</a:t>
            </a:r>
            <a:endParaRPr lang="en-US" sz="975" dirty="0"/>
          </a:p>
          <a:p>
            <a:pPr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- 새로운 기능은 `feature/JIRA-ID_description` 형식 사용</a:t>
            </a:r>
            <a:endParaRPr lang="en-US" sz="975" dirty="0"/>
          </a:p>
          <a:p>
            <a:pPr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- 버그 수정은 `fix/JIRA-ID_description` 형식 사용</a:t>
            </a:r>
            <a:endParaRPr lang="en-US" sz="975" dirty="0"/>
          </a:p>
          <a:p>
            <a:pPr indent="0" marL="0">
              <a:lnSpc>
                <a:spcPts val="1560"/>
              </a:lnSpc>
              <a:buNone/>
            </a:pPr>
            <a:endParaRPr lang="en-US" sz="975" dirty="0"/>
          </a:p>
          <a:p>
            <a:pPr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**Atomic Commit Rule**</a:t>
            </a:r>
            <a:endParaRPr lang="en-US" sz="975" dirty="0"/>
          </a:p>
          <a:p>
            <a:pPr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- 하나의 커밋에는 하나의 논리적 변경사항만 포함</a:t>
            </a:r>
            <a:endParaRPr lang="en-US" sz="975" dirty="0"/>
          </a:p>
          <a:p>
            <a:pPr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- 커밋 전 `git diff`를 통해 불필요한 공백이나 디버그 코드 확인</a:t>
            </a:r>
            <a:endParaRPr lang="en-US" sz="975" dirty="0"/>
          </a:p>
          <a:p>
            <a:pPr indent="0" marL="0">
              <a:lnSpc>
                <a:spcPts val="1560"/>
              </a:lnSpc>
              <a:buNone/>
            </a:pPr>
            <a:endParaRPr lang="en-US" sz="975" dirty="0"/>
          </a:p>
          <a:p>
            <a:pPr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 **Commit Message Template**</a:t>
            </a:r>
            <a:endParaRPr lang="en-US" sz="975" dirty="0"/>
          </a:p>
          <a:p>
            <a:pPr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- `type: short description` (예: `feat: add email summary logic`)</a:t>
            </a:r>
            <a:endParaRPr lang="en-US" sz="975" dirty="0"/>
          </a:p>
          <a:p>
            <a:pPr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- 상세 설명이 필요한 경우 한 줄 띄우고 본문 작성</a:t>
            </a:r>
            <a:endParaRPr lang="en-US" sz="975" dirty="0"/>
          </a:p>
          <a:p>
            <a:pPr indent="0" marL="0">
              <a:lnSpc>
                <a:spcPts val="1560"/>
              </a:lnSpc>
              <a:buNone/>
            </a:pPr>
            <a:endParaRPr lang="en-US" sz="975" dirty="0"/>
          </a:p>
          <a:p>
            <a:pPr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5. **Review &amp; Push**</a:t>
            </a:r>
            <a:endParaRPr lang="en-US" sz="975" dirty="0"/>
          </a:p>
          <a:p>
            <a:pPr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- `git push` 전 반드시 로컬 빌드/테스트 수행</a:t>
            </a:r>
            <a:endParaRPr lang="en-US" sz="975" dirty="0"/>
          </a:p>
          <a:p>
            <a:pPr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2D34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- Push 후 PR 링크를 사용자에게 보고</a:t>
            </a:r>
            <a:endParaRPr lang="en-US" sz="975" dirty="0"/>
          </a:p>
        </p:txBody>
      </p:sp>
      <p:sp>
        <p:nvSpPr>
          <p:cNvPr id="17" name="Text 4"/>
          <p:cNvSpPr/>
          <p:nvPr/>
        </p:nvSpPr>
        <p:spPr>
          <a:xfrm>
            <a:off x="7758113" y="1062930"/>
            <a:ext cx="40767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C00000"/>
                </a:solidFill>
              </a:rPr>
              <a:t>거버넌스 및 제약 사항</a:t>
            </a:r>
            <a:endParaRPr lang="en-US" sz="1350" dirty="0"/>
          </a:p>
        </p:txBody>
      </p:sp>
      <p:sp>
        <p:nvSpPr>
          <p:cNvPr id="18" name="Text 5"/>
          <p:cNvSpPr/>
          <p:nvPr/>
        </p:nvSpPr>
        <p:spPr>
          <a:xfrm>
            <a:off x="7734300" y="1415355"/>
            <a:ext cx="2581275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212529"/>
                </a:solidFill>
              </a:rPr>
              <a:t>**강제적 동기화 절차**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B5E20"/>
                </a:solidFill>
              </a:rPr>
              <a:t>* 에이전트가 stale한 코드를 수정하지 않도록 fetch 강제</a:t>
            </a:r>
            <a:endParaRPr lang="en-US" sz="1125" dirty="0"/>
          </a:p>
        </p:txBody>
      </p:sp>
      <p:sp>
        <p:nvSpPr>
          <p:cNvPr id="19" name="Text 6"/>
          <p:cNvSpPr/>
          <p:nvPr/>
        </p:nvSpPr>
        <p:spPr>
          <a:xfrm>
            <a:off x="7734300" y="1905893"/>
            <a:ext cx="2105025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212529"/>
                </a:solidFill>
              </a:rPr>
              <a:t>**커밋 메시지 표준화**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B5E20"/>
                </a:solidFill>
              </a:rPr>
              <a:t>* 히스토리 추적성 및 자동 릴리즈 노트 생성 기반</a:t>
            </a:r>
            <a:endParaRPr lang="en-US" sz="1125" dirty="0"/>
          </a:p>
        </p:txBody>
      </p:sp>
      <p:sp>
        <p:nvSpPr>
          <p:cNvPr id="20" name="Text 7"/>
          <p:cNvSpPr/>
          <p:nvPr/>
        </p:nvSpPr>
        <p:spPr>
          <a:xfrm>
            <a:off x="7734300" y="2396430"/>
            <a:ext cx="2257425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212529"/>
                </a:solidFill>
              </a:rPr>
              <a:t>**브랜치 명명 규칙**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B5E20"/>
                </a:solidFill>
              </a:rPr>
              <a:t>* 조직의 프로젝트 관리 도구(Jira 등)와 연동성 확보</a:t>
            </a:r>
            <a:endParaRPr lang="en-US" sz="1125" dirty="0"/>
          </a:p>
        </p:txBody>
      </p:sp>
      <p:sp>
        <p:nvSpPr>
          <p:cNvPr id="21" name="Text 8"/>
          <p:cNvSpPr/>
          <p:nvPr/>
        </p:nvSpPr>
        <p:spPr>
          <a:xfrm>
            <a:off x="7758113" y="3841403"/>
            <a:ext cx="41148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C00000"/>
                </a:solidFill>
              </a:rPr>
              <a:t>Human-in-the-loop 검증</a:t>
            </a:r>
            <a:endParaRPr lang="en-US" sz="1350" dirty="0"/>
          </a:p>
        </p:txBody>
      </p:sp>
      <p:sp>
        <p:nvSpPr>
          <p:cNvPr id="22" name="Text 9"/>
          <p:cNvSpPr/>
          <p:nvPr/>
        </p:nvSpPr>
        <p:spPr>
          <a:xfrm>
            <a:off x="7734300" y="4193828"/>
            <a:ext cx="3638550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212529"/>
                </a:solidFill>
              </a:rPr>
              <a:t>**커밋 전 Diff 검토 요청**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B5E20"/>
                </a:solidFill>
              </a:rPr>
              <a:t>* 에이전트가 `git commit`을 날리기 전 변경 내용을 사용자에게 확인받도록 설정</a:t>
            </a:r>
            <a:endParaRPr lang="en-US" sz="1125" dirty="0"/>
          </a:p>
        </p:txBody>
      </p:sp>
      <p:sp>
        <p:nvSpPr>
          <p:cNvPr id="23" name="Text 10"/>
          <p:cNvSpPr/>
          <p:nvPr/>
        </p:nvSpPr>
        <p:spPr>
          <a:xfrm>
            <a:off x="7734300" y="4684365"/>
            <a:ext cx="2790825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212529"/>
                </a:solidFill>
              </a:rPr>
              <a:t>**Push 권한 통제**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B5E20"/>
                </a:solidFill>
              </a:rPr>
              <a:t>* 보안상 중요 프로젝트는 Push 단계를 인간의 승인 후에만 수행</a:t>
            </a:r>
            <a:endParaRPr lang="en-US" sz="1125" dirty="0"/>
          </a:p>
        </p:txBody>
      </p:sp>
      <p:sp>
        <p:nvSpPr>
          <p:cNvPr id="24" name="Text 11"/>
          <p:cNvSpPr/>
          <p:nvPr/>
        </p:nvSpPr>
        <p:spPr>
          <a:xfrm>
            <a:off x="0" y="6562725"/>
            <a:ext cx="114300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C757D"/>
                </a:solidFill>
              </a:rPr>
              <a:t>Source: Git Workflow Instruction Example for Cline Agent System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2026-04-28T20:09:25Z</dcterms:created>
  <dcterms:modified xsi:type="dcterms:W3CDTF">2026-04-28T20:09:25Z</dcterms:modified>
</cp:coreProperties>
</file>