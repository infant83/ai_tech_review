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embeddedFontLst>
    <p:embeddedFont>
      <p:font typeface="Noto Sans KR"/>
      <p:regular r:id="rId201314"/>
      <p:bold r:id="rId301314"/>
    </p:embeddedFont>
    <p:embeddedFont>
      <p:font typeface="NanumGothic"/>
      <p:regular r:id="rId201315"/>
      <p:bold r:id="rId3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301314" Target="fonts/301314.fntdata" Type="http://schemas.openxmlformats.org/officeDocument/2006/relationships/font"/><Relationship Id="rId301315" Target="fonts/3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image" Target="../media/image-4-18.png"/><Relationship Id="rId19" Type="http://schemas.openxmlformats.org/officeDocument/2006/relationships/image" Target="../media/image-4-19.png"/><Relationship Id="rId20" Type="http://schemas.openxmlformats.org/officeDocument/2006/relationships/image" Target="../media/image-4-20.png"/><Relationship Id="rId21" Type="http://schemas.openxmlformats.org/officeDocument/2006/relationships/image" Target="../media/image-4-21.png"/><Relationship Id="rId22" Type="http://schemas.openxmlformats.org/officeDocument/2006/relationships/image" Target="../media/image-4-22.png"/><Relationship Id="rId23" Type="http://schemas.openxmlformats.org/officeDocument/2006/relationships/image" Target="../media/image-4-23.png"/><Relationship Id="rId24" Type="http://schemas.openxmlformats.org/officeDocument/2006/relationships/image" Target="../media/image-4-24.png"/><Relationship Id="rId25" Type="http://schemas.openxmlformats.org/officeDocument/2006/relationships/image" Target="../media/image-4-25.png"/><Relationship Id="rId26" Type="http://schemas.openxmlformats.org/officeDocument/2006/relationships/image" Target="../media/image-4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image" Target="../media/image-7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image" Target="../media/image-8-17.png"/><Relationship Id="rId18" Type="http://schemas.openxmlformats.org/officeDocument/2006/relationships/image" Target="../media/image-8-18.png"/><Relationship Id="rId19" Type="http://schemas.openxmlformats.org/officeDocument/2006/relationships/image" Target="../media/image-8-19.png"/><Relationship Id="rId20" Type="http://schemas.openxmlformats.org/officeDocument/2006/relationships/image" Target="../media/image-8-20.png"/><Relationship Id="rId21" Type="http://schemas.openxmlformats.org/officeDocument/2006/relationships/image" Target="../media/image-8-21.png"/><Relationship Id="rId22" Type="http://schemas.openxmlformats.org/officeDocument/2006/relationships/image" Target="../media/image-8-22.png"/><Relationship Id="rId23" Type="http://schemas.openxmlformats.org/officeDocument/2006/relationships/image" Target="../media/image-8-23.png"/><Relationship Id="rId24" Type="http://schemas.openxmlformats.org/officeDocument/2006/relationships/image" Target="../media/image-8-24.png"/><Relationship Id="rId25" Type="http://schemas.openxmlformats.org/officeDocument/2006/relationships/image" Target="../media/image-8-25.png"/><Relationship Id="rId26" Type="http://schemas.openxmlformats.org/officeDocument/2006/relationships/image" Target="../media/image-8-26.png"/><Relationship Id="rId27" Type="http://schemas.openxmlformats.org/officeDocument/2006/relationships/image" Target="../media/image-8-27.png"/><Relationship Id="rId28" Type="http://schemas.openxmlformats.org/officeDocument/2006/relationships/image" Target="../media/image-8-28.png"/><Relationship Id="rId29" Type="http://schemas.openxmlformats.org/officeDocument/2006/relationships/image" Target="../media/image-8-29.png"/><Relationship Id="rId30" Type="http://schemas.openxmlformats.org/officeDocument/2006/relationships/image" Target="../media/image-8-30.png"/><Relationship Id="rId31" Type="http://schemas.openxmlformats.org/officeDocument/2006/relationships/image" Target="../media/image-8-31.png"/><Relationship Id="rId32" Type="http://schemas.openxmlformats.org/officeDocument/2006/relationships/image" Target="../media/image-8-32.png"/><Relationship Id="rId33" Type="http://schemas.openxmlformats.org/officeDocument/2006/relationships/image" Target="../media/image-8-33.png"/><Relationship Id="rId34" Type="http://schemas.openxmlformats.org/officeDocument/2006/relationships/image" Target="../media/image-8-34.png"/><Relationship Id="rId35" Type="http://schemas.openxmlformats.org/officeDocument/2006/relationships/image" Target="../media/image-8-35.png"/><Relationship Id="rId36" Type="http://schemas.openxmlformats.org/officeDocument/2006/relationships/slideLayout" Target="../slideLayouts/slideLayout1.xml"/><Relationship Id="rId3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pn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pn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pn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png"/><Relationship Id="rId21" Type="http://schemas.openxmlformats.org/officeDocument/2006/relationships/image" Target="../media/image-10-21.png"/><Relationship Id="rId22" Type="http://schemas.openxmlformats.org/officeDocument/2006/relationships/image" Target="../media/image-10-22.png"/><Relationship Id="rId23" Type="http://schemas.openxmlformats.org/officeDocument/2006/relationships/image" Target="../media/image-10-23.png"/><Relationship Id="rId24" Type="http://schemas.openxmlformats.org/officeDocument/2006/relationships/image" Target="../media/image-10-24.png"/><Relationship Id="rId25" Type="http://schemas.openxmlformats.org/officeDocument/2006/relationships/image" Target="../media/image-10-25.png"/><Relationship Id="rId26" Type="http://schemas.openxmlformats.org/officeDocument/2006/relationships/image" Target="../media/image-10-26.png"/><Relationship Id="rId27" Type="http://schemas.openxmlformats.org/officeDocument/2006/relationships/slideLayout" Target="../slideLayouts/slideLayout1.xml"/><Relationship Id="rId2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66725"/>
            <a:ext cx="12192000" cy="5100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4016"/>
              </a:lnSpc>
              <a:buNone/>
            </a:pPr>
            <a:r>
              <a:rPr lang="en-US" sz="3375" b="1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 Mythos 심층 리뷰: 범용 AI의 사이버 임계점 돌파와 전략적 함의</a:t>
            </a:r>
            <a:endParaRPr lang="en-US" sz="3375" dirty="0"/>
          </a:p>
        </p:txBody>
      </p:sp>
      <p:sp>
        <p:nvSpPr>
          <p:cNvPr id="4" name="Text 1"/>
          <p:cNvSpPr/>
          <p:nvPr/>
        </p:nvSpPr>
        <p:spPr>
          <a:xfrm>
            <a:off x="100905" y="971550"/>
            <a:ext cx="12091095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53"/>
              </a:lnSpc>
              <a:buNone/>
            </a:pPr>
            <a:r>
              <a:rPr lang="en-US" sz="1725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 Mythos Deep Review: Breakout of General AI Cyber Threshold and Strategic Implications</a:t>
            </a:r>
            <a:endParaRPr lang="en-US" sz="1725" dirty="0"/>
          </a:p>
        </p:txBody>
      </p:sp>
      <p:sp>
        <p:nvSpPr>
          <p:cNvPr id="5" name="Text 2"/>
          <p:cNvSpPr/>
          <p:nvPr/>
        </p:nvSpPr>
        <p:spPr>
          <a:xfrm>
            <a:off x="895350" y="1781175"/>
            <a:ext cx="1129665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21"/>
              </a:lnSpc>
              <a:buNone/>
            </a:pPr>
            <a:r>
              <a:rPr lang="en-US" sz="195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기술적 임계점 돌파 확인: 제로데이 자동 발견 및 익스플로잇 생성 반복 검증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895350" y="2171700"/>
            <a:ext cx="1040130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21"/>
              </a:lnSpc>
              <a:buNone/>
            </a:pPr>
            <a:r>
              <a:rPr lang="en-US" sz="195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Caveat: 실제 운영 환경에서는 성공률이 달라질 수 있음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895350" y="2543175"/>
            <a:ext cx="752856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21"/>
              </a:lnSpc>
              <a:buNone/>
            </a:pPr>
            <a:r>
              <a:rPr lang="en-US" sz="195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Opus 4.6 대비 극적인 성능 향상: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200150" y="2867025"/>
            <a:ext cx="1030224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21"/>
              </a:lnSpc>
              <a:buNone/>
            </a:pPr>
            <a:r>
              <a:rPr lang="en-US" sz="195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Firefox 익스플로잇 성공 횟수: 2회 → 181회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200150" y="3238500"/>
            <a:ext cx="8801100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63"/>
              </a:lnSpc>
              <a:buNone/>
            </a:pPr>
            <a:r>
              <a:rPr lang="en-US" sz="165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CyberGym 평가 점수: 66.6% → 83.1%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95350" y="4086225"/>
            <a:ext cx="1129665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21"/>
              </a:lnSpc>
              <a:buNone/>
            </a:pPr>
            <a:r>
              <a:rPr lang="en-US" sz="195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Project Glasswing 전략적 의도: 빅테크 연합을 통한 AI 방어 거버넌스 표준 선점 시도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895350" y="4476750"/>
            <a:ext cx="1069848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21"/>
              </a:lnSpc>
              <a:buNone/>
            </a:pPr>
            <a:r>
              <a:rPr lang="en-US" sz="195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개방형 에이전트 생태계(MCP, AGENTS.md) 주도 시도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895350" y="4829175"/>
            <a:ext cx="1129665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21"/>
              </a:lnSpc>
              <a:buNone/>
            </a:pPr>
            <a:r>
              <a:rPr lang="en-US" sz="195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범용 모델의 창발적 보안 능력: 전용 모델 아닌 범용 추론·코딩 지식으로 고도화된 공격 수행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895350" y="5200650"/>
            <a:ext cx="980694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21"/>
              </a:lnSpc>
              <a:buNone/>
            </a:pPr>
            <a:r>
              <a:rPr lang="en-US" sz="195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(주석) 공격 복잡도가 높을수록 성공률 저하 가능성 존재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895350" y="5734050"/>
            <a:ext cx="11296650" cy="2335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38"/>
              </a:lnSpc>
              <a:buNone/>
            </a:pPr>
            <a:r>
              <a:rPr lang="en-US" sz="1425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보고서 분석 기준일: 2026-04-14 (Anthropic 공식 발표(04-07) 기반)</a:t>
            </a:r>
            <a:endParaRPr lang="en-US" sz="1425" dirty="0"/>
          </a:p>
        </p:txBody>
      </p:sp>
      <p:sp>
        <p:nvSpPr>
          <p:cNvPr id="15" name="Text 12"/>
          <p:cNvSpPr/>
          <p:nvPr/>
        </p:nvSpPr>
        <p:spPr>
          <a:xfrm>
            <a:off x="895350" y="6000750"/>
            <a:ext cx="9201150" cy="2826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25"/>
              </a:lnSpc>
              <a:buNone/>
            </a:pPr>
            <a:r>
              <a:rPr lang="en-US" sz="1725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대상: 엔지니어, 보안 리더, AI 플랫폼 빌더, 기술 임원</a:t>
            </a:r>
            <a:endParaRPr lang="en-US" sz="1725" dirty="0"/>
          </a:p>
        </p:txBody>
      </p:sp>
      <p:sp>
        <p:nvSpPr>
          <p:cNvPr id="16" name="Text 13"/>
          <p:cNvSpPr/>
          <p:nvPr/>
        </p:nvSpPr>
        <p:spPr>
          <a:xfrm>
            <a:off x="8763000" y="4476750"/>
            <a:ext cx="2671763" cy="4152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35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개발 프로세스 보안 내재화</a:t>
            </a:r>
            <a:pPr indent="0" marL="0">
              <a:lnSpc>
                <a:spcPts val="1635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35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(DevSecOps) 고도화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763000" y="4933950"/>
            <a:ext cx="2315468" cy="4152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35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AI 모델 취약점 평가 및</a:t>
            </a:r>
            <a:pPr indent="0" marL="0">
              <a:lnSpc>
                <a:spcPts val="1635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35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레드팀링 강화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763000" y="5391150"/>
            <a:ext cx="2839343" cy="4152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35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□ 실시간 거버넌스 및 모니터링</a:t>
            </a:r>
            <a:pPr indent="0" marL="0">
              <a:lnSpc>
                <a:spcPts val="1635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35"/>
              </a:lnSpc>
              <a:buNone/>
            </a:pPr>
            <a:r>
              <a:rPr lang="en-US" sz="15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시스템 구축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144000" y="6467475"/>
            <a:ext cx="2828925" cy="762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600"/>
              </a:lnSpc>
              <a:buNone/>
            </a:pPr>
            <a:r>
              <a:rPr lang="en-US" sz="600" dirty="0">
                <a:solidFill>
                  <a:srgbClr val="1E1E1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*참조: 2026 Anthropic Claude Mythos Technical Report 및 업계 분석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228600" y="6467475"/>
            <a:ext cx="205740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5876925" y="6715125"/>
            <a:ext cx="419100" cy="1047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25"/>
              </a:lnSpc>
              <a:buNone/>
            </a:pPr>
            <a:r>
              <a:rPr lang="en-US" sz="825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8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68188" cy="24675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5090" y="3257550"/>
            <a:ext cx="999679" cy="774948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4157" y="1728192"/>
            <a:ext cx="1609279" cy="370284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086" y="2873425"/>
            <a:ext cx="4291459" cy="1947565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603349" y="1771650"/>
            <a:ext cx="5165378" cy="5200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48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범용 AI의 창발적 공격 능력 확인</a:t>
            </a:r>
            <a:pPr algn="ctr" indent="0" marL="0">
              <a:lnSpc>
                <a:spcPts val="2048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algn="ctr" indent="0" marL="0">
              <a:lnSpc>
                <a:spcPts val="2048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(Emergent attack capabilities confirmed)</a:t>
            </a:r>
            <a:endParaRPr lang="en-US" sz="1575" dirty="0"/>
          </a:p>
        </p:txBody>
      </p:sp>
      <p:sp>
        <p:nvSpPr>
          <p:cNvPr id="8" name="Text 1"/>
          <p:cNvSpPr/>
          <p:nvPr/>
        </p:nvSpPr>
        <p:spPr>
          <a:xfrm>
            <a:off x="6448425" y="1800225"/>
            <a:ext cx="3268980" cy="2972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연쇄 공격 단계 진입</a:t>
            </a:r>
            <a:endParaRPr lang="en-US" sz="1950" dirty="0"/>
          </a:p>
        </p:txBody>
      </p:sp>
      <p:sp>
        <p:nvSpPr>
          <p:cNvPr id="9" name="Text 2"/>
          <p:cNvSpPr/>
          <p:nvPr/>
        </p:nvSpPr>
        <p:spPr>
          <a:xfrm>
            <a:off x="6448425" y="3181350"/>
            <a:ext cx="5743575" cy="2972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기술 잠재점 + 거버넌스 선점의 이중 구조</a:t>
            </a:r>
            <a:endParaRPr lang="en-US" sz="1950" dirty="0"/>
          </a:p>
        </p:txBody>
      </p:sp>
      <p:sp>
        <p:nvSpPr>
          <p:cNvPr id="10" name="Text 3"/>
          <p:cNvSpPr/>
          <p:nvPr/>
        </p:nvSpPr>
        <p:spPr>
          <a:xfrm>
            <a:off x="6448425" y="4629150"/>
            <a:ext cx="5349240" cy="2972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4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핵심 논지 및 패러다임 전환 사건</a:t>
            </a:r>
            <a:endParaRPr lang="en-US" sz="1950" dirty="0"/>
          </a:p>
        </p:txBody>
      </p:sp>
      <p:sp>
        <p:nvSpPr>
          <p:cNvPr id="11" name="Text 4"/>
          <p:cNvSpPr/>
          <p:nvPr/>
        </p:nvSpPr>
        <p:spPr>
          <a:xfrm>
            <a:off x="597694" y="5019675"/>
            <a:ext cx="5291138" cy="54471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코드·추론·자율성 향상으로 익스플로잇 생성 임계점 돌파.</a:t>
            </a:r>
            <a:pPr algn="ctr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algn="ctr" indent="0" marL="0">
              <a:lnSpc>
                <a:spcPts val="2145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단순 버그 탐색 수준을 넘어 연쇄 공격 단계 진입.</a:t>
            </a:r>
            <a:endParaRPr lang="en-US" sz="1650" dirty="0"/>
          </a:p>
        </p:txBody>
      </p:sp>
      <p:sp>
        <p:nvSpPr>
          <p:cNvPr id="12" name="Text 5"/>
          <p:cNvSpPr/>
          <p:nvPr/>
        </p:nvSpPr>
        <p:spPr>
          <a:xfrm>
            <a:off x="6448425" y="2181225"/>
            <a:ext cx="5458718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63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Tier-5 제어 흐름 하이재킹 10회 성공, 최신 패치 타겟 포함.</a:t>
            </a:r>
            <a:pPr indent="0" marL="0">
              <a:lnSpc>
                <a:spcPts val="2063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indent="0" marL="0">
              <a:lnSpc>
                <a:spcPts val="2063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(ex. 원격 코드 실행 후 권한 상승 시도)</a:t>
            </a:r>
            <a:endParaRPr lang="en-US" sz="1650" dirty="0"/>
          </a:p>
        </p:txBody>
      </p:sp>
      <p:sp>
        <p:nvSpPr>
          <p:cNvPr id="13" name="Text 6"/>
          <p:cNvSpPr/>
          <p:nvPr/>
        </p:nvSpPr>
        <p:spPr>
          <a:xfrm>
            <a:off x="6448425" y="3552825"/>
            <a:ext cx="4389983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63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Project Glasswing으로 방어 표준 주도권 확보</a:t>
            </a:r>
            <a:pPr indent="0" marL="0">
              <a:lnSpc>
                <a:spcPts val="2063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indent="0" marL="0">
              <a:lnSpc>
                <a:spcPts val="2063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시도와 기술적 돌파가 동시 발생.</a:t>
            </a:r>
            <a:endParaRPr lang="en-US" sz="1650" dirty="0"/>
          </a:p>
        </p:txBody>
      </p:sp>
      <p:sp>
        <p:nvSpPr>
          <p:cNvPr id="14" name="Text 7"/>
          <p:cNvSpPr/>
          <p:nvPr/>
        </p:nvSpPr>
        <p:spPr>
          <a:xfrm>
            <a:off x="6448425" y="5019675"/>
            <a:ext cx="5699671" cy="9429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☑ 소프트웨어 보안 프로세스가 감당 어려운 공격 자동화 속도</a:t>
            </a:r>
            <a:pPr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☑ 개발·보안·거버넌스 전반의 즉각적 프로세스 재설계 요구</a:t>
            </a:r>
            <a:pPr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
</a:t>
            </a:r>
            <a:pPr indent="0" marL="0">
              <a:lnSpc>
                <a:spcPts val="247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☑ 전문가 그룹 간의 긴밀한 정보 및 공동 대응 필요</a:t>
            </a:r>
            <a:endParaRPr lang="en-US" sz="1650" dirty="0"/>
          </a:p>
        </p:txBody>
      </p:sp>
      <p:sp>
        <p:nvSpPr>
          <p:cNvPr id="15" name="Text 8"/>
          <p:cNvSpPr/>
          <p:nvPr/>
        </p:nvSpPr>
        <p:spPr>
          <a:xfrm>
            <a:off x="1136303" y="5743575"/>
            <a:ext cx="412804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b="1" i="1" dirty="0">
                <a:solidFill>
                  <a:srgbClr val="005025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데이터는 Anthropic 초기 측정치로, 외부 검증 필요.</a:t>
            </a:r>
            <a:endParaRPr lang="en-US" sz="1500" dirty="0"/>
          </a:p>
        </p:txBody>
      </p:sp>
      <p:sp>
        <p:nvSpPr>
          <p:cNvPr id="16" name="Text 9"/>
          <p:cNvSpPr/>
          <p:nvPr/>
        </p:nvSpPr>
        <p:spPr>
          <a:xfrm>
            <a:off x="6448425" y="4086225"/>
            <a:ext cx="57435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실제 공격 성공률은 한경과 방어 시스템에 따라 상이함.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1800671" y="2581275"/>
            <a:ext cx="2923133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Firefox JS Shell success count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4920555" y="6324600"/>
            <a:ext cx="7271296" cy="1485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17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출처: Anthropic 기술 리포트 'Claude Mythos: An Evaluation of Emergent Capabilities', 2026.04. 최신 데이터 업데이트 기준.</a:t>
            </a:r>
            <a:endParaRPr lang="en-US" sz="975" dirty="0"/>
          </a:p>
        </p:txBody>
      </p:sp>
      <p:sp>
        <p:nvSpPr>
          <p:cNvPr id="19" name="Text 12"/>
          <p:cNvSpPr/>
          <p:nvPr/>
        </p:nvSpPr>
        <p:spPr>
          <a:xfrm>
            <a:off x="161925" y="142875"/>
            <a:ext cx="12030075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790"/>
              </a:lnSpc>
              <a:buNone/>
            </a:pPr>
            <a:r>
              <a:rPr lang="en-US" sz="2325" b="1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현재 시점 Claude Mythos가 갖는 기술적 의의와 핵심 논지</a:t>
            </a:r>
            <a:endParaRPr lang="en-US" sz="2325" dirty="0"/>
          </a:p>
        </p:txBody>
      </p:sp>
      <p:sp>
        <p:nvSpPr>
          <p:cNvPr id="20" name="Text 13"/>
          <p:cNvSpPr/>
          <p:nvPr/>
        </p:nvSpPr>
        <p:spPr>
          <a:xfrm>
            <a:off x="5876925" y="6696075"/>
            <a:ext cx="419100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750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NanumGothic" pitchFamily="34" charset="0"/>
                <a:ea typeface="NanumGothic" pitchFamily="34" charset="-122"/>
                <a:cs typeface="NanumGothic" pitchFamily="34" charset="-120"/>
              </a:rPr>
              <a:t>PUBLIC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68188" cy="25360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8196" y="5198269"/>
            <a:ext cx="4535388" cy="76795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5059" y="4553694"/>
            <a:ext cx="426690" cy="42505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2855" y="2935188"/>
            <a:ext cx="438894" cy="411361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2855" y="1385292"/>
            <a:ext cx="438894" cy="486817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7082" y="4553694"/>
            <a:ext cx="524173" cy="473125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3694" y="2955727"/>
            <a:ext cx="377875" cy="44574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4879" y="1433215"/>
            <a:ext cx="487561" cy="411361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266700" y="142875"/>
            <a:ext cx="11925300" cy="36909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06"/>
              </a:lnSpc>
              <a:buNone/>
            </a:pPr>
            <a:r>
              <a:rPr lang="en-US" sz="23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2026년 4월 7일 Anthropic 공식 발표의 사실 관계 정리</a:t>
            </a:r>
            <a:endParaRPr lang="en-US" sz="2325" dirty="0"/>
          </a:p>
        </p:txBody>
      </p:sp>
      <p:sp>
        <p:nvSpPr>
          <p:cNvPr id="12" name="Text 1"/>
          <p:cNvSpPr/>
          <p:nvPr/>
        </p:nvSpPr>
        <p:spPr>
          <a:xfrm>
            <a:off x="1323975" y="1457325"/>
            <a:ext cx="5257800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Mythos Preview 공식 발표</a:t>
            </a:r>
            <a:endParaRPr lang="en-US" sz="1725" dirty="0"/>
          </a:p>
        </p:txBody>
      </p:sp>
      <p:sp>
        <p:nvSpPr>
          <p:cNvPr id="13" name="Text 2"/>
          <p:cNvSpPr/>
          <p:nvPr/>
        </p:nvSpPr>
        <p:spPr>
          <a:xfrm>
            <a:off x="7058025" y="1419225"/>
            <a:ext cx="5133975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Glasswing 출범</a:t>
            </a:r>
            <a:endParaRPr lang="en-US" sz="1725" dirty="0"/>
          </a:p>
        </p:txBody>
      </p:sp>
      <p:sp>
        <p:nvSpPr>
          <p:cNvPr id="14" name="Text 3"/>
          <p:cNvSpPr/>
          <p:nvPr/>
        </p:nvSpPr>
        <p:spPr>
          <a:xfrm>
            <a:off x="1323975" y="3067050"/>
            <a:ext cx="4469130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System Card 핵심 공개</a:t>
            </a:r>
            <a:endParaRPr lang="en-US" sz="1725" dirty="0"/>
          </a:p>
        </p:txBody>
      </p:sp>
      <p:sp>
        <p:nvSpPr>
          <p:cNvPr id="15" name="Text 4"/>
          <p:cNvSpPr/>
          <p:nvPr/>
        </p:nvSpPr>
        <p:spPr>
          <a:xfrm>
            <a:off x="7058025" y="2857500"/>
            <a:ext cx="4469130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사이버 능력 벤치마크 질적 도약</a:t>
            </a:r>
            <a:endParaRPr lang="en-US" sz="1725" dirty="0"/>
          </a:p>
        </p:txBody>
      </p:sp>
      <p:sp>
        <p:nvSpPr>
          <p:cNvPr id="16" name="Text 5"/>
          <p:cNvSpPr/>
          <p:nvPr/>
        </p:nvSpPr>
        <p:spPr>
          <a:xfrm>
            <a:off x="1323975" y="4533900"/>
            <a:ext cx="4469130" cy="2738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56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익스플로잇 생성 능력 공식 인정</a:t>
            </a:r>
            <a:endParaRPr lang="en-US" sz="1725" dirty="0"/>
          </a:p>
        </p:txBody>
      </p:sp>
      <p:sp>
        <p:nvSpPr>
          <p:cNvPr id="17" name="Text 6"/>
          <p:cNvSpPr/>
          <p:nvPr/>
        </p:nvSpPr>
        <p:spPr>
          <a:xfrm>
            <a:off x="7058025" y="4572000"/>
            <a:ext cx="3154680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94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맥락 및 타임라인</a:t>
            </a:r>
            <a:endParaRPr lang="en-US" sz="1725" dirty="0"/>
          </a:p>
        </p:txBody>
      </p:sp>
      <p:sp>
        <p:nvSpPr>
          <p:cNvPr id="18" name="Text 7"/>
          <p:cNvSpPr/>
          <p:nvPr/>
        </p:nvSpPr>
        <p:spPr>
          <a:xfrm>
            <a:off x="352425" y="742950"/>
            <a:ext cx="11839575" cy="3242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53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Anthropic Mythos Preview 공식 발표 및 Project Glasswing 출범: 핵심 보안 지표 및 이니셔티브 정립</a:t>
            </a:r>
            <a:endParaRPr lang="en-US" sz="1725" dirty="0"/>
          </a:p>
        </p:txBody>
      </p:sp>
      <p:sp>
        <p:nvSpPr>
          <p:cNvPr id="19" name="Text 8"/>
          <p:cNvSpPr/>
          <p:nvPr/>
        </p:nvSpPr>
        <p:spPr>
          <a:xfrm>
            <a:off x="1323975" y="1800225"/>
            <a:ext cx="4065240" cy="4875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2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2026-04-07</a:t>
            </a:r>
            <a:pPr indent="0" marL="0">
              <a:lnSpc>
                <a:spcPts val="192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2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범용 모델의 창발적 사이버 보안 능력 확보</a:t>
            </a:r>
            <a:endParaRPr lang="en-US" sz="1500" dirty="0"/>
          </a:p>
        </p:txBody>
      </p:sp>
      <p:sp>
        <p:nvSpPr>
          <p:cNvPr id="20" name="Text 9"/>
          <p:cNvSpPr/>
          <p:nvPr/>
        </p:nvSpPr>
        <p:spPr>
          <a:xfrm>
            <a:off x="7058025" y="1762125"/>
            <a:ext cx="4892873" cy="73134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2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빅테크 연합 방어 이니셔티브.</a:t>
            </a:r>
            <a:pPr indent="0" marL="0">
              <a:lnSpc>
                <a:spcPts val="192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2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AWS:Apple:Google:Microsoft 등 주요 기업 참여.</a:t>
            </a:r>
            <a:pPr indent="0" marL="0">
              <a:lnSpc>
                <a:spcPts val="192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2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차세대 방어 운영 표준 주도 목표</a:t>
            </a:r>
            <a:endParaRPr lang="en-US" sz="1500" dirty="0"/>
          </a:p>
        </p:txBody>
      </p:sp>
      <p:sp>
        <p:nvSpPr>
          <p:cNvPr id="21" name="Text 10"/>
          <p:cNvSpPr/>
          <p:nvPr/>
        </p:nvSpPr>
        <p:spPr>
          <a:xfrm>
            <a:off x="1323975" y="3429000"/>
            <a:ext cx="2713583" cy="4875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2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위험 수준, 정렬 상태,</a:t>
            </a:r>
            <a:pPr indent="0" marL="0">
              <a:lnSpc>
                <a:spcPts val="192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2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복지 평가 항목 명시 공개</a:t>
            </a:r>
            <a:endParaRPr lang="en-US" sz="1500" dirty="0"/>
          </a:p>
        </p:txBody>
      </p:sp>
      <p:sp>
        <p:nvSpPr>
          <p:cNvPr id="22" name="Text 11"/>
          <p:cNvSpPr/>
          <p:nvPr/>
        </p:nvSpPr>
        <p:spPr>
          <a:xfrm>
            <a:off x="7058025" y="3209925"/>
            <a:ext cx="4903440" cy="7429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[Benchmark] | [Opus 4.6 → Mythos]</a:t>
            </a:r>
            <a:pPr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Firefox JS Shell Exploit | 2회 → 181회 (80배↑)</a:t>
            </a:r>
            <a:pPr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CyberGym | 66.6% → 83.1% (16.5%p↑)</a:t>
            </a:r>
            <a:endParaRPr lang="en-US" sz="1500" dirty="0"/>
          </a:p>
        </p:txBody>
      </p:sp>
      <p:sp>
        <p:nvSpPr>
          <p:cNvPr id="23" name="Text 12"/>
          <p:cNvSpPr/>
          <p:nvPr/>
        </p:nvSpPr>
        <p:spPr>
          <a:xfrm>
            <a:off x="1323975" y="5057775"/>
            <a:ext cx="3583186" cy="73134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2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취약점 탐색 수준을 넘어 실용적</a:t>
            </a:r>
            <a:pPr indent="0" marL="0">
              <a:lnSpc>
                <a:spcPts val="192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2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익스플로잇 코드 반복 생성 가능 확인</a:t>
            </a:r>
            <a:pPr indent="0" marL="0">
              <a:lnSpc>
                <a:spcPts val="192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2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“연쇄 공격 단계 진입”</a:t>
            </a:r>
            <a:endParaRPr lang="en-US" sz="1500" dirty="0"/>
          </a:p>
        </p:txBody>
      </p:sp>
      <p:sp>
        <p:nvSpPr>
          <p:cNvPr id="24" name="Text 13"/>
          <p:cNvSpPr/>
          <p:nvPr/>
        </p:nvSpPr>
        <p:spPr>
          <a:xfrm>
            <a:off x="114300" y="6448425"/>
            <a:ext cx="228600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00"/>
              </a:lnSpc>
              <a:buNone/>
            </a:pPr>
            <a:r>
              <a:rPr lang="en-US" sz="15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500" dirty="0"/>
          </a:p>
        </p:txBody>
      </p:sp>
      <p:sp>
        <p:nvSpPr>
          <p:cNvPr id="25" name="Text 14"/>
          <p:cNvSpPr/>
          <p:nvPr/>
        </p:nvSpPr>
        <p:spPr>
          <a:xfrm>
            <a:off x="1323975" y="5638800"/>
            <a:ext cx="4327178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005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*(실용적 익스플로잇 반복 생성 능력은 정교화된 공격 체인의</a:t>
            </a:r>
            <a:pPr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005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005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가능성을 시사 - 전문가 해석)</a:t>
            </a:r>
            <a:endParaRPr lang="en-US" sz="1125" dirty="0"/>
          </a:p>
        </p:txBody>
      </p:sp>
      <p:sp>
        <p:nvSpPr>
          <p:cNvPr id="26" name="Text 15"/>
          <p:cNvSpPr/>
          <p:nvPr/>
        </p:nvSpPr>
        <p:spPr>
          <a:xfrm>
            <a:off x="7058025" y="4029075"/>
            <a:ext cx="5133975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20"/>
              </a:lnSpc>
              <a:buNone/>
            </a:pPr>
            <a:r>
              <a:rPr lang="en-US" sz="1125" dirty="0">
                <a:solidFill>
                  <a:srgbClr val="005F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*(CyberGym 수치 향상은 공격 자동화 및 효율성 증대를 의미 - 기술적 해석)</a:t>
            </a:r>
            <a:endParaRPr lang="en-US" sz="1125" dirty="0"/>
          </a:p>
        </p:txBody>
      </p:sp>
      <p:sp>
        <p:nvSpPr>
          <p:cNvPr id="27" name="Text 16"/>
          <p:cNvSpPr/>
          <p:nvPr/>
        </p:nvSpPr>
        <p:spPr>
          <a:xfrm>
            <a:off x="5810696" y="6734175"/>
            <a:ext cx="618083" cy="913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72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900" dirty="0"/>
          </a:p>
        </p:txBody>
      </p:sp>
      <p:sp>
        <p:nvSpPr>
          <p:cNvPr id="28" name="Text 17"/>
          <p:cNvSpPr/>
          <p:nvPr/>
        </p:nvSpPr>
        <p:spPr>
          <a:xfrm>
            <a:off x="590550" y="6210300"/>
            <a:ext cx="1160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Ref: Anthropic Press Release (2026-04-07), System Card for Claude Mythos. | All figures are indicative of reported values.</a:t>
            </a:r>
            <a:endParaRPr lang="en-US" sz="11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01825"/>
            <a:ext cx="5023098" cy="4341019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501825"/>
            <a:ext cx="1836093" cy="688181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5693" y="1501825"/>
            <a:ext cx="969466" cy="688181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5159" y="1501825"/>
            <a:ext cx="972889" cy="688181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8048" y="1501825"/>
            <a:ext cx="1244650" cy="688181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2190006"/>
            <a:ext cx="1836093" cy="865287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45693" y="2190006"/>
            <a:ext cx="969466" cy="865287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15159" y="2190006"/>
            <a:ext cx="972889" cy="865287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88048" y="2190006"/>
            <a:ext cx="1244650" cy="865287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9600" y="3055293"/>
            <a:ext cx="1836093" cy="865287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45693" y="3055293"/>
            <a:ext cx="969466" cy="865287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15159" y="3055293"/>
            <a:ext cx="972889" cy="865287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88048" y="3055293"/>
            <a:ext cx="1244650" cy="865287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9600" y="3920579"/>
            <a:ext cx="1836093" cy="640705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445693" y="3920579"/>
            <a:ext cx="969466" cy="640705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415159" y="3920579"/>
            <a:ext cx="972889" cy="640705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88048" y="3920579"/>
            <a:ext cx="1244650" cy="640705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9600" y="4561284"/>
            <a:ext cx="1836093" cy="640705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445693" y="4561284"/>
            <a:ext cx="969466" cy="640705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415159" y="4561284"/>
            <a:ext cx="972889" cy="640705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4388048" y="4561284"/>
            <a:ext cx="1244650" cy="640705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9600" y="5201989"/>
            <a:ext cx="1836093" cy="640854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445693" y="5201989"/>
            <a:ext cx="969466" cy="640854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3415159" y="5201989"/>
            <a:ext cx="972889" cy="640854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388048" y="5201989"/>
            <a:ext cx="1244650" cy="640854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609600" y="1501825"/>
            <a:ext cx="1759893" cy="6881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11111"/>
                </a:solidFill>
              </a:rPr>
              <a:t>벤치마크 메트릭</a:t>
            </a:r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11111"/>
                </a:solidFill>
              </a:rPr>
              <a:t>
</a:t>
            </a:r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11111"/>
                </a:solidFill>
              </a:rPr>
              <a:t>(Benchmark Metric)</a:t>
            </a:r>
            <a:endParaRPr lang="en-US" sz="1125" dirty="0"/>
          </a:p>
        </p:txBody>
      </p:sp>
      <p:sp>
        <p:nvSpPr>
          <p:cNvPr id="29" name="Text 1"/>
          <p:cNvSpPr/>
          <p:nvPr/>
        </p:nvSpPr>
        <p:spPr>
          <a:xfrm>
            <a:off x="2445693" y="1501825"/>
            <a:ext cx="893266" cy="6881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11111"/>
                </a:solidFill>
              </a:rPr>
              <a:t>Opus 4.6</a:t>
            </a:r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11111"/>
                </a:solidFill>
              </a:rPr>
              <a:t>
</a:t>
            </a:r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11111"/>
                </a:solidFill>
              </a:rPr>
              <a:t>(이전 세대)</a:t>
            </a:r>
            <a:endParaRPr lang="en-US" sz="1125" dirty="0"/>
          </a:p>
        </p:txBody>
      </p:sp>
      <p:sp>
        <p:nvSpPr>
          <p:cNvPr id="30" name="Text 2"/>
          <p:cNvSpPr/>
          <p:nvPr/>
        </p:nvSpPr>
        <p:spPr>
          <a:xfrm>
            <a:off x="3415159" y="1501825"/>
            <a:ext cx="896689" cy="6881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11111"/>
                </a:solidFill>
              </a:rPr>
              <a:t>Claude</a:t>
            </a:r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11111"/>
                </a:solidFill>
              </a:rPr>
              <a:t>
</a:t>
            </a:r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11111"/>
                </a:solidFill>
              </a:rPr>
              <a:t>Mythos</a:t>
            </a:r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11111"/>
                </a:solidFill>
              </a:rPr>
              <a:t>
</a:t>
            </a:r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11111"/>
                </a:solidFill>
              </a:rPr>
              <a:t>(신규)</a:t>
            </a:r>
            <a:endParaRPr lang="en-US" sz="1125" dirty="0"/>
          </a:p>
        </p:txBody>
      </p:sp>
      <p:sp>
        <p:nvSpPr>
          <p:cNvPr id="31" name="Text 3"/>
          <p:cNvSpPr/>
          <p:nvPr/>
        </p:nvSpPr>
        <p:spPr>
          <a:xfrm>
            <a:off x="4388048" y="1501825"/>
            <a:ext cx="1168450" cy="688181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11111"/>
                </a:solidFill>
              </a:rPr>
              <a:t>변화량</a:t>
            </a:r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11111"/>
                </a:solidFill>
              </a:rPr>
              <a:t>
</a:t>
            </a:r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11111"/>
                </a:solidFill>
              </a:rPr>
              <a:t>(Delta / %)</a:t>
            </a:r>
            <a:endParaRPr lang="en-US" sz="1125" dirty="0"/>
          </a:p>
        </p:txBody>
      </p:sp>
      <p:sp>
        <p:nvSpPr>
          <p:cNvPr id="32" name="Text 4"/>
          <p:cNvSpPr/>
          <p:nvPr/>
        </p:nvSpPr>
        <p:spPr>
          <a:xfrm>
            <a:off x="609600" y="2190006"/>
            <a:ext cx="1759893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Firefox JS Shell</a:t>
            </a:r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
</a:t>
            </a:r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익스플로잇</a:t>
            </a:r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
</a:t>
            </a:r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(성공 횟수)</a:t>
            </a:r>
            <a:endParaRPr lang="en-US" sz="1125" dirty="0"/>
          </a:p>
        </p:txBody>
      </p:sp>
      <p:sp>
        <p:nvSpPr>
          <p:cNvPr id="33" name="Text 5"/>
          <p:cNvSpPr/>
          <p:nvPr/>
        </p:nvSpPr>
        <p:spPr>
          <a:xfrm>
            <a:off x="2445693" y="2190006"/>
            <a:ext cx="893266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2회</a:t>
            </a:r>
            <a:endParaRPr lang="en-US" sz="1125" dirty="0"/>
          </a:p>
        </p:txBody>
      </p:sp>
      <p:sp>
        <p:nvSpPr>
          <p:cNvPr id="34" name="Text 6"/>
          <p:cNvSpPr/>
          <p:nvPr/>
        </p:nvSpPr>
        <p:spPr>
          <a:xfrm>
            <a:off x="3415159" y="2190006"/>
            <a:ext cx="896689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8B0000"/>
                </a:solidFill>
              </a:rPr>
              <a:t>181회</a:t>
            </a:r>
            <a:endParaRPr lang="en-US" sz="1125" dirty="0"/>
          </a:p>
        </p:txBody>
      </p:sp>
      <p:sp>
        <p:nvSpPr>
          <p:cNvPr id="35" name="Text 7"/>
          <p:cNvSpPr/>
          <p:nvPr/>
        </p:nvSpPr>
        <p:spPr>
          <a:xfrm>
            <a:off x="4388048" y="2190006"/>
            <a:ext cx="1168450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90배 이상</a:t>
            </a:r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
</a:t>
            </a:r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성공률 급등</a:t>
            </a:r>
            <a:endParaRPr lang="en-US" sz="1125" dirty="0"/>
          </a:p>
        </p:txBody>
      </p:sp>
      <p:sp>
        <p:nvSpPr>
          <p:cNvPr id="36" name="Text 8"/>
          <p:cNvSpPr/>
          <p:nvPr/>
        </p:nvSpPr>
        <p:spPr>
          <a:xfrm>
            <a:off x="609600" y="3055293"/>
            <a:ext cx="1759893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Tier-5 제어 흐름</a:t>
            </a:r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
</a:t>
            </a:r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하이재킹</a:t>
            </a:r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
</a:t>
            </a:r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(최고 등급 성공)</a:t>
            </a:r>
            <a:endParaRPr lang="en-US" sz="1125" dirty="0"/>
          </a:p>
        </p:txBody>
      </p:sp>
      <p:sp>
        <p:nvSpPr>
          <p:cNvPr id="37" name="Text 9"/>
          <p:cNvSpPr/>
          <p:nvPr/>
        </p:nvSpPr>
        <p:spPr>
          <a:xfrm>
            <a:off x="2445693" y="3055293"/>
            <a:ext cx="893266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N/A</a:t>
            </a:r>
            <a:endParaRPr lang="en-US" sz="1125" dirty="0"/>
          </a:p>
        </p:txBody>
      </p:sp>
      <p:sp>
        <p:nvSpPr>
          <p:cNvPr id="38" name="Text 10"/>
          <p:cNvSpPr/>
          <p:nvPr/>
        </p:nvSpPr>
        <p:spPr>
          <a:xfrm>
            <a:off x="3415159" y="3055293"/>
            <a:ext cx="896689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8B0000"/>
                </a:solidFill>
              </a:rPr>
              <a:t>10회 성공</a:t>
            </a:r>
            <a:endParaRPr lang="en-US" sz="1125" dirty="0"/>
          </a:p>
        </p:txBody>
      </p:sp>
      <p:sp>
        <p:nvSpPr>
          <p:cNvPr id="39" name="Text 11"/>
          <p:cNvSpPr/>
          <p:nvPr/>
        </p:nvSpPr>
        <p:spPr>
          <a:xfrm>
            <a:off x="4388048" y="3055293"/>
            <a:ext cx="1168450" cy="865287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최고 등급 질적</a:t>
            </a:r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
</a:t>
            </a:r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임계점 돌파</a:t>
            </a:r>
            <a:endParaRPr lang="en-US" sz="1125" dirty="0"/>
          </a:p>
        </p:txBody>
      </p:sp>
      <p:sp>
        <p:nvSpPr>
          <p:cNvPr id="40" name="Text 12"/>
          <p:cNvSpPr/>
          <p:nvPr/>
        </p:nvSpPr>
        <p:spPr>
          <a:xfrm>
            <a:off x="609600" y="3920579"/>
            <a:ext cx="1759893" cy="64070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CyberGym</a:t>
            </a:r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
</a:t>
            </a:r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보안 점수 (%)</a:t>
            </a:r>
            <a:endParaRPr lang="en-US" sz="1125" dirty="0"/>
          </a:p>
        </p:txBody>
      </p:sp>
      <p:sp>
        <p:nvSpPr>
          <p:cNvPr id="41" name="Text 13"/>
          <p:cNvSpPr/>
          <p:nvPr/>
        </p:nvSpPr>
        <p:spPr>
          <a:xfrm>
            <a:off x="2445693" y="3920579"/>
            <a:ext cx="893266" cy="64070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66.6%</a:t>
            </a:r>
            <a:endParaRPr lang="en-US" sz="1125" dirty="0"/>
          </a:p>
        </p:txBody>
      </p:sp>
      <p:sp>
        <p:nvSpPr>
          <p:cNvPr id="42" name="Text 14"/>
          <p:cNvSpPr/>
          <p:nvPr/>
        </p:nvSpPr>
        <p:spPr>
          <a:xfrm>
            <a:off x="3415159" y="3920579"/>
            <a:ext cx="896689" cy="64070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8B0000"/>
                </a:solidFill>
              </a:rPr>
              <a:t>83.1%</a:t>
            </a:r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8B0000"/>
                </a:solidFill>
              </a:rPr>
              <a:t>
</a:t>
            </a:r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8B0000"/>
                </a:solidFill>
              </a:rPr>
              <a:t>(+16.5%p)</a:t>
            </a:r>
            <a:endParaRPr lang="en-US" sz="1125" dirty="0"/>
          </a:p>
        </p:txBody>
      </p:sp>
      <p:sp>
        <p:nvSpPr>
          <p:cNvPr id="43" name="Text 15"/>
          <p:cNvSpPr/>
          <p:nvPr/>
        </p:nvSpPr>
        <p:spPr>
          <a:xfrm>
            <a:off x="4388048" y="3920579"/>
            <a:ext cx="1168450" cy="64070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+16.5%p</a:t>
            </a:r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
</a:t>
            </a:r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향상</a:t>
            </a:r>
            <a:endParaRPr lang="en-US" sz="1125" dirty="0"/>
          </a:p>
        </p:txBody>
      </p:sp>
      <p:sp>
        <p:nvSpPr>
          <p:cNvPr id="44" name="Text 16"/>
          <p:cNvSpPr/>
          <p:nvPr/>
        </p:nvSpPr>
        <p:spPr>
          <a:xfrm>
            <a:off x="609600" y="4561284"/>
            <a:ext cx="1759893" cy="64070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SWE-bench Pro</a:t>
            </a:r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
</a:t>
            </a:r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이슈 해결 (%)</a:t>
            </a:r>
            <a:endParaRPr lang="en-US" sz="1125" dirty="0"/>
          </a:p>
        </p:txBody>
      </p:sp>
      <p:sp>
        <p:nvSpPr>
          <p:cNvPr id="45" name="Text 17"/>
          <p:cNvSpPr/>
          <p:nvPr/>
        </p:nvSpPr>
        <p:spPr>
          <a:xfrm>
            <a:off x="2445693" y="4561284"/>
            <a:ext cx="893266" cy="64070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48.1%</a:t>
            </a:r>
            <a:endParaRPr lang="en-US" sz="1125" dirty="0"/>
          </a:p>
        </p:txBody>
      </p:sp>
      <p:sp>
        <p:nvSpPr>
          <p:cNvPr id="46" name="Text 18"/>
          <p:cNvSpPr/>
          <p:nvPr/>
        </p:nvSpPr>
        <p:spPr>
          <a:xfrm>
            <a:off x="3415159" y="4561284"/>
            <a:ext cx="896689" cy="64070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8B0000"/>
                </a:solidFill>
              </a:rPr>
              <a:t>78.5%</a:t>
            </a:r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8B0000"/>
                </a:solidFill>
              </a:rPr>
              <a:t>
</a:t>
            </a:r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8B0000"/>
                </a:solidFill>
              </a:rPr>
              <a:t>(+30.4%p)</a:t>
            </a:r>
            <a:endParaRPr lang="en-US" sz="1125" dirty="0"/>
          </a:p>
        </p:txBody>
      </p:sp>
      <p:sp>
        <p:nvSpPr>
          <p:cNvPr id="47" name="Text 19"/>
          <p:cNvSpPr/>
          <p:nvPr/>
        </p:nvSpPr>
        <p:spPr>
          <a:xfrm>
            <a:off x="4388048" y="4561284"/>
            <a:ext cx="1168450" cy="64070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+30.4%p</a:t>
            </a:r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
</a:t>
            </a:r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향상</a:t>
            </a:r>
            <a:endParaRPr lang="en-US" sz="1125" dirty="0"/>
          </a:p>
        </p:txBody>
      </p:sp>
      <p:sp>
        <p:nvSpPr>
          <p:cNvPr id="48" name="Text 20"/>
          <p:cNvSpPr/>
          <p:nvPr/>
        </p:nvSpPr>
        <p:spPr>
          <a:xfrm>
            <a:off x="609600" y="5201989"/>
            <a:ext cx="1759893" cy="64085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Terminal-Bench</a:t>
            </a:r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
</a:t>
            </a:r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2.0 작업 수행 (%)</a:t>
            </a:r>
            <a:endParaRPr lang="en-US" sz="1125" dirty="0"/>
          </a:p>
        </p:txBody>
      </p:sp>
      <p:sp>
        <p:nvSpPr>
          <p:cNvPr id="49" name="Text 21"/>
          <p:cNvSpPr/>
          <p:nvPr/>
        </p:nvSpPr>
        <p:spPr>
          <a:xfrm>
            <a:off x="2445693" y="5201989"/>
            <a:ext cx="893266" cy="64085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65.4%</a:t>
            </a:r>
            <a:endParaRPr lang="en-US" sz="1125" dirty="0"/>
          </a:p>
        </p:txBody>
      </p:sp>
      <p:sp>
        <p:nvSpPr>
          <p:cNvPr id="50" name="Text 22"/>
          <p:cNvSpPr/>
          <p:nvPr/>
        </p:nvSpPr>
        <p:spPr>
          <a:xfrm>
            <a:off x="3415159" y="5201989"/>
            <a:ext cx="896689" cy="64085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8B0000"/>
                </a:solidFill>
              </a:rPr>
              <a:t>82.0%</a:t>
            </a:r>
            <a:endParaRPr lang="en-US" sz="1125" dirty="0"/>
          </a:p>
        </p:txBody>
      </p:sp>
      <p:sp>
        <p:nvSpPr>
          <p:cNvPr id="51" name="Text 23"/>
          <p:cNvSpPr/>
          <p:nvPr/>
        </p:nvSpPr>
        <p:spPr>
          <a:xfrm>
            <a:off x="4388048" y="5201989"/>
            <a:ext cx="1168450" cy="640854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+16.6%p</a:t>
            </a:r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
</a:t>
            </a:r>
            <a:pPr algn="ctr" indent="0" marL="0">
              <a:lnSpc>
                <a:spcPts val="1406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향상</a:t>
            </a:r>
            <a:endParaRPr lang="en-US" sz="1125" dirty="0"/>
          </a:p>
        </p:txBody>
      </p:sp>
      <p:sp>
        <p:nvSpPr>
          <p:cNvPr id="52" name="Text 24"/>
          <p:cNvSpPr/>
          <p:nvPr/>
        </p:nvSpPr>
        <p:spPr>
          <a:xfrm>
            <a:off x="228600" y="123825"/>
            <a:ext cx="11963400" cy="4080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213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기술적 변화 분석: Mythos vs Opus 4.6 벤치마크 데이터 비교</a:t>
            </a:r>
            <a:endParaRPr lang="en-US" sz="2700" dirty="0"/>
          </a:p>
        </p:txBody>
      </p:sp>
      <p:sp>
        <p:nvSpPr>
          <p:cNvPr id="53" name="Text 25"/>
          <p:cNvSpPr/>
          <p:nvPr/>
        </p:nvSpPr>
        <p:spPr>
          <a:xfrm>
            <a:off x="352425" y="742950"/>
            <a:ext cx="10561320" cy="37073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19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 Mythos의 질적 도약을 입증하는 정량적 지표</a:t>
            </a:r>
            <a:endParaRPr lang="en-US" sz="2100" dirty="0"/>
          </a:p>
        </p:txBody>
      </p:sp>
      <p:sp>
        <p:nvSpPr>
          <p:cNvPr id="54" name="Text 26"/>
          <p:cNvSpPr/>
          <p:nvPr/>
        </p:nvSpPr>
        <p:spPr>
          <a:xfrm>
            <a:off x="6686550" y="1495425"/>
            <a:ext cx="5505450" cy="37073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919"/>
              </a:lnSpc>
              <a:buNone/>
            </a:pPr>
            <a:r>
              <a:rPr lang="en-US" sz="2100" b="1" dirty="0">
                <a:solidFill>
                  <a:srgbClr val="4A001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역량 창발 분석: 공격적 능력의 발생</a:t>
            </a:r>
            <a:endParaRPr lang="en-US" sz="2100" dirty="0"/>
          </a:p>
        </p:txBody>
      </p:sp>
      <p:sp>
        <p:nvSpPr>
          <p:cNvPr id="55" name="Text 27"/>
          <p:cNvSpPr/>
          <p:nvPr/>
        </p:nvSpPr>
        <p:spPr>
          <a:xfrm>
            <a:off x="6686550" y="2181225"/>
            <a:ext cx="5343525" cy="13513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전문 보안 모델이 아닌: 범용 추론 및 코딩 능력 향상이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사이버 역량으로 창발, [Caveat: 일반 AI 모델의 성능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향상이 예기치 못한 공격 능력으로 전이되는 패턴 확인.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패턴은 항공 모든 범용 AI 개발에 중요한 시사점을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제공함. - Interpretation]</a:t>
            </a:r>
            <a:endParaRPr lang="en-US" sz="1650" dirty="0"/>
          </a:p>
        </p:txBody>
      </p:sp>
      <p:sp>
        <p:nvSpPr>
          <p:cNvPr id="56" name="Text 28"/>
          <p:cNvSpPr/>
          <p:nvPr/>
        </p:nvSpPr>
        <p:spPr>
          <a:xfrm>
            <a:off x="6686550" y="3486150"/>
            <a:ext cx="5490121" cy="10810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실용적 익스플로잇 반복 생산 확인: 단순한 성공 횟수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증가를 넘어, 반복적인 공격 패턴 생성을 입증함. [Note: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JS Shell에서의 90배 성공은 실제 공격 시나리오에서의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 수준을 극적으로 증대시킴. - Note]</a:t>
            </a:r>
            <a:endParaRPr lang="en-US" sz="1650" dirty="0"/>
          </a:p>
        </p:txBody>
      </p:sp>
      <p:sp>
        <p:nvSpPr>
          <p:cNvPr id="57" name="Text 29"/>
          <p:cNvSpPr/>
          <p:nvPr/>
        </p:nvSpPr>
        <p:spPr>
          <a:xfrm>
            <a:off x="6638925" y="4581525"/>
            <a:ext cx="5553075" cy="108108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에이전트 자율성 확대 근거: Terminal-Bench 데이터는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향상된 터미널 제어 능력과 자율적 작업 수행력을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[Uncertainty: 자율성 확대와 Terminal-Bench 성과 간의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12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정확한 인과적 상관관계는 추가 연구 필요. - Uncertainty]</a:t>
            </a:r>
            <a:endParaRPr lang="en-US" sz="1650" dirty="0"/>
          </a:p>
        </p:txBody>
      </p:sp>
      <p:sp>
        <p:nvSpPr>
          <p:cNvPr id="58" name="Text 30"/>
          <p:cNvSpPr/>
          <p:nvPr/>
        </p:nvSpPr>
        <p:spPr>
          <a:xfrm>
            <a:off x="6934200" y="5610225"/>
            <a:ext cx="1257300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99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및발참함.</a:t>
            </a:r>
            <a:endParaRPr lang="en-US" sz="1650" dirty="0"/>
          </a:p>
        </p:txBody>
      </p:sp>
      <p:sp>
        <p:nvSpPr>
          <p:cNvPr id="59" name="Text 31"/>
          <p:cNvSpPr/>
          <p:nvPr/>
        </p:nvSpPr>
        <p:spPr>
          <a:xfrm>
            <a:off x="590550" y="6229350"/>
            <a:ext cx="11601450" cy="943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743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Source: Anthropc internal benchmarking report (2026-04-07) and LG Display security validation tests.</a:t>
            </a:r>
            <a:endParaRPr lang="en-US" sz="750" dirty="0"/>
          </a:p>
        </p:txBody>
      </p:sp>
      <p:sp>
        <p:nvSpPr>
          <p:cNvPr id="60" name="Text 32"/>
          <p:cNvSpPr/>
          <p:nvPr/>
        </p:nvSpPr>
        <p:spPr>
          <a:xfrm>
            <a:off x="6562725" y="6229350"/>
            <a:ext cx="5629275" cy="9435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743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Validation of specific vulnerability chains is a continuous internal effort.</a:t>
            </a:r>
            <a:endParaRPr lang="en-US" sz="750" dirty="0"/>
          </a:p>
        </p:txBody>
      </p:sp>
      <p:sp>
        <p:nvSpPr>
          <p:cNvPr id="61" name="Text 33"/>
          <p:cNvSpPr/>
          <p:nvPr/>
        </p:nvSpPr>
        <p:spPr>
          <a:xfrm>
            <a:off x="5810696" y="6705600"/>
            <a:ext cx="618083" cy="1037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17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0863" y="1995636"/>
            <a:ext cx="2974777" cy="355922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0863" y="1995636"/>
            <a:ext cx="991493" cy="53340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2356" y="1995636"/>
            <a:ext cx="991493" cy="53340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53849" y="1995636"/>
            <a:ext cx="991791" cy="53340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0863" y="2529036"/>
            <a:ext cx="991493" cy="1008608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62356" y="2529036"/>
            <a:ext cx="991493" cy="1008608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53849" y="2529036"/>
            <a:ext cx="991791" cy="1008608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0863" y="3537645"/>
            <a:ext cx="991493" cy="1008608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562356" y="3537645"/>
            <a:ext cx="991493" cy="1008608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53849" y="3537645"/>
            <a:ext cx="991791" cy="1008608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70863" y="4546253"/>
            <a:ext cx="991493" cy="1008608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62356" y="4546253"/>
            <a:ext cx="991493" cy="1008608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553849" y="4546253"/>
            <a:ext cx="991791" cy="1008608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8570863" y="1995636"/>
            <a:ext cx="91529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A1A"/>
                </a:solidFill>
              </a:rPr>
              <a:t>지표</a:t>
            </a:r>
            <a:endParaRPr lang="en-US" sz="1500" dirty="0"/>
          </a:p>
        </p:txBody>
      </p:sp>
      <p:sp>
        <p:nvSpPr>
          <p:cNvPr id="17" name="Text 1"/>
          <p:cNvSpPr/>
          <p:nvPr/>
        </p:nvSpPr>
        <p:spPr>
          <a:xfrm>
            <a:off x="9562356" y="1995636"/>
            <a:ext cx="915293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A1A"/>
                </a:solidFill>
              </a:rPr>
              <a:t>Opus 4.6</a:t>
            </a:r>
            <a:endParaRPr lang="en-US" sz="1500" dirty="0"/>
          </a:p>
        </p:txBody>
      </p:sp>
      <p:sp>
        <p:nvSpPr>
          <p:cNvPr id="18" name="Text 2"/>
          <p:cNvSpPr/>
          <p:nvPr/>
        </p:nvSpPr>
        <p:spPr>
          <a:xfrm>
            <a:off x="10553849" y="1995636"/>
            <a:ext cx="91559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A1A"/>
                </a:solidFill>
              </a:rPr>
              <a:t>Claude</a:t>
            </a:r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A1A"/>
                </a:solidFill>
              </a:rPr>
              <a:t>
</a:t>
            </a:r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1A1A"/>
                </a:solidFill>
              </a:rPr>
              <a:t>Mythos</a:t>
            </a:r>
            <a:endParaRPr lang="en-US" sz="1500" dirty="0"/>
          </a:p>
        </p:txBody>
      </p:sp>
      <p:sp>
        <p:nvSpPr>
          <p:cNvPr id="19" name="Text 3"/>
          <p:cNvSpPr/>
          <p:nvPr/>
        </p:nvSpPr>
        <p:spPr>
          <a:xfrm>
            <a:off x="8570863" y="2529036"/>
            <a:ext cx="915293" cy="100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1A1A1A"/>
                </a:solidFill>
              </a:rPr>
              <a:t>Firefox</a:t>
            </a:r>
            <a:pPr algn="ctr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1A1A1A"/>
                </a:solidFill>
              </a:rPr>
              <a:t>
</a:t>
            </a:r>
            <a:pPr algn="ctr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1A1A1A"/>
                </a:solidFill>
              </a:rPr>
              <a:t>익스플로잇</a:t>
            </a:r>
            <a:pPr algn="ctr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1A1A1A"/>
                </a:solidFill>
              </a:rPr>
              <a:t>
</a:t>
            </a:r>
            <a:pPr algn="ctr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1A1A1A"/>
                </a:solidFill>
              </a:rPr>
              <a:t>성공 횟수</a:t>
            </a:r>
            <a:endParaRPr lang="en-US" sz="1425" dirty="0"/>
          </a:p>
        </p:txBody>
      </p:sp>
      <p:sp>
        <p:nvSpPr>
          <p:cNvPr id="20" name="Text 4"/>
          <p:cNvSpPr/>
          <p:nvPr/>
        </p:nvSpPr>
        <p:spPr>
          <a:xfrm>
            <a:off x="9562356" y="2529036"/>
            <a:ext cx="915293" cy="100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1A1A1A"/>
                </a:solidFill>
              </a:rPr>
              <a:t>2</a:t>
            </a:r>
            <a:endParaRPr lang="en-US" sz="1800" dirty="0"/>
          </a:p>
        </p:txBody>
      </p:sp>
      <p:sp>
        <p:nvSpPr>
          <p:cNvPr id="21" name="Text 5"/>
          <p:cNvSpPr/>
          <p:nvPr/>
        </p:nvSpPr>
        <p:spPr>
          <a:xfrm>
            <a:off x="10553849" y="2529036"/>
            <a:ext cx="915591" cy="100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9E0B23"/>
                </a:solidFill>
              </a:rPr>
              <a:t>181</a:t>
            </a:r>
            <a:endParaRPr lang="en-US" sz="1800" dirty="0"/>
          </a:p>
        </p:txBody>
      </p:sp>
      <p:sp>
        <p:nvSpPr>
          <p:cNvPr id="22" name="Text 6"/>
          <p:cNvSpPr/>
          <p:nvPr/>
        </p:nvSpPr>
        <p:spPr>
          <a:xfrm>
            <a:off x="8570863" y="3537645"/>
            <a:ext cx="915293" cy="100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1A1A1A"/>
                </a:solidFill>
              </a:rPr>
              <a:t>SWE-bench</a:t>
            </a:r>
            <a:pPr algn="ctr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1A1A1A"/>
                </a:solidFill>
              </a:rPr>
              <a:t>
</a:t>
            </a:r>
            <a:pPr algn="ctr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1A1A1A"/>
                </a:solidFill>
              </a:rPr>
              <a:t>Pro 점수</a:t>
            </a:r>
            <a:endParaRPr lang="en-US" sz="1425" dirty="0"/>
          </a:p>
        </p:txBody>
      </p:sp>
      <p:sp>
        <p:nvSpPr>
          <p:cNvPr id="23" name="Text 7"/>
          <p:cNvSpPr/>
          <p:nvPr/>
        </p:nvSpPr>
        <p:spPr>
          <a:xfrm>
            <a:off x="9562356" y="3537645"/>
            <a:ext cx="915293" cy="100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1A1A1A"/>
                </a:solidFill>
              </a:rPr>
              <a:t>53.4%</a:t>
            </a:r>
            <a:endParaRPr lang="en-US" sz="1800" dirty="0"/>
          </a:p>
        </p:txBody>
      </p:sp>
      <p:sp>
        <p:nvSpPr>
          <p:cNvPr id="24" name="Text 8"/>
          <p:cNvSpPr/>
          <p:nvPr/>
        </p:nvSpPr>
        <p:spPr>
          <a:xfrm>
            <a:off x="10553849" y="3537645"/>
            <a:ext cx="915591" cy="100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9E0B23"/>
                </a:solidFill>
              </a:rPr>
              <a:t>77.8%</a:t>
            </a:r>
            <a:endParaRPr lang="en-US" sz="1800" dirty="0"/>
          </a:p>
        </p:txBody>
      </p:sp>
      <p:sp>
        <p:nvSpPr>
          <p:cNvPr id="25" name="Text 9"/>
          <p:cNvSpPr/>
          <p:nvPr/>
        </p:nvSpPr>
        <p:spPr>
          <a:xfrm>
            <a:off x="8570863" y="4546253"/>
            <a:ext cx="915293" cy="100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1A1A1A"/>
                </a:solidFill>
              </a:rPr>
              <a:t>반복 신뢰도</a:t>
            </a:r>
            <a:endParaRPr lang="en-US" sz="1425" dirty="0"/>
          </a:p>
        </p:txBody>
      </p:sp>
      <p:sp>
        <p:nvSpPr>
          <p:cNvPr id="26" name="Text 10"/>
          <p:cNvSpPr/>
          <p:nvPr/>
        </p:nvSpPr>
        <p:spPr>
          <a:xfrm>
            <a:off x="9562356" y="4546253"/>
            <a:ext cx="915293" cy="100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1A1A1A"/>
                </a:solidFill>
              </a:rPr>
              <a:t>낮음</a:t>
            </a:r>
            <a:endParaRPr lang="en-US" sz="1800" dirty="0"/>
          </a:p>
        </p:txBody>
      </p:sp>
      <p:sp>
        <p:nvSpPr>
          <p:cNvPr id="27" name="Text 11"/>
          <p:cNvSpPr/>
          <p:nvPr/>
        </p:nvSpPr>
        <p:spPr>
          <a:xfrm>
            <a:off x="10553849" y="4546253"/>
            <a:ext cx="915591" cy="100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9E0B23"/>
                </a:solidFill>
              </a:rPr>
              <a:t>높음</a:t>
            </a:r>
            <a:endParaRPr lang="en-US" sz="1800" dirty="0"/>
          </a:p>
        </p:txBody>
      </p:sp>
      <p:sp>
        <p:nvSpPr>
          <p:cNvPr id="28" name="Text 12"/>
          <p:cNvSpPr/>
          <p:nvPr/>
        </p:nvSpPr>
        <p:spPr>
          <a:xfrm>
            <a:off x="228600" y="123825"/>
            <a:ext cx="11963400" cy="4080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213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아키텍처의 실체: 왜 이것은 마법 같은 새로운 기술이 아닌가</a:t>
            </a:r>
            <a:endParaRPr lang="en-US" sz="2700" dirty="0"/>
          </a:p>
        </p:txBody>
      </p:sp>
      <p:sp>
        <p:nvSpPr>
          <p:cNvPr id="29" name="Text 13"/>
          <p:cNvSpPr/>
          <p:nvPr/>
        </p:nvSpPr>
        <p:spPr>
          <a:xfrm>
            <a:off x="352425" y="742950"/>
            <a:ext cx="672084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기술 스택 기반의 모델 품질 혁신</a:t>
            </a:r>
            <a:endParaRPr lang="en-US" sz="2100" dirty="0"/>
          </a:p>
        </p:txBody>
      </p:sp>
      <p:sp>
        <p:nvSpPr>
          <p:cNvPr id="30" name="Text 14"/>
          <p:cNvSpPr/>
          <p:nvPr/>
        </p:nvSpPr>
        <p:spPr>
          <a:xfrm>
            <a:off x="714375" y="1466850"/>
            <a:ext cx="256032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핵심 요약</a:t>
            </a:r>
            <a:endParaRPr lang="en-US" sz="2100" dirty="0"/>
          </a:p>
        </p:txBody>
      </p:sp>
      <p:sp>
        <p:nvSpPr>
          <p:cNvPr id="31" name="Text 15"/>
          <p:cNvSpPr/>
          <p:nvPr/>
        </p:nvSpPr>
        <p:spPr>
          <a:xfrm>
            <a:off x="8639175" y="1466850"/>
            <a:ext cx="3520440" cy="3199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벤치마크 데이터 비교</a:t>
            </a:r>
            <a:endParaRPr lang="en-US" sz="2100" dirty="0"/>
          </a:p>
        </p:txBody>
      </p:sp>
      <p:sp>
        <p:nvSpPr>
          <p:cNvPr id="32" name="Text 16"/>
          <p:cNvSpPr/>
          <p:nvPr/>
        </p:nvSpPr>
        <p:spPr>
          <a:xfrm>
            <a:off x="714375" y="1924050"/>
            <a:ext cx="7292280" cy="56524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25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기존 기술 활용: 샌드박스, 도구, 반복 루프는 새로운 아키텍처가 아닌</a:t>
            </a:r>
            <a:pPr indent="0" marL="0">
              <a:lnSpc>
                <a:spcPts val="2225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25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에이전트 패턴의 연장선.</a:t>
            </a:r>
            <a:endParaRPr lang="en-US" sz="1725" dirty="0"/>
          </a:p>
        </p:txBody>
      </p:sp>
      <p:sp>
        <p:nvSpPr>
          <p:cNvPr id="33" name="Text 17"/>
          <p:cNvSpPr/>
          <p:nvPr/>
        </p:nvSpPr>
        <p:spPr>
          <a:xfrm>
            <a:off x="714375" y="2590800"/>
            <a:ext cx="7721798" cy="56524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25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결과의 질 및 신뢰도 향상: 취약점 발견 → 익스플로잇 제작 → 연쇄 공격의</a:t>
            </a:r>
            <a:pPr indent="0" marL="0">
              <a:lnSpc>
                <a:spcPts val="2225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25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안정적인 재현 가능.</a:t>
            </a:r>
            <a:endParaRPr lang="en-US" sz="1725" dirty="0"/>
          </a:p>
        </p:txBody>
      </p:sp>
      <p:sp>
        <p:nvSpPr>
          <p:cNvPr id="34" name="Text 18"/>
          <p:cNvSpPr/>
          <p:nvPr/>
        </p:nvSpPr>
        <p:spPr>
          <a:xfrm>
            <a:off x="714375" y="3276600"/>
            <a:ext cx="6317903" cy="56524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25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Opus 4.6 대비 극적 성공률:</a:t>
            </a:r>
            <a:pPr indent="0" marL="0">
              <a:lnSpc>
                <a:spcPts val="2225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25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Firefox 익스플로잇 성공 횟수가 90배 상승 (2회 → 181회).</a:t>
            </a:r>
            <a:endParaRPr lang="en-US" sz="1725" dirty="0"/>
          </a:p>
        </p:txBody>
      </p:sp>
      <p:sp>
        <p:nvSpPr>
          <p:cNvPr id="35" name="Text 19"/>
          <p:cNvSpPr/>
          <p:nvPr/>
        </p:nvSpPr>
        <p:spPr>
          <a:xfrm>
            <a:off x="714375" y="3943350"/>
            <a:ext cx="5804446" cy="56524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25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전반적 코딩 역량 향상:</a:t>
            </a:r>
            <a:pPr indent="0" marL="0">
              <a:lnSpc>
                <a:spcPts val="2225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25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SWE-bench Pro 점수가 53.4%에서 77.8%로 상승.</a:t>
            </a:r>
            <a:endParaRPr lang="en-US" sz="1725" dirty="0"/>
          </a:p>
        </p:txBody>
      </p:sp>
      <p:sp>
        <p:nvSpPr>
          <p:cNvPr id="36" name="Text 20"/>
          <p:cNvSpPr/>
          <p:nvPr/>
        </p:nvSpPr>
        <p:spPr>
          <a:xfrm>
            <a:off x="714375" y="4610100"/>
            <a:ext cx="7627590" cy="56524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25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 창발적 역량:</a:t>
            </a:r>
            <a:pPr indent="0" marL="0">
              <a:lnSpc>
                <a:spcPts val="2225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25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Anthropic 오피셜 - 코드, 추론, 자율성 개선의 부산물, 의도된 설계 아님.</a:t>
            </a:r>
            <a:endParaRPr lang="en-US" sz="1725" dirty="0"/>
          </a:p>
        </p:txBody>
      </p:sp>
      <p:sp>
        <p:nvSpPr>
          <p:cNvPr id="37" name="Text 21"/>
          <p:cNvSpPr/>
          <p:nvPr/>
        </p:nvSpPr>
        <p:spPr>
          <a:xfrm>
            <a:off x="714375" y="5267325"/>
            <a:ext cx="7774186" cy="56524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25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 진정한 기술 해자(Moat): MCP·스케폴드는 클론 가능, 격차는 모델 품질과</a:t>
            </a:r>
            <a:pPr indent="0" marL="0">
              <a:lnSpc>
                <a:spcPts val="2225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225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Eval 운영 노하우에 있음.</a:t>
            </a:r>
            <a:endParaRPr lang="en-US" sz="1725" dirty="0"/>
          </a:p>
        </p:txBody>
      </p:sp>
      <p:sp>
        <p:nvSpPr>
          <p:cNvPr id="38" name="Text 22"/>
          <p:cNvSpPr/>
          <p:nvPr/>
        </p:nvSpPr>
        <p:spPr>
          <a:xfrm>
            <a:off x="7543800" y="6229350"/>
            <a:ext cx="451574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42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*참조: Anthropic 공식 발표 자료 및 내부 벤치마크 데이터 (2026.04.07)</a:t>
            </a:r>
            <a:endParaRPr lang="en-US" sz="1200" dirty="0"/>
          </a:p>
        </p:txBody>
      </p:sp>
      <p:sp>
        <p:nvSpPr>
          <p:cNvPr id="39" name="Text 23"/>
          <p:cNvSpPr/>
          <p:nvPr/>
        </p:nvSpPr>
        <p:spPr>
          <a:xfrm>
            <a:off x="5334893" y="3867150"/>
            <a:ext cx="2912715" cy="5956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64"/>
              </a:lnSpc>
              <a:buNone/>
            </a:pPr>
            <a:r>
              <a:rPr lang="en-US" sz="1125" dirty="0">
                <a:solidFill>
                  <a:srgbClr val="005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*SWE-bench 점수 향상이 전적으로 보안</a:t>
            </a:r>
            <a:pPr algn="ctr" indent="0" marL="0">
              <a:lnSpc>
                <a:spcPts val="1564"/>
              </a:lnSpc>
              <a:buNone/>
            </a:pPr>
            <a:r>
              <a:rPr lang="en-US" sz="1125" dirty="0">
                <a:solidFill>
                  <a:srgbClr val="005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64"/>
              </a:lnSpc>
              <a:buNone/>
            </a:pPr>
            <a:r>
              <a:rPr lang="en-US" sz="1125" dirty="0">
                <a:solidFill>
                  <a:srgbClr val="005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능력으로 전이된다고 단정하기에는</a:t>
            </a:r>
            <a:pPr algn="ctr" indent="0" marL="0">
              <a:lnSpc>
                <a:spcPts val="1564"/>
              </a:lnSpc>
              <a:buNone/>
            </a:pPr>
            <a:r>
              <a:rPr lang="en-US" sz="1125" dirty="0">
                <a:solidFill>
                  <a:srgbClr val="005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64"/>
              </a:lnSpc>
              <a:buNone/>
            </a:pPr>
            <a:r>
              <a:rPr lang="en-US" sz="1125" dirty="0">
                <a:solidFill>
                  <a:srgbClr val="005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아직 데이터가 부족함</a:t>
            </a:r>
            <a:endParaRPr lang="en-US" sz="1125" dirty="0"/>
          </a:p>
        </p:txBody>
      </p:sp>
      <p:sp>
        <p:nvSpPr>
          <p:cNvPr id="40" name="Text 24"/>
          <p:cNvSpPr/>
          <p:nvPr/>
        </p:nvSpPr>
        <p:spPr>
          <a:xfrm>
            <a:off x="5813524" y="6705600"/>
            <a:ext cx="55527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93"/>
              </a:lnSpc>
              <a:buNone/>
            </a:pPr>
            <a:r>
              <a:rPr lang="en-US" sz="7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68188" cy="24675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7961" y="4100959"/>
            <a:ext cx="341263" cy="308521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0165" y="1446907"/>
            <a:ext cx="316855" cy="301675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11323" y="400050"/>
            <a:ext cx="12080677" cy="46479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659"/>
              </a:lnSpc>
              <a:buNone/>
            </a:pPr>
            <a:r>
              <a:rPr lang="en-US" sz="30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임계점 사건(Threshold Event)으로서의 본질적 가치와 질적 차이</a:t>
            </a:r>
            <a:endParaRPr lang="en-US" sz="3075" dirty="0"/>
          </a:p>
        </p:txBody>
      </p:sp>
      <p:sp>
        <p:nvSpPr>
          <p:cNvPr id="7" name="Text 1"/>
          <p:cNvSpPr/>
          <p:nvPr/>
        </p:nvSpPr>
        <p:spPr>
          <a:xfrm>
            <a:off x="657225" y="1609725"/>
            <a:ext cx="3384203" cy="58638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09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질적 도약: 버그 발견 → 실전</a:t>
            </a:r>
            <a:pPr indent="0" marL="0">
              <a:lnSpc>
                <a:spcPts val="2309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09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익스플로잇 생성</a:t>
            </a:r>
            <a:endParaRPr lang="en-US" sz="2025" dirty="0"/>
          </a:p>
        </p:txBody>
      </p:sp>
      <p:sp>
        <p:nvSpPr>
          <p:cNvPr id="8" name="Text 2"/>
          <p:cNvSpPr/>
          <p:nvPr/>
        </p:nvSpPr>
        <p:spPr>
          <a:xfrm>
            <a:off x="4533900" y="1609725"/>
            <a:ext cx="3426023" cy="58638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09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Firefox JS Shell 벤치마크:</a:t>
            </a:r>
            <a:pPr indent="0" marL="0">
              <a:lnSpc>
                <a:spcPts val="2309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09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Opus 4.6 대비 90배 성공률</a:t>
            </a:r>
            <a:endParaRPr lang="en-US" sz="2025" dirty="0"/>
          </a:p>
        </p:txBody>
      </p:sp>
      <p:sp>
        <p:nvSpPr>
          <p:cNvPr id="9" name="Text 3"/>
          <p:cNvSpPr/>
          <p:nvPr/>
        </p:nvSpPr>
        <p:spPr>
          <a:xfrm>
            <a:off x="8391525" y="1609725"/>
            <a:ext cx="3656558" cy="58638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09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연쇄 공격(Exploit Chaining)</a:t>
            </a:r>
            <a:pPr indent="0" marL="0">
              <a:lnSpc>
                <a:spcPts val="2309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09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자율 수행 능력 확인</a:t>
            </a:r>
            <a:endParaRPr lang="en-US" sz="2025" dirty="0"/>
          </a:p>
        </p:txBody>
      </p:sp>
      <p:sp>
        <p:nvSpPr>
          <p:cNvPr id="10" name="Text 4"/>
          <p:cNvSpPr/>
          <p:nvPr/>
        </p:nvSpPr>
        <p:spPr>
          <a:xfrm>
            <a:off x="657225" y="4305300"/>
            <a:ext cx="2367855" cy="58638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09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창발적 사이버 능력:</a:t>
            </a:r>
            <a:pPr indent="0" marL="0">
              <a:lnSpc>
                <a:spcPts val="2309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09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범용 모델의 부산물</a:t>
            </a:r>
            <a:endParaRPr lang="en-US" sz="2025" dirty="0"/>
          </a:p>
        </p:txBody>
      </p:sp>
      <p:sp>
        <p:nvSpPr>
          <p:cNvPr id="11" name="Text 5"/>
          <p:cNvSpPr/>
          <p:nvPr/>
        </p:nvSpPr>
        <p:spPr>
          <a:xfrm>
            <a:off x="4533900" y="4305300"/>
            <a:ext cx="3143250" cy="58638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09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취약점 무기화 소요 시간의</a:t>
            </a:r>
            <a:pPr indent="0" marL="0">
              <a:lnSpc>
                <a:spcPts val="2309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09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급격한 단축</a:t>
            </a:r>
            <a:endParaRPr lang="en-US" sz="2025" dirty="0"/>
          </a:p>
        </p:txBody>
      </p:sp>
      <p:sp>
        <p:nvSpPr>
          <p:cNvPr id="12" name="Text 6"/>
          <p:cNvSpPr/>
          <p:nvPr/>
        </p:nvSpPr>
        <p:spPr>
          <a:xfrm>
            <a:off x="8391525" y="4305300"/>
            <a:ext cx="3174653" cy="58638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09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패러다임 전환: 방어자 우위</a:t>
            </a:r>
            <a:pPr indent="0" marL="0">
              <a:lnSpc>
                <a:spcPts val="2309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309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전제 붕괴</a:t>
            </a:r>
            <a:endParaRPr lang="en-US" sz="2025" dirty="0"/>
          </a:p>
        </p:txBody>
      </p:sp>
      <p:sp>
        <p:nvSpPr>
          <p:cNvPr id="13" name="Text 7"/>
          <p:cNvSpPr/>
          <p:nvPr/>
        </p:nvSpPr>
        <p:spPr>
          <a:xfrm>
            <a:off x="657225" y="2381250"/>
            <a:ext cx="3551783" cy="7884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Mythos는 취약점 탐색을 넘어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실사용 가능한 익스플로잇 코드를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반복 생성하는 단계에 진입.</a:t>
            </a:r>
            <a:endParaRPr lang="en-US" sz="1725" dirty="0"/>
          </a:p>
        </p:txBody>
      </p:sp>
      <p:sp>
        <p:nvSpPr>
          <p:cNvPr id="14" name="Text 8"/>
          <p:cNvSpPr/>
          <p:nvPr/>
        </p:nvSpPr>
        <p:spPr>
          <a:xfrm>
            <a:off x="4533900" y="2381250"/>
            <a:ext cx="3551783" cy="7884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Opus 4.6의 2회 성공 대비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Mythos는 181회 성공, 신뢰도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기반 대량 익스플로잇 생성 가능.</a:t>
            </a:r>
            <a:endParaRPr lang="en-US" sz="1725" dirty="0"/>
          </a:p>
        </p:txBody>
      </p:sp>
      <p:sp>
        <p:nvSpPr>
          <p:cNvPr id="15" name="Text 9"/>
          <p:cNvSpPr/>
          <p:nvPr/>
        </p:nvSpPr>
        <p:spPr>
          <a:xfrm>
            <a:off x="8391525" y="2381250"/>
            <a:ext cx="3562350" cy="52566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복수 취약점을 연결한 Tier-5 제어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흐름 하이재킹 10회 성공 기록.</a:t>
            </a:r>
            <a:endParaRPr lang="en-US" sz="1725" dirty="0"/>
          </a:p>
        </p:txBody>
      </p:sp>
      <p:sp>
        <p:nvSpPr>
          <p:cNvPr id="16" name="Text 10"/>
          <p:cNvSpPr/>
          <p:nvPr/>
        </p:nvSpPr>
        <p:spPr>
          <a:xfrm>
            <a:off x="657225" y="5029200"/>
            <a:ext cx="3405188" cy="7884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코딩·추론·자율성 향상이 전용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없이도 사이버 공격 능력을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창발시킨 구조적 위험성 내포.</a:t>
            </a:r>
            <a:endParaRPr lang="en-US" sz="1725" dirty="0"/>
          </a:p>
        </p:txBody>
      </p:sp>
      <p:sp>
        <p:nvSpPr>
          <p:cNvPr id="17" name="Text 11"/>
          <p:cNvSpPr/>
          <p:nvPr/>
        </p:nvSpPr>
        <p:spPr>
          <a:xfrm>
            <a:off x="4533900" y="5029200"/>
            <a:ext cx="3551783" cy="7884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보안 패치 사이클이 AI 기반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익스플로잇 생성 속도를 따라가지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70"/>
              </a:lnSpc>
              <a:buNone/>
            </a:pPr>
            <a:r>
              <a:rPr lang="en-US" sz="17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못하는 임계점 도달.</a:t>
            </a:r>
            <a:endParaRPr lang="en-US" sz="1725" dirty="0"/>
          </a:p>
        </p:txBody>
      </p:sp>
      <p:sp>
        <p:nvSpPr>
          <p:cNvPr id="18" name="Text 12"/>
          <p:cNvSpPr/>
          <p:nvPr/>
        </p:nvSpPr>
        <p:spPr>
          <a:xfrm>
            <a:off x="8391525" y="5029200"/>
            <a:ext cx="3687961" cy="46107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1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공격 자동화 비용 급감하며 기존 CVSS</a:t>
            </a:r>
            <a:pPr indent="0" marL="0">
              <a:lnSpc>
                <a:spcPts val="181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15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우선순위 체계의 근본적 재검토 필요.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9144000" y="6343650"/>
            <a:ext cx="2807940" cy="13067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029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Source : Anthropic Tech Report, Apr 2026</a:t>
            </a:r>
            <a:endParaRPr lang="en-US" sz="1050" dirty="0"/>
          </a:p>
        </p:txBody>
      </p:sp>
      <p:sp>
        <p:nvSpPr>
          <p:cNvPr id="20" name="Text 14"/>
          <p:cNvSpPr/>
          <p:nvPr/>
        </p:nvSpPr>
        <p:spPr>
          <a:xfrm>
            <a:off x="533400" y="6467475"/>
            <a:ext cx="1280160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68"/>
              </a:lnSpc>
              <a:buNone/>
            </a:pPr>
            <a:r>
              <a:rPr lang="en-US" sz="1200" b="1" dirty="0">
                <a:solidFill>
                  <a:srgbClr val="5858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Display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8391525" y="5657850"/>
            <a:ext cx="354136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0"/>
              </a:lnSpc>
              <a:buNone/>
            </a:pPr>
            <a:r>
              <a:rPr lang="en-US" sz="1125" i="1" dirty="0">
                <a:solidFill>
                  <a:srgbClr val="1B5E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*Interpretation of long-term risk depends on</a:t>
            </a:r>
            <a:pPr indent="0" marL="0">
              <a:lnSpc>
                <a:spcPts val="1350"/>
              </a:lnSpc>
              <a:buNone/>
            </a:pPr>
            <a:r>
              <a:rPr lang="en-US" sz="1125" i="1" dirty="0">
                <a:solidFill>
                  <a:srgbClr val="1B5E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350"/>
              </a:lnSpc>
              <a:buNone/>
            </a:pPr>
            <a:r>
              <a:rPr lang="en-US" sz="1125" i="1" dirty="0">
                <a:solidFill>
                  <a:srgbClr val="1B5E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defense implementation speed</a:t>
            </a:r>
            <a:endParaRPr lang="en-US" sz="1125" dirty="0"/>
          </a:p>
        </p:txBody>
      </p:sp>
      <p:sp>
        <p:nvSpPr>
          <p:cNvPr id="22" name="Text 16"/>
          <p:cNvSpPr/>
          <p:nvPr/>
        </p:nvSpPr>
        <p:spPr>
          <a:xfrm>
            <a:off x="5875883" y="6734175"/>
            <a:ext cx="439936" cy="8483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668"/>
              </a:lnSpc>
              <a:buNone/>
            </a:pPr>
            <a:r>
              <a:rPr lang="en-US" sz="675" dirty="0">
                <a:solidFill>
                  <a:srgbClr val="58585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6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80392" cy="25360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2275" y="3950196"/>
            <a:ext cx="1694557" cy="692646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1577" y="5314950"/>
            <a:ext cx="560784" cy="56227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1663" y="5452021"/>
            <a:ext cx="438894" cy="281136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3953" y="5321796"/>
            <a:ext cx="451098" cy="521196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1263" y="2660898"/>
            <a:ext cx="475357" cy="287982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68667" y="2660898"/>
            <a:ext cx="280392" cy="308521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95765" y="2750046"/>
            <a:ext cx="280392" cy="267444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20667" y="5342334"/>
            <a:ext cx="743694" cy="651421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89177" y="5335488"/>
            <a:ext cx="694879" cy="665113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449961" y="3305473"/>
            <a:ext cx="182761" cy="157609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0275" y="2722513"/>
            <a:ext cx="292596" cy="294829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1969" y="5260032"/>
            <a:ext cx="963067" cy="843409"/>
          </a:xfrm>
          <a:prstGeom prst="rect">
            <a:avLst/>
          </a:prstGeom>
        </p:spPr>
      </p:pic>
      <p:sp>
        <p:nvSpPr>
          <p:cNvPr id="16" name="Text 0"/>
          <p:cNvSpPr/>
          <p:nvPr/>
        </p:nvSpPr>
        <p:spPr>
          <a:xfrm>
            <a:off x="228600" y="123825"/>
            <a:ext cx="11963400" cy="39677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124"/>
              </a:lnSpc>
              <a:buNone/>
            </a:pPr>
            <a:r>
              <a:rPr lang="en-US" sz="26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Glasswing: 방어적 이니셔티브와 글로벌 파트너십 현황</a:t>
            </a:r>
            <a:endParaRPr lang="en-US" sz="2625" dirty="0"/>
          </a:p>
        </p:txBody>
      </p:sp>
      <p:sp>
        <p:nvSpPr>
          <p:cNvPr id="17" name="Text 1"/>
          <p:cNvSpPr/>
          <p:nvPr/>
        </p:nvSpPr>
        <p:spPr>
          <a:xfrm>
            <a:off x="352425" y="876300"/>
            <a:ext cx="8850630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Glasswing 출범 배경 ⏰ Started</a:t>
            </a:r>
            <a:endParaRPr lang="en-US" sz="1725" dirty="0"/>
          </a:p>
        </p:txBody>
      </p:sp>
      <p:sp>
        <p:nvSpPr>
          <p:cNvPr id="18" name="Text 2"/>
          <p:cNvSpPr/>
          <p:nvPr/>
        </p:nvSpPr>
        <p:spPr>
          <a:xfrm>
            <a:off x="8577263" y="876300"/>
            <a:ext cx="3614738" cy="2607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Linux Foundation 표준화 추진</a:t>
            </a:r>
            <a:endParaRPr lang="en-US" sz="1725" dirty="0"/>
          </a:p>
        </p:txBody>
      </p:sp>
      <p:sp>
        <p:nvSpPr>
          <p:cNvPr id="19" name="Text 3"/>
          <p:cNvSpPr/>
          <p:nvPr/>
        </p:nvSpPr>
        <p:spPr>
          <a:xfrm>
            <a:off x="3810446" y="1495425"/>
            <a:ext cx="1665833" cy="5405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29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11개 주요 기업</a:t>
            </a:r>
            <a:pPr algn="ctr" indent="0" marL="0">
              <a:lnSpc>
                <a:spcPts val="2129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129"/>
              </a:lnSpc>
              <a:buNone/>
            </a:pPr>
            <a:r>
              <a:rPr lang="en-US" sz="1650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연합 구성</a:t>
            </a:r>
            <a:endParaRPr lang="en-US" sz="1650" dirty="0"/>
          </a:p>
        </p:txBody>
      </p:sp>
      <p:sp>
        <p:nvSpPr>
          <p:cNvPr id="20" name="Text 4"/>
          <p:cNvSpPr/>
          <p:nvPr/>
        </p:nvSpPr>
        <p:spPr>
          <a:xfrm>
            <a:off x="1549598" y="2847975"/>
            <a:ext cx="1739205" cy="5405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29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방어자 우선 공개</a:t>
            </a:r>
            <a:pPr algn="ctr" indent="0" marL="0">
              <a:lnSpc>
                <a:spcPts val="2129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129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원칙 적용</a:t>
            </a:r>
            <a:endParaRPr lang="en-US" sz="1650" dirty="0"/>
          </a:p>
        </p:txBody>
      </p:sp>
      <p:sp>
        <p:nvSpPr>
          <p:cNvPr id="21" name="Text 5"/>
          <p:cNvSpPr/>
          <p:nvPr/>
        </p:nvSpPr>
        <p:spPr>
          <a:xfrm>
            <a:off x="1413867" y="3514725"/>
            <a:ext cx="2001143" cy="10322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32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취약점 정보의</a:t>
            </a:r>
            <a:pPr algn="ctr" indent="0" marL="0">
              <a:lnSpc>
                <a:spcPts val="2032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032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익스플로잇 확산 전</a:t>
            </a:r>
            <a:pPr algn="ctr" indent="0" marL="0">
              <a:lnSpc>
                <a:spcPts val="2032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032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매치 시간 확보를 위한</a:t>
            </a:r>
            <a:pPr algn="ctr" indent="0" marL="0">
              <a:lnSpc>
                <a:spcPts val="2032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032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선제적 정보 공유.</a:t>
            </a:r>
            <a:endParaRPr lang="en-US" sz="1575" dirty="0"/>
          </a:p>
        </p:txBody>
      </p:sp>
      <p:sp>
        <p:nvSpPr>
          <p:cNvPr id="22" name="Text 6"/>
          <p:cNvSpPr/>
          <p:nvPr/>
        </p:nvSpPr>
        <p:spPr>
          <a:xfrm>
            <a:off x="3706118" y="4124325"/>
            <a:ext cx="1864965" cy="54054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129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거버넌스 프레임</a:t>
            </a:r>
            <a:pPr algn="ctr" indent="0" marL="0">
              <a:lnSpc>
                <a:spcPts val="2129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129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선점 전략</a:t>
            </a:r>
            <a:endParaRPr lang="en-US" sz="1650" dirty="0"/>
          </a:p>
        </p:txBody>
      </p:sp>
      <p:sp>
        <p:nvSpPr>
          <p:cNvPr id="23" name="Text 7"/>
          <p:cNvSpPr/>
          <p:nvPr/>
        </p:nvSpPr>
        <p:spPr>
          <a:xfrm>
            <a:off x="3402806" y="4724400"/>
            <a:ext cx="2462213" cy="5161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2032"/>
              </a:lnSpc>
              <a:buNone/>
            </a:pPr>
            <a:r>
              <a:rPr lang="en-US" sz="1575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*책임 있는 AI 배포 기준*</a:t>
            </a:r>
            <a:pPr algn="ctr" indent="0" marL="0">
              <a:lnSpc>
                <a:spcPts val="2032"/>
              </a:lnSpc>
              <a:buNone/>
            </a:pPr>
            <a:r>
              <a:rPr lang="en-US" sz="1575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2032"/>
              </a:lnSpc>
              <a:buNone/>
            </a:pPr>
            <a:r>
              <a:rPr lang="en-US" sz="1575" b="1" dirty="0">
                <a:solidFill>
                  <a:srgbClr val="8B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논의를 Anthropic이 주도.</a:t>
            </a:r>
            <a:endParaRPr lang="en-US" sz="1575" dirty="0"/>
          </a:p>
        </p:txBody>
      </p:sp>
      <p:sp>
        <p:nvSpPr>
          <p:cNvPr id="24" name="Text 8"/>
          <p:cNvSpPr/>
          <p:nvPr/>
        </p:nvSpPr>
        <p:spPr>
          <a:xfrm>
            <a:off x="6595467" y="1495425"/>
            <a:ext cx="2001143" cy="4723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6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Linux Foundation</a:t>
            </a:r>
            <a:pPr algn="ctr" indent="0" marL="0">
              <a:lnSpc>
                <a:spcPts val="186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6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표준화 추진</a:t>
            </a:r>
            <a:endParaRPr lang="en-US" sz="1500" dirty="0"/>
          </a:p>
        </p:txBody>
      </p:sp>
      <p:sp>
        <p:nvSpPr>
          <p:cNvPr id="25" name="Text 9"/>
          <p:cNvSpPr/>
          <p:nvPr/>
        </p:nvSpPr>
        <p:spPr>
          <a:xfrm>
            <a:off x="8854827" y="2847975"/>
            <a:ext cx="1959173" cy="4723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6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인프라</a:t>
            </a:r>
            <a:pPr algn="ctr" indent="0" marL="0">
              <a:lnSpc>
                <a:spcPts val="186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6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참여자로 포지셔닝</a:t>
            </a:r>
            <a:endParaRPr lang="en-US" sz="1500" dirty="0"/>
          </a:p>
        </p:txBody>
      </p:sp>
      <p:sp>
        <p:nvSpPr>
          <p:cNvPr id="26" name="Text 10"/>
          <p:cNvSpPr/>
          <p:nvPr/>
        </p:nvSpPr>
        <p:spPr>
          <a:xfrm>
            <a:off x="6465094" y="4095750"/>
            <a:ext cx="2147888" cy="4723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6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 인프라</a:t>
            </a:r>
            <a:pPr algn="ctr" indent="0" marL="0">
              <a:lnSpc>
                <a:spcPts val="186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6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참여자로 포지셔닝</a:t>
            </a:r>
            <a:endParaRPr lang="en-US" sz="1500" dirty="0"/>
          </a:p>
        </p:txBody>
      </p:sp>
      <p:sp>
        <p:nvSpPr>
          <p:cNvPr id="27" name="Text 11"/>
          <p:cNvSpPr/>
          <p:nvPr/>
        </p:nvSpPr>
        <p:spPr>
          <a:xfrm>
            <a:off x="6258818" y="4724400"/>
            <a:ext cx="2703165" cy="4723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6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AI 연구소를 넘어</a:t>
            </a:r>
            <a:pPr algn="ctr" indent="0" marL="0">
              <a:lnSpc>
                <a:spcPts val="186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6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사이버 방어 주체로 부상.</a:t>
            </a:r>
            <a:endParaRPr lang="en-US" sz="1500" dirty="0"/>
          </a:p>
        </p:txBody>
      </p:sp>
      <p:sp>
        <p:nvSpPr>
          <p:cNvPr id="28" name="Text 12"/>
          <p:cNvSpPr/>
          <p:nvPr/>
        </p:nvSpPr>
        <p:spPr>
          <a:xfrm>
            <a:off x="323850" y="1219200"/>
            <a:ext cx="3059311" cy="70857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6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Claude Mythos 심층 리뷰</a:t>
            </a:r>
            <a:pPr indent="0" marL="0">
              <a:lnSpc>
                <a:spcPts val="186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6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직후(2026년 4월 초) 방어 생태계</a:t>
            </a:r>
            <a:pPr indent="0" marL="0">
              <a:lnSpc>
                <a:spcPts val="186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6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선점 목적으로 전격 발족.</a:t>
            </a:r>
            <a:endParaRPr lang="en-US" sz="1500" dirty="0"/>
          </a:p>
        </p:txBody>
      </p:sp>
      <p:sp>
        <p:nvSpPr>
          <p:cNvPr id="29" name="Text 13"/>
          <p:cNvSpPr/>
          <p:nvPr/>
        </p:nvSpPr>
        <p:spPr>
          <a:xfrm>
            <a:off x="3397002" y="2114550"/>
            <a:ext cx="2587823" cy="4723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6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AWS·MS·Google·Cisco·</a:t>
            </a:r>
            <a:pPr algn="ctr" indent="0" marL="0">
              <a:lnSpc>
                <a:spcPts val="186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6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NVIDIA 등 빅테크·금융 참여</a:t>
            </a:r>
            <a:endParaRPr lang="en-US" sz="1500" dirty="0"/>
          </a:p>
        </p:txBody>
      </p:sp>
      <p:sp>
        <p:nvSpPr>
          <p:cNvPr id="30" name="Text 14"/>
          <p:cNvSpPr/>
          <p:nvPr/>
        </p:nvSpPr>
        <p:spPr>
          <a:xfrm>
            <a:off x="6393061" y="2114550"/>
            <a:ext cx="2472630" cy="4723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6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MCP·AGENTS.md 기여로</a:t>
            </a:r>
            <a:pPr algn="ctr" indent="0" marL="0">
              <a:lnSpc>
                <a:spcPts val="186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6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개방형 에이전트 표준 주도</a:t>
            </a:r>
            <a:endParaRPr lang="en-US" sz="1500" dirty="0"/>
          </a:p>
        </p:txBody>
      </p:sp>
      <p:sp>
        <p:nvSpPr>
          <p:cNvPr id="31" name="Text 15"/>
          <p:cNvSpPr/>
          <p:nvPr/>
        </p:nvSpPr>
        <p:spPr>
          <a:xfrm>
            <a:off x="8943975" y="1219200"/>
            <a:ext cx="2619375" cy="4723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6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MCP·AGENTS.md 기여로</a:t>
            </a:r>
            <a:pPr indent="0" marL="0">
              <a:lnSpc>
                <a:spcPts val="186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86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개방형 에이전트 표준 주도.</a:t>
            </a:r>
            <a:endParaRPr lang="en-US" sz="1500" dirty="0"/>
          </a:p>
        </p:txBody>
      </p:sp>
      <p:sp>
        <p:nvSpPr>
          <p:cNvPr id="32" name="Text 16"/>
          <p:cNvSpPr/>
          <p:nvPr/>
        </p:nvSpPr>
        <p:spPr>
          <a:xfrm>
            <a:off x="6598444" y="5467350"/>
            <a:ext cx="1938337" cy="80307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581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Researcher</a:t>
            </a:r>
            <a:pPr algn="ctr" indent="0" marL="0">
              <a:lnSpc>
                <a:spcPts val="1581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81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➡️</a:t>
            </a:r>
            <a:pPr algn="ctr" indent="0" marL="0">
              <a:lnSpc>
                <a:spcPts val="1581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81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Cyber</a:t>
            </a:r>
            <a:pPr algn="ctr" indent="0" marL="0">
              <a:lnSpc>
                <a:spcPts val="1581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581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defender</a:t>
            </a:r>
            <a:endParaRPr lang="en-US" sz="1275" dirty="0"/>
          </a:p>
        </p:txBody>
      </p:sp>
      <p:sp>
        <p:nvSpPr>
          <p:cNvPr id="33" name="Text 17"/>
          <p:cNvSpPr/>
          <p:nvPr/>
        </p:nvSpPr>
        <p:spPr>
          <a:xfrm>
            <a:off x="352425" y="2076450"/>
            <a:ext cx="6686550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39"/>
              </a:lnSpc>
              <a:buNone/>
            </a:pPr>
            <a:r>
              <a:rPr lang="en-US" sz="1125" i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[caveat: Exact launch date speculative]</a:t>
            </a:r>
            <a:endParaRPr lang="en-US" sz="1125" dirty="0"/>
          </a:p>
        </p:txBody>
      </p:sp>
      <p:sp>
        <p:nvSpPr>
          <p:cNvPr id="34" name="Text 18"/>
          <p:cNvSpPr/>
          <p:nvPr/>
        </p:nvSpPr>
        <p:spPr>
          <a:xfrm>
            <a:off x="8943975" y="1838325"/>
            <a:ext cx="2860328" cy="33992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39"/>
              </a:lnSpc>
              <a:buNone/>
            </a:pPr>
            <a:r>
              <a:rPr lang="en-US" sz="1125" i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[caveat: Standardization progress</a:t>
            </a:r>
            <a:pPr indent="0" marL="0">
              <a:lnSpc>
                <a:spcPts val="1339"/>
              </a:lnSpc>
              <a:buNone/>
            </a:pPr>
            <a:r>
              <a:rPr lang="en-US" sz="1125" i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339"/>
              </a:lnSpc>
              <a:buNone/>
            </a:pPr>
            <a:r>
              <a:rPr lang="en-US" sz="1125" i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subject to community adoption]</a:t>
            </a:r>
            <a:endParaRPr lang="en-US" sz="1125" dirty="0"/>
          </a:p>
        </p:txBody>
      </p:sp>
      <p:sp>
        <p:nvSpPr>
          <p:cNvPr id="35" name="Text 19"/>
          <p:cNvSpPr/>
          <p:nvPr/>
        </p:nvSpPr>
        <p:spPr>
          <a:xfrm>
            <a:off x="196602" y="4781550"/>
            <a:ext cx="3426023" cy="30718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09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[Coordinated Vulnerability</a:t>
            </a:r>
            <a:pPr algn="ctr" indent="0" marL="0">
              <a:lnSpc>
                <a:spcPts val="1209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209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Disclosure (CVD) process rehinement]</a:t>
            </a:r>
            <a:endParaRPr lang="en-US" sz="975" dirty="0"/>
          </a:p>
        </p:txBody>
      </p:sp>
      <p:sp>
        <p:nvSpPr>
          <p:cNvPr id="36" name="Text 20"/>
          <p:cNvSpPr/>
          <p:nvPr/>
        </p:nvSpPr>
        <p:spPr>
          <a:xfrm>
            <a:off x="1734443" y="2352675"/>
            <a:ext cx="1655415" cy="10626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37"/>
              </a:lnSpc>
              <a:buNone/>
            </a:pPr>
            <a:r>
              <a:rPr lang="en-US" sz="6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ref: [Claude Mythos Deep Research]</a:t>
            </a:r>
            <a:endParaRPr lang="en-US" sz="675" dirty="0"/>
          </a:p>
        </p:txBody>
      </p:sp>
      <p:sp>
        <p:nvSpPr>
          <p:cNvPr id="37" name="Text 21"/>
          <p:cNvSpPr/>
          <p:nvPr/>
        </p:nvSpPr>
        <p:spPr>
          <a:xfrm>
            <a:off x="3799433" y="2790825"/>
            <a:ext cx="1906786" cy="12992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023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ref: [Glasswing Founding Partners]</a:t>
            </a:r>
            <a:endParaRPr lang="en-US" sz="825" dirty="0"/>
          </a:p>
        </p:txBody>
      </p:sp>
      <p:sp>
        <p:nvSpPr>
          <p:cNvPr id="38" name="Text 22"/>
          <p:cNvSpPr/>
          <p:nvPr/>
        </p:nvSpPr>
        <p:spPr>
          <a:xfrm>
            <a:off x="6686550" y="3152775"/>
            <a:ext cx="2147888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6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[caveat: Standardization progress</a:t>
            </a:r>
            <a:pPr indent="0" marL="0">
              <a:lnSpc>
                <a:spcPts val="116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16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subject to community adoption]</a:t>
            </a:r>
            <a:endParaRPr lang="en-US" sz="975" dirty="0"/>
          </a:p>
        </p:txBody>
      </p:sp>
      <p:sp>
        <p:nvSpPr>
          <p:cNvPr id="39" name="Text 23"/>
          <p:cNvSpPr/>
          <p:nvPr/>
        </p:nvSpPr>
        <p:spPr>
          <a:xfrm>
            <a:off x="8851106" y="3600450"/>
            <a:ext cx="2043113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09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AI 연구소를 넘어</a:t>
            </a:r>
            <a:endParaRPr lang="en-US" sz="975" dirty="0"/>
          </a:p>
        </p:txBody>
      </p:sp>
      <p:sp>
        <p:nvSpPr>
          <p:cNvPr id="40" name="Text 24"/>
          <p:cNvSpPr/>
          <p:nvPr/>
        </p:nvSpPr>
        <p:spPr>
          <a:xfrm>
            <a:off x="5813524" y="6705600"/>
            <a:ext cx="555278" cy="1037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17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4894" y="2509986"/>
            <a:ext cx="4901059" cy="330517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894" y="2509986"/>
            <a:ext cx="909786" cy="504825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4680" y="2509986"/>
            <a:ext cx="2171700" cy="504825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6380" y="2509986"/>
            <a:ext cx="909786" cy="504825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26167" y="2509986"/>
            <a:ext cx="909786" cy="504825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4894" y="3014811"/>
            <a:ext cx="909786" cy="99060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44680" y="3014811"/>
            <a:ext cx="1085850" cy="5905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30530" y="3014811"/>
            <a:ext cx="1085850" cy="5905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16380" y="3014811"/>
            <a:ext cx="909786" cy="5905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26167" y="3014811"/>
            <a:ext cx="909786" cy="5905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44680" y="3605361"/>
            <a:ext cx="1085850" cy="4000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30530" y="3605361"/>
            <a:ext cx="1085850" cy="4000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16380" y="3605361"/>
            <a:ext cx="909786" cy="4000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526167" y="3605361"/>
            <a:ext cx="909786" cy="40005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34894" y="4005411"/>
            <a:ext cx="909786" cy="819150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44680" y="4005411"/>
            <a:ext cx="1085850" cy="419100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30530" y="4005411"/>
            <a:ext cx="1085850" cy="419100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616380" y="4005411"/>
            <a:ext cx="909786" cy="41910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526167" y="4005411"/>
            <a:ext cx="909786" cy="419100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444680" y="4424511"/>
            <a:ext cx="1085850" cy="400050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530530" y="4424511"/>
            <a:ext cx="1085850" cy="400050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616380" y="4424511"/>
            <a:ext cx="909786" cy="400050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526167" y="4424511"/>
            <a:ext cx="909786" cy="40005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34894" y="4824561"/>
            <a:ext cx="909786" cy="990600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444680" y="4824561"/>
            <a:ext cx="1085850" cy="590550"/>
          </a:xfrm>
          <a:prstGeom prst="rect">
            <a:avLst/>
          </a:prstGeom>
        </p:spPr>
      </p:pic>
      <p:pic>
        <p:nvPicPr>
          <p:cNvPr id="28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530530" y="4824561"/>
            <a:ext cx="1085850" cy="590550"/>
          </a:xfrm>
          <a:prstGeom prst="rect">
            <a:avLst/>
          </a:prstGeom>
        </p:spPr>
      </p:pic>
      <p:pic>
        <p:nvPicPr>
          <p:cNvPr id="2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616380" y="4824561"/>
            <a:ext cx="909786" cy="590550"/>
          </a:xfrm>
          <a:prstGeom prst="rect">
            <a:avLst/>
          </a:prstGeom>
        </p:spPr>
      </p:pic>
      <p:pic>
        <p:nvPicPr>
          <p:cNvPr id="3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526167" y="4824561"/>
            <a:ext cx="909786" cy="590550"/>
          </a:xfrm>
          <a:prstGeom prst="rect">
            <a:avLst/>
          </a:prstGeom>
        </p:spPr>
      </p:pic>
      <p:pic>
        <p:nvPicPr>
          <p:cNvPr id="31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444680" y="5415111"/>
            <a:ext cx="1085850" cy="400050"/>
          </a:xfrm>
          <a:prstGeom prst="rect">
            <a:avLst/>
          </a:prstGeom>
        </p:spPr>
      </p:pic>
      <p:pic>
        <p:nvPicPr>
          <p:cNvPr id="32" name="Image 30" descr="preencoded.png">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530530" y="5415111"/>
            <a:ext cx="1085850" cy="400050"/>
          </a:xfrm>
          <a:prstGeom prst="rect">
            <a:avLst/>
          </a:prstGeom>
        </p:spPr>
      </p:pic>
      <p:pic>
        <p:nvPicPr>
          <p:cNvPr id="33" name="Image 31" descr="preencoded.png">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616380" y="5415111"/>
            <a:ext cx="909786" cy="400050"/>
          </a:xfrm>
          <a:prstGeom prst="rect">
            <a:avLst/>
          </a:prstGeom>
        </p:spPr>
      </p:pic>
      <p:pic>
        <p:nvPicPr>
          <p:cNvPr id="34" name="Image 32" descr="preencoded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0526167" y="5415111"/>
            <a:ext cx="909786" cy="400050"/>
          </a:xfrm>
          <a:prstGeom prst="rect">
            <a:avLst/>
          </a:prstGeom>
        </p:spPr>
      </p:pic>
      <p:pic>
        <p:nvPicPr>
          <p:cNvPr id="35" name="Image 33" descr="preencoded.png">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70557" y="6446490"/>
            <a:ext cx="268188" cy="253603"/>
          </a:xfrm>
          <a:prstGeom prst="rect">
            <a:avLst/>
          </a:prstGeom>
        </p:spPr>
      </p:pic>
      <p:pic>
        <p:nvPicPr>
          <p:cNvPr id="36" name="Image 34" descr="preencoded.png">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646063" y="2599134"/>
            <a:ext cx="4876800" cy="1618357"/>
          </a:xfrm>
          <a:prstGeom prst="rect">
            <a:avLst/>
          </a:prstGeom>
        </p:spPr>
      </p:pic>
      <p:sp>
        <p:nvSpPr>
          <p:cNvPr id="37" name="Text 0"/>
          <p:cNvSpPr/>
          <p:nvPr/>
        </p:nvSpPr>
        <p:spPr>
          <a:xfrm>
            <a:off x="6534894" y="2509986"/>
            <a:ext cx="833586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00000"/>
                </a:solidFill>
              </a:rPr>
              <a:t>영역</a:t>
            </a:r>
            <a:endParaRPr lang="en-US" sz="1350" dirty="0"/>
          </a:p>
        </p:txBody>
      </p:sp>
      <p:sp>
        <p:nvSpPr>
          <p:cNvPr id="38" name="Text 1"/>
          <p:cNvSpPr/>
          <p:nvPr/>
        </p:nvSpPr>
        <p:spPr>
          <a:xfrm>
            <a:off x="7444680" y="2509986"/>
            <a:ext cx="1331863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000000"/>
                </a:solidFill>
              </a:rPr>
              <a:t>세부 전략</a:t>
            </a:r>
            <a:endParaRPr lang="en-US" sz="1350" dirty="0"/>
          </a:p>
        </p:txBody>
      </p:sp>
      <p:sp>
        <p:nvSpPr>
          <p:cNvPr id="39" name="Text 2"/>
          <p:cNvSpPr/>
          <p:nvPr/>
        </p:nvSpPr>
        <p:spPr>
          <a:xfrm>
            <a:off x="9616380" y="2509986"/>
            <a:ext cx="833586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A80000"/>
                </a:solidFill>
              </a:rPr>
              <a:t>신뢰 자본 / 해자</a:t>
            </a:r>
            <a:endParaRPr lang="en-US" sz="1350" dirty="0"/>
          </a:p>
        </p:txBody>
      </p:sp>
      <p:sp>
        <p:nvSpPr>
          <p:cNvPr id="40" name="Text 3"/>
          <p:cNvSpPr/>
          <p:nvPr/>
        </p:nvSpPr>
        <p:spPr>
          <a:xfrm>
            <a:off x="10526167" y="2509986"/>
            <a:ext cx="833586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A80000"/>
                </a:solidFill>
              </a:rPr>
              <a:t>경쟁 우위</a:t>
            </a:r>
            <a:endParaRPr lang="en-US" sz="1350" dirty="0"/>
          </a:p>
        </p:txBody>
      </p:sp>
      <p:sp>
        <p:nvSpPr>
          <p:cNvPr id="41" name="Text 4"/>
          <p:cNvSpPr/>
          <p:nvPr/>
        </p:nvSpPr>
        <p:spPr>
          <a:xfrm>
            <a:off x="6534894" y="3014811"/>
            <a:ext cx="833586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1A1A1A"/>
                </a:solidFill>
              </a:rPr>
              <a:t>파트너십</a:t>
            </a:r>
            <a:endParaRPr lang="en-US" sz="1275" dirty="0"/>
          </a:p>
        </p:txBody>
      </p:sp>
      <p:sp>
        <p:nvSpPr>
          <p:cNvPr id="42" name="Text 5"/>
          <p:cNvSpPr/>
          <p:nvPr/>
        </p:nvSpPr>
        <p:spPr>
          <a:xfrm>
            <a:off x="7444680" y="3014811"/>
            <a:ext cx="10096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빅테크·금융· 정부와 협력</a:t>
            </a:r>
            <a:endParaRPr lang="en-US" sz="1125" dirty="0"/>
          </a:p>
        </p:txBody>
      </p:sp>
      <p:sp>
        <p:nvSpPr>
          <p:cNvPr id="43" name="Text 6"/>
          <p:cNvSpPr/>
          <p:nvPr/>
        </p:nvSpPr>
        <p:spPr>
          <a:xfrm>
            <a:off x="8530530" y="3014811"/>
            <a:ext cx="10096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진입 장벽 구축</a:t>
            </a:r>
            <a:endParaRPr lang="en-US" sz="1125" dirty="0"/>
          </a:p>
        </p:txBody>
      </p:sp>
      <p:sp>
        <p:nvSpPr>
          <p:cNvPr id="44" name="Text 7"/>
          <p:cNvSpPr/>
          <p:nvPr/>
        </p:nvSpPr>
        <p:spPr>
          <a:xfrm>
            <a:off x="9616380" y="3014811"/>
            <a:ext cx="83358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신뢰된 파트너 네트워크</a:t>
            </a:r>
            <a:endParaRPr lang="en-US" sz="1125" dirty="0"/>
          </a:p>
        </p:txBody>
      </p:sp>
      <p:sp>
        <p:nvSpPr>
          <p:cNvPr id="45" name="Text 8"/>
          <p:cNvSpPr/>
          <p:nvPr/>
        </p:nvSpPr>
        <p:spPr>
          <a:xfrm>
            <a:off x="10526167" y="3014811"/>
            <a:ext cx="83358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고착된 연합 네트워크</a:t>
            </a:r>
            <a:endParaRPr lang="en-US" sz="1125" dirty="0"/>
          </a:p>
        </p:txBody>
      </p:sp>
      <p:sp>
        <p:nvSpPr>
          <p:cNvPr id="46" name="Text 9"/>
          <p:cNvSpPr/>
          <p:nvPr/>
        </p:nvSpPr>
        <p:spPr>
          <a:xfrm>
            <a:off x="7952780" y="3681561"/>
            <a:ext cx="6965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666666">
                    <a:alpha val="70000"/>
                  </a:srgbClr>
                </a:solidFill>
              </a:rPr>
              <a:t>🛡️</a:t>
            </a:r>
            <a:endParaRPr lang="en-US" sz="1500" dirty="0"/>
          </a:p>
        </p:txBody>
      </p:sp>
      <p:sp>
        <p:nvSpPr>
          <p:cNvPr id="47" name="Text 10"/>
          <p:cNvSpPr/>
          <p:nvPr/>
        </p:nvSpPr>
        <p:spPr>
          <a:xfrm>
            <a:off x="9038630" y="3681561"/>
            <a:ext cx="6965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666666">
                    <a:alpha val="70000"/>
                  </a:srgbClr>
                </a:solidFill>
              </a:rPr>
              <a:t>📜</a:t>
            </a:r>
            <a:endParaRPr lang="en-US" sz="1500" dirty="0"/>
          </a:p>
        </p:txBody>
      </p:sp>
      <p:sp>
        <p:nvSpPr>
          <p:cNvPr id="48" name="Text 11"/>
          <p:cNvSpPr/>
          <p:nvPr/>
        </p:nvSpPr>
        <p:spPr>
          <a:xfrm>
            <a:off x="10036373" y="3681561"/>
            <a:ext cx="6965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666666">
                    <a:alpha val="70000"/>
                  </a:srgbClr>
                </a:solidFill>
              </a:rPr>
              <a:t>🕸️</a:t>
            </a:r>
            <a:endParaRPr lang="en-US" sz="1500" dirty="0"/>
          </a:p>
        </p:txBody>
      </p:sp>
      <p:sp>
        <p:nvSpPr>
          <p:cNvPr id="49" name="Text 12"/>
          <p:cNvSpPr/>
          <p:nvPr/>
        </p:nvSpPr>
        <p:spPr>
          <a:xfrm>
            <a:off x="10946160" y="3681561"/>
            <a:ext cx="6965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666666">
                    <a:alpha val="70000"/>
                  </a:srgbClr>
                </a:solidFill>
              </a:rPr>
              <a:t>🌐</a:t>
            </a:r>
            <a:endParaRPr lang="en-US" sz="1500" dirty="0"/>
          </a:p>
        </p:txBody>
      </p:sp>
      <p:sp>
        <p:nvSpPr>
          <p:cNvPr id="50" name="Text 13"/>
          <p:cNvSpPr/>
          <p:nvPr/>
        </p:nvSpPr>
        <p:spPr>
          <a:xfrm>
            <a:off x="6534894" y="4005411"/>
            <a:ext cx="833586" cy="8191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1A1A1A"/>
                </a:solidFill>
              </a:rPr>
              <a:t>안전성 프레임</a:t>
            </a:r>
            <a:endParaRPr lang="en-US" sz="1275" dirty="0"/>
          </a:p>
        </p:txBody>
      </p:sp>
      <p:sp>
        <p:nvSpPr>
          <p:cNvPr id="51" name="Text 14"/>
          <p:cNvSpPr/>
          <p:nvPr/>
        </p:nvSpPr>
        <p:spPr>
          <a:xfrm>
            <a:off x="7444680" y="4005411"/>
            <a:ext cx="10096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모델 성능 초월 거버넌스 경쟁</a:t>
            </a:r>
            <a:endParaRPr lang="en-US" sz="1125" dirty="0"/>
          </a:p>
        </p:txBody>
      </p:sp>
      <p:sp>
        <p:nvSpPr>
          <p:cNvPr id="52" name="Text 15"/>
          <p:cNvSpPr/>
          <p:nvPr/>
        </p:nvSpPr>
        <p:spPr>
          <a:xfrm>
            <a:off x="8530530" y="4005411"/>
            <a:ext cx="10096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안전성 영역 경쟁 확장</a:t>
            </a:r>
            <a:endParaRPr lang="en-US" sz="1125" dirty="0"/>
          </a:p>
        </p:txBody>
      </p:sp>
      <p:sp>
        <p:nvSpPr>
          <p:cNvPr id="53" name="Text 16"/>
          <p:cNvSpPr/>
          <p:nvPr/>
        </p:nvSpPr>
        <p:spPr>
          <a:xfrm>
            <a:off x="9616380" y="4005411"/>
            <a:ext cx="83358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거버넌스 리더십</a:t>
            </a:r>
            <a:endParaRPr lang="en-US" sz="1125" dirty="0"/>
          </a:p>
        </p:txBody>
      </p:sp>
      <p:sp>
        <p:nvSpPr>
          <p:cNvPr id="54" name="Text 17"/>
          <p:cNvSpPr/>
          <p:nvPr/>
        </p:nvSpPr>
        <p:spPr>
          <a:xfrm>
            <a:off x="10526167" y="4005411"/>
            <a:ext cx="83358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독자적 안전 기준 수립</a:t>
            </a:r>
            <a:endParaRPr lang="en-US" sz="1125" dirty="0"/>
          </a:p>
        </p:txBody>
      </p:sp>
      <p:sp>
        <p:nvSpPr>
          <p:cNvPr id="55" name="Text 18"/>
          <p:cNvSpPr/>
          <p:nvPr/>
        </p:nvSpPr>
        <p:spPr>
          <a:xfrm>
            <a:off x="7952780" y="4500711"/>
            <a:ext cx="6965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666666">
                    <a:alpha val="70000"/>
                  </a:srgbClr>
                </a:solidFill>
              </a:rPr>
              <a:t>🔒</a:t>
            </a:r>
            <a:endParaRPr lang="en-US" sz="1500" dirty="0"/>
          </a:p>
        </p:txBody>
      </p:sp>
      <p:sp>
        <p:nvSpPr>
          <p:cNvPr id="56" name="Text 19"/>
          <p:cNvSpPr/>
          <p:nvPr/>
        </p:nvSpPr>
        <p:spPr>
          <a:xfrm>
            <a:off x="9038630" y="4500711"/>
            <a:ext cx="6965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666666">
                    <a:alpha val="70000"/>
                  </a:srgbClr>
                </a:solidFill>
              </a:rPr>
              <a:t>🥞</a:t>
            </a:r>
            <a:endParaRPr lang="en-US" sz="1500" dirty="0"/>
          </a:p>
        </p:txBody>
      </p:sp>
      <p:sp>
        <p:nvSpPr>
          <p:cNvPr id="57" name="Text 20"/>
          <p:cNvSpPr/>
          <p:nvPr/>
        </p:nvSpPr>
        <p:spPr>
          <a:xfrm>
            <a:off x="10036373" y="4500711"/>
            <a:ext cx="6965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666666">
                    <a:alpha val="70000"/>
                  </a:srgbClr>
                </a:solidFill>
              </a:rPr>
              <a:t>🤝</a:t>
            </a:r>
            <a:endParaRPr lang="en-US" sz="1500" dirty="0"/>
          </a:p>
        </p:txBody>
      </p:sp>
      <p:sp>
        <p:nvSpPr>
          <p:cNvPr id="58" name="Text 21"/>
          <p:cNvSpPr/>
          <p:nvPr/>
        </p:nvSpPr>
        <p:spPr>
          <a:xfrm>
            <a:off x="10946160" y="4500711"/>
            <a:ext cx="6965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666666">
                    <a:alpha val="70000"/>
                  </a:srgbClr>
                </a:solidFill>
              </a:rPr>
              <a:t>🔐</a:t>
            </a:r>
            <a:endParaRPr lang="en-US" sz="1500" dirty="0"/>
          </a:p>
        </p:txBody>
      </p:sp>
      <p:sp>
        <p:nvSpPr>
          <p:cNvPr id="59" name="Text 22"/>
          <p:cNvSpPr/>
          <p:nvPr/>
        </p:nvSpPr>
        <p:spPr>
          <a:xfrm>
            <a:off x="6534894" y="4824561"/>
            <a:ext cx="833586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530"/>
              </a:lnSpc>
              <a:buNone/>
            </a:pPr>
            <a:r>
              <a:rPr lang="en-US" sz="1275" b="1" dirty="0">
                <a:solidFill>
                  <a:srgbClr val="1A1A1A"/>
                </a:solidFill>
              </a:rPr>
              <a:t>인프라 포지셔닝</a:t>
            </a:r>
            <a:endParaRPr lang="en-US" sz="1275" dirty="0"/>
          </a:p>
        </p:txBody>
      </p:sp>
      <p:sp>
        <p:nvSpPr>
          <p:cNvPr id="60" name="Text 23"/>
          <p:cNvSpPr/>
          <p:nvPr/>
        </p:nvSpPr>
        <p:spPr>
          <a:xfrm>
            <a:off x="7444680" y="4824561"/>
            <a:ext cx="10096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‘AI 연구소’에서 ‘보안 인프라’ 재정의</a:t>
            </a:r>
            <a:endParaRPr lang="en-US" sz="1125" dirty="0"/>
          </a:p>
        </p:txBody>
      </p:sp>
      <p:sp>
        <p:nvSpPr>
          <p:cNvPr id="61" name="Text 24"/>
          <p:cNvSpPr/>
          <p:nvPr/>
        </p:nvSpPr>
        <p:spPr>
          <a:xfrm>
            <a:off x="8530530" y="4824561"/>
            <a:ext cx="10096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핵심 기술 스택 포지셔닝</a:t>
            </a:r>
            <a:endParaRPr lang="en-US" sz="1125" dirty="0"/>
          </a:p>
        </p:txBody>
      </p:sp>
      <p:sp>
        <p:nvSpPr>
          <p:cNvPr id="62" name="Text 25"/>
          <p:cNvSpPr/>
          <p:nvPr/>
        </p:nvSpPr>
        <p:spPr>
          <a:xfrm>
            <a:off x="9616380" y="4824561"/>
            <a:ext cx="83358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시스템 고착화</a:t>
            </a:r>
            <a:endParaRPr lang="en-US" sz="1125" dirty="0"/>
          </a:p>
        </p:txBody>
      </p:sp>
      <p:sp>
        <p:nvSpPr>
          <p:cNvPr id="63" name="Text 26"/>
          <p:cNvSpPr/>
          <p:nvPr/>
        </p:nvSpPr>
        <p:spPr>
          <a:xfrm>
            <a:off x="10526167" y="4824561"/>
            <a:ext cx="83358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125" b="1" dirty="0">
                <a:solidFill>
                  <a:srgbClr val="1A1A1A"/>
                </a:solidFill>
              </a:rPr>
              <a:t>필수 인프라 주체로서의 역할</a:t>
            </a:r>
            <a:endParaRPr lang="en-US" sz="1125" dirty="0"/>
          </a:p>
        </p:txBody>
      </p:sp>
      <p:sp>
        <p:nvSpPr>
          <p:cNvPr id="64" name="Text 27"/>
          <p:cNvSpPr/>
          <p:nvPr/>
        </p:nvSpPr>
        <p:spPr>
          <a:xfrm>
            <a:off x="285750" y="142875"/>
            <a:ext cx="2125980" cy="3424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697"/>
              </a:lnSpc>
              <a:buNone/>
            </a:pPr>
            <a:r>
              <a:rPr lang="en-US" sz="23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전략적 해석</a:t>
            </a:r>
            <a:endParaRPr lang="en-US" sz="2325" dirty="0"/>
          </a:p>
        </p:txBody>
      </p:sp>
      <p:sp>
        <p:nvSpPr>
          <p:cNvPr id="65" name="Text 28"/>
          <p:cNvSpPr/>
          <p:nvPr/>
        </p:nvSpPr>
        <p:spPr>
          <a:xfrm>
            <a:off x="352425" y="742950"/>
            <a:ext cx="9212580" cy="31953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16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Glasswing을 통한 산업 아젠다 및 표준 선점 전략</a:t>
            </a:r>
            <a:endParaRPr lang="en-US" sz="1950" dirty="0"/>
          </a:p>
        </p:txBody>
      </p:sp>
      <p:sp>
        <p:nvSpPr>
          <p:cNvPr id="66" name="Text 29"/>
          <p:cNvSpPr/>
          <p:nvPr/>
        </p:nvSpPr>
        <p:spPr>
          <a:xfrm>
            <a:off x="714375" y="2181225"/>
            <a:ext cx="1645920" cy="20404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07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Timeline</a:t>
            </a:r>
            <a:endParaRPr lang="en-US" sz="1350" dirty="0"/>
          </a:p>
        </p:txBody>
      </p:sp>
      <p:sp>
        <p:nvSpPr>
          <p:cNvPr id="67" name="Text 30"/>
          <p:cNvSpPr/>
          <p:nvPr/>
        </p:nvSpPr>
        <p:spPr>
          <a:xfrm>
            <a:off x="6562725" y="2181225"/>
            <a:ext cx="3429000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Evidence Matrix</a:t>
            </a:r>
            <a:endParaRPr lang="en-US" sz="1500" dirty="0"/>
          </a:p>
        </p:txBody>
      </p:sp>
      <p:sp>
        <p:nvSpPr>
          <p:cNvPr id="68" name="Text 31"/>
          <p:cNvSpPr/>
          <p:nvPr/>
        </p:nvSpPr>
        <p:spPr>
          <a:xfrm>
            <a:off x="838200" y="4514850"/>
            <a:ext cx="81534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✔ 기술 위험 공개 후 해결책 제시로 '핵심 리더' 프레임 선점</a:t>
            </a:r>
            <a:endParaRPr lang="en-US" sz="1500" dirty="0"/>
          </a:p>
        </p:txBody>
      </p:sp>
      <p:sp>
        <p:nvSpPr>
          <p:cNvPr id="69" name="Text 32"/>
          <p:cNvSpPr/>
          <p:nvPr/>
        </p:nvSpPr>
        <p:spPr>
          <a:xfrm>
            <a:off x="838200" y="4905375"/>
            <a:ext cx="7094220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38"/>
              </a:lnSpc>
              <a:buNone/>
            </a:pPr>
            <a:r>
              <a:rPr lang="en-US" sz="14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✔ 연합 구성으로 표준 논의의 주도권 확보 및 리더십 구축</a:t>
            </a:r>
            <a:endParaRPr lang="en-US" sz="1425" dirty="0"/>
          </a:p>
        </p:txBody>
      </p:sp>
      <p:sp>
        <p:nvSpPr>
          <p:cNvPr id="70" name="Text 33"/>
          <p:cNvSpPr/>
          <p:nvPr/>
        </p:nvSpPr>
        <p:spPr>
          <a:xfrm>
            <a:off x="838200" y="5295900"/>
            <a:ext cx="79248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50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✔ 유사 모델 확산 전 대응 방식 정의로 표준 경쟁 우위 선점</a:t>
            </a:r>
            <a:endParaRPr lang="en-US" sz="1500" dirty="0"/>
          </a:p>
        </p:txBody>
      </p:sp>
      <p:sp>
        <p:nvSpPr>
          <p:cNvPr id="71" name="Text 34"/>
          <p:cNvSpPr/>
          <p:nvPr/>
        </p:nvSpPr>
        <p:spPr>
          <a:xfrm>
            <a:off x="1143000" y="5667375"/>
            <a:ext cx="268224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2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모델(1) 정당 아이죠</a:t>
            </a:r>
            <a:endParaRPr lang="en-US" sz="1200" dirty="0"/>
          </a:p>
        </p:txBody>
      </p:sp>
      <p:sp>
        <p:nvSpPr>
          <p:cNvPr id="72" name="Text 35"/>
          <p:cNvSpPr/>
          <p:nvPr/>
        </p:nvSpPr>
        <p:spPr>
          <a:xfrm>
            <a:off x="6629400" y="5810250"/>
            <a:ext cx="3371850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51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*파트너십 최종 세부 사항 조정 중</a:t>
            </a:r>
            <a:endParaRPr lang="en-US" sz="1125" dirty="0"/>
          </a:p>
        </p:txBody>
      </p:sp>
      <p:sp>
        <p:nvSpPr>
          <p:cNvPr id="73" name="Text 36"/>
          <p:cNvSpPr/>
          <p:nvPr/>
        </p:nvSpPr>
        <p:spPr>
          <a:xfrm>
            <a:off x="9734550" y="5810250"/>
            <a:ext cx="2457450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51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*장기 해자 지속성 평가 필요</a:t>
            </a:r>
            <a:endParaRPr lang="en-US" sz="1125" dirty="0"/>
          </a:p>
        </p:txBody>
      </p:sp>
      <p:sp>
        <p:nvSpPr>
          <p:cNvPr id="74" name="Text 37"/>
          <p:cNvSpPr/>
          <p:nvPr/>
        </p:nvSpPr>
        <p:spPr>
          <a:xfrm>
            <a:off x="9496425" y="2228850"/>
            <a:ext cx="2137321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250"/>
              </a:lnSpc>
              <a:buNone/>
            </a:pPr>
            <a:r>
              <a:rPr lang="en-US" sz="1050" b="1" i="1" dirty="0">
                <a:solidFill>
                  <a:srgbClr val="004D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*파트너십 최종 세부 사항 조정 중</a:t>
            </a:r>
            <a:endParaRPr lang="en-US" sz="1050" dirty="0"/>
          </a:p>
        </p:txBody>
      </p:sp>
      <p:sp>
        <p:nvSpPr>
          <p:cNvPr id="75" name="Text 38"/>
          <p:cNvSpPr/>
          <p:nvPr/>
        </p:nvSpPr>
        <p:spPr>
          <a:xfrm>
            <a:off x="352425" y="6467475"/>
            <a:ext cx="1714500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39"/>
              </a:lnSpc>
              <a:buNone/>
            </a:pPr>
            <a:r>
              <a:rPr lang="en-US" sz="1125" b="1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125" dirty="0"/>
          </a:p>
        </p:txBody>
      </p:sp>
      <p:sp>
        <p:nvSpPr>
          <p:cNvPr id="76" name="Text 39"/>
          <p:cNvSpPr/>
          <p:nvPr/>
        </p:nvSpPr>
        <p:spPr>
          <a:xfrm>
            <a:off x="5813524" y="6705600"/>
            <a:ext cx="555278" cy="1079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50"/>
              </a:lnSpc>
              <a:buNone/>
            </a:pPr>
            <a:r>
              <a:rPr lang="en-US" sz="825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825" dirty="0"/>
          </a:p>
        </p:txBody>
      </p:sp>
      <p:sp>
        <p:nvSpPr>
          <p:cNvPr id="77" name="Text 40"/>
          <p:cNvSpPr/>
          <p:nvPr/>
        </p:nvSpPr>
        <p:spPr>
          <a:xfrm>
            <a:off x="590550" y="6267450"/>
            <a:ext cx="11601450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5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[1] Anthropic Internal Analysis, 2026. [2] Glasswing Consortium Minutes, Apr 2026.</a:t>
            </a:r>
            <a:endParaRPr lang="en-US" sz="975" dirty="0"/>
          </a:p>
        </p:txBody>
      </p:sp>
      <p:sp>
        <p:nvSpPr>
          <p:cNvPr id="78" name="Text 41"/>
          <p:cNvSpPr/>
          <p:nvPr/>
        </p:nvSpPr>
        <p:spPr>
          <a:xfrm>
            <a:off x="6562725" y="6267450"/>
            <a:ext cx="5629275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5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[1] Anthropic Internal Analysis, 2026. [2] Glasswing Consortium Minutes, Apr 2026.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80392" cy="25360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965" y="3970734"/>
            <a:ext cx="2401788" cy="1728192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245025"/>
            <a:ext cx="2779663" cy="1357759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228600" y="123825"/>
            <a:ext cx="11963400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45"/>
              </a:lnSpc>
              <a:buNone/>
            </a:pPr>
            <a:r>
              <a:rPr lang="en-US" sz="26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개방형 에이전트 생태계 맥락 / MCP, AGENTS.md와 상호운용성</a:t>
            </a:r>
            <a:endParaRPr lang="en-US" sz="2625" dirty="0"/>
          </a:p>
        </p:txBody>
      </p:sp>
      <p:sp>
        <p:nvSpPr>
          <p:cNvPr id="7" name="Text 1"/>
          <p:cNvSpPr/>
          <p:nvPr/>
        </p:nvSpPr>
        <p:spPr>
          <a:xfrm>
            <a:off x="352425" y="742950"/>
            <a:ext cx="71437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363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개방형 표준과 거버넌스 중심의 상호운용성 전략</a:t>
            </a:r>
            <a:endParaRPr lang="en-US" sz="1875" dirty="0"/>
          </a:p>
        </p:txBody>
      </p:sp>
      <p:sp>
        <p:nvSpPr>
          <p:cNvPr id="8" name="Text 2"/>
          <p:cNvSpPr/>
          <p:nvPr/>
        </p:nvSpPr>
        <p:spPr>
          <a:xfrm>
            <a:off x="4599087" y="1466850"/>
            <a:ext cx="2965103" cy="24571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3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상호운용성 핵심 논지 및 영향 분석</a:t>
            </a:r>
            <a:endParaRPr lang="en-US" sz="1500" dirty="0"/>
          </a:p>
        </p:txBody>
      </p:sp>
      <p:sp>
        <p:nvSpPr>
          <p:cNvPr id="9" name="Text 3"/>
          <p:cNvSpPr/>
          <p:nvPr/>
        </p:nvSpPr>
        <p:spPr>
          <a:xfrm>
            <a:off x="832842" y="2181225"/>
            <a:ext cx="2839343" cy="4988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MCP·AGENTS.md와</a:t>
            </a:r>
            <a:pPr algn="ctr" indent="0" marL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Linux Foundation 기여</a:t>
            </a:r>
            <a:endParaRPr lang="en-US" sz="1650" dirty="0"/>
          </a:p>
        </p:txBody>
      </p:sp>
      <p:sp>
        <p:nvSpPr>
          <p:cNvPr id="10" name="Text 4"/>
          <p:cNvSpPr/>
          <p:nvPr/>
        </p:nvSpPr>
        <p:spPr>
          <a:xfrm>
            <a:off x="4736306" y="2181225"/>
            <a:ext cx="2671763" cy="4988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프로토콜 상호운용성 및</a:t>
            </a:r>
            <a:pPr algn="ctr" indent="0" marL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해자의 변화</a:t>
            </a:r>
            <a:endParaRPr lang="en-US" sz="1650" dirty="0"/>
          </a:p>
        </p:txBody>
      </p:sp>
      <p:sp>
        <p:nvSpPr>
          <p:cNvPr id="11" name="Text 5"/>
          <p:cNvSpPr/>
          <p:nvPr/>
        </p:nvSpPr>
        <p:spPr>
          <a:xfrm>
            <a:off x="8651528" y="2181225"/>
            <a:ext cx="2451646" cy="49887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스케폴드 워크플로우와</a:t>
            </a:r>
            <a:pPr algn="ctr" indent="0" marL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전략</a:t>
            </a:r>
            <a:endParaRPr lang="en-US" sz="1650" dirty="0"/>
          </a:p>
        </p:txBody>
      </p:sp>
      <p:sp>
        <p:nvSpPr>
          <p:cNvPr id="12" name="Text 6"/>
          <p:cNvSpPr/>
          <p:nvPr/>
        </p:nvSpPr>
        <p:spPr>
          <a:xfrm>
            <a:off x="657225" y="2800350"/>
            <a:ext cx="3467993" cy="4533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MCP·AGENTS.md 두 프로토콜</a:t>
            </a:r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Agentic AI Foundation 공개 기여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657225" y="3343275"/>
            <a:ext cx="3048893" cy="4533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'벤더 종속 탈피 및 업계 전반의</a:t>
            </a:r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개방형 표준 수립 가속화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4429125" y="2800350"/>
            <a:ext cx="3687961" cy="4533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'프로토콜 계층은 이미 상호운용 가능',</a:t>
            </a:r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독점 불가</a:t>
            </a:r>
            <a:endParaRPr lang="en-US" sz="1500" dirty="0"/>
          </a:p>
        </p:txBody>
      </p:sp>
      <p:sp>
        <p:nvSpPr>
          <p:cNvPr id="15" name="Text 9"/>
          <p:cNvSpPr/>
          <p:nvPr/>
        </p:nvSpPr>
        <p:spPr>
          <a:xfrm>
            <a:off x="4429125" y="3343275"/>
            <a:ext cx="3101280" cy="4533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'진짜 해자는 모델 품질과</a:t>
            </a:r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거버넌스(성능, 평가, 역량, 신뢰)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8277225" y="2800350"/>
            <a:ext cx="3855690" cy="4533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'스케폴드 워크플로우는 업계 공통 패턴',</a:t>
            </a:r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Mythos 차별점은 결과의 질</a:t>
            </a:r>
            <a:endParaRPr lang="en-US" sz="1500" dirty="0"/>
          </a:p>
        </p:txBody>
      </p:sp>
      <p:sp>
        <p:nvSpPr>
          <p:cNvPr id="17" name="Text 11"/>
          <p:cNvSpPr/>
          <p:nvPr/>
        </p:nvSpPr>
        <p:spPr>
          <a:xfrm>
            <a:off x="8277225" y="3343275"/>
            <a:ext cx="3478411" cy="4533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'멀티모델-멀티에이전트 전략 필요',</a:t>
            </a:r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벤더 의존 회피 권고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8277225" y="3876675"/>
            <a:ext cx="2608808" cy="4533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'표준 선점 및 신뢰 구축'이</a:t>
            </a:r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장기 플랫폼 지배력 결정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771525" y="3867150"/>
            <a:ext cx="5143500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51"/>
              </a:lnSpc>
              <a:buNone/>
            </a:pPr>
            <a:r>
              <a:rPr lang="en-US" sz="1125" b="1" i="1" dirty="0">
                <a:solidFill>
                  <a:srgbClr val="448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(참고: 초기 기여 완료, 향후 거버넌스 구체화 필요)</a:t>
            </a:r>
            <a:endParaRPr lang="en-US" sz="1125" dirty="0"/>
          </a:p>
        </p:txBody>
      </p:sp>
      <p:sp>
        <p:nvSpPr>
          <p:cNvPr id="20" name="Text 14"/>
          <p:cNvSpPr/>
          <p:nvPr/>
        </p:nvSpPr>
        <p:spPr>
          <a:xfrm>
            <a:off x="8586192" y="4476750"/>
            <a:ext cx="2420243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39"/>
              </a:lnSpc>
              <a:buNone/>
            </a:pPr>
            <a:r>
              <a:rPr lang="en-US" sz="1125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스케폴드 워크플로우</a:t>
            </a:r>
            <a:endParaRPr lang="en-US" sz="1125" dirty="0"/>
          </a:p>
        </p:txBody>
      </p:sp>
      <p:sp>
        <p:nvSpPr>
          <p:cNvPr id="21" name="Text 15"/>
          <p:cNvSpPr/>
          <p:nvPr/>
        </p:nvSpPr>
        <p:spPr>
          <a:xfrm>
            <a:off x="9694962" y="4895850"/>
            <a:ext cx="869603" cy="15865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5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Mythos 모델</a:t>
            </a:r>
            <a:endParaRPr lang="en-US" sz="1050" dirty="0"/>
          </a:p>
        </p:txBody>
      </p:sp>
      <p:sp>
        <p:nvSpPr>
          <p:cNvPr id="22" name="Text 16"/>
          <p:cNvSpPr/>
          <p:nvPr/>
        </p:nvSpPr>
        <p:spPr>
          <a:xfrm>
            <a:off x="8662392" y="4867275"/>
            <a:ext cx="743843" cy="29497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161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관계적도</a:t>
            </a:r>
            <a:pPr algn="ctr" indent="0" marL="0">
              <a:lnSpc>
                <a:spcPts val="1161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161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스케폴드우는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640318" y="4867275"/>
            <a:ext cx="607665" cy="3684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451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차별점은</a:t>
            </a:r>
            <a:pPr algn="ctr" indent="0" marL="0">
              <a:lnSpc>
                <a:spcPts val="1451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451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의의 질</a:t>
            </a:r>
            <a:endParaRPr lang="en-US" sz="1125" dirty="0"/>
          </a:p>
        </p:txBody>
      </p:sp>
      <p:sp>
        <p:nvSpPr>
          <p:cNvPr id="24" name="Text 18"/>
          <p:cNvSpPr/>
          <p:nvPr/>
        </p:nvSpPr>
        <p:spPr>
          <a:xfrm>
            <a:off x="9239250" y="5400675"/>
            <a:ext cx="1466850" cy="16996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339"/>
              </a:lnSpc>
              <a:buNone/>
            </a:pPr>
            <a:r>
              <a:rPr lang="en-US" sz="1125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오픈 에이전트 인프라</a:t>
            </a:r>
            <a:endParaRPr lang="en-US" sz="1125" dirty="0"/>
          </a:p>
        </p:txBody>
      </p:sp>
      <p:sp>
        <p:nvSpPr>
          <p:cNvPr id="25" name="Text 19"/>
          <p:cNvSpPr/>
          <p:nvPr/>
        </p:nvSpPr>
        <p:spPr>
          <a:xfrm>
            <a:off x="857250" y="5743575"/>
            <a:ext cx="5143500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51"/>
              </a:lnSpc>
              <a:buNone/>
            </a:pPr>
            <a:r>
              <a:rPr lang="en-US" sz="1125" b="1" i="1" dirty="0">
                <a:solidFill>
                  <a:srgbClr val="448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(참고: 초기 기여 완료, 향후 거버넌스 구체화 필요)</a:t>
            </a:r>
            <a:endParaRPr lang="en-US" sz="1125" dirty="0"/>
          </a:p>
        </p:txBody>
      </p:sp>
      <p:sp>
        <p:nvSpPr>
          <p:cNvPr id="26" name="Text 20"/>
          <p:cNvSpPr/>
          <p:nvPr/>
        </p:nvSpPr>
        <p:spPr>
          <a:xfrm>
            <a:off x="8639175" y="5800725"/>
            <a:ext cx="3552825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51"/>
              </a:lnSpc>
              <a:buNone/>
            </a:pPr>
            <a:r>
              <a:rPr lang="en-US" sz="1125" b="1" i="1" dirty="0">
                <a:solidFill>
                  <a:srgbClr val="448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(장기 표준 선점 및 거버넌스 로드맵 구축 필수)</a:t>
            </a:r>
            <a:endParaRPr lang="en-US" sz="1125" dirty="0"/>
          </a:p>
        </p:txBody>
      </p:sp>
      <p:sp>
        <p:nvSpPr>
          <p:cNvPr id="27" name="Text 21"/>
          <p:cNvSpPr/>
          <p:nvPr/>
        </p:nvSpPr>
        <p:spPr>
          <a:xfrm>
            <a:off x="838200" y="6000750"/>
            <a:ext cx="8172450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6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Ref: Agentic AI Foundation Roadmap v1.2, April 2026</a:t>
            </a:r>
            <a:endParaRPr lang="en-US" sz="975" dirty="0"/>
          </a:p>
        </p:txBody>
      </p:sp>
      <p:sp>
        <p:nvSpPr>
          <p:cNvPr id="28" name="Text 22"/>
          <p:cNvSpPr/>
          <p:nvPr/>
        </p:nvSpPr>
        <p:spPr>
          <a:xfrm>
            <a:off x="4429125" y="5743575"/>
            <a:ext cx="5600700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54"/>
              </a:lnSpc>
              <a:buNone/>
            </a:pPr>
            <a:r>
              <a:rPr lang="en-US" sz="1050" b="1" i="1" dirty="0">
                <a:solidFill>
                  <a:srgbClr val="448A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(현재 임계점 통과, 기술 경쟁에서 거버넌스 경쟁으로 전환 중)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4676775" y="6000750"/>
            <a:ext cx="7515225" cy="1473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60"/>
              </a:lnSpc>
              <a:buNone/>
            </a:pPr>
            <a:r>
              <a:rPr lang="en-US" sz="9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Ref: Agentic AI Foundation Roadmap v.2, April 2026</a:t>
            </a:r>
            <a:endParaRPr lang="en-US" sz="975" dirty="0"/>
          </a:p>
        </p:txBody>
      </p:sp>
      <p:sp>
        <p:nvSpPr>
          <p:cNvPr id="30" name="Text 24"/>
          <p:cNvSpPr/>
          <p:nvPr/>
        </p:nvSpPr>
        <p:spPr>
          <a:xfrm>
            <a:off x="8582025" y="6000750"/>
            <a:ext cx="3609975" cy="13602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071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Ref: Agentic AI Foundation Roadmap v11, April 2026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6455" y="2359075"/>
            <a:ext cx="3035796" cy="120015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6455" y="2359075"/>
            <a:ext cx="3035796" cy="4000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6455" y="2359075"/>
            <a:ext cx="1032123" cy="400050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8578" y="2359075"/>
            <a:ext cx="667792" cy="40005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6370" y="2359075"/>
            <a:ext cx="667792" cy="40005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14162" y="2359075"/>
            <a:ext cx="668089" cy="400050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46455" y="2759125"/>
            <a:ext cx="1032123" cy="400050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78578" y="2759125"/>
            <a:ext cx="667792" cy="40005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246370" y="2759125"/>
            <a:ext cx="667792" cy="400050"/>
          </a:xfrm>
          <a:prstGeom prst="rect">
            <a:avLst/>
          </a:prstGeom>
        </p:spPr>
      </p:pic>
      <p:pic>
        <p:nvPicPr>
          <p:cNvPr id="1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14162" y="2759125"/>
            <a:ext cx="668089" cy="400050"/>
          </a:xfrm>
          <a:prstGeom prst="rect">
            <a:avLst/>
          </a:prstGeom>
        </p:spPr>
      </p:pic>
      <p:pic>
        <p:nvPicPr>
          <p:cNvPr id="1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546455" y="3159175"/>
            <a:ext cx="1032123" cy="400050"/>
          </a:xfrm>
          <a:prstGeom prst="rect">
            <a:avLst/>
          </a:prstGeom>
        </p:spPr>
      </p:pic>
      <p:pic>
        <p:nvPicPr>
          <p:cNvPr id="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78578" y="3159175"/>
            <a:ext cx="667792" cy="400050"/>
          </a:xfrm>
          <a:prstGeom prst="rect">
            <a:avLst/>
          </a:prstGeom>
        </p:spPr>
      </p:pic>
      <p:pic>
        <p:nvPicPr>
          <p:cNvPr id="1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46370" y="3159175"/>
            <a:ext cx="667792" cy="400050"/>
          </a:xfrm>
          <a:prstGeom prst="rect">
            <a:avLst/>
          </a:prstGeom>
        </p:spPr>
      </p:pic>
      <p:pic>
        <p:nvPicPr>
          <p:cNvPr id="16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914162" y="3159175"/>
            <a:ext cx="668089" cy="400050"/>
          </a:xfrm>
          <a:prstGeom prst="rect">
            <a:avLst/>
          </a:prstGeom>
        </p:spPr>
      </p:pic>
      <p:pic>
        <p:nvPicPr>
          <p:cNvPr id="1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0557" y="6446490"/>
            <a:ext cx="268188" cy="246757"/>
          </a:xfrm>
          <a:prstGeom prst="rect">
            <a:avLst/>
          </a:prstGeom>
        </p:spPr>
      </p:pic>
      <p:pic>
        <p:nvPicPr>
          <p:cNvPr id="18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83067" y="5129659"/>
            <a:ext cx="255984" cy="253603"/>
          </a:xfrm>
          <a:prstGeom prst="rect">
            <a:avLst/>
          </a:prstGeom>
        </p:spPr>
      </p:pic>
      <p:pic>
        <p:nvPicPr>
          <p:cNvPr id="19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83067" y="3970734"/>
            <a:ext cx="255984" cy="253603"/>
          </a:xfrm>
          <a:prstGeom prst="rect">
            <a:avLst/>
          </a:prstGeom>
        </p:spPr>
      </p:pic>
      <p:pic>
        <p:nvPicPr>
          <p:cNvPr id="2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851898" y="4786759"/>
            <a:ext cx="1060698" cy="891480"/>
          </a:xfrm>
          <a:prstGeom prst="rect">
            <a:avLst/>
          </a:prstGeom>
        </p:spPr>
      </p:pic>
      <p:pic>
        <p:nvPicPr>
          <p:cNvPr id="21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04565" y="4800600"/>
            <a:ext cx="621655" cy="630882"/>
          </a:xfrm>
          <a:prstGeom prst="rect">
            <a:avLst/>
          </a:prstGeom>
        </p:spPr>
      </p:pic>
      <p:pic>
        <p:nvPicPr>
          <p:cNvPr id="22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985992" y="4011811"/>
            <a:ext cx="280392" cy="281136"/>
          </a:xfrm>
          <a:prstGeom prst="rect">
            <a:avLst/>
          </a:prstGeom>
        </p:spPr>
      </p:pic>
      <p:pic>
        <p:nvPicPr>
          <p:cNvPr id="23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7656463" y="3504307"/>
            <a:ext cx="341263" cy="301675"/>
          </a:xfrm>
          <a:prstGeom prst="rect">
            <a:avLst/>
          </a:prstGeom>
        </p:spPr>
      </p:pic>
      <p:pic>
        <p:nvPicPr>
          <p:cNvPr id="24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681192" y="3524994"/>
            <a:ext cx="316855" cy="349746"/>
          </a:xfrm>
          <a:prstGeom prst="rect">
            <a:avLst/>
          </a:prstGeom>
        </p:spPr>
      </p:pic>
      <p:pic>
        <p:nvPicPr>
          <p:cNvPr id="25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80157" y="3476923"/>
            <a:ext cx="670471" cy="685800"/>
          </a:xfrm>
          <a:prstGeom prst="rect">
            <a:avLst/>
          </a:prstGeom>
        </p:spPr>
      </p:pic>
      <p:pic>
        <p:nvPicPr>
          <p:cNvPr id="26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851898" y="2098477"/>
            <a:ext cx="1133773" cy="973782"/>
          </a:xfrm>
          <a:prstGeom prst="rect">
            <a:avLst/>
          </a:prstGeom>
        </p:spPr>
      </p:pic>
      <p:pic>
        <p:nvPicPr>
          <p:cNvPr id="27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80157" y="2146548"/>
            <a:ext cx="658267" cy="644575"/>
          </a:xfrm>
          <a:prstGeom prst="rect">
            <a:avLst/>
          </a:prstGeom>
        </p:spPr>
      </p:pic>
      <p:sp>
        <p:nvSpPr>
          <p:cNvPr id="28" name="Text 0"/>
          <p:cNvSpPr/>
          <p:nvPr/>
        </p:nvSpPr>
        <p:spPr>
          <a:xfrm>
            <a:off x="9578578" y="2359075"/>
            <a:ext cx="667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073"/>
              </a:lnSpc>
              <a:buNone/>
            </a:pPr>
            <a:r>
              <a:rPr lang="en-US" sz="975" b="1" dirty="0">
                <a:solidFill>
                  <a:srgbClr val="1A1A1A"/>
                </a:solidFill>
              </a:rPr>
              <a:t>Anthropic</a:t>
            </a:r>
            <a:pPr algn="ctr" indent="0" marL="0">
              <a:lnSpc>
                <a:spcPts val="1073"/>
              </a:lnSpc>
              <a:buNone/>
            </a:pPr>
            <a:r>
              <a:rPr lang="en-US" sz="975" b="1" dirty="0">
                <a:solidFill>
                  <a:srgbClr val="1A1A1A"/>
                </a:solidFill>
              </a:rPr>
              <a:t>
</a:t>
            </a:r>
            <a:pPr algn="ctr" indent="0" marL="0">
              <a:lnSpc>
                <a:spcPts val="1073"/>
              </a:lnSpc>
              <a:buNone/>
            </a:pPr>
            <a:r>
              <a:rPr lang="en-US" sz="975" b="1" dirty="0">
                <a:solidFill>
                  <a:srgbClr val="1A1A1A"/>
                </a:solidFill>
              </a:rPr>
              <a:t>(Mythos)</a:t>
            </a:r>
            <a:endParaRPr lang="en-US" sz="975" dirty="0"/>
          </a:p>
        </p:txBody>
      </p:sp>
      <p:sp>
        <p:nvSpPr>
          <p:cNvPr id="29" name="Text 1"/>
          <p:cNvSpPr/>
          <p:nvPr/>
        </p:nvSpPr>
        <p:spPr>
          <a:xfrm>
            <a:off x="10246370" y="2359075"/>
            <a:ext cx="667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073"/>
              </a:lnSpc>
              <a:buNone/>
            </a:pPr>
            <a:r>
              <a:rPr lang="en-US" sz="975" b="1" dirty="0">
                <a:solidFill>
                  <a:srgbClr val="1A1A1A"/>
                </a:solidFill>
              </a:rPr>
              <a:t>경쟁사 A</a:t>
            </a:r>
            <a:endParaRPr lang="en-US" sz="975" dirty="0"/>
          </a:p>
        </p:txBody>
      </p:sp>
      <p:sp>
        <p:nvSpPr>
          <p:cNvPr id="30" name="Text 2"/>
          <p:cNvSpPr/>
          <p:nvPr/>
        </p:nvSpPr>
        <p:spPr>
          <a:xfrm>
            <a:off x="10914162" y="2359075"/>
            <a:ext cx="66808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073"/>
              </a:lnSpc>
              <a:buNone/>
            </a:pPr>
            <a:r>
              <a:rPr lang="en-US" sz="975" b="1" dirty="0">
                <a:solidFill>
                  <a:srgbClr val="1A1A1A"/>
                </a:solidFill>
              </a:rPr>
              <a:t>경쟁사 B</a:t>
            </a:r>
            <a:endParaRPr lang="en-US" sz="975" dirty="0"/>
          </a:p>
        </p:txBody>
      </p:sp>
      <p:sp>
        <p:nvSpPr>
          <p:cNvPr id="31" name="Text 3"/>
          <p:cNvSpPr/>
          <p:nvPr/>
        </p:nvSpPr>
        <p:spPr>
          <a:xfrm>
            <a:off x="8546455" y="2787700"/>
            <a:ext cx="10321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</a:rPr>
              <a:t>모델 품질</a:t>
            </a:r>
            <a:endParaRPr lang="en-US" sz="1050" dirty="0"/>
          </a:p>
        </p:txBody>
      </p:sp>
      <p:sp>
        <p:nvSpPr>
          <p:cNvPr id="32" name="Text 4"/>
          <p:cNvSpPr/>
          <p:nvPr/>
        </p:nvSpPr>
        <p:spPr>
          <a:xfrm>
            <a:off x="8546455" y="2978200"/>
            <a:ext cx="10321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825" dirty="0">
                <a:solidFill>
                  <a:srgbClr val="1A1A1A"/>
                </a:solidFill>
              </a:rPr>
              <a:t>(지표: HumanEval)</a:t>
            </a:r>
            <a:endParaRPr lang="en-US" sz="825" dirty="0"/>
          </a:p>
        </p:txBody>
      </p:sp>
      <p:sp>
        <p:nvSpPr>
          <p:cNvPr id="33" name="Text 5"/>
          <p:cNvSpPr/>
          <p:nvPr/>
        </p:nvSpPr>
        <p:spPr>
          <a:xfrm>
            <a:off x="9578578" y="2759125"/>
            <a:ext cx="667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A9641"/>
                </a:solidFill>
              </a:rPr>
              <a:t>92%</a:t>
            </a:r>
            <a:endParaRPr lang="en-US" sz="1650" dirty="0"/>
          </a:p>
        </p:txBody>
      </p:sp>
      <p:sp>
        <p:nvSpPr>
          <p:cNvPr id="34" name="Text 6"/>
          <p:cNvSpPr/>
          <p:nvPr/>
        </p:nvSpPr>
        <p:spPr>
          <a:xfrm>
            <a:off x="10246370" y="2759125"/>
            <a:ext cx="667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C58F26"/>
                </a:solidFill>
              </a:rPr>
              <a:t>85%</a:t>
            </a:r>
            <a:endParaRPr lang="en-US" sz="1650" dirty="0"/>
          </a:p>
        </p:txBody>
      </p:sp>
      <p:sp>
        <p:nvSpPr>
          <p:cNvPr id="35" name="Text 7"/>
          <p:cNvSpPr/>
          <p:nvPr/>
        </p:nvSpPr>
        <p:spPr>
          <a:xfrm>
            <a:off x="10914162" y="2759125"/>
            <a:ext cx="66808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C60D13"/>
                </a:solidFill>
              </a:rPr>
              <a:t>78%</a:t>
            </a:r>
            <a:endParaRPr lang="en-US" sz="1650" dirty="0"/>
          </a:p>
        </p:txBody>
      </p:sp>
      <p:sp>
        <p:nvSpPr>
          <p:cNvPr id="36" name="Text 8"/>
          <p:cNvSpPr/>
          <p:nvPr/>
        </p:nvSpPr>
        <p:spPr>
          <a:xfrm>
            <a:off x="8546455" y="3187750"/>
            <a:ext cx="10321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A1A"/>
                </a:solidFill>
              </a:rPr>
              <a:t>Eval 운영력</a:t>
            </a:r>
            <a:endParaRPr lang="en-US" sz="1050" dirty="0"/>
          </a:p>
        </p:txBody>
      </p:sp>
      <p:sp>
        <p:nvSpPr>
          <p:cNvPr id="37" name="Text 9"/>
          <p:cNvSpPr/>
          <p:nvPr/>
        </p:nvSpPr>
        <p:spPr>
          <a:xfrm>
            <a:off x="8546455" y="3378250"/>
            <a:ext cx="10321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825" dirty="0">
                <a:solidFill>
                  <a:srgbClr val="1A1A1A"/>
                </a:solidFill>
              </a:rPr>
              <a:t>(지표: 오버헤드 측정)</a:t>
            </a:r>
            <a:endParaRPr lang="en-US" sz="825" dirty="0"/>
          </a:p>
        </p:txBody>
      </p:sp>
      <p:sp>
        <p:nvSpPr>
          <p:cNvPr id="38" name="Text 10"/>
          <p:cNvSpPr/>
          <p:nvPr/>
        </p:nvSpPr>
        <p:spPr>
          <a:xfrm>
            <a:off x="9578578" y="3159175"/>
            <a:ext cx="667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A9641"/>
                </a:solidFill>
              </a:rPr>
              <a:t>1.1x</a:t>
            </a:r>
            <a:endParaRPr lang="en-US" sz="1650" dirty="0"/>
          </a:p>
        </p:txBody>
      </p:sp>
      <p:sp>
        <p:nvSpPr>
          <p:cNvPr id="39" name="Text 11"/>
          <p:cNvSpPr/>
          <p:nvPr/>
        </p:nvSpPr>
        <p:spPr>
          <a:xfrm>
            <a:off x="10246370" y="3159175"/>
            <a:ext cx="667792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C58F26"/>
                </a:solidFill>
              </a:rPr>
              <a:t>1.3x</a:t>
            </a:r>
            <a:endParaRPr lang="en-US" sz="1650" dirty="0"/>
          </a:p>
        </p:txBody>
      </p:sp>
      <p:sp>
        <p:nvSpPr>
          <p:cNvPr id="40" name="Text 12"/>
          <p:cNvSpPr/>
          <p:nvPr/>
        </p:nvSpPr>
        <p:spPr>
          <a:xfrm>
            <a:off x="10914162" y="3159175"/>
            <a:ext cx="66808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C60D13"/>
                </a:solidFill>
              </a:rPr>
              <a:t>1.8x</a:t>
            </a:r>
            <a:endParaRPr lang="en-US" sz="1650" dirty="0"/>
          </a:p>
        </p:txBody>
      </p:sp>
      <p:sp>
        <p:nvSpPr>
          <p:cNvPr id="41" name="Text 13"/>
          <p:cNvSpPr/>
          <p:nvPr/>
        </p:nvSpPr>
        <p:spPr>
          <a:xfrm>
            <a:off x="228600" y="123825"/>
            <a:ext cx="11963400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255"/>
              </a:lnSpc>
              <a:buNone/>
            </a:pPr>
            <a:r>
              <a:rPr lang="en-US" sz="26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 구도 분석: Codex 및 타 에이전트 생태계의 도달 가능성</a:t>
            </a:r>
            <a:endParaRPr lang="en-US" sz="2625" dirty="0"/>
          </a:p>
        </p:txBody>
      </p:sp>
      <p:sp>
        <p:nvSpPr>
          <p:cNvPr id="42" name="Text 14"/>
          <p:cNvSpPr/>
          <p:nvPr/>
        </p:nvSpPr>
        <p:spPr>
          <a:xfrm>
            <a:off x="352425" y="742950"/>
            <a:ext cx="10995660" cy="3244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55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시점 Claude Mythos가 갖는 기술적 의의와 핵심 논지</a:t>
            </a:r>
            <a:endParaRPr lang="en-US" sz="1950" dirty="0"/>
          </a:p>
        </p:txBody>
      </p:sp>
      <p:sp>
        <p:nvSpPr>
          <p:cNvPr id="43" name="Text 15"/>
          <p:cNvSpPr/>
          <p:nvPr/>
        </p:nvSpPr>
        <p:spPr>
          <a:xfrm>
            <a:off x="1571625" y="2114550"/>
            <a:ext cx="5052060" cy="3244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55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수렴 위험: 원리적 도달 가능성</a:t>
            </a:r>
            <a:endParaRPr lang="en-US" sz="1950" dirty="0"/>
          </a:p>
        </p:txBody>
      </p:sp>
      <p:sp>
        <p:nvSpPr>
          <p:cNvPr id="44" name="Text 16"/>
          <p:cNvSpPr/>
          <p:nvPr/>
        </p:nvSpPr>
        <p:spPr>
          <a:xfrm>
            <a:off x="1571625" y="3448050"/>
            <a:ext cx="4457700" cy="3244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55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프로토콜 계층은 이미 개방적</a:t>
            </a:r>
            <a:endParaRPr lang="en-US" sz="1950" dirty="0"/>
          </a:p>
        </p:txBody>
      </p:sp>
      <p:sp>
        <p:nvSpPr>
          <p:cNvPr id="45" name="Text 17"/>
          <p:cNvSpPr/>
          <p:nvPr/>
        </p:nvSpPr>
        <p:spPr>
          <a:xfrm>
            <a:off x="1571625" y="4781550"/>
            <a:ext cx="3863340" cy="32444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55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워크플로우 패턴의 보편화</a:t>
            </a:r>
            <a:endParaRPr lang="en-US" sz="1950" dirty="0"/>
          </a:p>
        </p:txBody>
      </p:sp>
      <p:sp>
        <p:nvSpPr>
          <p:cNvPr id="46" name="Text 18"/>
          <p:cNvSpPr/>
          <p:nvPr/>
        </p:nvSpPr>
        <p:spPr>
          <a:xfrm>
            <a:off x="8763000" y="2000250"/>
            <a:ext cx="3429000" cy="24958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65"/>
              </a:lnSpc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격차: 모델 품질·Eval 운영력</a:t>
            </a:r>
            <a:endParaRPr lang="en-US" sz="1500" dirty="0"/>
          </a:p>
        </p:txBody>
      </p:sp>
      <p:sp>
        <p:nvSpPr>
          <p:cNvPr id="47" name="Text 19"/>
          <p:cNvSpPr/>
          <p:nvPr/>
        </p:nvSpPr>
        <p:spPr>
          <a:xfrm>
            <a:off x="1628775" y="2524125"/>
            <a:ext cx="5930205" cy="63281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92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타 프론티어 모델도 유사 스케폴드 적용 시 동등 수준 도달 가능</a:t>
            </a:r>
            <a:pPr indent="0" marL="0">
              <a:lnSpc>
                <a:spcPts val="2492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492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[불확실성] 타사 스케폴드 적용 성능 데이터 부재</a:t>
            </a:r>
            <a:endParaRPr lang="en-US" sz="1650" dirty="0"/>
          </a:p>
        </p:txBody>
      </p:sp>
      <p:sp>
        <p:nvSpPr>
          <p:cNvPr id="48" name="Text 20"/>
          <p:cNvSpPr/>
          <p:nvPr/>
        </p:nvSpPr>
        <p:spPr>
          <a:xfrm>
            <a:off x="1628775" y="3857625"/>
            <a:ext cx="5186363" cy="63281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92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MCP·AGENTS.md 모두 Linux Foundation 기여로</a:t>
            </a:r>
            <a:pPr indent="0" marL="0">
              <a:lnSpc>
                <a:spcPts val="2492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492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벤더 종속 없음</a:t>
            </a:r>
            <a:endParaRPr lang="en-US" sz="1650" dirty="0"/>
          </a:p>
        </p:txBody>
      </p:sp>
      <p:sp>
        <p:nvSpPr>
          <p:cNvPr id="49" name="Text 21"/>
          <p:cNvSpPr/>
          <p:nvPr/>
        </p:nvSpPr>
        <p:spPr>
          <a:xfrm>
            <a:off x="1628775" y="5191125"/>
            <a:ext cx="4253805" cy="63281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492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Mythos 스케폴드는 혁신 아닌 기존 패턴에</a:t>
            </a:r>
            <a:pPr indent="0" marL="0">
              <a:lnSpc>
                <a:spcPts val="2492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492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강력 모델 결합 결과</a:t>
            </a:r>
            <a:endParaRPr lang="en-US" sz="1650" dirty="0"/>
          </a:p>
        </p:txBody>
      </p:sp>
      <p:sp>
        <p:nvSpPr>
          <p:cNvPr id="50" name="Text 22"/>
          <p:cNvSpPr/>
          <p:nvPr/>
        </p:nvSpPr>
        <p:spPr>
          <a:xfrm>
            <a:off x="8820150" y="3962400"/>
            <a:ext cx="3153668" cy="7558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5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진짜 해자는 신뢰·거버넌스 프레임</a:t>
            </a:r>
            <a:pPr indent="0" marL="0">
              <a:lnSpc>
                <a:spcPts val="1985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85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성능 격차보다 파트너 신뢰·안전</a:t>
            </a:r>
            <a:pPr indent="0" marL="0">
              <a:lnSpc>
                <a:spcPts val="1985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85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포준 선점이 지속 우위 핵심</a:t>
            </a:r>
            <a:endParaRPr lang="en-US" sz="1575" dirty="0"/>
          </a:p>
        </p:txBody>
      </p:sp>
      <p:sp>
        <p:nvSpPr>
          <p:cNvPr id="51" name="Text 23"/>
          <p:cNvSpPr/>
          <p:nvPr/>
        </p:nvSpPr>
        <p:spPr>
          <a:xfrm>
            <a:off x="8820150" y="4752975"/>
            <a:ext cx="3371850" cy="22026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34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[해석] 전략적 선점 vs 단순 성능 경쟁</a:t>
            </a:r>
            <a:endParaRPr lang="en-US" sz="1275" dirty="0"/>
          </a:p>
        </p:txBody>
      </p:sp>
      <p:sp>
        <p:nvSpPr>
          <p:cNvPr id="52" name="Text 24"/>
          <p:cNvSpPr/>
          <p:nvPr/>
        </p:nvSpPr>
        <p:spPr>
          <a:xfrm>
            <a:off x="8820150" y="5124450"/>
            <a:ext cx="3069878" cy="75589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5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 전략: 덜모델·표준 주시</a:t>
            </a:r>
            <a:pPr indent="0" marL="0">
              <a:lnSpc>
                <a:spcPts val="1985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85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• 특화 벤더 종속 방지 위해 개방형</a:t>
            </a:r>
            <a:pPr indent="0" marL="0">
              <a:lnSpc>
                <a:spcPts val="1985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85"/>
              </a:lnSpc>
              <a:buNone/>
            </a:pPr>
            <a:r>
              <a:rPr lang="en-US" sz="15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 동향 모니터링 필수</a:t>
            </a:r>
            <a:endParaRPr lang="en-US" sz="1575" dirty="0"/>
          </a:p>
        </p:txBody>
      </p:sp>
      <p:sp>
        <p:nvSpPr>
          <p:cNvPr id="53" name="Text 25"/>
          <p:cNvSpPr/>
          <p:nvPr/>
        </p:nvSpPr>
        <p:spPr>
          <a:xfrm>
            <a:off x="3820864" y="1514475"/>
            <a:ext cx="143529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생태계 수렴 분석</a:t>
            </a:r>
            <a:endParaRPr lang="en-US" sz="1500" dirty="0"/>
          </a:p>
        </p:txBody>
      </p:sp>
      <p:sp>
        <p:nvSpPr>
          <p:cNvPr id="54" name="Text 26"/>
          <p:cNvSpPr/>
          <p:nvPr/>
        </p:nvSpPr>
        <p:spPr>
          <a:xfrm>
            <a:off x="9345364" y="1514475"/>
            <a:ext cx="1435298" cy="21714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격차 및 대응 전략</a:t>
            </a:r>
            <a:endParaRPr lang="en-US" sz="1425" dirty="0"/>
          </a:p>
        </p:txBody>
      </p:sp>
      <p:sp>
        <p:nvSpPr>
          <p:cNvPr id="55" name="Text 27"/>
          <p:cNvSpPr/>
          <p:nvPr/>
        </p:nvSpPr>
        <p:spPr>
          <a:xfrm>
            <a:off x="8220968" y="6153150"/>
            <a:ext cx="3971032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081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*[예시] Linux Foundation MCP 분과 활동 및 주요 CSP 파트너십 현황 (2026).</a:t>
            </a:r>
            <a:endParaRPr lang="en-US" sz="825" dirty="0"/>
          </a:p>
        </p:txBody>
      </p:sp>
      <p:sp>
        <p:nvSpPr>
          <p:cNvPr id="56" name="Text 28"/>
          <p:cNvSpPr/>
          <p:nvPr/>
        </p:nvSpPr>
        <p:spPr>
          <a:xfrm>
            <a:off x="8639175" y="3619500"/>
            <a:ext cx="3552825" cy="1497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79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*참고: Anthropic 공개 벤치마크 데이터 및 외부 추정치 기반 (2026).</a:t>
            </a:r>
            <a:endParaRPr lang="en-US" sz="900" dirty="0"/>
          </a:p>
        </p:txBody>
      </p:sp>
      <p:sp>
        <p:nvSpPr>
          <p:cNvPr id="57" name="Text 29"/>
          <p:cNvSpPr/>
          <p:nvPr/>
        </p:nvSpPr>
        <p:spPr>
          <a:xfrm>
            <a:off x="7058025" y="3552825"/>
            <a:ext cx="514350" cy="21580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99"/>
              </a:lnSpc>
              <a:buNone/>
            </a:pPr>
            <a:r>
              <a:rPr lang="en-US" sz="11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MCP</a:t>
            </a:r>
            <a:endParaRPr lang="en-US" sz="1125" dirty="0"/>
          </a:p>
        </p:txBody>
      </p:sp>
      <p:sp>
        <p:nvSpPr>
          <p:cNvPr id="58" name="Text 30"/>
          <p:cNvSpPr/>
          <p:nvPr/>
        </p:nvSpPr>
        <p:spPr>
          <a:xfrm>
            <a:off x="7534275" y="3790950"/>
            <a:ext cx="1234440" cy="14972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179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AGENTS.md</a:t>
            </a:r>
            <a:endParaRPr lang="en-US" sz="900" dirty="0"/>
          </a:p>
        </p:txBody>
      </p:sp>
      <p:sp>
        <p:nvSpPr>
          <p:cNvPr id="59" name="Text 31"/>
          <p:cNvSpPr/>
          <p:nvPr/>
        </p:nvSpPr>
        <p:spPr>
          <a:xfrm>
            <a:off x="7200900" y="4067175"/>
            <a:ext cx="754261" cy="2744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081"/>
              </a:lnSpc>
              <a:buNone/>
            </a:pPr>
            <a:r>
              <a:rPr lang="en-US" sz="8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LINUX</a:t>
            </a:r>
            <a:pPr indent="0" marL="0">
              <a:lnSpc>
                <a:spcPts val="1081"/>
              </a:lnSpc>
              <a:buNone/>
            </a:pPr>
            <a:r>
              <a:rPr lang="en-US" sz="8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081"/>
              </a:lnSpc>
              <a:buNone/>
            </a:pPr>
            <a:r>
              <a:rPr lang="en-US" sz="8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FOUNDATION</a:t>
            </a:r>
            <a:endParaRPr lang="en-US" sz="825" dirty="0"/>
          </a:p>
        </p:txBody>
      </p:sp>
      <p:sp>
        <p:nvSpPr>
          <p:cNvPr id="60" name="Text 32"/>
          <p:cNvSpPr/>
          <p:nvPr/>
        </p:nvSpPr>
        <p:spPr>
          <a:xfrm>
            <a:off x="104775" y="6467475"/>
            <a:ext cx="228600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470"/>
              </a:lnSpc>
              <a:buNone/>
            </a:pPr>
            <a:r>
              <a:rPr lang="en-US" sz="15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500" dirty="0"/>
          </a:p>
        </p:txBody>
      </p:sp>
      <p:sp>
        <p:nvSpPr>
          <p:cNvPr id="61" name="Text 33"/>
          <p:cNvSpPr/>
          <p:nvPr/>
        </p:nvSpPr>
        <p:spPr>
          <a:xfrm>
            <a:off x="5813524" y="6705600"/>
            <a:ext cx="555278" cy="1026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08"/>
              </a:lnSpc>
              <a:buNone/>
            </a:pPr>
            <a:r>
              <a:rPr lang="en-US" sz="825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8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68188" cy="25360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61" y="5061198"/>
            <a:ext cx="585192" cy="610344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655" y="4903440"/>
            <a:ext cx="609600" cy="603498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8761" y="3216325"/>
            <a:ext cx="585192" cy="603498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655" y="3140869"/>
            <a:ext cx="609600" cy="617190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8761" y="1433215"/>
            <a:ext cx="585192" cy="624036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655" y="1433215"/>
            <a:ext cx="609600" cy="624036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352425" y="742950"/>
            <a:ext cx="11839575" cy="3214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531"/>
              </a:lnSpc>
              <a:buNone/>
            </a:pPr>
            <a:r>
              <a:rPr lang="en-US" sz="2025" b="1" dirty="0">
                <a:solidFill>
                  <a:srgbClr val="2222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 핵심 과제 및 실행 로드맵 (TECHNICAL ACTION ROADMAP)</a:t>
            </a:r>
            <a:endParaRPr lang="en-US" sz="2025" dirty="0"/>
          </a:p>
        </p:txBody>
      </p:sp>
      <p:sp>
        <p:nvSpPr>
          <p:cNvPr id="11" name="Text 1"/>
          <p:cNvSpPr/>
          <p:nvPr/>
        </p:nvSpPr>
        <p:spPr>
          <a:xfrm>
            <a:off x="1323975" y="1495425"/>
            <a:ext cx="3478411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63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에이전트 전제 설정</a:t>
            </a:r>
            <a:pPr indent="0" marL="0">
              <a:lnSpc>
                <a:spcPts val="2063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63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(AGENT PREMISE SETTING)</a:t>
            </a:r>
            <a:endParaRPr lang="en-US" sz="1875" dirty="0"/>
          </a:p>
        </p:txBody>
      </p:sp>
      <p:sp>
        <p:nvSpPr>
          <p:cNvPr id="12" name="Text 2"/>
          <p:cNvSpPr/>
          <p:nvPr/>
        </p:nvSpPr>
        <p:spPr>
          <a:xfrm>
            <a:off x="6934200" y="1600200"/>
            <a:ext cx="5257800" cy="27205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142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자동화 대응 (AUTOMATION RESPONSE)</a:t>
            </a:r>
            <a:endParaRPr lang="en-US" sz="1800" dirty="0"/>
          </a:p>
        </p:txBody>
      </p:sp>
      <p:sp>
        <p:nvSpPr>
          <p:cNvPr id="13" name="Text 3"/>
          <p:cNvSpPr/>
          <p:nvPr/>
        </p:nvSpPr>
        <p:spPr>
          <a:xfrm>
            <a:off x="1323975" y="3181350"/>
            <a:ext cx="4788098" cy="5238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63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Secure-by-Default 강화</a:t>
            </a:r>
            <a:pPr indent="0" marL="0">
              <a:lnSpc>
                <a:spcPts val="2063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2063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(STRENGTHEN SECURE-BY-DEFAULT)</a:t>
            </a:r>
            <a:endParaRPr lang="en-US" sz="1875" dirty="0"/>
          </a:p>
        </p:txBody>
      </p:sp>
      <p:sp>
        <p:nvSpPr>
          <p:cNvPr id="14" name="Text 4"/>
          <p:cNvSpPr/>
          <p:nvPr/>
        </p:nvSpPr>
        <p:spPr>
          <a:xfrm>
            <a:off x="6934200" y="3429000"/>
            <a:ext cx="5257800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 우선순위 재설정 (PRIORITY RE-SETTING)</a:t>
            </a:r>
            <a:endParaRPr lang="en-US" sz="1800" dirty="0"/>
          </a:p>
        </p:txBody>
      </p:sp>
      <p:sp>
        <p:nvSpPr>
          <p:cNvPr id="15" name="Text 5"/>
          <p:cNvSpPr/>
          <p:nvPr/>
        </p:nvSpPr>
        <p:spPr>
          <a:xfrm>
            <a:off x="1323975" y="5095875"/>
            <a:ext cx="8686800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퍼징 및 검색 (FUZZING AND SEARCH)</a:t>
            </a:r>
            <a:endParaRPr lang="en-US" sz="1800" dirty="0"/>
          </a:p>
        </p:txBody>
      </p:sp>
      <p:sp>
        <p:nvSpPr>
          <p:cNvPr id="16" name="Text 6"/>
          <p:cNvSpPr/>
          <p:nvPr/>
        </p:nvSpPr>
        <p:spPr>
          <a:xfrm>
            <a:off x="6934200" y="5143500"/>
            <a:ext cx="3635573" cy="50303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 거버넌스 구축 (GOVERNANCE</a:t>
            </a:r>
            <a:pPr indent="0" marL="0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8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ESTABLISHMENT)</a:t>
            </a:r>
            <a:endParaRPr lang="en-US" sz="1800" dirty="0"/>
          </a:p>
        </p:txBody>
      </p:sp>
      <p:sp>
        <p:nvSpPr>
          <p:cNvPr id="17" name="Text 7"/>
          <p:cNvSpPr/>
          <p:nvPr/>
        </p:nvSpPr>
        <p:spPr>
          <a:xfrm>
            <a:off x="9144000" y="2457450"/>
            <a:ext cx="3048000" cy="25152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81"/>
              </a:lnSpc>
              <a:buNone/>
            </a:pPr>
            <a:r>
              <a:rPr lang="en-US" sz="1425" b="1" i="1" dirty="0">
                <a:solidFill>
                  <a:srgbClr val="224F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*개발 주기 1.5배 이상 단축 예상</a:t>
            </a:r>
            <a:endParaRPr lang="en-US" sz="1425" dirty="0"/>
          </a:p>
        </p:txBody>
      </p:sp>
      <p:sp>
        <p:nvSpPr>
          <p:cNvPr id="18" name="Text 8"/>
          <p:cNvSpPr/>
          <p:nvPr/>
        </p:nvSpPr>
        <p:spPr>
          <a:xfrm>
            <a:off x="9144000" y="6191250"/>
            <a:ext cx="3048000" cy="2007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81"/>
              </a:lnSpc>
              <a:buNone/>
            </a:pPr>
            <a:r>
              <a:rPr lang="en-US" sz="1275" b="1" dirty="0">
                <a:solidFill>
                  <a:srgbClr val="224F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*역할 전환 교육에 6개월 소요 전망</a:t>
            </a:r>
            <a:endParaRPr lang="en-US" sz="1275" dirty="0"/>
          </a:p>
        </p:txBody>
      </p:sp>
      <p:sp>
        <p:nvSpPr>
          <p:cNvPr id="19" name="Text 9"/>
          <p:cNvSpPr/>
          <p:nvPr/>
        </p:nvSpPr>
        <p:spPr>
          <a:xfrm>
            <a:off x="9734550" y="4286250"/>
            <a:ext cx="2457450" cy="25538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012"/>
              </a:lnSpc>
              <a:buNone/>
            </a:pPr>
            <a:r>
              <a:rPr lang="en-US" sz="1350" b="1" i="1" dirty="0">
                <a:solidFill>
                  <a:srgbClr val="224F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*CVSS 점수 AI 전환 고려</a:t>
            </a:r>
            <a:endParaRPr lang="en-US" sz="1350" dirty="0"/>
          </a:p>
        </p:txBody>
      </p:sp>
      <p:sp>
        <p:nvSpPr>
          <p:cNvPr id="20" name="Text 10"/>
          <p:cNvSpPr/>
          <p:nvPr/>
        </p:nvSpPr>
        <p:spPr>
          <a:xfrm>
            <a:off x="4124325" y="2495550"/>
            <a:ext cx="2461260" cy="24125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00"/>
              </a:lnSpc>
              <a:buNone/>
            </a:pPr>
            <a:r>
              <a:rPr lang="en-US" sz="1275" b="1" i="1" dirty="0">
                <a:solidFill>
                  <a:srgbClr val="224F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*주기적 업데이트 필수</a:t>
            </a:r>
            <a:endParaRPr lang="en-US" sz="1275" dirty="0"/>
          </a:p>
        </p:txBody>
      </p:sp>
      <p:sp>
        <p:nvSpPr>
          <p:cNvPr id="21" name="Text 11"/>
          <p:cNvSpPr/>
          <p:nvPr/>
        </p:nvSpPr>
        <p:spPr>
          <a:xfrm>
            <a:off x="3886200" y="4210050"/>
            <a:ext cx="3634740" cy="22115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742"/>
              </a:lnSpc>
              <a:buNone/>
            </a:pPr>
            <a:r>
              <a:rPr lang="en-US" sz="1350" b="1" i="1" dirty="0">
                <a:solidFill>
                  <a:srgbClr val="224F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*Rust-Go 사용 비율 확대</a:t>
            </a:r>
            <a:endParaRPr lang="en-US" sz="1350" dirty="0"/>
          </a:p>
        </p:txBody>
      </p:sp>
      <p:sp>
        <p:nvSpPr>
          <p:cNvPr id="22" name="Text 12"/>
          <p:cNvSpPr/>
          <p:nvPr/>
        </p:nvSpPr>
        <p:spPr>
          <a:xfrm>
            <a:off x="4124325" y="5848350"/>
            <a:ext cx="3173730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45"/>
              </a:lnSpc>
              <a:buNone/>
            </a:pPr>
            <a:r>
              <a:rPr lang="en-US" sz="1275" b="1" i="1" dirty="0">
                <a:solidFill>
                  <a:srgbClr val="224F2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*Tier-5 대응 커버리지</a:t>
            </a:r>
            <a:endParaRPr lang="en-US" sz="1275" dirty="0"/>
          </a:p>
        </p:txBody>
      </p:sp>
      <p:sp>
        <p:nvSpPr>
          <p:cNvPr id="23" name="Text 13"/>
          <p:cNvSpPr/>
          <p:nvPr/>
        </p:nvSpPr>
        <p:spPr>
          <a:xfrm>
            <a:off x="2790825" y="6200775"/>
            <a:ext cx="6488430" cy="153591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209"/>
              </a:lnSpc>
              <a:buNone/>
            </a:pPr>
            <a:r>
              <a:rPr lang="en-US" sz="975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Anthropic 보안 대응 보고서 및 내부 분석 결과 (2026)</a:t>
            </a:r>
            <a:endParaRPr lang="en-US" sz="975" dirty="0"/>
          </a:p>
        </p:txBody>
      </p:sp>
      <p:sp>
        <p:nvSpPr>
          <p:cNvPr id="24" name="Text 14"/>
          <p:cNvSpPr/>
          <p:nvPr/>
        </p:nvSpPr>
        <p:spPr>
          <a:xfrm>
            <a:off x="104775" y="6467475"/>
            <a:ext cx="1714500" cy="17710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95"/>
              </a:lnSpc>
              <a:buNone/>
            </a:pPr>
            <a:r>
              <a:rPr lang="en-US" sz="1125" b="1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125" dirty="0"/>
          </a:p>
        </p:txBody>
      </p:sp>
      <p:sp>
        <p:nvSpPr>
          <p:cNvPr id="25" name="Text 15"/>
          <p:cNvSpPr/>
          <p:nvPr/>
        </p:nvSpPr>
        <p:spPr>
          <a:xfrm>
            <a:off x="5813524" y="6715125"/>
            <a:ext cx="555278" cy="1037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17"/>
              </a:lnSpc>
              <a:buNone/>
            </a:pPr>
            <a:r>
              <a:rPr lang="en-US" sz="825" dirty="0">
                <a:solidFill>
                  <a:srgbClr val="78787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8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68188" cy="25360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4894" y="5095429"/>
            <a:ext cx="938659" cy="898327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879" y="4992588"/>
            <a:ext cx="1365498" cy="1035546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2855" y="3257550"/>
            <a:ext cx="1121569" cy="1062930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6800" y="3538686"/>
            <a:ext cx="950863" cy="658267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675" y="3298627"/>
            <a:ext cx="1219200" cy="637729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45961" y="1597819"/>
            <a:ext cx="999679" cy="816025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20173" y="1618357"/>
            <a:ext cx="792361" cy="767953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2675" y="1522363"/>
            <a:ext cx="1219200" cy="836563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228600" y="123825"/>
            <a:ext cx="11963400" cy="4080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213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연구자 및 엔지니어를 위한 향후 측정 지표와 평가 프레임워크</a:t>
            </a:r>
            <a:endParaRPr lang="en-US" sz="2700" dirty="0"/>
          </a:p>
        </p:txBody>
      </p:sp>
      <p:sp>
        <p:nvSpPr>
          <p:cNvPr id="13" name="Text 1"/>
          <p:cNvSpPr/>
          <p:nvPr/>
        </p:nvSpPr>
        <p:spPr>
          <a:xfrm>
            <a:off x="352425" y="742950"/>
            <a:ext cx="11839575" cy="36522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876"/>
              </a:lnSpc>
              <a:buNone/>
            </a:pPr>
            <a:r>
              <a:rPr lang="en-US" sz="202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및 개발 조직을 위한 핵심 성과 지표(KPI) 및 보안 메트릭스 상세화</a:t>
            </a:r>
            <a:endParaRPr lang="en-US" sz="2025" dirty="0"/>
          </a:p>
        </p:txBody>
      </p:sp>
      <p:sp>
        <p:nvSpPr>
          <p:cNvPr id="14" name="Text 2"/>
          <p:cNvSpPr/>
          <p:nvPr/>
        </p:nvSpPr>
        <p:spPr>
          <a:xfrm>
            <a:off x="2069753" y="1209675"/>
            <a:ext cx="2451646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익스플로잇 발생 속도 측정 지표</a:t>
            </a:r>
            <a:endParaRPr lang="en-US" sz="1500" dirty="0"/>
          </a:p>
        </p:txBody>
      </p:sp>
      <p:sp>
        <p:nvSpPr>
          <p:cNvPr id="15" name="Text 3"/>
          <p:cNvSpPr/>
          <p:nvPr/>
        </p:nvSpPr>
        <p:spPr>
          <a:xfrm>
            <a:off x="2200721" y="2981325"/>
            <a:ext cx="2084933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연쇄 공격 성공률 배치마크</a:t>
            </a:r>
            <a:endParaRPr lang="en-US" sz="1500" dirty="0"/>
          </a:p>
        </p:txBody>
      </p:sp>
      <p:sp>
        <p:nvSpPr>
          <p:cNvPr id="16" name="Text 4"/>
          <p:cNvSpPr/>
          <p:nvPr/>
        </p:nvSpPr>
        <p:spPr>
          <a:xfrm>
            <a:off x="8093273" y="1209675"/>
            <a:ext cx="1739205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방어 AI 대응 시간 KPI</a:t>
            </a:r>
            <a:endParaRPr lang="en-US" sz="1500" dirty="0"/>
          </a:p>
        </p:txBody>
      </p:sp>
      <p:sp>
        <p:nvSpPr>
          <p:cNvPr id="17" name="Text 5"/>
          <p:cNvSpPr/>
          <p:nvPr/>
        </p:nvSpPr>
        <p:spPr>
          <a:xfrm>
            <a:off x="7310884" y="2981325"/>
            <a:ext cx="3447008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익스플로잇 가능성 기반 취약점 우선순위 지수</a:t>
            </a:r>
            <a:endParaRPr lang="en-US" sz="1500" dirty="0"/>
          </a:p>
        </p:txBody>
      </p:sp>
      <p:sp>
        <p:nvSpPr>
          <p:cNvPr id="18" name="Text 6"/>
          <p:cNvSpPr/>
          <p:nvPr/>
        </p:nvSpPr>
        <p:spPr>
          <a:xfrm>
            <a:off x="2070199" y="4762500"/>
            <a:ext cx="2441228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자료 루프 안전성 평가</a:t>
            </a:r>
            <a:endParaRPr lang="en-US" sz="1500" dirty="0"/>
          </a:p>
        </p:txBody>
      </p:sp>
      <p:sp>
        <p:nvSpPr>
          <p:cNvPr id="19" name="Text 7"/>
          <p:cNvSpPr/>
          <p:nvPr/>
        </p:nvSpPr>
        <p:spPr>
          <a:xfrm>
            <a:off x="8038505" y="4762500"/>
            <a:ext cx="1896368" cy="2266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인간 검증자 개입률 추적</a:t>
            </a:r>
            <a:endParaRPr lang="en-US" sz="1500" dirty="0"/>
          </a:p>
        </p:txBody>
      </p:sp>
      <p:sp>
        <p:nvSpPr>
          <p:cNvPr id="20" name="Text 8"/>
          <p:cNvSpPr/>
          <p:nvPr/>
        </p:nvSpPr>
        <p:spPr>
          <a:xfrm>
            <a:off x="2114550" y="1552575"/>
            <a:ext cx="4243388" cy="73714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취약점 발견(CVE/TPPs) 시점부터 실용적인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익스플로잇 코드(PoC) 완성까지 소요되는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시간을 측정하여 추적.</a:t>
            </a:r>
            <a:endParaRPr lang="en-US" sz="1500" dirty="0"/>
          </a:p>
        </p:txBody>
      </p:sp>
      <p:sp>
        <p:nvSpPr>
          <p:cNvPr id="21" name="Text 9"/>
          <p:cNvSpPr/>
          <p:nvPr/>
        </p:nvSpPr>
        <p:spPr>
          <a:xfrm>
            <a:off x="2114550" y="3324225"/>
            <a:ext cx="4264223" cy="73714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취약점 공격(RCE, LPE 등)을 넘어, 최종 침투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목표까지 이어지는 단계적 공격 체인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완성 비율을 측정.</a:t>
            </a:r>
            <a:endParaRPr lang="en-US" sz="1500" dirty="0"/>
          </a:p>
        </p:txBody>
      </p:sp>
      <p:sp>
        <p:nvSpPr>
          <p:cNvPr id="22" name="Text 10"/>
          <p:cNvSpPr/>
          <p:nvPr/>
        </p:nvSpPr>
        <p:spPr>
          <a:xfrm>
            <a:off x="7715250" y="1552575"/>
            <a:ext cx="3363218" cy="73714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공격 탐지 직후부터 패치 제안 및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자동화된 방어 정책 적용까지 소요되는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자동화 시간 측정.</a:t>
            </a:r>
            <a:endParaRPr lang="en-US" sz="1500" dirty="0"/>
          </a:p>
        </p:txBody>
      </p:sp>
      <p:sp>
        <p:nvSpPr>
          <p:cNvPr id="23" name="Text 11"/>
          <p:cNvSpPr/>
          <p:nvPr/>
        </p:nvSpPr>
        <p:spPr>
          <a:xfrm>
            <a:off x="7715250" y="3324225"/>
            <a:ext cx="4379565" cy="73714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CVSS 점수에 더해, AI가 실제로 악용할 수 있는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있는 가능성(Exp_AI) 기준 점수를 도입하여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우선순위 재정.</a:t>
            </a:r>
            <a:endParaRPr lang="en-US" sz="1500" dirty="0"/>
          </a:p>
        </p:txBody>
      </p:sp>
      <p:sp>
        <p:nvSpPr>
          <p:cNvPr id="24" name="Text 12"/>
          <p:cNvSpPr/>
          <p:nvPr/>
        </p:nvSpPr>
        <p:spPr>
          <a:xfrm>
            <a:off x="2114550" y="5105400"/>
            <a:ext cx="4243388" cy="73714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검사→가설→실행→검증의 자율 반복 루프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(Autonomous Loop) 운영 중 의도하지 않은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이탈 행동 발생을 모니터링.</a:t>
            </a:r>
            <a:endParaRPr lang="en-US" sz="1500" dirty="0"/>
          </a:p>
        </p:txBody>
      </p:sp>
      <p:sp>
        <p:nvSpPr>
          <p:cNvPr id="25" name="Text 13"/>
          <p:cNvSpPr/>
          <p:nvPr/>
        </p:nvSpPr>
        <p:spPr>
          <a:xfrm>
            <a:off x="7715250" y="5105400"/>
            <a:ext cx="4379565" cy="73714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에이전트의 최종 산출물(보고서, 코드, 정책) 중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인간 전문가의 재검토 및 최종 승인이 필요한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93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비율을 모니터링.</a:t>
            </a:r>
            <a:endParaRPr lang="en-US" sz="1500" dirty="0"/>
          </a:p>
        </p:txBody>
      </p:sp>
      <p:sp>
        <p:nvSpPr>
          <p:cNvPr id="26" name="Text 14"/>
          <p:cNvSpPr/>
          <p:nvPr/>
        </p:nvSpPr>
        <p:spPr>
          <a:xfrm>
            <a:off x="2114550" y="2486025"/>
            <a:ext cx="7406640" cy="23827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7"/>
              </a:lnSpc>
              <a:buNone/>
            </a:pPr>
            <a:r>
              <a:rPr lang="en-US" sz="1350" b="1" dirty="0">
                <a:solidFill>
                  <a:srgbClr val="005B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취약점의 복잡도와 연구자의 숙련도에 따라 가변적일 수 있음.</a:t>
            </a:r>
            <a:endParaRPr lang="en-US" sz="1350" dirty="0"/>
          </a:p>
        </p:txBody>
      </p:sp>
      <p:sp>
        <p:nvSpPr>
          <p:cNvPr id="27" name="Text 15"/>
          <p:cNvSpPr/>
          <p:nvPr/>
        </p:nvSpPr>
        <p:spPr>
          <a:xfrm>
            <a:off x="2114550" y="4257675"/>
            <a:ext cx="7200900" cy="23827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7"/>
              </a:lnSpc>
              <a:buNone/>
            </a:pPr>
            <a:r>
              <a:rPr lang="en-US" sz="1350" b="1" dirty="0">
                <a:solidFill>
                  <a:srgbClr val="005B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이(탈) 타겟 환경의 성숙도 및 탐지 메커니즘에 따라 결과상이.</a:t>
            </a:r>
            <a:endParaRPr lang="en-US" sz="1350" dirty="0"/>
          </a:p>
        </p:txBody>
      </p:sp>
      <p:sp>
        <p:nvSpPr>
          <p:cNvPr id="28" name="Text 16"/>
          <p:cNvSpPr/>
          <p:nvPr/>
        </p:nvSpPr>
        <p:spPr>
          <a:xfrm>
            <a:off x="7715250" y="2486025"/>
            <a:ext cx="4476750" cy="23827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7"/>
              </a:lnSpc>
              <a:buNone/>
            </a:pPr>
            <a:r>
              <a:rPr lang="en-US" sz="1350" b="1" dirty="0">
                <a:solidFill>
                  <a:srgbClr val="005B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패치 복장성 및 검증 테스프로세스에 따라 추가 지연 가능.</a:t>
            </a:r>
            <a:endParaRPr lang="en-US" sz="1350" dirty="0"/>
          </a:p>
        </p:txBody>
      </p:sp>
      <p:sp>
        <p:nvSpPr>
          <p:cNvPr id="29" name="Text 17"/>
          <p:cNvSpPr/>
          <p:nvPr/>
        </p:nvSpPr>
        <p:spPr>
          <a:xfrm>
            <a:off x="7715250" y="4257675"/>
            <a:ext cx="4476750" cy="23827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7"/>
              </a:lnSpc>
              <a:buNone/>
            </a:pPr>
            <a:r>
              <a:rPr lang="en-US" sz="1350" b="1" dirty="0">
                <a:solidFill>
                  <a:srgbClr val="005B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이(탈) 단순 CVSS 점수보다 실제 위험에 더 효율적으로 대응.</a:t>
            </a:r>
            <a:endParaRPr lang="en-US" sz="1350" dirty="0"/>
          </a:p>
        </p:txBody>
      </p:sp>
      <p:sp>
        <p:nvSpPr>
          <p:cNvPr id="30" name="Text 18"/>
          <p:cNvSpPr/>
          <p:nvPr/>
        </p:nvSpPr>
        <p:spPr>
          <a:xfrm>
            <a:off x="7634288" y="5915025"/>
            <a:ext cx="4557713" cy="23827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7"/>
              </a:lnSpc>
              <a:buNone/>
            </a:pPr>
            <a:r>
              <a:rPr lang="en-US" sz="1350" b="1" dirty="0">
                <a:solidFill>
                  <a:srgbClr val="005B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이(탈) 인간 검증자의 전문성 및 주관성에 따라 데이터 편향 가능.</a:t>
            </a:r>
            <a:endParaRPr lang="en-US" sz="1350" dirty="0"/>
          </a:p>
        </p:txBody>
      </p:sp>
      <p:sp>
        <p:nvSpPr>
          <p:cNvPr id="31" name="Text 19"/>
          <p:cNvSpPr/>
          <p:nvPr/>
        </p:nvSpPr>
        <p:spPr>
          <a:xfrm>
            <a:off x="2114550" y="5915025"/>
            <a:ext cx="7200900" cy="23827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877"/>
              </a:lnSpc>
              <a:buNone/>
            </a:pPr>
            <a:r>
              <a:rPr lang="en-US" sz="1350" b="1" dirty="0">
                <a:solidFill>
                  <a:srgbClr val="005B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이(탈) 에이전트의 목표 정의 및 제약 조건 설정에 매우 민감.</a:t>
            </a:r>
            <a:endParaRPr lang="en-US" sz="1350" dirty="0"/>
          </a:p>
        </p:txBody>
      </p:sp>
      <p:sp>
        <p:nvSpPr>
          <p:cNvPr id="32" name="Text 20"/>
          <p:cNvSpPr/>
          <p:nvPr/>
        </p:nvSpPr>
        <p:spPr>
          <a:xfrm>
            <a:off x="2114550" y="2247900"/>
            <a:ext cx="4339590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90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레퍼런스: 연구 보고서 #24-12</a:t>
            </a:r>
            <a:endParaRPr lang="en-US" sz="1275" dirty="0"/>
          </a:p>
        </p:txBody>
      </p:sp>
      <p:sp>
        <p:nvSpPr>
          <p:cNvPr id="33" name="Text 21"/>
          <p:cNvSpPr/>
          <p:nvPr/>
        </p:nvSpPr>
        <p:spPr>
          <a:xfrm>
            <a:off x="2114550" y="4019550"/>
            <a:ext cx="3368040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90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레퍼런스: 기술 백서 v3.1</a:t>
            </a:r>
            <a:endParaRPr lang="en-US" sz="1275" dirty="0"/>
          </a:p>
        </p:txBody>
      </p:sp>
      <p:sp>
        <p:nvSpPr>
          <p:cNvPr id="34" name="Text 22"/>
          <p:cNvSpPr/>
          <p:nvPr/>
        </p:nvSpPr>
        <p:spPr>
          <a:xfrm>
            <a:off x="7715250" y="2247900"/>
            <a:ext cx="3691890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90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레퍼런스: 내부 보안팀 운영 KPI</a:t>
            </a:r>
            <a:endParaRPr lang="en-US" sz="1275" dirty="0"/>
          </a:p>
        </p:txBody>
      </p:sp>
      <p:sp>
        <p:nvSpPr>
          <p:cNvPr id="35" name="Text 23"/>
          <p:cNvSpPr/>
          <p:nvPr/>
        </p:nvSpPr>
        <p:spPr>
          <a:xfrm>
            <a:off x="7715250" y="4019550"/>
            <a:ext cx="3303270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90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레퍼런스: 최신 위력 인텔리전스</a:t>
            </a:r>
            <a:endParaRPr lang="en-US" sz="1275" dirty="0"/>
          </a:p>
        </p:txBody>
      </p:sp>
      <p:sp>
        <p:nvSpPr>
          <p:cNvPr id="36" name="Text 24"/>
          <p:cNvSpPr/>
          <p:nvPr/>
        </p:nvSpPr>
        <p:spPr>
          <a:xfrm>
            <a:off x="7715250" y="5676900"/>
            <a:ext cx="4339590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90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레퍼런스: QA 프로세스 문서 v1.2</a:t>
            </a:r>
            <a:endParaRPr lang="en-US" sz="1275" dirty="0"/>
          </a:p>
        </p:txBody>
      </p:sp>
      <p:sp>
        <p:nvSpPr>
          <p:cNvPr id="37" name="Text 25"/>
          <p:cNvSpPr/>
          <p:nvPr/>
        </p:nvSpPr>
        <p:spPr>
          <a:xfrm>
            <a:off x="2114550" y="5676900"/>
            <a:ext cx="3691890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90"/>
              </a:lnSpc>
              <a:buNone/>
            </a:pPr>
            <a:r>
              <a:rPr lang="en-US" sz="127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레퍼런스: 자료 시스템 안전 표준안</a:t>
            </a:r>
            <a:endParaRPr lang="en-US" sz="12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57" y="6446490"/>
            <a:ext cx="268188" cy="24675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0769" y="2852886"/>
            <a:ext cx="743694" cy="733723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455" y="2797969"/>
            <a:ext cx="841177" cy="836563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8384" y="2846040"/>
            <a:ext cx="780157" cy="740569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584" y="2715667"/>
            <a:ext cx="1755577" cy="946398"/>
          </a:xfrm>
          <a:prstGeom prst="rect">
            <a:avLst/>
          </a:prstGeom>
        </p:spPr>
      </p:pic>
      <p:sp>
        <p:nvSpPr>
          <p:cNvPr id="8" name="Text 0"/>
          <p:cNvSpPr/>
          <p:nvPr/>
        </p:nvSpPr>
        <p:spPr>
          <a:xfrm>
            <a:off x="285750" y="142875"/>
            <a:ext cx="11906250" cy="38531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035"/>
              </a:lnSpc>
              <a:buNone/>
            </a:pPr>
            <a:r>
              <a:rPr lang="en-US" sz="255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전략적 관찰 리스트: 향후 6개월에서 18개월간의 주요 변곡점</a:t>
            </a:r>
            <a:endParaRPr lang="en-US" sz="2550" dirty="0"/>
          </a:p>
        </p:txBody>
      </p:sp>
      <p:sp>
        <p:nvSpPr>
          <p:cNvPr id="9" name="Text 1"/>
          <p:cNvSpPr/>
          <p:nvPr/>
        </p:nvSpPr>
        <p:spPr>
          <a:xfrm>
            <a:off x="352425" y="762000"/>
            <a:ext cx="8001000" cy="28336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2231"/>
              </a:lnSpc>
              <a:buNone/>
            </a:pPr>
            <a:r>
              <a:rPr lang="en-US" sz="1875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모델 핵심 성능 지표 및 경쟁사 벤치마크 추적</a:t>
            </a:r>
            <a:endParaRPr lang="en-US" sz="1875" dirty="0"/>
          </a:p>
        </p:txBody>
      </p:sp>
      <p:sp>
        <p:nvSpPr>
          <p:cNvPr id="10" name="Text 2"/>
          <p:cNvSpPr/>
          <p:nvPr/>
        </p:nvSpPr>
        <p:spPr>
          <a:xfrm>
            <a:off x="884783" y="1962150"/>
            <a:ext cx="1697236" cy="49083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32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및 경쟁 성능</a:t>
            </a:r>
            <a:pPr algn="ctr" indent="0" marL="0">
              <a:lnSpc>
                <a:spcPts val="1932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932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모니터링</a:t>
            </a:r>
            <a:endParaRPr lang="en-US" sz="1725" dirty="0"/>
          </a:p>
        </p:txBody>
      </p:sp>
      <p:sp>
        <p:nvSpPr>
          <p:cNvPr id="11" name="Text 3"/>
          <p:cNvSpPr/>
          <p:nvPr/>
        </p:nvSpPr>
        <p:spPr>
          <a:xfrm>
            <a:off x="3877568" y="1962150"/>
            <a:ext cx="1445865" cy="49083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32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규제 및</a:t>
            </a:r>
            <a:pPr algn="ctr" indent="0" marL="0">
              <a:lnSpc>
                <a:spcPts val="1932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932"/>
              </a:lnSpc>
              <a:buNone/>
            </a:pPr>
            <a:r>
              <a:rPr lang="en-US" sz="1725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법제화 동향</a:t>
            </a:r>
            <a:endParaRPr lang="en-US" sz="1725" dirty="0"/>
          </a:p>
        </p:txBody>
      </p:sp>
      <p:sp>
        <p:nvSpPr>
          <p:cNvPr id="12" name="Text 4"/>
          <p:cNvSpPr/>
          <p:nvPr/>
        </p:nvSpPr>
        <p:spPr>
          <a:xfrm>
            <a:off x="6476405" y="1962150"/>
            <a:ext cx="1896368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48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Glasswing 연합 및</a:t>
            </a:r>
            <a:pPr algn="ctr" indent="0" marL="0">
              <a:lnSpc>
                <a:spcPts val="1848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48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방어 인프라 구축</a:t>
            </a:r>
            <a:endParaRPr lang="en-US" sz="1650" dirty="0"/>
          </a:p>
        </p:txBody>
      </p:sp>
      <p:sp>
        <p:nvSpPr>
          <p:cNvPr id="13" name="Text 5"/>
          <p:cNvSpPr/>
          <p:nvPr/>
        </p:nvSpPr>
        <p:spPr>
          <a:xfrm>
            <a:off x="9664005" y="1962150"/>
            <a:ext cx="1341090" cy="46940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48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거버넌스</a:t>
            </a:r>
            <a:pPr algn="ctr" indent="0" marL="0">
              <a:lnSpc>
                <a:spcPts val="1848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48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 대응</a:t>
            </a:r>
            <a:endParaRPr lang="en-US" sz="1650" dirty="0"/>
          </a:p>
        </p:txBody>
      </p:sp>
      <p:sp>
        <p:nvSpPr>
          <p:cNvPr id="14" name="Text 6"/>
          <p:cNvSpPr/>
          <p:nvPr/>
        </p:nvSpPr>
        <p:spPr>
          <a:xfrm>
            <a:off x="352425" y="6467475"/>
            <a:ext cx="2057400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37"/>
              </a:lnSpc>
              <a:buNone/>
            </a:pPr>
            <a:r>
              <a:rPr lang="en-US" sz="1350" b="1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350" dirty="0"/>
          </a:p>
        </p:txBody>
      </p:sp>
      <p:sp>
        <p:nvSpPr>
          <p:cNvPr id="15" name="Text 7"/>
          <p:cNvSpPr/>
          <p:nvPr/>
        </p:nvSpPr>
        <p:spPr>
          <a:xfrm>
            <a:off x="714375" y="4143375"/>
            <a:ext cx="3474720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Mythos 후속 자율화 수준 추적</a:t>
            </a:r>
            <a:endParaRPr lang="en-US" sz="1200" dirty="0"/>
          </a:p>
        </p:txBody>
      </p:sp>
      <p:sp>
        <p:nvSpPr>
          <p:cNvPr id="16" name="Text 8"/>
          <p:cNvSpPr/>
          <p:nvPr/>
        </p:nvSpPr>
        <p:spPr>
          <a:xfrm>
            <a:off x="838200" y="4467225"/>
            <a:ext cx="2200275" cy="3970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64"/>
              </a:lnSpc>
              <a:buNone/>
            </a:pPr>
            <a:r>
              <a:rPr lang="en-US" sz="1125" dirty="0">
                <a:solidFill>
                  <a:srgbClr val="2060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익스콜로로닝 성장 능력 벤치마크</a:t>
            </a:r>
            <a:pPr indent="0" marL="0">
              <a:lnSpc>
                <a:spcPts val="1564"/>
              </a:lnSpc>
              <a:buNone/>
            </a:pPr>
            <a:r>
              <a:rPr lang="en-US" sz="1125" dirty="0">
                <a:solidFill>
                  <a:srgbClr val="2060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64"/>
              </a:lnSpc>
              <a:buNone/>
            </a:pPr>
            <a:r>
              <a:rPr lang="en-US" sz="1125" dirty="0">
                <a:solidFill>
                  <a:srgbClr val="2060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경쟁사 공개 여부 모니터링</a:t>
            </a:r>
            <a:endParaRPr lang="en-US" sz="1125" dirty="0"/>
          </a:p>
        </p:txBody>
      </p:sp>
      <p:sp>
        <p:nvSpPr>
          <p:cNvPr id="17" name="Text 9"/>
          <p:cNvSpPr/>
          <p:nvPr/>
        </p:nvSpPr>
        <p:spPr>
          <a:xfrm>
            <a:off x="771525" y="4886325"/>
            <a:ext cx="2053530" cy="4235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임계점 돌파 (Gemini)</a:t>
            </a:r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벤치마크 공개 모니터링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838200" y="5276850"/>
            <a:ext cx="2210693" cy="4235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모델 통제 기준 구체화</a:t>
            </a:r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및 실무 적용</a:t>
            </a:r>
            <a:endParaRPr lang="en-US" sz="1200" dirty="0"/>
          </a:p>
        </p:txBody>
      </p:sp>
      <p:sp>
        <p:nvSpPr>
          <p:cNvPr id="19" name="Text 11"/>
          <p:cNvSpPr/>
          <p:nvPr/>
        </p:nvSpPr>
        <p:spPr>
          <a:xfrm>
            <a:off x="3762375" y="4067175"/>
            <a:ext cx="2200275" cy="4235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EU 프론터 AI 규제 입법 일정</a:t>
            </a:r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추적 (H2 2026)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3762375" y="4467225"/>
            <a:ext cx="1927771" cy="4235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미국 규제 법제화 동향 추적</a:t>
            </a:r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(H1 2027)</a:t>
            </a:r>
            <a:endParaRPr lang="en-US" sz="1200" dirty="0"/>
          </a:p>
        </p:txBody>
      </p:sp>
      <p:sp>
        <p:nvSpPr>
          <p:cNvPr id="21" name="Text 13"/>
          <p:cNvSpPr/>
          <p:nvPr/>
        </p:nvSpPr>
        <p:spPr>
          <a:xfrm>
            <a:off x="3705225" y="4886325"/>
            <a:ext cx="2367855" cy="4235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규제 세부 내용 및 기술 기준 분석</a:t>
            </a:r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(보안 등)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3762375" y="5276850"/>
            <a:ext cx="2210693" cy="6353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2060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법제화 진행 상황 uncertainty</a:t>
            </a:r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2060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2060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글로벌 표준화 활동 및 파트너사</a:t>
            </a:r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2060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2060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 모니터링</a:t>
            </a:r>
            <a:endParaRPr lang="en-US" sz="1200" dirty="0"/>
          </a:p>
        </p:txBody>
      </p:sp>
      <p:sp>
        <p:nvSpPr>
          <p:cNvPr id="23" name="Text 15"/>
          <p:cNvSpPr/>
          <p:nvPr/>
        </p:nvSpPr>
        <p:spPr>
          <a:xfrm>
            <a:off x="6562725" y="4086225"/>
            <a:ext cx="2126903" cy="4235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Linux Foundation 에이전트</a:t>
            </a:r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 채택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6562725" y="4467225"/>
            <a:ext cx="2294483" cy="4235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연합 참여사 AI 방어 파이프라인</a:t>
            </a:r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상용화 추적</a:t>
            </a: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6562725" y="4886325"/>
            <a:ext cx="2084933" cy="4235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파트너십 확장 및 글로벌 표준</a:t>
            </a:r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선점 활동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6562725" y="5276850"/>
            <a:ext cx="2346871" cy="63534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2060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기술 성숙도 uncertainty</a:t>
            </a:r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2060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2060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기반 패치 자동화 기술 성도</a:t>
            </a:r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2060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2060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9496425" y="4067175"/>
            <a:ext cx="2252663" cy="42356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고위험 에이전트 모델 분리 정책</a:t>
            </a:r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668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수립 (H1 2026 목표)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9496425" y="4467225"/>
            <a:ext cx="2325886" cy="3970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64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에이전트 모델 통제 기준 구체화 및</a:t>
            </a:r>
            <a:pPr indent="0" marL="0">
              <a:lnSpc>
                <a:spcPts val="1564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64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실무 적용</a:t>
            </a:r>
            <a:endParaRPr lang="en-US" sz="1125" dirty="0"/>
          </a:p>
        </p:txBody>
      </p:sp>
      <p:sp>
        <p:nvSpPr>
          <p:cNvPr id="29" name="Text 21"/>
          <p:cNvSpPr/>
          <p:nvPr/>
        </p:nvSpPr>
        <p:spPr>
          <a:xfrm>
            <a:off x="9496425" y="4886325"/>
            <a:ext cx="2294483" cy="3970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64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보안성 평가 프레임워크 고도화 및</a:t>
            </a:r>
            <a:pPr indent="0" marL="0">
              <a:lnSpc>
                <a:spcPts val="1564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64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</a:t>
            </a:r>
            <a:endParaRPr lang="en-US" sz="1125" dirty="0"/>
          </a:p>
        </p:txBody>
      </p:sp>
      <p:sp>
        <p:nvSpPr>
          <p:cNvPr id="30" name="Text 22"/>
          <p:cNvSpPr/>
          <p:nvPr/>
        </p:nvSpPr>
        <p:spPr>
          <a:xfrm>
            <a:off x="9496425" y="5276850"/>
            <a:ext cx="2200275" cy="39707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564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내부 거버넌스 준수 현황 점검 및</a:t>
            </a:r>
            <a:pPr indent="0" marL="0">
              <a:lnSpc>
                <a:spcPts val="1564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1564"/>
              </a:lnSpc>
              <a:buNone/>
            </a:pPr>
            <a:r>
              <a:rPr lang="en-US" sz="11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</a:t>
            </a:r>
            <a:endParaRPr lang="en-US" sz="1125" dirty="0"/>
          </a:p>
        </p:txBody>
      </p:sp>
      <p:sp>
        <p:nvSpPr>
          <p:cNvPr id="31" name="Text 23"/>
          <p:cNvSpPr/>
          <p:nvPr/>
        </p:nvSpPr>
        <p:spPr>
          <a:xfrm>
            <a:off x="5813971" y="6715125"/>
            <a:ext cx="544711" cy="103733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17"/>
              </a:lnSpc>
              <a:buNone/>
            </a:pPr>
            <a:r>
              <a:rPr lang="en-US" sz="825" dirty="0">
                <a:solidFill>
                  <a:srgbClr val="8080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 PUBLIC |</a:t>
            </a:r>
            <a:endParaRPr lang="en-US" sz="825" dirty="0"/>
          </a:p>
        </p:txBody>
      </p:sp>
      <p:sp>
        <p:nvSpPr>
          <p:cNvPr id="32" name="Text 24"/>
          <p:cNvSpPr/>
          <p:nvPr/>
        </p:nvSpPr>
        <p:spPr>
          <a:xfrm>
            <a:off x="2419350" y="6324600"/>
            <a:ext cx="2912715" cy="3741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982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[1] Anthropic internal strategic update (confidential)</a:t>
            </a:r>
            <a:pPr indent="0" marL="0">
              <a:lnSpc>
                <a:spcPts val="982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982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[2] EU AI Act timeline (Draft 4/10)</a:t>
            </a:r>
            <a:pPr indent="0" marL="0">
              <a:lnSpc>
                <a:spcPts val="982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982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[3] Glasswing internal progress report</a:t>
            </a:r>
            <a:endParaRPr lang="en-US" sz="825" dirty="0"/>
          </a:p>
        </p:txBody>
      </p:sp>
      <p:sp>
        <p:nvSpPr>
          <p:cNvPr id="33" name="Text 25"/>
          <p:cNvSpPr/>
          <p:nvPr/>
        </p:nvSpPr>
        <p:spPr>
          <a:xfrm>
            <a:off x="9001125" y="6267450"/>
            <a:ext cx="2860328" cy="37415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982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[1] Anthropic internal strategic update (confidential)</a:t>
            </a:r>
            <a:pPr indent="0" marL="0">
              <a:lnSpc>
                <a:spcPts val="982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982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[2] EU AI Act timeline (Draft 4/10)</a:t>
            </a:r>
            <a:pPr indent="0" marL="0">
              <a:lnSpc>
                <a:spcPts val="982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indent="0" marL="0">
              <a:lnSpc>
                <a:spcPts val="982"/>
              </a:lnSpc>
              <a:buNone/>
            </a:pPr>
            <a:r>
              <a:rPr lang="en-US" sz="825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[3] Glasswing internal progress report</a:t>
            </a:r>
            <a:endParaRPr lang="en-US" sz="8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53" y="6446490"/>
            <a:ext cx="280392" cy="246757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2973" y="3922663"/>
            <a:ext cx="804565" cy="740569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7380" y="1385292"/>
            <a:ext cx="743694" cy="761107"/>
          </a:xfrm>
          <a:prstGeom prst="rect">
            <a:avLst/>
          </a:prstGeom>
        </p:spPr>
      </p:pic>
      <p:pic>
        <p:nvPicPr>
          <p:cNvPr id="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0086" y="3922663"/>
            <a:ext cx="780157" cy="761107"/>
          </a:xfrm>
          <a:prstGeom prst="rect">
            <a:avLst/>
          </a:prstGeom>
        </p:spPr>
      </p:pic>
      <p:pic>
        <p:nvPicPr>
          <p:cNvPr id="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7882" y="1398984"/>
            <a:ext cx="792361" cy="733723"/>
          </a:xfrm>
          <a:prstGeom prst="rect">
            <a:avLst/>
          </a:prstGeom>
        </p:spPr>
      </p:pic>
      <p:pic>
        <p:nvPicPr>
          <p:cNvPr id="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7200" y="3936355"/>
            <a:ext cx="780157" cy="740569"/>
          </a:xfrm>
          <a:prstGeom prst="rect">
            <a:avLst/>
          </a:prstGeom>
        </p:spPr>
      </p:pic>
      <p:pic>
        <p:nvPicPr>
          <p:cNvPr id="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1459" y="1385292"/>
            <a:ext cx="719286" cy="767953"/>
          </a:xfrm>
          <a:prstGeom prst="rect">
            <a:avLst/>
          </a:prstGeom>
        </p:spPr>
      </p:pic>
      <p:pic>
        <p:nvPicPr>
          <p:cNvPr id="1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14165" y="3888432"/>
            <a:ext cx="780157" cy="788640"/>
          </a:xfrm>
          <a:prstGeom prst="rect">
            <a:avLst/>
          </a:prstGeom>
        </p:spPr>
      </p:pic>
      <p:pic>
        <p:nvPicPr>
          <p:cNvPr id="1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14165" y="1385292"/>
            <a:ext cx="780157" cy="733723"/>
          </a:xfrm>
          <a:prstGeom prst="rect">
            <a:avLst/>
          </a:prstGeom>
        </p:spPr>
      </p:pic>
      <p:sp>
        <p:nvSpPr>
          <p:cNvPr id="12" name="Text 0"/>
          <p:cNvSpPr/>
          <p:nvPr/>
        </p:nvSpPr>
        <p:spPr>
          <a:xfrm>
            <a:off x="228600" y="123825"/>
            <a:ext cx="10287000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3375"/>
              </a:lnSpc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결론 및 기술 리더를 위한 전략적 권고안</a:t>
            </a:r>
            <a:endParaRPr lang="en-US" sz="2700" dirty="0"/>
          </a:p>
        </p:txBody>
      </p:sp>
      <p:sp>
        <p:nvSpPr>
          <p:cNvPr id="13" name="Text 1"/>
          <p:cNvSpPr/>
          <p:nvPr/>
        </p:nvSpPr>
        <p:spPr>
          <a:xfrm>
            <a:off x="1003399" y="2181225"/>
            <a:ext cx="1603028" cy="4485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66"/>
              </a:lnSpc>
              <a:buNone/>
            </a:pPr>
            <a:r>
              <a:rPr lang="en-US" sz="16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패러다임 전환:</a:t>
            </a:r>
            <a:pPr algn="ctr" indent="0" marL="0">
              <a:lnSpc>
                <a:spcPts val="1766"/>
              </a:lnSpc>
              <a:buNone/>
            </a:pPr>
            <a:r>
              <a:rPr lang="en-US" sz="16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766"/>
              </a:lnSpc>
              <a:buNone/>
            </a:pPr>
            <a:r>
              <a:rPr lang="en-US" sz="16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임계점 돌파 확인</a:t>
            </a:r>
            <a:endParaRPr lang="en-US" sz="1650" dirty="0"/>
          </a:p>
        </p:txBody>
      </p:sp>
      <p:sp>
        <p:nvSpPr>
          <p:cNvPr id="14" name="Text 2"/>
          <p:cNvSpPr/>
          <p:nvPr/>
        </p:nvSpPr>
        <p:spPr>
          <a:xfrm>
            <a:off x="3401764" y="2314575"/>
            <a:ext cx="2483048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거버넌스 경쟁이 시작됐다</a:t>
            </a:r>
            <a:endParaRPr lang="en-US" sz="1650" dirty="0"/>
          </a:p>
        </p:txBody>
      </p:sp>
      <p:sp>
        <p:nvSpPr>
          <p:cNvPr id="15" name="Text 3"/>
          <p:cNvSpPr/>
          <p:nvPr/>
        </p:nvSpPr>
        <p:spPr>
          <a:xfrm>
            <a:off x="6341269" y="2181225"/>
            <a:ext cx="2357438" cy="448568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66"/>
              </a:lnSpc>
              <a:buNone/>
            </a:pPr>
            <a:r>
              <a:rPr lang="en-US" sz="16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방어자 우선</a:t>
            </a:r>
            <a:pPr algn="ctr" indent="0" marL="0">
              <a:lnSpc>
                <a:spcPts val="1766"/>
              </a:lnSpc>
              <a:buNone/>
            </a:pPr>
            <a:r>
              <a:rPr lang="en-US" sz="16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766"/>
              </a:lnSpc>
              <a:buNone/>
            </a:pPr>
            <a:r>
              <a:rPr lang="en-US" sz="16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파이프라인 구축 시급</a:t>
            </a:r>
            <a:endParaRPr lang="en-US" sz="1650" dirty="0"/>
          </a:p>
        </p:txBody>
      </p:sp>
      <p:sp>
        <p:nvSpPr>
          <p:cNvPr id="16" name="Text 4"/>
          <p:cNvSpPr/>
          <p:nvPr/>
        </p:nvSpPr>
        <p:spPr>
          <a:xfrm>
            <a:off x="9020621" y="2314575"/>
            <a:ext cx="2713583" cy="24943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프로세스 즉시 강화 필요</a:t>
            </a:r>
            <a:endParaRPr lang="en-US" sz="1650" dirty="0"/>
          </a:p>
        </p:txBody>
      </p:sp>
      <p:sp>
        <p:nvSpPr>
          <p:cNvPr id="17" name="Text 5"/>
          <p:cNvSpPr/>
          <p:nvPr/>
        </p:nvSpPr>
        <p:spPr>
          <a:xfrm>
            <a:off x="1139577" y="4752975"/>
            <a:ext cx="1330523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 프로세스</a:t>
            </a:r>
            <a:pPr algn="ctr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즉시 강화 필요</a:t>
            </a:r>
            <a:endParaRPr lang="en-US" sz="1650" dirty="0"/>
          </a:p>
        </p:txBody>
      </p:sp>
      <p:sp>
        <p:nvSpPr>
          <p:cNvPr id="18" name="Text 6"/>
          <p:cNvSpPr/>
          <p:nvPr/>
        </p:nvSpPr>
        <p:spPr>
          <a:xfrm>
            <a:off x="3535114" y="4752975"/>
            <a:ext cx="2273498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방어자 우선</a:t>
            </a:r>
            <a:pPr algn="ctr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파이프라인 구축 시급</a:t>
            </a:r>
            <a:endParaRPr lang="en-US" sz="1650" dirty="0"/>
          </a:p>
        </p:txBody>
      </p:sp>
      <p:sp>
        <p:nvSpPr>
          <p:cNvPr id="19" name="Text 7"/>
          <p:cNvSpPr/>
          <p:nvPr/>
        </p:nvSpPr>
        <p:spPr>
          <a:xfrm>
            <a:off x="6604099" y="4752975"/>
            <a:ext cx="1812578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인간 역할 재정의:</a:t>
            </a:r>
            <a:pPr algn="ctr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검증자·경계 설정자</a:t>
            </a:r>
            <a:endParaRPr lang="en-US" sz="1650" dirty="0"/>
          </a:p>
        </p:txBody>
      </p:sp>
      <p:sp>
        <p:nvSpPr>
          <p:cNvPr id="20" name="Text 8"/>
          <p:cNvSpPr/>
          <p:nvPr/>
        </p:nvSpPr>
        <p:spPr>
          <a:xfrm>
            <a:off x="9145339" y="4752975"/>
            <a:ext cx="2483048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적응 속도가</a:t>
            </a:r>
            <a:pPr algn="ctr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B5001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적응 속도가 곧 경쟁력이다</a:t>
            </a:r>
            <a:endParaRPr lang="en-US" sz="1650" dirty="0"/>
          </a:p>
        </p:txBody>
      </p:sp>
      <p:sp>
        <p:nvSpPr>
          <p:cNvPr id="21" name="Text 9"/>
          <p:cNvSpPr/>
          <p:nvPr/>
        </p:nvSpPr>
        <p:spPr>
          <a:xfrm>
            <a:off x="466130" y="2724150"/>
            <a:ext cx="2734568" cy="6799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Mythos는 단순 성능 향상이 아닌,</a:t>
            </a:r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익스플로잇 자동 생성·연쇄 공격</a:t>
            </a:r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가능 단계 진입을 의미함</a:t>
            </a:r>
            <a:endParaRPr lang="en-US" sz="1500" dirty="0"/>
          </a:p>
        </p:txBody>
      </p:sp>
      <p:sp>
        <p:nvSpPr>
          <p:cNvPr id="22" name="Text 10"/>
          <p:cNvSpPr/>
          <p:nvPr/>
        </p:nvSpPr>
        <p:spPr>
          <a:xfrm>
            <a:off x="3530798" y="2724150"/>
            <a:ext cx="2367855" cy="6799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Glasswing은 기술</a:t>
            </a:r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우위를 표준·신뢰·리더십으로</a:t>
            </a:r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전환하려는 전략적 포석임</a:t>
            </a:r>
            <a:endParaRPr lang="en-US" sz="1500" dirty="0"/>
          </a:p>
        </p:txBody>
      </p:sp>
      <p:sp>
        <p:nvSpPr>
          <p:cNvPr id="23" name="Text 11"/>
          <p:cNvSpPr/>
          <p:nvPr/>
        </p:nvSpPr>
        <p:spPr>
          <a:xfrm>
            <a:off x="6204942" y="2724150"/>
            <a:ext cx="2629793" cy="6799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공격자보다 먼저 AI 기반 취약점</a:t>
            </a:r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분류·패치 자동화를 도입해야</a:t>
            </a:r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격차를 줄일 수 있음</a:t>
            </a:r>
            <a:endParaRPr lang="en-US" sz="1500" dirty="0"/>
          </a:p>
        </p:txBody>
      </p:sp>
      <p:sp>
        <p:nvSpPr>
          <p:cNvPr id="24" name="Text 12"/>
          <p:cNvSpPr/>
          <p:nvPr/>
        </p:nvSpPr>
        <p:spPr>
          <a:xfrm>
            <a:off x="9135814" y="2724150"/>
            <a:ext cx="2483048" cy="6799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메모리 안전 언어 확대, SBOM</a:t>
            </a:r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관리, CI/CD 보안 회귀 테스트</a:t>
            </a:r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통합을 지금 바로 착수해야 함</a:t>
            </a:r>
            <a:endParaRPr lang="en-US" sz="1500" dirty="0"/>
          </a:p>
        </p:txBody>
      </p:sp>
      <p:sp>
        <p:nvSpPr>
          <p:cNvPr id="25" name="Text 13"/>
          <p:cNvSpPr/>
          <p:nvPr/>
        </p:nvSpPr>
        <p:spPr>
          <a:xfrm>
            <a:off x="472827" y="5276850"/>
            <a:ext cx="2587823" cy="6799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메모리 안전 언어 확대, SBOM</a:t>
            </a:r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관리, CI/CD 보안 회귀 테스트</a:t>
            </a:r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통합을 지금 바로 착수해야 함</a:t>
            </a:r>
            <a:endParaRPr lang="en-US" sz="1500" dirty="0"/>
          </a:p>
        </p:txBody>
      </p:sp>
      <p:sp>
        <p:nvSpPr>
          <p:cNvPr id="26" name="Text 14"/>
          <p:cNvSpPr/>
          <p:nvPr/>
        </p:nvSpPr>
        <p:spPr>
          <a:xfrm>
            <a:off x="3389858" y="5276850"/>
            <a:ext cx="2744986" cy="7143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공격자보다 먼저 AI 기반 취약점</a:t>
            </a:r>
            <a:pPr algn="ct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분류·패치 자동화를 도입해야</a:t>
            </a:r>
            <a:pPr algn="ct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87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격차를 줄일 수 있음</a:t>
            </a:r>
            <a:endParaRPr lang="en-US" sz="1500" dirty="0"/>
          </a:p>
        </p:txBody>
      </p:sp>
      <p:sp>
        <p:nvSpPr>
          <p:cNvPr id="27" name="Text 15"/>
          <p:cNvSpPr/>
          <p:nvPr/>
        </p:nvSpPr>
        <p:spPr>
          <a:xfrm>
            <a:off x="6065937" y="5276850"/>
            <a:ext cx="2965103" cy="6799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개발자는 AI 출력의 검증자·위임자로</a:t>
            </a:r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역할 전환 준비가 필요하며</a:t>
            </a:r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교육·프로세스 재설계 요구됨</a:t>
            </a:r>
            <a:endParaRPr lang="en-US" sz="1500" dirty="0"/>
          </a:p>
        </p:txBody>
      </p:sp>
      <p:sp>
        <p:nvSpPr>
          <p:cNvPr id="28" name="Text 16"/>
          <p:cNvSpPr/>
          <p:nvPr/>
        </p:nvSpPr>
        <p:spPr>
          <a:xfrm>
            <a:off x="9132987" y="5276850"/>
            <a:ext cx="2546003" cy="679996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거버넌스·보안 프로세스를 먼저</a:t>
            </a:r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수립한 조직이 에이전트 시대의</a:t>
            </a:r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785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다음 단계를 주도하게 됨</a:t>
            </a:r>
            <a:endParaRPr lang="en-US" sz="1500" dirty="0"/>
          </a:p>
        </p:txBody>
      </p:sp>
      <p:sp>
        <p:nvSpPr>
          <p:cNvPr id="29" name="Text 17"/>
          <p:cNvSpPr/>
          <p:nvPr/>
        </p:nvSpPr>
        <p:spPr>
          <a:xfrm>
            <a:off x="104775" y="6467475"/>
            <a:ext cx="2057400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indent="0" marL="0">
              <a:lnSpc>
                <a:spcPts val="1337"/>
              </a:lnSpc>
              <a:buNone/>
            </a:pPr>
            <a:r>
              <a:rPr lang="en-US" sz="135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LG Display</a:t>
            </a:r>
            <a:endParaRPr lang="en-US" sz="1350" dirty="0"/>
          </a:p>
        </p:txBody>
      </p:sp>
      <p:sp>
        <p:nvSpPr>
          <p:cNvPr id="30" name="Text 18"/>
          <p:cNvSpPr/>
          <p:nvPr/>
        </p:nvSpPr>
        <p:spPr>
          <a:xfrm>
            <a:off x="6686550" y="6362700"/>
            <a:ext cx="5490121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r" indent="0" marL="0">
              <a:lnSpc>
                <a:spcPts val="1125"/>
              </a:lnSpc>
              <a:buNone/>
            </a:pPr>
            <a:r>
              <a:rPr lang="en-US" sz="1125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**출처: Claude Mythos 심층 리뷰 보고서 (2026)*, 업계 분석가 서한, 주요 기술 소스 노트</a:t>
            </a:r>
            <a:endParaRPr lang="en-US" sz="1125" dirty="0"/>
          </a:p>
        </p:txBody>
      </p:sp>
      <p:sp>
        <p:nvSpPr>
          <p:cNvPr id="31" name="Text 19"/>
          <p:cNvSpPr/>
          <p:nvPr/>
        </p:nvSpPr>
        <p:spPr>
          <a:xfrm>
            <a:off x="3541365" y="3429000"/>
            <a:ext cx="2137321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238"/>
              </a:lnSpc>
              <a:buNone/>
            </a:pPr>
            <a:r>
              <a:rPr lang="en-US" sz="1125" b="1" dirty="0">
                <a:solidFill>
                  <a:srgbClr val="406D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*국가 간 규제 격차가 미치는</a:t>
            </a:r>
            <a:pPr algn="ctr" indent="0" marL="0">
              <a:lnSpc>
                <a:spcPts val="1238"/>
              </a:lnSpc>
              <a:buNone/>
            </a:pPr>
            <a:r>
              <a:rPr lang="en-US" sz="1125" b="1" dirty="0">
                <a:solidFill>
                  <a:srgbClr val="406D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
</a:t>
            </a:r>
            <a:pPr algn="ctr" indent="0" marL="0">
              <a:lnSpc>
                <a:spcPts val="1238"/>
              </a:lnSpc>
              <a:buNone/>
            </a:pPr>
            <a:r>
              <a:rPr lang="en-US" sz="1125" b="1" dirty="0">
                <a:solidFill>
                  <a:srgbClr val="406D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영향은 핵심의 여지가 있음</a:t>
            </a:r>
            <a:endParaRPr lang="en-US" sz="1125" dirty="0"/>
          </a:p>
        </p:txBody>
      </p:sp>
      <p:sp>
        <p:nvSpPr>
          <p:cNvPr id="32" name="Text 20"/>
          <p:cNvSpPr/>
          <p:nvPr/>
        </p:nvSpPr>
        <p:spPr>
          <a:xfrm>
            <a:off x="3132683" y="5972175"/>
            <a:ext cx="3164086" cy="1413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114"/>
              </a:lnSpc>
              <a:buNone/>
            </a:pPr>
            <a:r>
              <a:rPr lang="en-US" sz="1125" b="1" dirty="0">
                <a:solidFill>
                  <a:srgbClr val="406D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*교육 및 조직 변화 속도는 조직별 핵심에 따라 다름</a:t>
            </a:r>
            <a:endParaRPr lang="en-US" sz="1125" dirty="0"/>
          </a:p>
        </p:txBody>
      </p:sp>
      <p:sp>
        <p:nvSpPr>
          <p:cNvPr id="33" name="Text 21"/>
          <p:cNvSpPr/>
          <p:nvPr/>
        </p:nvSpPr>
        <p:spPr>
          <a:xfrm>
            <a:off x="6063109" y="5972175"/>
            <a:ext cx="3027908" cy="141387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1114"/>
              </a:lnSpc>
              <a:buNone/>
            </a:pPr>
            <a:r>
              <a:rPr lang="en-US" sz="1125" b="1" dirty="0">
                <a:solidFill>
                  <a:srgbClr val="406D2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*교육 및 조직 변화 속도는 조직별 핵심에 따라 다름</a:t>
            </a:r>
            <a:endParaRPr lang="en-US" sz="1125" dirty="0"/>
          </a:p>
        </p:txBody>
      </p:sp>
      <p:sp>
        <p:nvSpPr>
          <p:cNvPr id="34" name="Text 22"/>
          <p:cNvSpPr/>
          <p:nvPr/>
        </p:nvSpPr>
        <p:spPr>
          <a:xfrm>
            <a:off x="5813524" y="6705600"/>
            <a:ext cx="555278" cy="113109"/>
          </a:xfrm>
          <a:prstGeom prst="rect">
            <a:avLst/>
          </a:prstGeom>
          <a:noFill/>
          <a:ln/>
        </p:spPr>
        <p:txBody>
          <a:bodyPr wrap="none" lIns="0" tIns="0" rIns="0" bIns="0" rtlCol="0" anchor="ctr" vert="horz"/>
          <a:lstStyle/>
          <a:p>
            <a:pPr algn="ctr" indent="0" marL="0">
              <a:lnSpc>
                <a:spcPts val="891"/>
              </a:lnSpc>
              <a:buNone/>
            </a:pPr>
            <a:r>
              <a:rPr lang="en-US" sz="900" b="1" dirty="0">
                <a:solidFill>
                  <a:srgbClr val="59595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PUBLIC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2026-04-14T22:11:46Z</dcterms:created>
  <dcterms:modified xsi:type="dcterms:W3CDTF">2026-04-14T22:11:46Z</dcterms:modified>
</cp:coreProperties>
</file>