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embeddedFontLst>
    <p:embeddedFont>
      <p:font typeface="NanumGothic"/>
      <p:regular r:id="rId201314"/>
      <p:bold r:id="rId301314"/>
    </p:embeddedFont>
    <p:embeddedFont>
      <p:font typeface="Noto Sans KR"/>
      <p:regular r:id="rId201315"/>
      <p:bold r:id="rId3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301314" Target="fonts/301314.fntdata" Type="http://schemas.openxmlformats.org/officeDocument/2006/relationships/font"/><Relationship Id="rId301315" Target="fonts/3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781050"/>
            <a:ext cx="10288786" cy="861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393"/>
              </a:lnSpc>
              <a:buNone/>
            </a:pPr>
            <a:r>
              <a:rPr lang="en-US" sz="2925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Display Week 및 블루 OLED 관련 업데이트 종합 리뷰 /</a:t>
            </a:r>
            <a:pPr indent="0" marL="0">
              <a:lnSpc>
                <a:spcPts val="3393"/>
              </a:lnSpc>
              <a:buNone/>
            </a:pPr>
            <a:r>
              <a:rPr lang="en-US" sz="2925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3393"/>
              </a:lnSpc>
              <a:buNone/>
            </a:pPr>
            <a:r>
              <a:rPr lang="en-US" sz="2925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Display Week and Blue OLED Update Review</a:t>
            </a:r>
            <a:endParaRPr lang="en-US" sz="2925" dirty="0"/>
          </a:p>
        </p:txBody>
      </p:sp>
      <p:sp>
        <p:nvSpPr>
          <p:cNvPr id="4" name="Text 1"/>
          <p:cNvSpPr/>
          <p:nvPr/>
        </p:nvSpPr>
        <p:spPr>
          <a:xfrm>
            <a:off x="1323975" y="1895475"/>
            <a:ext cx="10868025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주요 성과 및 공급망 안정화 / Key Achievements and Supply Chain Stabilization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323975" y="4714875"/>
            <a:ext cx="10868025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학술 진전 및 향후 과제 / Academic Progress and Future Actions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462980" y="2228850"/>
            <a:ext cx="10728871" cy="5831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 Thesis: 하이브리드 상용화 경로 / Core Thesis: Hybrid Commercialization Path</a:t>
            </a:r>
            <a:pPr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순수 PHOLED 해결이 아닌 세 가지 신호의 결합으로 해석 / Interpreted as a combination of three signals, not purely 'pure PHOLED solved'</a:t>
            </a:r>
            <a:pPr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[Caveat: 신호의 해석이 중요, 맹목적 낙관 금지]</a:t>
            </a:r>
            <a:endParaRPr lang="en-US" sz="1275" dirty="0"/>
          </a:p>
        </p:txBody>
      </p:sp>
      <p:sp>
        <p:nvSpPr>
          <p:cNvPr id="7" name="Text 4"/>
          <p:cNvSpPr/>
          <p:nvPr/>
        </p:nvSpPr>
        <p:spPr>
          <a:xfrm>
            <a:off x="1536353" y="3038475"/>
            <a:ext cx="10655498" cy="3887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LGD 하이브리드 2-Stack Tandem 검증 / LGD Hybrid 2-Stack Tandem Validation</a:t>
            </a:r>
            <a:pPr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양산 라인에서 15% 소비전력 감소 및 유사 안정성 확보 / Achieved 15% power reduction and similar stability on a mass production line</a:t>
            </a:r>
            <a:endParaRPr lang="en-US" sz="1275" dirty="0"/>
          </a:p>
        </p:txBody>
      </p:sp>
      <p:sp>
        <p:nvSpPr>
          <p:cNvPr id="8" name="Text 5"/>
          <p:cNvSpPr/>
          <p:nvPr/>
        </p:nvSpPr>
        <p:spPr>
          <a:xfrm>
            <a:off x="1666875" y="3571875"/>
            <a:ext cx="7847558" cy="4799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UDC-LGD 장기 계약 (2026.02) / UDC-LGD Long-term Contract Extension</a:t>
            </a:r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공급망 안정성 확보 및 로드맵 신뢰도 강화 신호 / Signal of supply chain stability and strengthened roadmap confidence</a:t>
            </a:r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[Ref: UDC Investor Call, Feb 2026]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666875" y="5057775"/>
            <a:ext cx="61711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PSF/PEP 학술 연구 진전 / PSF/PEP Academic Research Progress</a:t>
            </a:r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EQE 18.7%, Tandem PEP LT90 830h 등 성과 보고 / Reported achievements like EQE 18.7%, Tandem PEP LT90 830h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666875" y="5581650"/>
            <a:ext cx="8633371" cy="4113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Display Week 2026: 실사 체크포인트 / Display Week 2026: Diligence Checkpoint</a:t>
            </a:r>
            <a:pPr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축적된 신호의 실체를 검증하는 핵심 기회 / Key opportunity to verify the substance of accumulated signals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666875" y="6124575"/>
            <a:ext cx="5186363" cy="1601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630"/>
              </a:lnSpc>
              <a:buNone/>
            </a:pPr>
            <a:r>
              <a:rPr lang="en-US" sz="52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균형 잡힌 해석 필요 / Balanced Interpretation Needed</a:t>
            </a:r>
            <a:pPr indent="0" marL="0">
              <a:lnSpc>
                <a:spcPts val="630"/>
              </a:lnSpc>
              <a:buNone/>
            </a:pPr>
            <a:r>
              <a:rPr lang="en-US" sz="52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630"/>
              </a:lnSpc>
              <a:buNone/>
            </a:pPr>
            <a:r>
              <a:rPr lang="en-US" sz="52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사실-진전-불확실성을 명확히 구분하는 시각 유지 / Maintain a perspective that clearly distinguishes between facts, progress, and uncertainty</a:t>
            </a:r>
            <a:endParaRPr lang="en-US" sz="525" dirty="0"/>
          </a:p>
        </p:txBody>
      </p:sp>
      <p:sp>
        <p:nvSpPr>
          <p:cNvPr id="12" name="Text 9"/>
          <p:cNvSpPr/>
          <p:nvPr/>
        </p:nvSpPr>
        <p:spPr>
          <a:xfrm>
            <a:off x="1143000" y="457200"/>
            <a:ext cx="6671310" cy="1943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30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LG Display 전략팀 | 2026. 04. 13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984" y="4958209"/>
            <a:ext cx="755898" cy="70633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082" y="4869061"/>
            <a:ext cx="780157" cy="809179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2886" y="3593455"/>
            <a:ext cx="1060698" cy="630882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6392" y="3387775"/>
            <a:ext cx="767953" cy="76795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859" y="3538686"/>
            <a:ext cx="889992" cy="65826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80055" y="2050405"/>
            <a:ext cx="865584" cy="74741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1984" y="1878955"/>
            <a:ext cx="755898" cy="76110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063" y="1831032"/>
            <a:ext cx="865584" cy="870942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0" y="742950"/>
            <a:ext cx="12192000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가지 기술 신호의 복합적 수렴과 하이브리드 상용화 경로 공식화 /</a:t>
            </a:r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Simultaneous Convergence of Three Technical Signals and Formalization of a Hybrid Commercialization Path</a:t>
            </a:r>
            <a:endParaRPr lang="en-US" sz="1725" dirty="0"/>
          </a:p>
        </p:txBody>
      </p:sp>
      <p:sp>
        <p:nvSpPr>
          <p:cNvPr id="13" name="Text 1"/>
          <p:cNvSpPr/>
          <p:nvPr/>
        </p:nvSpPr>
        <p:spPr>
          <a:xfrm>
            <a:off x="1685925" y="3276600"/>
            <a:ext cx="3803303" cy="9135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하이브리드 상용화 경로 공식화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'LGD Hybrid Path'는 순수 블루 해결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선언이 아닌, 현실적인 상용화 브릿지</a:t>
            </a:r>
            <a:endParaRPr lang="en-US" sz="1725" dirty="0"/>
          </a:p>
        </p:txBody>
      </p:sp>
      <p:sp>
        <p:nvSpPr>
          <p:cNvPr id="14" name="Text 2"/>
          <p:cNvSpPr/>
          <p:nvPr/>
        </p:nvSpPr>
        <p:spPr>
          <a:xfrm>
            <a:off x="1685925" y="4781550"/>
            <a:ext cx="4264223" cy="9135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UDC 계약 연장 = 공급망 신뢰도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20년 파트너십 기반, 차세대 블루 로드맵의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소재 안정성 확보 시그널</a:t>
            </a:r>
            <a:endParaRPr lang="en-US" sz="1725" dirty="0"/>
          </a:p>
        </p:txBody>
      </p:sp>
      <p:sp>
        <p:nvSpPr>
          <p:cNvPr id="15" name="Text 3"/>
          <p:cNvSpPr/>
          <p:nvPr/>
        </p:nvSpPr>
        <p:spPr>
          <a:xfrm>
            <a:off x="1685925" y="1771650"/>
            <a:ext cx="4012853" cy="9135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세 가지 기술 신호의 동시 수렴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LGD 양산 검증, UDC 계약 연장,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학계 PSF/PEP 성과가 복합적으로 작용</a:t>
            </a:r>
            <a:endParaRPr lang="en-US" sz="1725" dirty="0"/>
          </a:p>
        </p:txBody>
      </p:sp>
      <p:sp>
        <p:nvSpPr>
          <p:cNvPr id="16" name="Text 4"/>
          <p:cNvSpPr/>
          <p:nvPr/>
        </p:nvSpPr>
        <p:spPr>
          <a:xfrm>
            <a:off x="7296150" y="3276600"/>
            <a:ext cx="4641503" cy="9135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Display Week 2026은 실사 체크포인트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축적된 신호의 실제 확인 및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불확실성 해소의 결정적 기회</a:t>
            </a:r>
            <a:endParaRPr lang="en-US" sz="1725" dirty="0"/>
          </a:p>
        </p:txBody>
      </p:sp>
      <p:sp>
        <p:nvSpPr>
          <p:cNvPr id="17" name="Text 5"/>
          <p:cNvSpPr/>
          <p:nvPr/>
        </p:nvSpPr>
        <p:spPr>
          <a:xfrm>
            <a:off x="7296150" y="4781550"/>
            <a:ext cx="3153668" cy="6353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68"/>
              </a:lnSpc>
              <a:buNone/>
            </a:pPr>
            <a:r>
              <a:rPr lang="en-US" sz="12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 균형 잡힌 시각 유지 필수</a:t>
            </a:r>
            <a:pPr indent="0" marL="0">
              <a:lnSpc>
                <a:spcPts val="1668"/>
              </a:lnSpc>
              <a:buNone/>
            </a:pPr>
            <a:r>
              <a:rPr lang="en-US" sz="12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68"/>
              </a:lnSpc>
              <a:buNone/>
            </a:pPr>
            <a:r>
              <a:rPr lang="en-US" sz="12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과도한 기대와 과소평가 경계,</a:t>
            </a:r>
            <a:pPr indent="0" marL="0">
              <a:lnSpc>
                <a:spcPts val="1668"/>
              </a:lnSpc>
              <a:buNone/>
            </a:pPr>
            <a:r>
              <a:rPr lang="en-US" sz="12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68"/>
              </a:lnSpc>
              <a:buNone/>
            </a:pPr>
            <a:r>
              <a:rPr lang="en-US" sz="12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Fact•Progress•Uncertainty 명확히 구분</a:t>
            </a:r>
            <a:endParaRPr lang="en-US" sz="1200" dirty="0"/>
          </a:p>
        </p:txBody>
      </p:sp>
      <p:sp>
        <p:nvSpPr>
          <p:cNvPr id="18" name="Text 6"/>
          <p:cNvSpPr/>
          <p:nvPr/>
        </p:nvSpPr>
        <p:spPr>
          <a:xfrm>
            <a:off x="7296150" y="1771650"/>
            <a:ext cx="3782318" cy="9135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LGD 하이브리드 경로의 실제 성과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양산 라인 수준 검증, 15% 전력 절감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달성, 성능과 신뢰성 입증</a:t>
            </a:r>
            <a:endParaRPr lang="en-US" sz="1725" dirty="0"/>
          </a:p>
        </p:txBody>
      </p:sp>
      <p:sp>
        <p:nvSpPr>
          <p:cNvPr id="19" name="Text 7"/>
          <p:cNvSpPr/>
          <p:nvPr/>
        </p:nvSpPr>
        <p:spPr>
          <a:xfrm>
            <a:off x="3886200" y="2800350"/>
            <a:ext cx="4457700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Reference: deepresearch.md</a:t>
            </a:r>
            <a:endParaRPr lang="en-US" sz="1125" dirty="0"/>
          </a:p>
        </p:txBody>
      </p:sp>
      <p:sp>
        <p:nvSpPr>
          <p:cNvPr id="20" name="Text 8"/>
          <p:cNvSpPr/>
          <p:nvPr/>
        </p:nvSpPr>
        <p:spPr>
          <a:xfrm>
            <a:off x="3886200" y="5848350"/>
            <a:ext cx="4640580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Sources: LGD, UDC disclosures</a:t>
            </a:r>
            <a:endParaRPr lang="en-US" sz="1050" dirty="0"/>
          </a:p>
        </p:txBody>
      </p:sp>
      <p:sp>
        <p:nvSpPr>
          <p:cNvPr id="21" name="Text 9"/>
          <p:cNvSpPr/>
          <p:nvPr/>
        </p:nvSpPr>
        <p:spPr>
          <a:xfrm>
            <a:off x="9553575" y="5848350"/>
            <a:ext cx="2638425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60"/>
              </a:lnSpc>
              <a:buNone/>
            </a:pPr>
            <a:r>
              <a:rPr lang="en-US" sz="975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Note: Exquisite Balance is critical</a:t>
            </a:r>
            <a:endParaRPr lang="en-US" sz="975" dirty="0"/>
          </a:p>
        </p:txBody>
      </p:sp>
      <p:sp>
        <p:nvSpPr>
          <p:cNvPr id="22" name="Text 10"/>
          <p:cNvSpPr/>
          <p:nvPr/>
        </p:nvSpPr>
        <p:spPr>
          <a:xfrm>
            <a:off x="9496425" y="6115050"/>
            <a:ext cx="2695575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60"/>
              </a:lnSpc>
              <a:buNone/>
            </a:pPr>
            <a:r>
              <a:rPr lang="en-US" sz="975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Sources: Multiple technical reviews</a:t>
            </a:r>
            <a:endParaRPr lang="en-US" sz="975" dirty="0"/>
          </a:p>
        </p:txBody>
      </p:sp>
      <p:sp>
        <p:nvSpPr>
          <p:cNvPr id="23" name="Text 11"/>
          <p:cNvSpPr/>
          <p:nvPr/>
        </p:nvSpPr>
        <p:spPr>
          <a:xfrm>
            <a:off x="743396" y="3390900"/>
            <a:ext cx="618083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E9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PHOLED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6059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98" y="1268611"/>
            <a:ext cx="11240988" cy="488974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85750" y="123825"/>
            <a:ext cx="11906250" cy="3513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67"/>
              </a:lnSpc>
              <a:buNone/>
            </a:pPr>
            <a:r>
              <a:rPr lang="en-US" sz="232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Evidence Ladder Timeline (2025-2026) / 에비던스 레더 타임라인</a:t>
            </a:r>
            <a:endParaRPr lang="en-US" sz="2325" dirty="0"/>
          </a:p>
        </p:txBody>
      </p:sp>
      <p:sp>
        <p:nvSpPr>
          <p:cNvPr id="6" name="Text 1"/>
          <p:cNvSpPr/>
          <p:nvPr/>
        </p:nvSpPr>
        <p:spPr>
          <a:xfrm>
            <a:off x="352425" y="742950"/>
            <a:ext cx="11839575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블루 OLED 상용화 및 연구 성과 타임라인 / Blue OLED Commercialization &amp; Research Timeline</a:t>
            </a:r>
            <a:endParaRPr lang="en-US" sz="1875" dirty="0"/>
          </a:p>
        </p:txBody>
      </p:sp>
      <p:sp>
        <p:nvSpPr>
          <p:cNvPr id="7" name="Text 2"/>
          <p:cNvSpPr/>
          <p:nvPr/>
        </p:nvSpPr>
        <p:spPr>
          <a:xfrm>
            <a:off x="5813524" y="6705600"/>
            <a:ext cx="555278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0690" y="4917132"/>
            <a:ext cx="877788" cy="65142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769" y="4265563"/>
            <a:ext cx="390079" cy="38397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361" y="3662065"/>
            <a:ext cx="426690" cy="27429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9271" y="1577280"/>
            <a:ext cx="707082" cy="89832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9757" y="1611511"/>
            <a:ext cx="987475" cy="870942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8282" y="4958209"/>
            <a:ext cx="1036290" cy="671959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9482" y="4320480"/>
            <a:ext cx="268188" cy="432048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6259" y="3662065"/>
            <a:ext cx="402282" cy="452586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25380" y="1494979"/>
            <a:ext cx="1682353" cy="1467594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7788" y="4951363"/>
            <a:ext cx="2779663" cy="836563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0157" y="4327327"/>
            <a:ext cx="414486" cy="411361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0157" y="3662065"/>
            <a:ext cx="414486" cy="452586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1385292"/>
            <a:ext cx="3303984" cy="1625203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285750" y="142875"/>
            <a:ext cx="10984230" cy="3690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06"/>
              </a:lnSpc>
              <a:buNone/>
            </a:pPr>
            <a:r>
              <a:rPr lang="en-US" sz="2325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Display가 실제 증명한 하이브리드 상용화 성과</a:t>
            </a:r>
            <a:endParaRPr lang="en-US" sz="2325" dirty="0"/>
          </a:p>
        </p:txBody>
      </p:sp>
      <p:sp>
        <p:nvSpPr>
          <p:cNvPr id="18" name="Text 1"/>
          <p:cNvSpPr/>
          <p:nvPr/>
        </p:nvSpPr>
        <p:spPr>
          <a:xfrm>
            <a:off x="0" y="752475"/>
            <a:ext cx="12192000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8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상용화 수준의 양산 라인 검증 완료 / Mass production line verification completed at commercialization level</a:t>
            </a:r>
            <a:endParaRPr lang="en-US" sz="1725" dirty="0"/>
          </a:p>
        </p:txBody>
      </p:sp>
      <p:sp>
        <p:nvSpPr>
          <p:cNvPr id="19" name="Text 2"/>
          <p:cNvSpPr/>
          <p:nvPr/>
        </p:nvSpPr>
        <p:spPr>
          <a:xfrm>
            <a:off x="771525" y="3171825"/>
            <a:ext cx="289179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세계 최초 양산 검증</a:t>
            </a:r>
            <a:endParaRPr lang="en-US" sz="1725" dirty="0"/>
          </a:p>
        </p:txBody>
      </p:sp>
      <p:sp>
        <p:nvSpPr>
          <p:cNvPr id="20" name="Text 3"/>
          <p:cNvSpPr/>
          <p:nvPr/>
        </p:nvSpPr>
        <p:spPr>
          <a:xfrm>
            <a:off x="4572000" y="3171825"/>
            <a:ext cx="543306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하이브리드 2-Stack 및 전력효율</a:t>
            </a:r>
            <a:endParaRPr lang="en-US" sz="1725" dirty="0"/>
          </a:p>
        </p:txBody>
      </p:sp>
      <p:sp>
        <p:nvSpPr>
          <p:cNvPr id="21" name="Text 4"/>
          <p:cNvSpPr/>
          <p:nvPr/>
        </p:nvSpPr>
        <p:spPr>
          <a:xfrm>
            <a:off x="8582025" y="2667000"/>
            <a:ext cx="3609975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 확보 및 현실적 구분</a:t>
            </a:r>
            <a:endParaRPr lang="en-US" sz="1725" dirty="0"/>
          </a:p>
        </p:txBody>
      </p:sp>
      <p:sp>
        <p:nvSpPr>
          <p:cNvPr id="22" name="Text 5"/>
          <p:cNvSpPr/>
          <p:nvPr/>
        </p:nvSpPr>
        <p:spPr>
          <a:xfrm>
            <a:off x="1295400" y="3629025"/>
            <a:ext cx="2189708" cy="5066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9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상용화 수준 성능을</a:t>
            </a:r>
            <a:pPr indent="0" marL="0">
              <a:lnSpc>
                <a:spcPts val="199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9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양산 공정에서 공식 확인</a:t>
            </a:r>
            <a:endParaRPr lang="en-US" sz="1500" dirty="0"/>
          </a:p>
        </p:txBody>
      </p:sp>
      <p:sp>
        <p:nvSpPr>
          <p:cNvPr id="23" name="Text 6"/>
          <p:cNvSpPr/>
          <p:nvPr/>
        </p:nvSpPr>
        <p:spPr>
          <a:xfrm>
            <a:off x="1295400" y="4314825"/>
            <a:ext cx="2189708" cy="5066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9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연구실 성과를 넘어</a:t>
            </a:r>
            <a:pPr indent="0" marL="0">
              <a:lnSpc>
                <a:spcPts val="199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9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양산 적용 가능성 공식화</a:t>
            </a:r>
            <a:endParaRPr lang="en-US" sz="1500" dirty="0"/>
          </a:p>
        </p:txBody>
      </p:sp>
      <p:sp>
        <p:nvSpPr>
          <p:cNvPr id="24" name="Text 7"/>
          <p:cNvSpPr/>
          <p:nvPr/>
        </p:nvSpPr>
        <p:spPr>
          <a:xfrm>
            <a:off x="5114925" y="3629025"/>
            <a:ext cx="2472630" cy="5066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9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Blue 형광과 인광을 결합한</a:t>
            </a:r>
            <a:pPr indent="0" marL="0">
              <a:lnSpc>
                <a:spcPts val="199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9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현실적 브릿지 기술</a:t>
            </a:r>
            <a:endParaRPr lang="en-US" sz="1500" dirty="0"/>
          </a:p>
        </p:txBody>
      </p:sp>
      <p:sp>
        <p:nvSpPr>
          <p:cNvPr id="25" name="Text 8"/>
          <p:cNvSpPr/>
          <p:nvPr/>
        </p:nvSpPr>
        <p:spPr>
          <a:xfrm>
            <a:off x="5114925" y="4314825"/>
            <a:ext cx="2451646" cy="5066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9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OLED 대비 소비 전력</a:t>
            </a:r>
            <a:pPr indent="0" marL="0">
              <a:lnSpc>
                <a:spcPts val="199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9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15% 절감 달성</a:t>
            </a:r>
            <a:endParaRPr lang="en-US" sz="1500" dirty="0"/>
          </a:p>
        </p:txBody>
      </p:sp>
      <p:sp>
        <p:nvSpPr>
          <p:cNvPr id="26" name="Text 9"/>
          <p:cNvSpPr/>
          <p:nvPr/>
        </p:nvSpPr>
        <p:spPr>
          <a:xfrm>
            <a:off x="5114925" y="5095875"/>
            <a:ext cx="1592461" cy="5066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9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대비 소비 전력</a:t>
            </a:r>
            <a:pPr indent="0" marL="0">
              <a:lnSpc>
                <a:spcPts val="199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9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15% 절감 달성</a:t>
            </a:r>
            <a:endParaRPr lang="en-US" sz="1500" dirty="0"/>
          </a:p>
        </p:txBody>
      </p:sp>
      <p:sp>
        <p:nvSpPr>
          <p:cNvPr id="27" name="Text 10"/>
          <p:cNvSpPr/>
          <p:nvPr/>
        </p:nvSpPr>
        <p:spPr>
          <a:xfrm>
            <a:off x="8943975" y="3629025"/>
            <a:ext cx="2692598" cy="5066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9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공정성 및 광학 특성을 고려한</a:t>
            </a:r>
            <a:pPr indent="0" marL="0">
              <a:lnSpc>
                <a:spcPts val="199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9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 검증</a:t>
            </a:r>
            <a:endParaRPr lang="en-US" sz="1500" dirty="0"/>
          </a:p>
        </p:txBody>
      </p:sp>
      <p:sp>
        <p:nvSpPr>
          <p:cNvPr id="28" name="Text 11"/>
          <p:cNvSpPr/>
          <p:nvPr/>
        </p:nvSpPr>
        <p:spPr>
          <a:xfrm>
            <a:off x="8943975" y="4229100"/>
            <a:ext cx="2818358" cy="5066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9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Pure-Blue 완전 해결 선언 아님</a:t>
            </a:r>
            <a:pPr indent="0" marL="0">
              <a:lnSpc>
                <a:spcPts val="199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9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(단독 PHOLED와 차이)</a:t>
            </a:r>
            <a:endParaRPr lang="en-US" sz="1500" dirty="0"/>
          </a:p>
        </p:txBody>
      </p:sp>
      <p:sp>
        <p:nvSpPr>
          <p:cNvPr id="29" name="Text 12"/>
          <p:cNvSpPr/>
          <p:nvPr/>
        </p:nvSpPr>
        <p:spPr>
          <a:xfrm>
            <a:off x="8582025" y="4953000"/>
            <a:ext cx="1194346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B5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LGD 하이브리드</a:t>
            </a:r>
            <a:pPr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B5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B5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상용화 경로</a:t>
            </a:r>
            <a:pPr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B5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B5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(검증됨)</a:t>
            </a:r>
            <a:endParaRPr lang="en-US" sz="1125" dirty="0"/>
          </a:p>
        </p:txBody>
      </p:sp>
      <p:sp>
        <p:nvSpPr>
          <p:cNvPr id="30" name="Text 13"/>
          <p:cNvSpPr/>
          <p:nvPr/>
        </p:nvSpPr>
        <p:spPr>
          <a:xfrm>
            <a:off x="10553700" y="4953000"/>
            <a:ext cx="796230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Pure-Blue</a:t>
            </a:r>
            <a:pPr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PHOLED</a:t>
            </a:r>
            <a:pPr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단독 상용화</a:t>
            </a:r>
            <a:endParaRPr lang="en-US" sz="1125" dirty="0"/>
          </a:p>
        </p:txBody>
      </p:sp>
      <p:sp>
        <p:nvSpPr>
          <p:cNvPr id="31" name="Text 14"/>
          <p:cNvSpPr/>
          <p:nvPr/>
        </p:nvSpPr>
        <p:spPr>
          <a:xfrm>
            <a:off x="8458200" y="5667375"/>
            <a:ext cx="3394621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0064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*Pure-Blue PSF/PEP 연구 성과는 별도 슬라이드 참조</a:t>
            </a:r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0064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0064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Pure-Blue PSF/PEP research progress in separate slides</a:t>
            </a:r>
            <a:endParaRPr lang="en-US" sz="900" dirty="0"/>
          </a:p>
        </p:txBody>
      </p:sp>
      <p:sp>
        <p:nvSpPr>
          <p:cNvPr id="32" name="Text 15"/>
          <p:cNvSpPr/>
          <p:nvPr/>
        </p:nvSpPr>
        <p:spPr>
          <a:xfrm>
            <a:off x="466725" y="6153150"/>
            <a:ext cx="748665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20"/>
              </a:lnSpc>
              <a:buNone/>
            </a:pPr>
            <a:r>
              <a:rPr lang="en-US" sz="1125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[Reference: 내부 LGD 양산 데이터 및 분석 보고서, 2026]</a:t>
            </a:r>
            <a:endParaRPr lang="en-US" sz="1125" dirty="0"/>
          </a:p>
        </p:txBody>
      </p:sp>
      <p:sp>
        <p:nvSpPr>
          <p:cNvPr id="33" name="Text 16"/>
          <p:cNvSpPr/>
          <p:nvPr/>
        </p:nvSpPr>
        <p:spPr>
          <a:xfrm>
            <a:off x="5810696" y="6705600"/>
            <a:ext cx="61808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192" y="4841677"/>
            <a:ext cx="828973" cy="73372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192" y="3607296"/>
            <a:ext cx="828973" cy="71318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1192" y="2317998"/>
            <a:ext cx="828973" cy="80917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361" y="4841677"/>
            <a:ext cx="828973" cy="76110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565" y="3607296"/>
            <a:ext cx="816769" cy="71318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565" y="2324844"/>
            <a:ext cx="841177" cy="795486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0" y="123825"/>
            <a:ext cx="12192000" cy="3536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84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아직 공개적으로 증명되지 않은 불확실성 요소 / Uncertainties Not Publicly Proven Yet</a:t>
            </a:r>
            <a:endParaRPr lang="en-US" sz="2400" dirty="0"/>
          </a:p>
        </p:txBody>
      </p:sp>
      <p:sp>
        <p:nvSpPr>
          <p:cNvPr id="11" name="Text 1"/>
          <p:cNvSpPr/>
          <p:nvPr/>
        </p:nvSpPr>
        <p:spPr>
          <a:xfrm>
            <a:off x="17115" y="742950"/>
            <a:ext cx="12174885" cy="3040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4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기술적 미공개 및 미검증 항목 요약 / Summary of Key Technical Undisclosed and Unverified Items</a:t>
            </a:r>
            <a:endParaRPr lang="en-US" sz="1800" dirty="0"/>
          </a:p>
        </p:txBody>
      </p:sp>
      <p:sp>
        <p:nvSpPr>
          <p:cNvPr id="12" name="Text 2"/>
          <p:cNvSpPr/>
          <p:nvPr/>
        </p:nvSpPr>
        <p:spPr>
          <a:xfrm>
            <a:off x="1809750" y="2314575"/>
            <a:ext cx="4206240" cy="2760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7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하이브리드 구조의 명확한 한계</a:t>
            </a:r>
            <a:endParaRPr lang="en-US" sz="1725" dirty="0"/>
          </a:p>
        </p:txBody>
      </p:sp>
      <p:sp>
        <p:nvSpPr>
          <p:cNvPr id="13" name="Text 3"/>
          <p:cNvSpPr/>
          <p:nvPr/>
        </p:nvSpPr>
        <p:spPr>
          <a:xfrm>
            <a:off x="1809750" y="3552825"/>
            <a:ext cx="3417570" cy="2760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7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정량적 수명 데이터 부재</a:t>
            </a:r>
            <a:endParaRPr lang="en-US" sz="1725" dirty="0"/>
          </a:p>
        </p:txBody>
      </p:sp>
      <p:sp>
        <p:nvSpPr>
          <p:cNvPr id="14" name="Text 4"/>
          <p:cNvSpPr/>
          <p:nvPr/>
        </p:nvSpPr>
        <p:spPr>
          <a:xfrm>
            <a:off x="1809750" y="4800600"/>
            <a:ext cx="4206240" cy="2760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7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인공 단독 장기 신뢰성 미검증</a:t>
            </a:r>
            <a:endParaRPr lang="en-US" sz="1725" dirty="0"/>
          </a:p>
        </p:txBody>
      </p:sp>
      <p:sp>
        <p:nvSpPr>
          <p:cNvPr id="15" name="Text 5"/>
          <p:cNvSpPr/>
          <p:nvPr/>
        </p:nvSpPr>
        <p:spPr>
          <a:xfrm>
            <a:off x="7667625" y="2314575"/>
            <a:ext cx="3680460" cy="2760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7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대면적 수율 확장성 불확실</a:t>
            </a:r>
            <a:endParaRPr lang="en-US" sz="1725" dirty="0"/>
          </a:p>
        </p:txBody>
      </p:sp>
      <p:sp>
        <p:nvSpPr>
          <p:cNvPr id="16" name="Text 6"/>
          <p:cNvSpPr/>
          <p:nvPr/>
        </p:nvSpPr>
        <p:spPr>
          <a:xfrm>
            <a:off x="7667625" y="3552825"/>
            <a:ext cx="4206240" cy="2760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7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유사한 안정성 비교 기준 미비</a:t>
            </a:r>
            <a:endParaRPr lang="en-US" sz="1725" dirty="0"/>
          </a:p>
        </p:txBody>
      </p:sp>
      <p:sp>
        <p:nvSpPr>
          <p:cNvPr id="17" name="Text 7"/>
          <p:cNvSpPr/>
          <p:nvPr/>
        </p:nvSpPr>
        <p:spPr>
          <a:xfrm>
            <a:off x="7667625" y="4800600"/>
            <a:ext cx="4524375" cy="2760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7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PSF/PEP 연구의 실험실 단계</a:t>
            </a:r>
            <a:endParaRPr lang="en-US" sz="1725" dirty="0"/>
          </a:p>
        </p:txBody>
      </p:sp>
      <p:sp>
        <p:nvSpPr>
          <p:cNvPr id="18" name="Text 8"/>
          <p:cNvSpPr/>
          <p:nvPr/>
        </p:nvSpPr>
        <p:spPr>
          <a:xfrm>
            <a:off x="1924943" y="1752600"/>
            <a:ext cx="228406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미공개 및 구조적 한계</a:t>
            </a:r>
            <a:endParaRPr lang="en-US" sz="1500" dirty="0"/>
          </a:p>
        </p:txBody>
      </p:sp>
      <p:sp>
        <p:nvSpPr>
          <p:cNvPr id="19" name="Text 9"/>
          <p:cNvSpPr/>
          <p:nvPr/>
        </p:nvSpPr>
        <p:spPr>
          <a:xfrm>
            <a:off x="7849493" y="1752600"/>
            <a:ext cx="228406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양산 확장성 및 연구 성숙도</a:t>
            </a:r>
            <a:endParaRPr lang="en-US" sz="1500" dirty="0"/>
          </a:p>
        </p:txBody>
      </p:sp>
      <p:sp>
        <p:nvSpPr>
          <p:cNvPr id="20" name="Text 10"/>
          <p:cNvSpPr/>
          <p:nvPr/>
        </p:nvSpPr>
        <p:spPr>
          <a:xfrm>
            <a:off x="1809750" y="2657475"/>
            <a:ext cx="4096643" cy="4801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발표된 구조는 형광+인광 혼합형이며, 순수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PHOLED 단독 상용화는 명확히 구분해야 함</a:t>
            </a:r>
            <a:endParaRPr lang="en-US" sz="1500" dirty="0"/>
          </a:p>
        </p:txBody>
      </p:sp>
      <p:sp>
        <p:nvSpPr>
          <p:cNvPr id="21" name="Text 11"/>
          <p:cNvSpPr/>
          <p:nvPr/>
        </p:nvSpPr>
        <p:spPr>
          <a:xfrm>
            <a:off x="1809750" y="3895725"/>
            <a:ext cx="4337596" cy="4801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LT95/LT90 등 구체적인 수명 수치와 측정 조건이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미공개되어 객관적 검증 불가</a:t>
            </a:r>
            <a:endParaRPr lang="en-US" sz="1500" dirty="0"/>
          </a:p>
        </p:txBody>
      </p:sp>
      <p:sp>
        <p:nvSpPr>
          <p:cNvPr id="22" name="Text 12"/>
          <p:cNvSpPr/>
          <p:nvPr/>
        </p:nvSpPr>
        <p:spPr>
          <a:xfrm>
            <a:off x="1809750" y="5143500"/>
            <a:ext cx="4170015" cy="4801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순수 인광 스택의 실사용 환경 내 장기 안정성은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여전히 기술 과제로 남아 있음</a:t>
            </a:r>
            <a:endParaRPr lang="en-US" sz="1500" dirty="0"/>
          </a:p>
        </p:txBody>
      </p:sp>
      <p:sp>
        <p:nvSpPr>
          <p:cNvPr id="23" name="Text 13"/>
          <p:cNvSpPr/>
          <p:nvPr/>
        </p:nvSpPr>
        <p:spPr>
          <a:xfrm>
            <a:off x="7667625" y="2657475"/>
            <a:ext cx="4358580" cy="4801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양산 라인 검증이 상업적 수율 확보를 의미하지는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TV급 대면적 적용 가능성은 미지수</a:t>
            </a:r>
            <a:endParaRPr lang="en-US" sz="1500" dirty="0"/>
          </a:p>
        </p:txBody>
      </p:sp>
      <p:sp>
        <p:nvSpPr>
          <p:cNvPr id="24" name="Text 14"/>
          <p:cNvSpPr/>
          <p:nvPr/>
        </p:nvSpPr>
        <p:spPr>
          <a:xfrm>
            <a:off x="7667625" y="3895725"/>
            <a:ext cx="3970883" cy="4801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패널 대비 '유사한 안정성'이라는 성정적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표현만 존재하며 비교 대상 기준이 미공개</a:t>
            </a:r>
            <a:endParaRPr lang="en-US" sz="1500" dirty="0"/>
          </a:p>
        </p:txBody>
      </p:sp>
      <p:sp>
        <p:nvSpPr>
          <p:cNvPr id="25" name="Text 15"/>
          <p:cNvSpPr/>
          <p:nvPr/>
        </p:nvSpPr>
        <p:spPr>
          <a:xfrm>
            <a:off x="7667625" y="5143500"/>
            <a:ext cx="4337596" cy="4801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PSF 수명 등 연구 성과는 상용화 기준에 미달하는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단계 결과</a:t>
            </a:r>
            <a:endParaRPr lang="en-US" sz="1500" dirty="0"/>
          </a:p>
        </p:txBody>
      </p:sp>
      <p:sp>
        <p:nvSpPr>
          <p:cNvPr id="26" name="Text 16"/>
          <p:cNvSpPr/>
          <p:nvPr/>
        </p:nvSpPr>
        <p:spPr>
          <a:xfrm>
            <a:off x="7667625" y="5676900"/>
            <a:ext cx="452437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5"/>
              </a:lnSpc>
              <a:buNone/>
            </a:pPr>
            <a:r>
              <a:rPr lang="en-US" sz="1425" dirty="0">
                <a:solidFill>
                  <a:srgbClr val="4069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결과: LT95 104.3h @ 실험실</a:t>
            </a:r>
            <a:endParaRPr lang="en-US" sz="1425" dirty="0"/>
          </a:p>
        </p:txBody>
      </p:sp>
      <p:sp>
        <p:nvSpPr>
          <p:cNvPr id="27" name="Text 17"/>
          <p:cNvSpPr/>
          <p:nvPr/>
        </p:nvSpPr>
        <p:spPr>
          <a:xfrm>
            <a:off x="161925" y="6391275"/>
            <a:ext cx="2514600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650" dirty="0"/>
          </a:p>
        </p:txBody>
      </p:sp>
      <p:sp>
        <p:nvSpPr>
          <p:cNvPr id="28" name="Text 18"/>
          <p:cNvSpPr/>
          <p:nvPr/>
        </p:nvSpPr>
        <p:spPr>
          <a:xfrm>
            <a:off x="5870674" y="6705600"/>
            <a:ext cx="55527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25"/>
              </a:lnSpc>
              <a:buNone/>
            </a:pPr>
            <a:r>
              <a:rPr lang="en-US" sz="825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686" y="2585442"/>
            <a:ext cx="1438573" cy="127545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6486" y="2599134"/>
            <a:ext cx="2206675" cy="124807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6682" y="2599134"/>
            <a:ext cx="1926282" cy="133037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28600" y="123825"/>
            <a:ext cx="11247120" cy="4647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659"/>
              </a:lnSpc>
              <a:buNone/>
            </a:pPr>
            <a:r>
              <a:rPr lang="en-US" sz="30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UDC-LGD 장기 계약 연장의 전략적 의미</a:t>
            </a:r>
            <a:endParaRPr lang="en-US" sz="3075" dirty="0"/>
          </a:p>
        </p:txBody>
      </p:sp>
      <p:sp>
        <p:nvSpPr>
          <p:cNvPr id="8" name="Text 1"/>
          <p:cNvSpPr/>
          <p:nvPr/>
        </p:nvSpPr>
        <p:spPr>
          <a:xfrm>
            <a:off x="352425" y="742950"/>
            <a:ext cx="11839575" cy="37073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19"/>
              </a:lnSpc>
              <a:buNone/>
            </a:pPr>
            <a:r>
              <a:rPr lang="en-US" sz="2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공급망 안정성 확보 및 로드맵 신뢰 신호로 차세대 OLED 상용화 가속화</a:t>
            </a:r>
            <a:endParaRPr lang="en-US" sz="2100" dirty="0"/>
          </a:p>
        </p:txBody>
      </p:sp>
      <p:sp>
        <p:nvSpPr>
          <p:cNvPr id="9" name="Text 2"/>
          <p:cNvSpPr/>
          <p:nvPr/>
        </p:nvSpPr>
        <p:spPr>
          <a:xfrm>
            <a:off x="712440" y="4381500"/>
            <a:ext cx="3185071" cy="78224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2026.02.26 장기 계약 연장 발표</a:t>
            </a:r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(UDC-LGD 소재 공급·라이선스 계약</a:t>
            </a:r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연장 확인)</a:t>
            </a:r>
            <a:endParaRPr lang="en-US" sz="1725" dirty="0"/>
          </a:p>
        </p:txBody>
      </p:sp>
      <p:sp>
        <p:nvSpPr>
          <p:cNvPr id="10" name="Text 3"/>
          <p:cNvSpPr/>
          <p:nvPr/>
        </p:nvSpPr>
        <p:spPr>
          <a:xfrm>
            <a:off x="618083" y="5200650"/>
            <a:ext cx="3373636" cy="78224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20년 파트너십 기반 신뢰도 지표</a:t>
            </a:r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(장기 협력 이력이 차세대 로드맵 안정성을</a:t>
            </a:r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뒷받침)</a:t>
            </a:r>
            <a:endParaRPr lang="en-US" sz="1725" dirty="0"/>
          </a:p>
        </p:txBody>
      </p:sp>
      <p:sp>
        <p:nvSpPr>
          <p:cNvPr id="11" name="Text 4"/>
          <p:cNvSpPr/>
          <p:nvPr/>
        </p:nvSpPr>
        <p:spPr>
          <a:xfrm>
            <a:off x="4729609" y="4381500"/>
            <a:ext cx="2818358" cy="78224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공급망 연속성 보장 효과</a:t>
            </a:r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(블루 인광 소재 및 IP의 안정적 공급</a:t>
            </a:r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경로 확보)</a:t>
            </a:r>
            <a:endParaRPr lang="en-US" sz="1725" dirty="0"/>
          </a:p>
        </p:txBody>
      </p:sp>
      <p:sp>
        <p:nvSpPr>
          <p:cNvPr id="12" name="Text 5"/>
          <p:cNvSpPr/>
          <p:nvPr/>
        </p:nvSpPr>
        <p:spPr>
          <a:xfrm>
            <a:off x="4803428" y="5200650"/>
            <a:ext cx="2661196" cy="78224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불확실성의 사업적 완화</a:t>
            </a:r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(소재 파트너십이 개발 리스크를</a:t>
            </a:r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구조적으로 낮춤)</a:t>
            </a:r>
            <a:endParaRPr lang="en-US" sz="1725" dirty="0"/>
          </a:p>
        </p:txBody>
      </p:sp>
      <p:sp>
        <p:nvSpPr>
          <p:cNvPr id="13" name="Text 6"/>
          <p:cNvSpPr/>
          <p:nvPr/>
        </p:nvSpPr>
        <p:spPr>
          <a:xfrm>
            <a:off x="8375749" y="4381500"/>
            <a:ext cx="3069878" cy="78224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UDC의 LGD 로드맵 신뢰 시그널</a:t>
            </a:r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(계약 연장은 상용화 가능성에 대한</a:t>
            </a:r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UDC의 목시적 확신)</a:t>
            </a:r>
            <a:endParaRPr lang="en-US" sz="1725" dirty="0"/>
          </a:p>
        </p:txBody>
      </p:sp>
      <p:sp>
        <p:nvSpPr>
          <p:cNvPr id="14" name="Text 7"/>
          <p:cNvSpPr/>
          <p:nvPr/>
        </p:nvSpPr>
        <p:spPr>
          <a:xfrm>
            <a:off x="8239125" y="5200650"/>
            <a:ext cx="3352800" cy="78224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Display Week 전 핵심 신뢰도 지표</a:t>
            </a:r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(공급망 신호와 기술 신호의 결합으로</a:t>
            </a:r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기대 강화)</a:t>
            </a:r>
            <a:endParaRPr lang="en-US" sz="1725" dirty="0"/>
          </a:p>
        </p:txBody>
      </p:sp>
      <p:sp>
        <p:nvSpPr>
          <p:cNvPr id="15" name="Text 8"/>
          <p:cNvSpPr/>
          <p:nvPr/>
        </p:nvSpPr>
        <p:spPr>
          <a:xfrm>
            <a:off x="1756321" y="1714500"/>
            <a:ext cx="1173361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현황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5201096" y="1714500"/>
            <a:ext cx="1875383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공급망 및 비즈니스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9035355" y="1714500"/>
            <a:ext cx="1760190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및 시장 시그널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1626394" y="1943100"/>
            <a:ext cx="1309688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Contract Status</a:t>
            </a:r>
            <a:endParaRPr lang="en-US" sz="1125" dirty="0"/>
          </a:p>
        </p:txBody>
      </p:sp>
      <p:sp>
        <p:nvSpPr>
          <p:cNvPr id="19" name="Text 12"/>
          <p:cNvSpPr/>
          <p:nvPr/>
        </p:nvSpPr>
        <p:spPr>
          <a:xfrm>
            <a:off x="5089624" y="1943100"/>
            <a:ext cx="2022128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Supply Chain &amp; Business</a:t>
            </a:r>
            <a:endParaRPr lang="en-US" sz="1125" dirty="0"/>
          </a:p>
        </p:txBody>
      </p:sp>
      <p:sp>
        <p:nvSpPr>
          <p:cNvPr id="20" name="Text 13"/>
          <p:cNvSpPr/>
          <p:nvPr/>
        </p:nvSpPr>
        <p:spPr>
          <a:xfrm>
            <a:off x="8974931" y="1943100"/>
            <a:ext cx="1833563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&amp; Market Signals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196" y="3593455"/>
            <a:ext cx="1865263" cy="96693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2392" y="5019973"/>
            <a:ext cx="1999357" cy="864096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3890" y="3435846"/>
            <a:ext cx="560784" cy="56911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788" y="4848523"/>
            <a:ext cx="987475" cy="107662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992" y="3394621"/>
            <a:ext cx="1121569" cy="822871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285750" y="123825"/>
            <a:ext cx="11906250" cy="3740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45"/>
              </a:lnSpc>
              <a:buNone/>
            </a:pPr>
            <a:r>
              <a:rPr lang="en-US" sz="247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RSC 논문: Pure-Blue PSF OLED 업데이트</a:t>
            </a:r>
            <a:endParaRPr lang="en-US" sz="2475" dirty="0"/>
          </a:p>
        </p:txBody>
      </p:sp>
      <p:sp>
        <p:nvSpPr>
          <p:cNvPr id="10" name="Text 1"/>
          <p:cNvSpPr/>
          <p:nvPr/>
        </p:nvSpPr>
        <p:spPr>
          <a:xfrm>
            <a:off x="333375" y="742950"/>
            <a:ext cx="11858625" cy="2580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32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PSF (Phosphorescence Sensitized Fluorescence) 학술 성과 요약 | Academic Progress in PSF OLED</a:t>
            </a:r>
            <a:endParaRPr lang="en-US" sz="1575" dirty="0"/>
          </a:p>
        </p:txBody>
      </p:sp>
      <p:sp>
        <p:nvSpPr>
          <p:cNvPr id="11" name="Text 2"/>
          <p:cNvSpPr/>
          <p:nvPr/>
        </p:nvSpPr>
        <p:spPr>
          <a:xfrm>
            <a:off x="3926086" y="1495425"/>
            <a:ext cx="4358580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74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RSC 논문 핵심 데이터 | Key RSC Paper Data</a:t>
            </a:r>
            <a:endParaRPr lang="en-US" sz="1575" dirty="0"/>
          </a:p>
        </p:txBody>
      </p:sp>
      <p:sp>
        <p:nvSpPr>
          <p:cNvPr id="12" name="Text 3"/>
          <p:cNvSpPr/>
          <p:nvPr/>
        </p:nvSpPr>
        <p:spPr>
          <a:xfrm>
            <a:off x="610939" y="2457450"/>
            <a:ext cx="2902148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17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Efficiency &amp; Purity</a:t>
            </a:r>
            <a:endParaRPr lang="en-US" sz="1575" dirty="0"/>
          </a:p>
        </p:txBody>
      </p:sp>
      <p:sp>
        <p:nvSpPr>
          <p:cNvPr id="13" name="Text 4"/>
          <p:cNvSpPr/>
          <p:nvPr/>
        </p:nvSpPr>
        <p:spPr>
          <a:xfrm>
            <a:off x="4261396" y="2457450"/>
            <a:ext cx="3687961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72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Lifespan &amp; Commercialization Gap</a:t>
            </a:r>
            <a:endParaRPr lang="en-US" sz="1350" dirty="0"/>
          </a:p>
        </p:txBody>
      </p:sp>
      <p:sp>
        <p:nvSpPr>
          <p:cNvPr id="14" name="Text 5"/>
          <p:cNvSpPr/>
          <p:nvPr/>
        </p:nvSpPr>
        <p:spPr>
          <a:xfrm>
            <a:off x="8061424" y="2457450"/>
            <a:ext cx="3698528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72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Technology Mechanism &amp; Progress</a:t>
            </a:r>
            <a:endParaRPr lang="en-US" sz="1350" dirty="0"/>
          </a:p>
        </p:txBody>
      </p:sp>
      <p:sp>
        <p:nvSpPr>
          <p:cNvPr id="15" name="Text 6"/>
          <p:cNvSpPr/>
          <p:nvPr/>
        </p:nvSpPr>
        <p:spPr>
          <a:xfrm>
            <a:off x="714375" y="2867025"/>
            <a:ext cx="624078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53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EQE 18.7% 달성 (461nm)</a:t>
            </a:r>
            <a:endParaRPr lang="en-US" sz="1575" dirty="0"/>
          </a:p>
        </p:txBody>
      </p:sp>
      <p:sp>
        <p:nvSpPr>
          <p:cNvPr id="16" name="Text 7"/>
          <p:cNvSpPr/>
          <p:nvPr/>
        </p:nvSpPr>
        <p:spPr>
          <a:xfrm>
            <a:off x="4495800" y="2867025"/>
            <a:ext cx="6035040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46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LT95 수명 104.3시간 보고</a:t>
            </a:r>
            <a:endParaRPr lang="en-US" sz="1650" dirty="0"/>
          </a:p>
        </p:txBody>
      </p:sp>
      <p:sp>
        <p:nvSpPr>
          <p:cNvPr id="17" name="Text 8"/>
          <p:cNvSpPr/>
          <p:nvPr/>
        </p:nvSpPr>
        <p:spPr>
          <a:xfrm>
            <a:off x="8334375" y="2867025"/>
            <a:ext cx="3857625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46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PSF 방식의 학술적 진전</a:t>
            </a:r>
            <a:endParaRPr lang="en-US" sz="1650" dirty="0"/>
          </a:p>
        </p:txBody>
      </p:sp>
      <p:sp>
        <p:nvSpPr>
          <p:cNvPr id="18" name="Text 9"/>
          <p:cNvSpPr/>
          <p:nvPr/>
        </p:nvSpPr>
        <p:spPr>
          <a:xfrm>
            <a:off x="714375" y="4371975"/>
            <a:ext cx="5951220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46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CIE-y 0.150 고색순도 확인</a:t>
            </a:r>
            <a:endParaRPr lang="en-US" sz="1650" dirty="0"/>
          </a:p>
        </p:txBody>
      </p:sp>
      <p:sp>
        <p:nvSpPr>
          <p:cNvPr id="19" name="Text 10"/>
          <p:cNvSpPr/>
          <p:nvPr/>
        </p:nvSpPr>
        <p:spPr>
          <a:xfrm>
            <a:off x="4495800" y="4371975"/>
            <a:ext cx="3520440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46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양산 미달 상태 명확화</a:t>
            </a:r>
            <a:endParaRPr lang="en-US" sz="1650" dirty="0"/>
          </a:p>
        </p:txBody>
      </p:sp>
      <p:sp>
        <p:nvSpPr>
          <p:cNvPr id="20" name="Text 11"/>
          <p:cNvSpPr/>
          <p:nvPr/>
        </p:nvSpPr>
        <p:spPr>
          <a:xfrm>
            <a:off x="8334375" y="4743450"/>
            <a:ext cx="3857625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46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수소 불루 형광 물질 감량 시도</a:t>
            </a:r>
            <a:endParaRPr lang="en-US" sz="1650" dirty="0"/>
          </a:p>
        </p:txBody>
      </p:sp>
      <p:sp>
        <p:nvSpPr>
          <p:cNvPr id="21" name="Text 12"/>
          <p:cNvSpPr/>
          <p:nvPr/>
        </p:nvSpPr>
        <p:spPr>
          <a:xfrm>
            <a:off x="2057400" y="5162550"/>
            <a:ext cx="2158305" cy="4569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99"/>
              </a:lnSpc>
              <a:buNone/>
            </a:pPr>
            <a:r>
              <a:rPr lang="en-US" sz="1650" b="1" dirty="0">
                <a:solidFill>
                  <a:srgbClr val="247C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[BT.2020 색역 기준에</a:t>
            </a:r>
            <a:pPr indent="0" marL="0">
              <a:lnSpc>
                <a:spcPts val="1799"/>
              </a:lnSpc>
              <a:buNone/>
            </a:pPr>
            <a:r>
              <a:rPr lang="en-US" sz="1650" b="1" dirty="0">
                <a:solidFill>
                  <a:srgbClr val="247C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99"/>
              </a:lnSpc>
              <a:buNone/>
            </a:pPr>
            <a:r>
              <a:rPr lang="en-US" sz="1650" b="1" dirty="0">
                <a:solidFill>
                  <a:srgbClr val="247C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근접]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071" y="3922663"/>
            <a:ext cx="402282" cy="42505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792" y="3950196"/>
            <a:ext cx="463153" cy="37713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1977" y="3922663"/>
            <a:ext cx="451098" cy="43204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6267" y="4423321"/>
            <a:ext cx="1779984" cy="1316682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0596" y="2516832"/>
            <a:ext cx="2170063" cy="1488132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157" y="2516832"/>
            <a:ext cx="2487067" cy="1488132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6831211" y="2971800"/>
            <a:ext cx="2263080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83"/>
              </a:lnSpc>
              <a:buNone/>
            </a:pPr>
            <a:r>
              <a:rPr lang="en-US" sz="1275" b="1" dirty="0">
                <a:solidFill>
                  <a:srgbClr val="28782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830±30h @ 500 cd/m²</a:t>
            </a:r>
            <a:endParaRPr lang="en-US" sz="1275" dirty="0"/>
          </a:p>
        </p:txBody>
      </p:sp>
      <p:sp>
        <p:nvSpPr>
          <p:cNvPr id="11" name="Text 1"/>
          <p:cNvSpPr/>
          <p:nvPr/>
        </p:nvSpPr>
        <p:spPr>
          <a:xfrm>
            <a:off x="9660731" y="2971800"/>
            <a:ext cx="1624013" cy="2766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78"/>
              </a:lnSpc>
              <a:buNone/>
            </a:pPr>
            <a:r>
              <a:rPr lang="en-US" sz="1650" b="1" dirty="0">
                <a:solidFill>
                  <a:srgbClr val="28782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≈ 0.14, 0.12</a:t>
            </a:r>
            <a:endParaRPr lang="en-US" sz="1650" dirty="0"/>
          </a:p>
        </p:txBody>
      </p:sp>
      <p:sp>
        <p:nvSpPr>
          <p:cNvPr id="12" name="Text 2"/>
          <p:cNvSpPr/>
          <p:nvPr/>
        </p:nvSpPr>
        <p:spPr>
          <a:xfrm>
            <a:off x="0" y="142875"/>
            <a:ext cx="12192000" cy="2766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78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2025 PEP 및 Tandem PEP-PHOLED 연구 성과 / 2025 PEP &amp; Tandem PEP-PHOLED Research Achievements</a:t>
            </a:r>
            <a:endParaRPr lang="en-US" sz="1650" dirty="0"/>
          </a:p>
        </p:txBody>
      </p:sp>
      <p:sp>
        <p:nvSpPr>
          <p:cNvPr id="13" name="Text 3"/>
          <p:cNvSpPr/>
          <p:nvPr/>
        </p:nvSpPr>
        <p:spPr>
          <a:xfrm>
            <a:off x="0" y="752475"/>
            <a:ext cx="12192000" cy="2396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87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PEP 및 Tandem 기술을 통한 블루 OLED 수명 및 성능 개선 / Blue OLED Lifetime and Performance Improvements via PEP &amp; Tandem Technologies</a:t>
            </a:r>
            <a:endParaRPr lang="en-US" sz="1275" dirty="0"/>
          </a:p>
        </p:txBody>
      </p:sp>
      <p:sp>
        <p:nvSpPr>
          <p:cNvPr id="14" name="Text 4"/>
          <p:cNvSpPr/>
          <p:nvPr/>
        </p:nvSpPr>
        <p:spPr>
          <a:xfrm>
            <a:off x="771525" y="4238625"/>
            <a:ext cx="2797373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76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삼중항 여자가 밀도 감소</a:t>
            </a:r>
            <a:pPr indent="0" marL="0">
              <a:lnSpc>
                <a:spcPts val="1176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1176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Reduced Triplet Exciton Density</a:t>
            </a:r>
            <a:endParaRPr lang="en-US" sz="1050" dirty="0"/>
          </a:p>
        </p:txBody>
      </p:sp>
      <p:sp>
        <p:nvSpPr>
          <p:cNvPr id="15" name="Text 5"/>
          <p:cNvSpPr/>
          <p:nvPr/>
        </p:nvSpPr>
        <p:spPr>
          <a:xfrm>
            <a:off x="771525" y="4924425"/>
            <a:ext cx="3436590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76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소자 구조 최적화 전략</a:t>
            </a:r>
            <a:pPr indent="0" marL="0">
              <a:lnSpc>
                <a:spcPts val="1176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1176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Device Structure Optimization Strategy</a:t>
            </a:r>
            <a:endParaRPr lang="en-US" sz="1050" dirty="0"/>
          </a:p>
        </p:txBody>
      </p:sp>
      <p:sp>
        <p:nvSpPr>
          <p:cNvPr id="16" name="Text 6"/>
          <p:cNvSpPr/>
          <p:nvPr/>
        </p:nvSpPr>
        <p:spPr>
          <a:xfrm>
            <a:off x="771525" y="5505450"/>
            <a:ext cx="4295775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76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"더 나은 광학 환경" 구현</a:t>
            </a:r>
            <a:pPr indent="0" marL="0">
              <a:lnSpc>
                <a:spcPts val="1176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1176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Implementation of “Better Optical Environment”</a:t>
            </a:r>
            <a:endParaRPr lang="en-US" sz="1050" dirty="0"/>
          </a:p>
        </p:txBody>
      </p:sp>
      <p:sp>
        <p:nvSpPr>
          <p:cNvPr id="17" name="Text 7"/>
          <p:cNvSpPr/>
          <p:nvPr/>
        </p:nvSpPr>
        <p:spPr>
          <a:xfrm>
            <a:off x="7010846" y="4533900"/>
            <a:ext cx="1037183" cy="4161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092"/>
              </a:lnSpc>
              <a:buNone/>
            </a:pPr>
            <a:r>
              <a:rPr lang="en-US" sz="975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소재 최적화</a:t>
            </a:r>
            <a:pPr algn="ctr" indent="0" marL="0">
              <a:lnSpc>
                <a:spcPts val="1092"/>
              </a:lnSpc>
              <a:buNone/>
            </a:pPr>
            <a:r>
              <a:rPr lang="en-US" sz="975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algn="ctr" indent="0" marL="0">
              <a:lnSpc>
                <a:spcPts val="1092"/>
              </a:lnSpc>
              <a:buNone/>
            </a:pPr>
            <a:r>
              <a:rPr lang="en-US" sz="975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Material</a:t>
            </a:r>
            <a:pPr algn="ctr" indent="0" marL="0">
              <a:lnSpc>
                <a:spcPts val="1092"/>
              </a:lnSpc>
              <a:buNone/>
            </a:pPr>
            <a:r>
              <a:rPr lang="en-US" sz="975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algn="ctr" indent="0" marL="0">
              <a:lnSpc>
                <a:spcPts val="1092"/>
              </a:lnSpc>
              <a:buNone/>
            </a:pPr>
            <a:r>
              <a:rPr lang="en-US" sz="975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Optimization</a:t>
            </a:r>
            <a:endParaRPr lang="en-US" sz="975" dirty="0"/>
          </a:p>
        </p:txBody>
      </p:sp>
      <p:sp>
        <p:nvSpPr>
          <p:cNvPr id="18" name="Text 8"/>
          <p:cNvSpPr/>
          <p:nvPr/>
        </p:nvSpPr>
        <p:spPr>
          <a:xfrm>
            <a:off x="8396734" y="4533900"/>
            <a:ext cx="1351508" cy="4161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092"/>
              </a:lnSpc>
              <a:buNone/>
            </a:pPr>
            <a:r>
              <a:rPr lang="en-US" sz="975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소자 최적화</a:t>
            </a:r>
            <a:pPr algn="ctr" indent="0" marL="0">
              <a:lnSpc>
                <a:spcPts val="1092"/>
              </a:lnSpc>
              <a:buNone/>
            </a:pPr>
            <a:r>
              <a:rPr lang="en-US" sz="975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algn="ctr" indent="0" marL="0">
              <a:lnSpc>
                <a:spcPts val="1092"/>
              </a:lnSpc>
              <a:buNone/>
            </a:pPr>
            <a:r>
              <a:rPr lang="en-US" sz="975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Device Structure</a:t>
            </a:r>
            <a:pPr algn="ctr" indent="0" marL="0">
              <a:lnSpc>
                <a:spcPts val="1092"/>
              </a:lnSpc>
              <a:buNone/>
            </a:pPr>
            <a:r>
              <a:rPr lang="en-US" sz="975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algn="ctr" indent="0" marL="0">
              <a:lnSpc>
                <a:spcPts val="1092"/>
              </a:lnSpc>
              <a:buNone/>
            </a:pPr>
            <a:r>
              <a:rPr lang="en-US" sz="975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Optimization</a:t>
            </a:r>
            <a:endParaRPr lang="en-US" sz="975" dirty="0"/>
          </a:p>
        </p:txBody>
      </p:sp>
      <p:sp>
        <p:nvSpPr>
          <p:cNvPr id="19" name="Text 9"/>
          <p:cNvSpPr/>
          <p:nvPr/>
        </p:nvSpPr>
        <p:spPr>
          <a:xfrm>
            <a:off x="10085040" y="4533900"/>
            <a:ext cx="1089571" cy="4482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76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공정 최적화</a:t>
            </a:r>
            <a:pPr algn="ctr" indent="0" marL="0">
              <a:lnSpc>
                <a:spcPts val="1176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algn="ctr" indent="0" marL="0">
              <a:lnSpc>
                <a:spcPts val="1176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Process</a:t>
            </a:r>
            <a:pPr algn="ctr" indent="0" marL="0">
              <a:lnSpc>
                <a:spcPts val="1176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algn="ctr" indent="0" marL="0">
              <a:lnSpc>
                <a:spcPts val="1176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Optimization</a:t>
            </a:r>
            <a:endParaRPr lang="en-US" sz="1050" dirty="0"/>
          </a:p>
        </p:txBody>
      </p:sp>
      <p:sp>
        <p:nvSpPr>
          <p:cNvPr id="20" name="Text 10"/>
          <p:cNvSpPr/>
          <p:nvPr/>
        </p:nvSpPr>
        <p:spPr>
          <a:xfrm>
            <a:off x="6446044" y="5610225"/>
            <a:ext cx="5291138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Integrated Optimization of Materials, Device, Process is Key Challenge</a:t>
            </a:r>
            <a:endParaRPr lang="en-US" sz="900" dirty="0"/>
          </a:p>
        </p:txBody>
      </p:sp>
      <p:sp>
        <p:nvSpPr>
          <p:cNvPr id="21" name="Text 11"/>
          <p:cNvSpPr/>
          <p:nvPr/>
        </p:nvSpPr>
        <p:spPr>
          <a:xfrm>
            <a:off x="962025" y="1838325"/>
            <a:ext cx="8401050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091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PEP Lifetime Improvement Mechanism &amp; Achievements</a:t>
            </a:r>
            <a:endParaRPr lang="en-US" sz="1125" dirty="0"/>
          </a:p>
        </p:txBody>
      </p:sp>
      <p:sp>
        <p:nvSpPr>
          <p:cNvPr id="22" name="Text 12"/>
          <p:cNvSpPr/>
          <p:nvPr/>
        </p:nvSpPr>
        <p:spPr>
          <a:xfrm>
            <a:off x="6562725" y="1838325"/>
            <a:ext cx="5629275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091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Tandem PEP-PHOLED Core Performance &amp; Composite Strategy</a:t>
            </a:r>
            <a:endParaRPr lang="en-US" sz="1125" dirty="0"/>
          </a:p>
        </p:txBody>
      </p:sp>
      <p:sp>
        <p:nvSpPr>
          <p:cNvPr id="23" name="Text 13"/>
          <p:cNvSpPr/>
          <p:nvPr/>
        </p:nvSpPr>
        <p:spPr>
          <a:xfrm>
            <a:off x="7099399" y="2486025"/>
            <a:ext cx="1603028" cy="16624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1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 수명 (LT90)</a:t>
            </a:r>
            <a:endParaRPr lang="en-US" sz="1350" dirty="0"/>
          </a:p>
        </p:txBody>
      </p:sp>
      <p:sp>
        <p:nvSpPr>
          <p:cNvPr id="24" name="Text 14"/>
          <p:cNvSpPr/>
          <p:nvPr/>
        </p:nvSpPr>
        <p:spPr>
          <a:xfrm>
            <a:off x="9241036" y="2486025"/>
            <a:ext cx="2053530" cy="16624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1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딥블루 색좌표 (CIExy)</a:t>
            </a:r>
            <a:endParaRPr lang="en-US" sz="1350" dirty="0"/>
          </a:p>
        </p:txBody>
      </p:sp>
      <p:sp>
        <p:nvSpPr>
          <p:cNvPr id="25" name="Text 15"/>
          <p:cNvSpPr/>
          <p:nvPr/>
        </p:nvSpPr>
        <p:spPr>
          <a:xfrm>
            <a:off x="7100292" y="2676525"/>
            <a:ext cx="1582043" cy="12010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946"/>
              </a:lnSpc>
              <a:buNone/>
            </a:pPr>
            <a:r>
              <a:rPr lang="en-US" sz="975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Core Lifetime (LT90)</a:t>
            </a:r>
            <a:endParaRPr lang="en-US" sz="975" dirty="0"/>
          </a:p>
        </p:txBody>
      </p:sp>
      <p:sp>
        <p:nvSpPr>
          <p:cNvPr id="26" name="Text 16"/>
          <p:cNvSpPr/>
          <p:nvPr/>
        </p:nvSpPr>
        <p:spPr>
          <a:xfrm>
            <a:off x="9234934" y="2676525"/>
            <a:ext cx="2189708" cy="1108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73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Deep Blue CIExy Coordinates</a:t>
            </a:r>
            <a:endParaRPr lang="en-US" sz="900" dirty="0"/>
          </a:p>
        </p:txBody>
      </p:sp>
      <p:sp>
        <p:nvSpPr>
          <p:cNvPr id="27" name="Text 17"/>
          <p:cNvSpPr/>
          <p:nvPr/>
        </p:nvSpPr>
        <p:spPr>
          <a:xfrm>
            <a:off x="4053334" y="4238625"/>
            <a:ext cx="1561058" cy="16624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10"/>
              </a:lnSpc>
              <a:buNone/>
            </a:pPr>
            <a:r>
              <a:rPr lang="en-US" sz="1350" b="1" dirty="0">
                <a:solidFill>
                  <a:srgbClr val="28782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3.1x 수명 향상</a:t>
            </a:r>
            <a:endParaRPr lang="en-US" sz="1350" dirty="0"/>
          </a:p>
        </p:txBody>
      </p:sp>
      <p:sp>
        <p:nvSpPr>
          <p:cNvPr id="28" name="Text 18"/>
          <p:cNvSpPr/>
          <p:nvPr/>
        </p:nvSpPr>
        <p:spPr>
          <a:xfrm>
            <a:off x="4514255" y="5743575"/>
            <a:ext cx="1267718" cy="1848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28"/>
              </a:lnSpc>
              <a:buNone/>
            </a:pPr>
            <a:r>
              <a:rPr lang="en-US" sz="750" dirty="0">
                <a:solidFill>
                  <a:srgbClr val="28782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[1] Advanced Materials</a:t>
            </a:r>
            <a:pPr algn="ctr" indent="0" marL="0">
              <a:lnSpc>
                <a:spcPts val="728"/>
              </a:lnSpc>
              <a:buNone/>
            </a:pPr>
            <a:r>
              <a:rPr lang="en-US" sz="750" dirty="0">
                <a:solidFill>
                  <a:srgbClr val="28782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algn="ctr" indent="0" marL="0">
              <a:lnSpc>
                <a:spcPts val="728"/>
              </a:lnSpc>
              <a:buNone/>
            </a:pPr>
            <a:r>
              <a:rPr lang="en-US" sz="750" dirty="0">
                <a:solidFill>
                  <a:srgbClr val="28782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Paper, J = 10 mA cm⁻²</a:t>
            </a:r>
            <a:endParaRPr lang="en-US" sz="750" dirty="0"/>
          </a:p>
        </p:txBody>
      </p:sp>
      <p:sp>
        <p:nvSpPr>
          <p:cNvPr id="29" name="Text 19"/>
          <p:cNvSpPr/>
          <p:nvPr/>
        </p:nvSpPr>
        <p:spPr>
          <a:xfrm>
            <a:off x="9317236" y="3038475"/>
            <a:ext cx="377130" cy="2217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73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deep</a:t>
            </a:r>
            <a:pPr algn="ctr" indent="0" marL="0">
              <a:lnSpc>
                <a:spcPts val="873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algn="ctr" indent="0" marL="0">
              <a:lnSpc>
                <a:spcPts val="873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blue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94" y="2029867"/>
            <a:ext cx="11314063" cy="351814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94" y="2029867"/>
            <a:ext cx="2387798" cy="4762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693" y="2029867"/>
            <a:ext cx="3707011" cy="4762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3704" y="2029867"/>
            <a:ext cx="5219254" cy="4762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894" y="2506117"/>
            <a:ext cx="2000250" cy="495151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6693" y="2506117"/>
            <a:ext cx="3707011" cy="50690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3704" y="2544068"/>
            <a:ext cx="5219254" cy="4191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894" y="3013025"/>
            <a:ext cx="2000250" cy="495151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26693" y="3013025"/>
            <a:ext cx="3707011" cy="506909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3704" y="3050977"/>
            <a:ext cx="5219254" cy="4191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8894" y="3519934"/>
            <a:ext cx="2000250" cy="495151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26693" y="3519934"/>
            <a:ext cx="3707011" cy="506909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3704" y="3557885"/>
            <a:ext cx="5219254" cy="4191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8894" y="4026843"/>
            <a:ext cx="2000250" cy="495151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26693" y="4026843"/>
            <a:ext cx="3707011" cy="506909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33704" y="4064794"/>
            <a:ext cx="5219254" cy="4191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8894" y="4533751"/>
            <a:ext cx="2000250" cy="495151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26693" y="4533751"/>
            <a:ext cx="3707011" cy="506909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33704" y="4571702"/>
            <a:ext cx="5219254" cy="4191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38894" y="5040660"/>
            <a:ext cx="2000250" cy="495151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826693" y="5040660"/>
            <a:ext cx="3707011" cy="507355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8353" y="6446490"/>
            <a:ext cx="280392" cy="260598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438894" y="2029867"/>
            <a:ext cx="215919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항목 (Category)</a:t>
            </a:r>
            <a:endParaRPr lang="en-US" sz="1350" dirty="0"/>
          </a:p>
        </p:txBody>
      </p:sp>
      <p:sp>
        <p:nvSpPr>
          <p:cNvPr id="26" name="Text 1"/>
          <p:cNvSpPr/>
          <p:nvPr/>
        </p:nvSpPr>
        <p:spPr>
          <a:xfrm>
            <a:off x="2826693" y="2029867"/>
            <a:ext cx="347841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상용화 경로 (LG Display - 하이브리드)</a:t>
            </a:r>
            <a:endParaRPr lang="en-US" sz="1350" dirty="0"/>
          </a:p>
        </p:txBody>
      </p:sp>
      <p:sp>
        <p:nvSpPr>
          <p:cNvPr id="27" name="Text 2"/>
          <p:cNvSpPr/>
          <p:nvPr/>
        </p:nvSpPr>
        <p:spPr>
          <a:xfrm>
            <a:off x="6533704" y="2029867"/>
            <a:ext cx="499065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33333"/>
                </a:solidFill>
              </a:rPr>
              <a:t>연구 경로 (학계 - Pure-Blue)</a:t>
            </a:r>
            <a:endParaRPr lang="en-US" sz="1350" dirty="0"/>
          </a:p>
        </p:txBody>
      </p:sp>
      <p:sp>
        <p:nvSpPr>
          <p:cNvPr id="28" name="Text 3"/>
          <p:cNvSpPr/>
          <p:nvPr/>
        </p:nvSpPr>
        <p:spPr>
          <a:xfrm>
            <a:off x="581769" y="2620268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🥞</a:t>
            </a:r>
            <a:endParaRPr lang="en-US" sz="1800" dirty="0"/>
          </a:p>
        </p:txBody>
      </p:sp>
      <p:sp>
        <p:nvSpPr>
          <p:cNvPr id="29" name="Text 4"/>
          <p:cNvSpPr/>
          <p:nvPr/>
        </p:nvSpPr>
        <p:spPr>
          <a:xfrm>
            <a:off x="962769" y="2582317"/>
            <a:ext cx="65975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33333"/>
                </a:solidFill>
              </a:rPr>
              <a:t>접근법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962769" y="2765078"/>
            <a:ext cx="1600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(Approach)</a:t>
            </a:r>
            <a:endParaRPr lang="en-US" sz="1050" dirty="0"/>
          </a:p>
        </p:txBody>
      </p:sp>
      <p:sp>
        <p:nvSpPr>
          <p:cNvPr id="31" name="Text 6"/>
          <p:cNvSpPr/>
          <p:nvPr/>
        </p:nvSpPr>
        <p:spPr>
          <a:xfrm>
            <a:off x="2969568" y="2506117"/>
            <a:ext cx="3421261" cy="50690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▪ 형광+인광 결합 하이브리드 구조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6676579" y="2620268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🕸️</a:t>
            </a:r>
            <a:endParaRPr lang="en-US" sz="1800" dirty="0"/>
          </a:p>
        </p:txBody>
      </p:sp>
      <p:sp>
        <p:nvSpPr>
          <p:cNvPr id="33" name="Text 8"/>
          <p:cNvSpPr/>
          <p:nvPr/>
        </p:nvSpPr>
        <p:spPr>
          <a:xfrm>
            <a:off x="7076629" y="263931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PSF/PEP 기반 Pure-Blue 추구</a:t>
            </a:r>
            <a:endParaRPr lang="en-US" sz="1200" dirty="0"/>
          </a:p>
        </p:txBody>
      </p:sp>
      <p:sp>
        <p:nvSpPr>
          <p:cNvPr id="34" name="Text 9"/>
          <p:cNvSpPr/>
          <p:nvPr/>
        </p:nvSpPr>
        <p:spPr>
          <a:xfrm>
            <a:off x="581769" y="3127177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🏭</a:t>
            </a:r>
            <a:endParaRPr lang="en-US" sz="1800" dirty="0"/>
          </a:p>
        </p:txBody>
      </p:sp>
      <p:sp>
        <p:nvSpPr>
          <p:cNvPr id="35" name="Text 10"/>
          <p:cNvSpPr/>
          <p:nvPr/>
        </p:nvSpPr>
        <p:spPr>
          <a:xfrm>
            <a:off x="962769" y="3089225"/>
            <a:ext cx="91440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33333"/>
                </a:solidFill>
              </a:rPr>
              <a:t>현재 상태</a:t>
            </a:r>
            <a:endParaRPr lang="en-US" sz="1200" dirty="0"/>
          </a:p>
        </p:txBody>
      </p:sp>
      <p:sp>
        <p:nvSpPr>
          <p:cNvPr id="36" name="Text 11"/>
          <p:cNvSpPr/>
          <p:nvPr/>
        </p:nvSpPr>
        <p:spPr>
          <a:xfrm>
            <a:off x="962769" y="3271986"/>
            <a:ext cx="12801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(Status)</a:t>
            </a:r>
            <a:endParaRPr lang="en-US" sz="1050" dirty="0"/>
          </a:p>
        </p:txBody>
      </p:sp>
      <p:sp>
        <p:nvSpPr>
          <p:cNvPr id="37" name="Text 12"/>
          <p:cNvSpPr/>
          <p:nvPr/>
        </p:nvSpPr>
        <p:spPr>
          <a:xfrm>
            <a:off x="2969568" y="3013025"/>
            <a:ext cx="4500878" cy="50690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▪ LGD 양산 라인 검증 완료, 제품 적용 중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6676579" y="3127177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🧪</a:t>
            </a:r>
            <a:endParaRPr lang="en-US" sz="1800" dirty="0"/>
          </a:p>
        </p:txBody>
      </p:sp>
      <p:sp>
        <p:nvSpPr>
          <p:cNvPr id="39" name="Text 14"/>
          <p:cNvSpPr/>
          <p:nvPr/>
        </p:nvSpPr>
        <p:spPr>
          <a:xfrm>
            <a:off x="7076629" y="3146227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실험실 수준 실험, 성과 지표 개선 중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581769" y="3634085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📢</a:t>
            </a:r>
            <a:endParaRPr lang="en-US" sz="1800" dirty="0"/>
          </a:p>
        </p:txBody>
      </p:sp>
      <p:sp>
        <p:nvSpPr>
          <p:cNvPr id="41" name="Text 16"/>
          <p:cNvSpPr/>
          <p:nvPr/>
        </p:nvSpPr>
        <p:spPr>
          <a:xfrm>
            <a:off x="962769" y="3596134"/>
            <a:ext cx="91440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33333"/>
                </a:solidFill>
              </a:rPr>
              <a:t>핵심 증거</a:t>
            </a:r>
            <a:endParaRPr lang="en-US" sz="1200" dirty="0"/>
          </a:p>
        </p:txBody>
      </p:sp>
      <p:sp>
        <p:nvSpPr>
          <p:cNvPr id="42" name="Text 17"/>
          <p:cNvSpPr/>
          <p:nvPr/>
        </p:nvSpPr>
        <p:spPr>
          <a:xfrm>
            <a:off x="962769" y="3778895"/>
            <a:ext cx="1600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(Evidence)</a:t>
            </a:r>
            <a:endParaRPr lang="en-US" sz="1050" dirty="0"/>
          </a:p>
        </p:txBody>
      </p:sp>
      <p:sp>
        <p:nvSpPr>
          <p:cNvPr id="43" name="Text 18"/>
          <p:cNvSpPr/>
          <p:nvPr/>
        </p:nvSpPr>
        <p:spPr>
          <a:xfrm>
            <a:off x="2969568" y="3519934"/>
            <a:ext cx="3994530" cy="50690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▪ LG Display 공식 발표 및 전시</a:t>
            </a:r>
            <a:endParaRPr lang="en-US" sz="1200" dirty="0"/>
          </a:p>
        </p:txBody>
      </p:sp>
      <p:sp>
        <p:nvSpPr>
          <p:cNvPr id="44" name="Text 19"/>
          <p:cNvSpPr/>
          <p:nvPr/>
        </p:nvSpPr>
        <p:spPr>
          <a:xfrm>
            <a:off x="6676579" y="3634085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📖</a:t>
            </a:r>
            <a:endParaRPr lang="en-US" sz="1800" dirty="0"/>
          </a:p>
        </p:txBody>
      </p:sp>
      <p:sp>
        <p:nvSpPr>
          <p:cNvPr id="45" name="Text 20"/>
          <p:cNvSpPr/>
          <p:nvPr/>
        </p:nvSpPr>
        <p:spPr>
          <a:xfrm>
            <a:off x="7076629" y="3653135"/>
            <a:ext cx="5115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RSC (2026), Nature Photonics 논문</a:t>
            </a:r>
            <a:endParaRPr lang="en-US" sz="1200" dirty="0"/>
          </a:p>
        </p:txBody>
      </p:sp>
      <p:sp>
        <p:nvSpPr>
          <p:cNvPr id="46" name="Text 21"/>
          <p:cNvSpPr/>
          <p:nvPr/>
        </p:nvSpPr>
        <p:spPr>
          <a:xfrm>
            <a:off x="581769" y="4140994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🕒</a:t>
            </a:r>
            <a:endParaRPr lang="en-US" sz="1800" dirty="0"/>
          </a:p>
        </p:txBody>
      </p:sp>
      <p:sp>
        <p:nvSpPr>
          <p:cNvPr id="47" name="Text 22"/>
          <p:cNvSpPr/>
          <p:nvPr/>
        </p:nvSpPr>
        <p:spPr>
          <a:xfrm>
            <a:off x="962769" y="4103043"/>
            <a:ext cx="91440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33333"/>
                </a:solidFill>
              </a:rPr>
              <a:t>수명 지표</a:t>
            </a:r>
            <a:endParaRPr lang="en-US" sz="1200" dirty="0"/>
          </a:p>
        </p:txBody>
      </p:sp>
      <p:sp>
        <p:nvSpPr>
          <p:cNvPr id="48" name="Text 23"/>
          <p:cNvSpPr/>
          <p:nvPr/>
        </p:nvSpPr>
        <p:spPr>
          <a:xfrm>
            <a:off x="962769" y="4285804"/>
            <a:ext cx="1600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(Lifespan)</a:t>
            </a:r>
            <a:endParaRPr lang="en-US" sz="1050" dirty="0"/>
          </a:p>
        </p:txBody>
      </p:sp>
      <p:sp>
        <p:nvSpPr>
          <p:cNvPr id="49" name="Text 24"/>
          <p:cNvSpPr/>
          <p:nvPr/>
        </p:nvSpPr>
        <p:spPr>
          <a:xfrm>
            <a:off x="2969568" y="4026843"/>
            <a:ext cx="3825747" cy="50690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▪ 정성적 표현 사용 ('유사 안정성')</a:t>
            </a:r>
            <a:endParaRPr lang="en-US" sz="1200" dirty="0"/>
          </a:p>
        </p:txBody>
      </p:sp>
      <p:sp>
        <p:nvSpPr>
          <p:cNvPr id="50" name="Text 25"/>
          <p:cNvSpPr/>
          <p:nvPr/>
        </p:nvSpPr>
        <p:spPr>
          <a:xfrm>
            <a:off x="6676579" y="4140994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</a:t>
            </a:r>
            <a:endParaRPr lang="en-US" sz="1800" dirty="0"/>
          </a:p>
        </p:txBody>
      </p:sp>
      <p:sp>
        <p:nvSpPr>
          <p:cNvPr id="51" name="Text 26"/>
          <p:cNvSpPr/>
          <p:nvPr/>
        </p:nvSpPr>
        <p:spPr>
          <a:xfrm>
            <a:off x="7076629" y="4160044"/>
            <a:ext cx="5115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- 정량적 수치 제시: PSF LT95=104.3h, PEP LT90=830h</a:t>
            </a:r>
            <a:endParaRPr lang="en-US" sz="1200" dirty="0"/>
          </a:p>
        </p:txBody>
      </p:sp>
      <p:sp>
        <p:nvSpPr>
          <p:cNvPr id="52" name="Text 27"/>
          <p:cNvSpPr/>
          <p:nvPr/>
        </p:nvSpPr>
        <p:spPr>
          <a:xfrm>
            <a:off x="581769" y="4647902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📅</a:t>
            </a:r>
            <a:endParaRPr lang="en-US" sz="1800" dirty="0"/>
          </a:p>
        </p:txBody>
      </p:sp>
      <p:sp>
        <p:nvSpPr>
          <p:cNvPr id="53" name="Text 28"/>
          <p:cNvSpPr/>
          <p:nvPr/>
        </p:nvSpPr>
        <p:spPr>
          <a:xfrm>
            <a:off x="962769" y="4609951"/>
            <a:ext cx="109728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33333"/>
                </a:solidFill>
              </a:rPr>
              <a:t>상용화 시점</a:t>
            </a:r>
            <a:endParaRPr lang="en-US" sz="1200" dirty="0"/>
          </a:p>
        </p:txBody>
      </p:sp>
      <p:sp>
        <p:nvSpPr>
          <p:cNvPr id="54" name="Text 29"/>
          <p:cNvSpPr/>
          <p:nvPr/>
        </p:nvSpPr>
        <p:spPr>
          <a:xfrm>
            <a:off x="962769" y="4792712"/>
            <a:ext cx="12801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(Timing)</a:t>
            </a:r>
            <a:endParaRPr lang="en-US" sz="1050" dirty="0"/>
          </a:p>
        </p:txBody>
      </p:sp>
      <p:sp>
        <p:nvSpPr>
          <p:cNvPr id="55" name="Text 30"/>
          <p:cNvSpPr/>
          <p:nvPr/>
        </p:nvSpPr>
        <p:spPr>
          <a:xfrm>
            <a:off x="2969568" y="4533751"/>
            <a:ext cx="3656964" cy="50690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▪ 단기 (근시일 양산 및 공급 가능)</a:t>
            </a:r>
            <a:endParaRPr lang="en-US" sz="1200" dirty="0"/>
          </a:p>
        </p:txBody>
      </p:sp>
      <p:sp>
        <p:nvSpPr>
          <p:cNvPr id="56" name="Text 31"/>
          <p:cNvSpPr/>
          <p:nvPr/>
        </p:nvSpPr>
        <p:spPr>
          <a:xfrm>
            <a:off x="6676579" y="4647902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🔄</a:t>
            </a:r>
            <a:endParaRPr lang="en-US" sz="1800" dirty="0"/>
          </a:p>
        </p:txBody>
      </p:sp>
      <p:sp>
        <p:nvSpPr>
          <p:cNvPr id="57" name="Text 32"/>
          <p:cNvSpPr/>
          <p:nvPr/>
        </p:nvSpPr>
        <p:spPr>
          <a:xfrm>
            <a:off x="7076629" y="4666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중장기 (수명 확보 위한 추가 연구 필수)</a:t>
            </a:r>
            <a:endParaRPr lang="en-US" sz="1200" dirty="0"/>
          </a:p>
        </p:txBody>
      </p:sp>
      <p:sp>
        <p:nvSpPr>
          <p:cNvPr id="58" name="Text 33"/>
          <p:cNvSpPr/>
          <p:nvPr/>
        </p:nvSpPr>
        <p:spPr>
          <a:xfrm>
            <a:off x="581769" y="5154811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⛰️</a:t>
            </a:r>
            <a:endParaRPr lang="en-US" sz="1800" dirty="0"/>
          </a:p>
        </p:txBody>
      </p:sp>
      <p:sp>
        <p:nvSpPr>
          <p:cNvPr id="59" name="Text 34"/>
          <p:cNvSpPr/>
          <p:nvPr/>
        </p:nvSpPr>
        <p:spPr>
          <a:xfrm>
            <a:off x="962769" y="5116860"/>
            <a:ext cx="91440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33333"/>
                </a:solidFill>
              </a:rPr>
              <a:t>단기 과제</a:t>
            </a:r>
            <a:endParaRPr lang="en-US" sz="1200" dirty="0"/>
          </a:p>
        </p:txBody>
      </p:sp>
      <p:sp>
        <p:nvSpPr>
          <p:cNvPr id="60" name="Text 35"/>
          <p:cNvSpPr/>
          <p:nvPr/>
        </p:nvSpPr>
        <p:spPr>
          <a:xfrm>
            <a:off x="962769" y="5299621"/>
            <a:ext cx="19202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(Challenges)</a:t>
            </a:r>
            <a:endParaRPr lang="en-US" sz="1050" dirty="0"/>
          </a:p>
        </p:txBody>
      </p:sp>
      <p:sp>
        <p:nvSpPr>
          <p:cNvPr id="61" name="Text 36"/>
          <p:cNvSpPr/>
          <p:nvPr/>
        </p:nvSpPr>
        <p:spPr>
          <a:xfrm>
            <a:off x="2969568" y="5040660"/>
            <a:ext cx="3488181" cy="5073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▪ 대면적 수율 및 원가 경쟁력 확보</a:t>
            </a:r>
            <a:endParaRPr lang="en-US" sz="1200" dirty="0"/>
          </a:p>
        </p:txBody>
      </p:sp>
      <p:sp>
        <p:nvSpPr>
          <p:cNvPr id="62" name="Text 37"/>
          <p:cNvSpPr/>
          <p:nvPr/>
        </p:nvSpPr>
        <p:spPr>
          <a:xfrm>
            <a:off x="6676579" y="5145286"/>
            <a:ext cx="2857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⚙️</a:t>
            </a:r>
            <a:endParaRPr lang="en-US" sz="1800" dirty="0"/>
          </a:p>
        </p:txBody>
      </p:sp>
      <p:sp>
        <p:nvSpPr>
          <p:cNvPr id="63" name="Text 38"/>
          <p:cNvSpPr/>
          <p:nvPr/>
        </p:nvSpPr>
        <p:spPr>
          <a:xfrm>
            <a:off x="7076629" y="516909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상용 수준의 수명 및 성능 달성</a:t>
            </a:r>
            <a:endParaRPr lang="en-US" sz="1200" dirty="0"/>
          </a:p>
        </p:txBody>
      </p:sp>
      <p:sp>
        <p:nvSpPr>
          <p:cNvPr id="64" name="Text 39"/>
          <p:cNvSpPr/>
          <p:nvPr/>
        </p:nvSpPr>
        <p:spPr>
          <a:xfrm>
            <a:off x="0" y="123825"/>
            <a:ext cx="12192000" cy="3808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99"/>
              </a:lnSpc>
              <a:buNone/>
            </a:pPr>
            <a:r>
              <a:rPr lang="en-US" sz="23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상용화 경로 vs 연구 경로 비교 / Commercialization Path vs Research Path Comparison</a:t>
            </a:r>
            <a:endParaRPr lang="en-US" sz="2325" dirty="0"/>
          </a:p>
        </p:txBody>
      </p:sp>
      <p:sp>
        <p:nvSpPr>
          <p:cNvPr id="65" name="Text 40"/>
          <p:cNvSpPr/>
          <p:nvPr/>
        </p:nvSpPr>
        <p:spPr>
          <a:xfrm>
            <a:off x="0" y="742950"/>
            <a:ext cx="12192000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38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하이브리드(LGD)와 Pure-Blue(학계) 기술 격차 및 과제 분석 / Analysis of Technology Gap and Challenges:</a:t>
            </a:r>
            <a:pPr indent="0" marL="0">
              <a:lnSpc>
                <a:spcPts val="2138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38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Challenges: Hybrid (LGD) vs Pure-Blue (Academia)</a:t>
            </a:r>
            <a:endParaRPr lang="en-US" sz="1875" dirty="0"/>
          </a:p>
        </p:txBody>
      </p:sp>
      <p:sp>
        <p:nvSpPr>
          <p:cNvPr id="66" name="Text 41"/>
          <p:cNvSpPr/>
          <p:nvPr/>
        </p:nvSpPr>
        <p:spPr>
          <a:xfrm>
            <a:off x="590550" y="5610225"/>
            <a:ext cx="10058400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08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Pure-Blue PHOLED는 상용 수준의 수명을 확보하지 못한 실험실 단계임. (기술 격차 존재)</a:t>
            </a:r>
            <a:endParaRPr lang="en-US" sz="1125" dirty="0"/>
          </a:p>
        </p:txBody>
      </p:sp>
      <p:sp>
        <p:nvSpPr>
          <p:cNvPr id="67" name="Text 42"/>
          <p:cNvSpPr/>
          <p:nvPr/>
        </p:nvSpPr>
        <p:spPr>
          <a:xfrm>
            <a:off x="590550" y="5791200"/>
            <a:ext cx="11601450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08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Pure-Blue PHOLED is in a laboratory phase, yet to achieve commercial lifespan levels. (Technology Gap Exists)</a:t>
            </a:r>
            <a:endParaRPr lang="en-US" sz="1125" dirty="0"/>
          </a:p>
        </p:txBody>
      </p:sp>
      <p:sp>
        <p:nvSpPr>
          <p:cNvPr id="68" name="Text 43"/>
          <p:cNvSpPr/>
          <p:nvPr/>
        </p:nvSpPr>
        <p:spPr>
          <a:xfrm>
            <a:off x="466725" y="6172200"/>
            <a:ext cx="1172527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[1] LG Display, 'Commercial Hybrid Path', internal report | [2] Academia Papers (RSC, Nature Photonics)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71" y="3504307"/>
            <a:ext cx="231577" cy="23306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373" y="2365921"/>
            <a:ext cx="2121396" cy="88463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5577" y="1618357"/>
            <a:ext cx="268188" cy="287982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4" y="3504307"/>
            <a:ext cx="219373" cy="23306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0" y="2455069"/>
            <a:ext cx="889992" cy="6858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561" y="2352229"/>
            <a:ext cx="865584" cy="82971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99098" y="4869061"/>
            <a:ext cx="255984" cy="239911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99098" y="3497461"/>
            <a:ext cx="255984" cy="239911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59796" y="2400300"/>
            <a:ext cx="1024086" cy="877788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18471" y="2407146"/>
            <a:ext cx="743694" cy="774948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3859" y="4581079"/>
            <a:ext cx="219373" cy="246757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3859" y="3497461"/>
            <a:ext cx="219373" cy="239911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31169" y="2420838"/>
            <a:ext cx="999679" cy="74741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4400" y="2400300"/>
            <a:ext cx="767953" cy="596503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266700" y="142875"/>
            <a:ext cx="11925300" cy="3690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06"/>
              </a:lnSpc>
              <a:buNone/>
            </a:pPr>
            <a:r>
              <a:rPr lang="en-US" sz="2325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Display Week 현장 실사(Diligence) 체크리스트</a:t>
            </a:r>
            <a:endParaRPr lang="en-US" sz="2325" dirty="0"/>
          </a:p>
        </p:txBody>
      </p:sp>
      <p:sp>
        <p:nvSpPr>
          <p:cNvPr id="19" name="Text 1"/>
          <p:cNvSpPr/>
          <p:nvPr/>
        </p:nvSpPr>
        <p:spPr>
          <a:xfrm>
            <a:off x="352425" y="742950"/>
            <a:ext cx="7098030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8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LGD 기술 리더를 위한 실질적 기술 검증 가이드</a:t>
            </a:r>
            <a:endParaRPr lang="en-US" sz="1725" dirty="0"/>
          </a:p>
        </p:txBody>
      </p:sp>
      <p:sp>
        <p:nvSpPr>
          <p:cNvPr id="20" name="Text 2"/>
          <p:cNvSpPr/>
          <p:nvPr/>
        </p:nvSpPr>
        <p:spPr>
          <a:xfrm>
            <a:off x="657225" y="1628775"/>
            <a:ext cx="352044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76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핵심 성능 데이터 검증</a:t>
            </a:r>
            <a:endParaRPr lang="en-US" sz="1650" dirty="0"/>
          </a:p>
        </p:txBody>
      </p:sp>
      <p:sp>
        <p:nvSpPr>
          <p:cNvPr id="21" name="Text 3"/>
          <p:cNvSpPr/>
          <p:nvPr/>
        </p:nvSpPr>
        <p:spPr>
          <a:xfrm>
            <a:off x="3581400" y="1628775"/>
            <a:ext cx="2462213" cy="6036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76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확장성 및 수율 근거</a:t>
            </a:r>
            <a:pPr indent="0" marL="0">
              <a:lnSpc>
                <a:spcPts val="2376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76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확보</a:t>
            </a:r>
            <a:endParaRPr lang="en-US" sz="1650" dirty="0"/>
          </a:p>
        </p:txBody>
      </p:sp>
      <p:sp>
        <p:nvSpPr>
          <p:cNvPr id="22" name="Text 4"/>
          <p:cNvSpPr/>
          <p:nvPr/>
        </p:nvSpPr>
        <p:spPr>
          <a:xfrm>
            <a:off x="6381750" y="1628775"/>
            <a:ext cx="352044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76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소재 계약 연계성 확인</a:t>
            </a:r>
            <a:endParaRPr lang="en-US" sz="1650" dirty="0"/>
          </a:p>
        </p:txBody>
      </p:sp>
      <p:sp>
        <p:nvSpPr>
          <p:cNvPr id="23" name="Text 5"/>
          <p:cNvSpPr/>
          <p:nvPr/>
        </p:nvSpPr>
        <p:spPr>
          <a:xfrm>
            <a:off x="9429750" y="1628775"/>
            <a:ext cx="2147888" cy="6036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76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Pure-Blue 전환</a:t>
            </a:r>
            <a:pPr indent="0" marL="0">
              <a:lnSpc>
                <a:spcPts val="2376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76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</a:t>
            </a:r>
            <a:endParaRPr lang="en-US" sz="1650" dirty="0"/>
          </a:p>
        </p:txBody>
      </p:sp>
      <p:sp>
        <p:nvSpPr>
          <p:cNvPr id="24" name="Text 6"/>
          <p:cNvSpPr/>
          <p:nvPr/>
        </p:nvSpPr>
        <p:spPr>
          <a:xfrm>
            <a:off x="895350" y="3019425"/>
            <a:ext cx="240030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LT95/LT90</a:t>
            </a:r>
            <a:endParaRPr lang="en-US" sz="1350" dirty="0"/>
          </a:p>
        </p:txBody>
      </p:sp>
      <p:sp>
        <p:nvSpPr>
          <p:cNvPr id="25" name="Text 7"/>
          <p:cNvSpPr/>
          <p:nvPr/>
        </p:nvSpPr>
        <p:spPr>
          <a:xfrm>
            <a:off x="895350" y="3514725"/>
            <a:ext cx="2242096" cy="74071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정량적 수명 데이터 확인</a:t>
            </a:r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LT95/LT90 수치와 측정</a:t>
            </a:r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화도 조건 반드시 질의</a:t>
            </a:r>
            <a:endParaRPr lang="en-US" sz="1350" dirty="0"/>
          </a:p>
        </p:txBody>
      </p:sp>
      <p:sp>
        <p:nvSpPr>
          <p:cNvPr id="26" name="Text 8"/>
          <p:cNvSpPr/>
          <p:nvPr/>
        </p:nvSpPr>
        <p:spPr>
          <a:xfrm>
            <a:off x="895350" y="4581525"/>
            <a:ext cx="2242096" cy="9876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하이브리드 구조 기여도</a:t>
            </a:r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</a:t>
            </a:r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인광 스텍의 실제 전력 절감</a:t>
            </a:r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비율 및 비교 기준 확인</a:t>
            </a:r>
            <a:endParaRPr lang="en-US" sz="1350" dirty="0"/>
          </a:p>
        </p:txBody>
      </p:sp>
      <p:sp>
        <p:nvSpPr>
          <p:cNvPr id="27" name="Text 9"/>
          <p:cNvSpPr/>
          <p:nvPr/>
        </p:nvSpPr>
        <p:spPr>
          <a:xfrm>
            <a:off x="3819525" y="3514725"/>
            <a:ext cx="2242096" cy="9876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 범위·대면적 확장성</a:t>
            </a:r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파악</a:t>
            </a:r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IT 패널 한정인지, TV 대면적</a:t>
            </a:r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 존재 여부 확인</a:t>
            </a:r>
            <a:endParaRPr lang="en-US" sz="1350" dirty="0"/>
          </a:p>
        </p:txBody>
      </p:sp>
      <p:sp>
        <p:nvSpPr>
          <p:cNvPr id="28" name="Text 10"/>
          <p:cNvSpPr/>
          <p:nvPr/>
        </p:nvSpPr>
        <p:spPr>
          <a:xfrm>
            <a:off x="3819525" y="4857750"/>
            <a:ext cx="2462213" cy="74071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양산성·수율 근거 요청</a:t>
            </a:r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 수율·광학 균일성 관련</a:t>
            </a:r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 가능 데이터 확보</a:t>
            </a:r>
            <a:endParaRPr lang="en-US" sz="1350" dirty="0"/>
          </a:p>
        </p:txBody>
      </p:sp>
      <p:sp>
        <p:nvSpPr>
          <p:cNvPr id="29" name="Text 11"/>
          <p:cNvSpPr/>
          <p:nvPr/>
        </p:nvSpPr>
        <p:spPr>
          <a:xfrm>
            <a:off x="6686550" y="3514725"/>
            <a:ext cx="2116336" cy="12345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UDC 계약과 소재 인증</a:t>
            </a:r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 확인</a:t>
            </a:r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연장이 Blue OLED</a:t>
            </a:r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소재 공급과 구체적으로</a:t>
            </a:r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44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연계되는지 확인</a:t>
            </a:r>
            <a:endParaRPr lang="en-US" sz="1350" dirty="0"/>
          </a:p>
        </p:txBody>
      </p:sp>
      <p:sp>
        <p:nvSpPr>
          <p:cNvPr id="30" name="Text 12"/>
          <p:cNvSpPr/>
          <p:nvPr/>
        </p:nvSpPr>
        <p:spPr>
          <a:xfrm>
            <a:off x="6686550" y="5000625"/>
            <a:ext cx="1917353" cy="439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004D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*UDC 계약 세부 조항 및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004D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004D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소재 독점 공급 여부 포함</a:t>
            </a:r>
            <a:endParaRPr lang="en-US" sz="1200" dirty="0"/>
          </a:p>
        </p:txBody>
      </p:sp>
      <p:sp>
        <p:nvSpPr>
          <p:cNvPr id="31" name="Text 13"/>
          <p:cNvSpPr/>
          <p:nvPr/>
        </p:nvSpPr>
        <p:spPr>
          <a:xfrm>
            <a:off x="9610725" y="3514725"/>
            <a:ext cx="2200275" cy="10976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Pure-Blue 전환 로드맵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질의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하이브리드에서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Pure-Blue PHOLED로의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2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 시점·조건 확인</a:t>
            </a:r>
            <a:endParaRPr lang="en-US" sz="1200" dirty="0"/>
          </a:p>
        </p:txBody>
      </p:sp>
      <p:sp>
        <p:nvSpPr>
          <p:cNvPr id="32" name="Text 14"/>
          <p:cNvSpPr/>
          <p:nvPr/>
        </p:nvSpPr>
        <p:spPr>
          <a:xfrm>
            <a:off x="10439400" y="3276600"/>
            <a:ext cx="1752600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731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milestone</a:t>
            </a:r>
            <a:endParaRPr lang="en-US" sz="975" dirty="0"/>
          </a:p>
        </p:txBody>
      </p:sp>
      <p:sp>
        <p:nvSpPr>
          <p:cNvPr id="33" name="Text 15"/>
          <p:cNvSpPr/>
          <p:nvPr/>
        </p:nvSpPr>
        <p:spPr>
          <a:xfrm>
            <a:off x="466725" y="6153150"/>
            <a:ext cx="7010400" cy="2728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4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*출처: Display Week 2026 현장 발표 및 질의응답</a:t>
            </a:r>
            <a:endParaRPr lang="en-US" sz="1200" dirty="0"/>
          </a:p>
        </p:txBody>
      </p:sp>
      <p:sp>
        <p:nvSpPr>
          <p:cNvPr id="34" name="Text 16"/>
          <p:cNvSpPr/>
          <p:nvPr/>
        </p:nvSpPr>
        <p:spPr>
          <a:xfrm>
            <a:off x="5813524" y="6705600"/>
            <a:ext cx="555278" cy="933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34"/>
              </a:lnSpc>
              <a:buNone/>
            </a:pPr>
            <a:r>
              <a:rPr lang="en-US" sz="825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0690" y="2578596"/>
            <a:ext cx="414486" cy="39082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275" y="3936355"/>
            <a:ext cx="390079" cy="37713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3867" y="3607296"/>
            <a:ext cx="426690" cy="26744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6071" y="1268611"/>
            <a:ext cx="414486" cy="37713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5553" y="3778746"/>
            <a:ext cx="414486" cy="54173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5553" y="1261765"/>
            <a:ext cx="402282" cy="36343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5655" y="2599134"/>
            <a:ext cx="536377" cy="349746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69503" y="142875"/>
            <a:ext cx="12122497" cy="3690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06"/>
              </a:lnSpc>
              <a:buNone/>
            </a:pPr>
            <a:r>
              <a:rPr lang="en-US" sz="23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패널 전략 및 공급망 기술 스카우팅 함의 / Panel Strategy and Supply Chain Tech</a:t>
            </a:r>
            <a:endParaRPr lang="en-US" sz="2325" dirty="0"/>
          </a:p>
        </p:txBody>
      </p:sp>
      <p:sp>
        <p:nvSpPr>
          <p:cNvPr id="12" name="Text 1"/>
          <p:cNvSpPr/>
          <p:nvPr/>
        </p:nvSpPr>
        <p:spPr>
          <a:xfrm>
            <a:off x="1484412" y="2971800"/>
            <a:ext cx="1917353" cy="5363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12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UDC 계약 연장과</a:t>
            </a:r>
            <a:pPr algn="ctr" indent="0" marL="0">
              <a:lnSpc>
                <a:spcPts val="2112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12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소재 공급망 안정성</a:t>
            </a:r>
            <a:endParaRPr lang="en-US" sz="1650" dirty="0"/>
          </a:p>
        </p:txBody>
      </p:sp>
      <p:sp>
        <p:nvSpPr>
          <p:cNvPr id="13" name="Text 2"/>
          <p:cNvSpPr/>
          <p:nvPr/>
        </p:nvSpPr>
        <p:spPr>
          <a:xfrm>
            <a:off x="3673227" y="1647825"/>
            <a:ext cx="1959173" cy="5363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12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경쟁사 대비</a:t>
            </a:r>
            <a:pPr algn="ctr" indent="0" marL="0">
              <a:lnSpc>
                <a:spcPts val="2112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12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선점 기회 평가</a:t>
            </a:r>
            <a:endParaRPr lang="en-US" sz="1650" dirty="0"/>
          </a:p>
        </p:txBody>
      </p:sp>
      <p:sp>
        <p:nvSpPr>
          <p:cNvPr id="14" name="Text 3"/>
          <p:cNvSpPr/>
          <p:nvPr/>
        </p:nvSpPr>
        <p:spPr>
          <a:xfrm>
            <a:off x="6597402" y="1647825"/>
            <a:ext cx="1959173" cy="5363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12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하이브리드 구조의</a:t>
            </a:r>
            <a:pPr algn="ctr" indent="0" marL="0">
              <a:lnSpc>
                <a:spcPts val="2112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12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원가 구조 변화</a:t>
            </a:r>
            <a:endParaRPr lang="en-US" sz="1650" dirty="0"/>
          </a:p>
        </p:txBody>
      </p:sp>
      <p:sp>
        <p:nvSpPr>
          <p:cNvPr id="15" name="Text 4"/>
          <p:cNvSpPr/>
          <p:nvPr/>
        </p:nvSpPr>
        <p:spPr>
          <a:xfrm>
            <a:off x="3807023" y="4362450"/>
            <a:ext cx="1739205" cy="5363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12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PSF·PEP 기술의</a:t>
            </a:r>
            <a:pPr algn="ctr" indent="0" marL="0">
              <a:lnSpc>
                <a:spcPts val="2112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12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양산 전환 난이도</a:t>
            </a:r>
            <a:endParaRPr lang="en-US" sz="1650" dirty="0"/>
          </a:p>
        </p:txBody>
      </p:sp>
      <p:sp>
        <p:nvSpPr>
          <p:cNvPr id="16" name="Text 5"/>
          <p:cNvSpPr/>
          <p:nvPr/>
        </p:nvSpPr>
        <p:spPr>
          <a:xfrm>
            <a:off x="8917781" y="2971800"/>
            <a:ext cx="1833563" cy="5363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12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 분야 확장에</a:t>
            </a:r>
            <a:pPr algn="ctr" indent="0" marL="0">
              <a:lnSpc>
                <a:spcPts val="2112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12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따른 공급망 재편</a:t>
            </a:r>
            <a:endParaRPr lang="en-US" sz="1650" dirty="0"/>
          </a:p>
        </p:txBody>
      </p:sp>
      <p:sp>
        <p:nvSpPr>
          <p:cNvPr id="17" name="Text 6"/>
          <p:cNvSpPr/>
          <p:nvPr/>
        </p:nvSpPr>
        <p:spPr>
          <a:xfrm>
            <a:off x="6590258" y="4362450"/>
            <a:ext cx="2116336" cy="5363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12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차세대 기술 스카우팅</a:t>
            </a:r>
            <a:pPr algn="ctr" indent="0" marL="0">
              <a:lnSpc>
                <a:spcPts val="2112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12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우선순위 설정</a:t>
            </a:r>
            <a:endParaRPr lang="en-US" sz="1650" dirty="0"/>
          </a:p>
        </p:txBody>
      </p:sp>
      <p:sp>
        <p:nvSpPr>
          <p:cNvPr id="18" name="Text 7"/>
          <p:cNvSpPr/>
          <p:nvPr/>
        </p:nvSpPr>
        <p:spPr>
          <a:xfrm>
            <a:off x="1214884" y="3552825"/>
            <a:ext cx="2399258" cy="3658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UDC Contract Extension and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Supply Chain Stability</a:t>
            </a:r>
            <a:endParaRPr lang="en-US" sz="1200" dirty="0"/>
          </a:p>
        </p:txBody>
      </p:sp>
      <p:sp>
        <p:nvSpPr>
          <p:cNvPr id="19" name="Text 8"/>
          <p:cNvSpPr/>
          <p:nvPr/>
        </p:nvSpPr>
        <p:spPr>
          <a:xfrm>
            <a:off x="3580805" y="2228850"/>
            <a:ext cx="2105918" cy="3658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UDC Contract Extension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and Supply Stability</a:t>
            </a:r>
            <a:endParaRPr lang="en-US" sz="1200" dirty="0"/>
          </a:p>
        </p:txBody>
      </p:sp>
      <p:sp>
        <p:nvSpPr>
          <p:cNvPr id="20" name="Text 9"/>
          <p:cNvSpPr/>
          <p:nvPr/>
        </p:nvSpPr>
        <p:spPr>
          <a:xfrm>
            <a:off x="6533555" y="2228850"/>
            <a:ext cx="2105918" cy="3658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Cost Structure Changes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 Hybrid Structures</a:t>
            </a:r>
            <a:endParaRPr lang="en-US" sz="1200" dirty="0"/>
          </a:p>
        </p:txBody>
      </p:sp>
      <p:sp>
        <p:nvSpPr>
          <p:cNvPr id="21" name="Text 10"/>
          <p:cNvSpPr/>
          <p:nvPr/>
        </p:nvSpPr>
        <p:spPr>
          <a:xfrm>
            <a:off x="3672334" y="2676525"/>
            <a:ext cx="198015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2-Stack Tandem 도입 시</a:t>
            </a:r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증착 공정 복잡도 증가로</a:t>
            </a:r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원가 상승 예상</a:t>
            </a:r>
            <a:endParaRPr lang="en-US" sz="1200" dirty="0"/>
          </a:p>
        </p:txBody>
      </p:sp>
      <p:sp>
        <p:nvSpPr>
          <p:cNvPr id="22" name="Text 11"/>
          <p:cNvSpPr/>
          <p:nvPr/>
        </p:nvSpPr>
        <p:spPr>
          <a:xfrm>
            <a:off x="1351508" y="4000500"/>
            <a:ext cx="2116336" cy="5487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라이선스 확보로 Blue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인광 소재 조달 리스크 완화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원가 예측 가능성 향상</a:t>
            </a:r>
            <a:endParaRPr lang="en-US" sz="1200" dirty="0"/>
          </a:p>
        </p:txBody>
      </p:sp>
      <p:sp>
        <p:nvSpPr>
          <p:cNvPr id="23" name="Text 12"/>
          <p:cNvSpPr/>
          <p:nvPr/>
        </p:nvSpPr>
        <p:spPr>
          <a:xfrm>
            <a:off x="3423642" y="4886325"/>
            <a:ext cx="2420243" cy="3658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Mass Production Transition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Difficulty for PSF/PEP</a:t>
            </a:r>
            <a:endParaRPr lang="en-US" sz="1200" dirty="0"/>
          </a:p>
        </p:txBody>
      </p:sp>
      <p:sp>
        <p:nvSpPr>
          <p:cNvPr id="24" name="Text 13"/>
          <p:cNvSpPr/>
          <p:nvPr/>
        </p:nvSpPr>
        <p:spPr>
          <a:xfrm>
            <a:off x="3807619" y="5324475"/>
            <a:ext cx="172878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단계 성과의 공정</a:t>
            </a:r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재현성·수율 확보까지</a:t>
            </a:r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투자 및 시간 필요</a:t>
            </a:r>
            <a:endParaRPr lang="en-US" sz="1200" dirty="0"/>
          </a:p>
        </p:txBody>
      </p:sp>
      <p:sp>
        <p:nvSpPr>
          <p:cNvPr id="25" name="Text 14"/>
          <p:cNvSpPr/>
          <p:nvPr/>
        </p:nvSpPr>
        <p:spPr>
          <a:xfrm>
            <a:off x="8658671" y="3552825"/>
            <a:ext cx="2294483" cy="3658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Supply Chain Redesign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 Application Expansion</a:t>
            </a:r>
            <a:endParaRPr lang="en-US" sz="1200" dirty="0"/>
          </a:p>
        </p:txBody>
      </p:sp>
      <p:sp>
        <p:nvSpPr>
          <p:cNvPr id="26" name="Text 15"/>
          <p:cNvSpPr/>
          <p:nvPr/>
        </p:nvSpPr>
        <p:spPr>
          <a:xfrm>
            <a:off x="6533555" y="2676525"/>
            <a:ext cx="210591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LGD 하이브리드 경로 선행</a:t>
            </a:r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검증으로 산상·BOE 대비</a:t>
            </a:r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 차별화 창출 가능</a:t>
            </a:r>
            <a:endParaRPr lang="en-US" sz="1200" dirty="0"/>
          </a:p>
        </p:txBody>
      </p:sp>
      <p:sp>
        <p:nvSpPr>
          <p:cNvPr id="27" name="Text 16"/>
          <p:cNvSpPr/>
          <p:nvPr/>
        </p:nvSpPr>
        <p:spPr>
          <a:xfrm>
            <a:off x="8793956" y="4000500"/>
            <a:ext cx="2043113" cy="5487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IT→TV 대면적 확장 시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소재 물량·공정 장비 공급망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전반 재설계 필요</a:t>
            </a:r>
            <a:endParaRPr lang="en-US" sz="1200" dirty="0"/>
          </a:p>
        </p:txBody>
      </p:sp>
      <p:sp>
        <p:nvSpPr>
          <p:cNvPr id="28" name="Text 17"/>
          <p:cNvSpPr/>
          <p:nvPr/>
        </p:nvSpPr>
        <p:spPr>
          <a:xfrm>
            <a:off x="6668393" y="4886325"/>
            <a:ext cx="1864965" cy="3658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Prioritizing Next-Gen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Scouting</a:t>
            </a:r>
            <a:endParaRPr lang="en-US" sz="1200" dirty="0"/>
          </a:p>
        </p:txBody>
      </p:sp>
      <p:sp>
        <p:nvSpPr>
          <p:cNvPr id="29" name="Text 18"/>
          <p:cNvSpPr/>
          <p:nvPr/>
        </p:nvSpPr>
        <p:spPr>
          <a:xfrm>
            <a:off x="6460331" y="5324475"/>
            <a:ext cx="225266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PSF·PEP 원천 IP 보유 기업·</a:t>
            </a:r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연구소 조기 파악 및 협력</a:t>
            </a:r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협력 가능성 선제 검토 권장</a:t>
            </a:r>
            <a:endParaRPr lang="en-US" sz="1200" dirty="0"/>
          </a:p>
        </p:txBody>
      </p:sp>
      <p:sp>
        <p:nvSpPr>
          <p:cNvPr id="30" name="Text 19"/>
          <p:cNvSpPr/>
          <p:nvPr/>
        </p:nvSpPr>
        <p:spPr>
          <a:xfrm>
            <a:off x="5813524" y="6705600"/>
            <a:ext cx="55527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25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671" y="3278088"/>
            <a:ext cx="780157" cy="72687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5773" y="3278088"/>
            <a:ext cx="767953" cy="72003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9357" y="3223171"/>
            <a:ext cx="707082" cy="836563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38125" y="142875"/>
            <a:ext cx="6995160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리더를 위한 향후 대응 과제</a:t>
            </a:r>
            <a:endParaRPr lang="en-US" sz="2550" dirty="0"/>
          </a:p>
        </p:txBody>
      </p:sp>
      <p:sp>
        <p:nvSpPr>
          <p:cNvPr id="8" name="Text 1"/>
          <p:cNvSpPr/>
          <p:nvPr/>
        </p:nvSpPr>
        <p:spPr>
          <a:xfrm>
            <a:off x="3613696" y="1628775"/>
            <a:ext cx="4945261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99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전략적 핵심 추진 과제 (Strategic Key Actions)</a:t>
            </a:r>
            <a:endParaRPr lang="en-US" sz="1650" dirty="0"/>
          </a:p>
        </p:txBody>
      </p:sp>
      <p:sp>
        <p:nvSpPr>
          <p:cNvPr id="9" name="Text 2"/>
          <p:cNvSpPr/>
          <p:nvPr/>
        </p:nvSpPr>
        <p:spPr>
          <a:xfrm>
            <a:off x="361950" y="781050"/>
            <a:ext cx="3017520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99"/>
              </a:lnSpc>
              <a:buNone/>
            </a:pPr>
            <a:r>
              <a:rPr lang="en-US" sz="165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 Actions</a:t>
            </a:r>
            <a:endParaRPr lang="en-US" sz="1650" dirty="0"/>
          </a:p>
        </p:txBody>
      </p:sp>
      <p:sp>
        <p:nvSpPr>
          <p:cNvPr id="10" name="Text 3"/>
          <p:cNvSpPr/>
          <p:nvPr/>
        </p:nvSpPr>
        <p:spPr>
          <a:xfrm>
            <a:off x="1572071" y="2381250"/>
            <a:ext cx="1456283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6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시장 및 경쟁 대응</a:t>
            </a:r>
            <a:endParaRPr lang="en-US" sz="1200" dirty="0"/>
          </a:p>
        </p:txBody>
      </p:sp>
      <p:sp>
        <p:nvSpPr>
          <p:cNvPr id="11" name="Text 4"/>
          <p:cNvSpPr/>
          <p:nvPr/>
        </p:nvSpPr>
        <p:spPr>
          <a:xfrm>
            <a:off x="5203031" y="2381250"/>
            <a:ext cx="1833563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6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기술 및 로드맵 고도화</a:t>
            </a:r>
            <a:endParaRPr lang="en-US" sz="1200" dirty="0"/>
          </a:p>
        </p:txBody>
      </p:sp>
      <p:sp>
        <p:nvSpPr>
          <p:cNvPr id="12" name="Text 5"/>
          <p:cNvSpPr/>
          <p:nvPr/>
        </p:nvSpPr>
        <p:spPr>
          <a:xfrm>
            <a:off x="8993981" y="2381250"/>
            <a:ext cx="1833563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6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데이터 및 공급망 관리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690563" y="4533900"/>
            <a:ext cx="3248025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42"/>
              </a:lnSpc>
              <a:buNone/>
            </a:pPr>
            <a:r>
              <a:rPr lang="en-US" sz="13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하이브리드 제품 초기 시장 반응 모니터링</a:t>
            </a:r>
            <a:endParaRPr lang="en-US" sz="1350" dirty="0"/>
          </a:p>
        </p:txBody>
      </p:sp>
      <p:sp>
        <p:nvSpPr>
          <p:cNvPr id="14" name="Text 7"/>
          <p:cNvSpPr/>
          <p:nvPr/>
        </p:nvSpPr>
        <p:spPr>
          <a:xfrm>
            <a:off x="4334321" y="4533900"/>
            <a:ext cx="3551783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42"/>
              </a:lnSpc>
              <a:buNone/>
            </a:pPr>
            <a:r>
              <a:rPr lang="en-US" sz="13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PSF/PEP 양산 이식 가능성 심층 검토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8259961" y="4533900"/>
            <a:ext cx="2891730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42"/>
              </a:lnSpc>
              <a:buNone/>
            </a:pPr>
            <a:r>
              <a:rPr lang="en-US" sz="13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정량적 수명 데이터 확보 계획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810518" y="5257800"/>
            <a:ext cx="2912715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42"/>
              </a:lnSpc>
              <a:buNone/>
            </a:pPr>
            <a:r>
              <a:rPr lang="en-US" sz="13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경쟁사 대응 시나리오 수립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4472434" y="5257800"/>
            <a:ext cx="3237458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42"/>
              </a:lnSpc>
              <a:buNone/>
            </a:pPr>
            <a:r>
              <a:rPr lang="en-US" sz="13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로드맵 업데이트 일정 확정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8115746" y="5257800"/>
            <a:ext cx="3551783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42"/>
              </a:lnSpc>
              <a:buNone/>
            </a:pPr>
            <a:r>
              <a:rPr lang="en-US" sz="13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UDC 공급망 연계 소재 인증 일정 확인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466725" y="6496050"/>
            <a:ext cx="2057400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72"/>
              </a:lnSpc>
              <a:buNone/>
            </a:pPr>
            <a:r>
              <a:rPr lang="en-US" sz="1350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5876925" y="6743700"/>
            <a:ext cx="419100" cy="617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487"/>
              </a:lnSpc>
              <a:buNone/>
            </a:pPr>
            <a:r>
              <a:rPr lang="en-US" sz="8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380" y="3737521"/>
            <a:ext cx="426690" cy="41820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2055" y="3716982"/>
            <a:ext cx="353467" cy="459432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5177" y="1947565"/>
            <a:ext cx="451098" cy="40451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3388" y="1940719"/>
            <a:ext cx="451098" cy="418207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28600" y="123825"/>
            <a:ext cx="11963400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및 핵심 권고 사항 / Closing Recommendation</a:t>
            </a:r>
            <a:endParaRPr lang="en-US" sz="2550" dirty="0"/>
          </a:p>
        </p:txBody>
      </p:sp>
      <p:sp>
        <p:nvSpPr>
          <p:cNvPr id="9" name="Text 1"/>
          <p:cNvSpPr/>
          <p:nvPr/>
        </p:nvSpPr>
        <p:spPr>
          <a:xfrm>
            <a:off x="352425" y="742950"/>
            <a:ext cx="475488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전략 및 향후 과제 요약</a:t>
            </a:r>
            <a:endParaRPr lang="en-US" sz="1950" dirty="0"/>
          </a:p>
        </p:txBody>
      </p:sp>
      <p:sp>
        <p:nvSpPr>
          <p:cNvPr id="10" name="Text 2"/>
          <p:cNvSpPr/>
          <p:nvPr/>
        </p:nvSpPr>
        <p:spPr>
          <a:xfrm>
            <a:off x="838200" y="2009775"/>
            <a:ext cx="5029200" cy="6935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핵심 Thesis 재확인: 하이브리드·UDC</a:t>
            </a:r>
            <a:pPr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로드맵·PSF/PEP 신호의 복합적 결합</a:t>
            </a:r>
            <a:endParaRPr lang="en-US" sz="1950" dirty="0"/>
          </a:p>
        </p:txBody>
      </p:sp>
      <p:sp>
        <p:nvSpPr>
          <p:cNvPr id="11" name="Text 3"/>
          <p:cNvSpPr/>
          <p:nvPr/>
        </p:nvSpPr>
        <p:spPr>
          <a:xfrm>
            <a:off x="838200" y="2933700"/>
            <a:ext cx="5940623" cy="6935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사실과 해석의 철저한 분리 및 로드맵 업데이트</a:t>
            </a:r>
            <a:pPr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착수</a:t>
            </a:r>
            <a:endParaRPr lang="en-US" sz="1950" dirty="0"/>
          </a:p>
        </p:txBody>
      </p:sp>
      <p:sp>
        <p:nvSpPr>
          <p:cNvPr id="12" name="Text 4"/>
          <p:cNvSpPr/>
          <p:nvPr/>
        </p:nvSpPr>
        <p:spPr>
          <a:xfrm>
            <a:off x="838200" y="3876675"/>
            <a:ext cx="6171158" cy="6935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단기 하이브리드 경로와 장기 Pure-Blue 연구의</a:t>
            </a:r>
            <a:pPr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병행 모니터링</a:t>
            </a:r>
            <a:endParaRPr lang="en-US" sz="1950" dirty="0"/>
          </a:p>
        </p:txBody>
      </p:sp>
      <p:sp>
        <p:nvSpPr>
          <p:cNvPr id="13" name="Text 5"/>
          <p:cNvSpPr/>
          <p:nvPr/>
        </p:nvSpPr>
        <p:spPr>
          <a:xfrm>
            <a:off x="838200" y="4800600"/>
            <a:ext cx="10698480" cy="3467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DW '26 현장 실사를 통한 수명 및 양산성 교차 검증</a:t>
            </a:r>
            <a:endParaRPr lang="en-US" sz="1950" dirty="0"/>
          </a:p>
        </p:txBody>
      </p:sp>
      <p:sp>
        <p:nvSpPr>
          <p:cNvPr id="14" name="Text 6"/>
          <p:cNvSpPr/>
          <p:nvPr/>
        </p:nvSpPr>
        <p:spPr>
          <a:xfrm>
            <a:off x="6773168" y="2428875"/>
            <a:ext cx="2074515" cy="3467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하이브리드 상용화</a:t>
            </a:r>
            <a:endParaRPr lang="en-US" sz="1950" dirty="0"/>
          </a:p>
        </p:txBody>
      </p:sp>
      <p:sp>
        <p:nvSpPr>
          <p:cNvPr id="15" name="Text 7"/>
          <p:cNvSpPr/>
          <p:nvPr/>
        </p:nvSpPr>
        <p:spPr>
          <a:xfrm>
            <a:off x="9568309" y="2428875"/>
            <a:ext cx="1351508" cy="3467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UDC 로드맵</a:t>
            </a:r>
            <a:endParaRPr lang="en-US" sz="1950" dirty="0"/>
          </a:p>
        </p:txBody>
      </p:sp>
      <p:sp>
        <p:nvSpPr>
          <p:cNvPr id="16" name="Text 8"/>
          <p:cNvSpPr/>
          <p:nvPr/>
        </p:nvSpPr>
        <p:spPr>
          <a:xfrm>
            <a:off x="6908453" y="4238625"/>
            <a:ext cx="1822996" cy="3467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PSF/PEP 연구</a:t>
            </a:r>
            <a:endParaRPr lang="en-US" sz="1950" dirty="0"/>
          </a:p>
        </p:txBody>
      </p:sp>
      <p:sp>
        <p:nvSpPr>
          <p:cNvPr id="17" name="Text 9"/>
          <p:cNvSpPr/>
          <p:nvPr/>
        </p:nvSpPr>
        <p:spPr>
          <a:xfrm>
            <a:off x="9211568" y="4238625"/>
            <a:ext cx="2074515" cy="3467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&amp; 불확실성</a:t>
            </a:r>
            <a:endParaRPr lang="en-US" sz="1950" dirty="0"/>
          </a:p>
        </p:txBody>
      </p:sp>
      <p:sp>
        <p:nvSpPr>
          <p:cNvPr id="18" name="Text 10"/>
          <p:cNvSpPr/>
          <p:nvPr/>
        </p:nvSpPr>
        <p:spPr>
          <a:xfrm>
            <a:off x="4469011" y="6162675"/>
            <a:ext cx="3310830" cy="2826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메시지 / Key Takeaways</a:t>
            </a:r>
            <a:endParaRPr lang="en-US" sz="1725" dirty="0"/>
          </a:p>
        </p:txBody>
      </p:sp>
      <p:sp>
        <p:nvSpPr>
          <p:cNvPr id="19" name="Text 11"/>
          <p:cNvSpPr/>
          <p:nvPr/>
        </p:nvSpPr>
        <p:spPr>
          <a:xfrm>
            <a:off x="6810375" y="5362575"/>
            <a:ext cx="5381625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89"/>
              </a:lnSpc>
              <a:buNone/>
            </a:pPr>
            <a:r>
              <a:rPr lang="en-US" sz="1575" b="1" dirty="0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'PSF/PEP 로드맵은 양산성 검증 전까지 Uncertainty 상존</a:t>
            </a:r>
            <a:endParaRPr lang="en-US" sz="1575" dirty="0"/>
          </a:p>
        </p:txBody>
      </p:sp>
      <p:sp>
        <p:nvSpPr>
          <p:cNvPr id="20" name="Text 12"/>
          <p:cNvSpPr/>
          <p:nvPr/>
        </p:nvSpPr>
        <p:spPr>
          <a:xfrm>
            <a:off x="6708874" y="2790825"/>
            <a:ext cx="2231678" cy="8737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LGD 하이브리드 상업적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경로 Focus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(Short-term)</a:t>
            </a:r>
            <a:endParaRPr lang="en-US" sz="1650" dirty="0"/>
          </a:p>
        </p:txBody>
      </p:sp>
      <p:sp>
        <p:nvSpPr>
          <p:cNvPr id="21" name="Text 13"/>
          <p:cNvSpPr/>
          <p:nvPr/>
        </p:nvSpPr>
        <p:spPr>
          <a:xfrm>
            <a:off x="9213056" y="2790825"/>
            <a:ext cx="2043113" cy="8737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UDC 파트너십 시너지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로드맵 신뢰성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(Confidence)</a:t>
            </a:r>
            <a:endParaRPr lang="en-US" sz="1650" dirty="0"/>
          </a:p>
        </p:txBody>
      </p:sp>
      <p:sp>
        <p:nvSpPr>
          <p:cNvPr id="22" name="Text 14"/>
          <p:cNvSpPr/>
          <p:nvPr/>
        </p:nvSpPr>
        <p:spPr>
          <a:xfrm>
            <a:off x="6775103" y="4600575"/>
            <a:ext cx="2032546" cy="8737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Pure-Blue 원천 기술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Progress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(High-potential)</a:t>
            </a:r>
            <a:endParaRPr lang="en-US" sz="1650" dirty="0"/>
          </a:p>
        </p:txBody>
      </p:sp>
      <p:sp>
        <p:nvSpPr>
          <p:cNvPr id="23" name="Text 15"/>
          <p:cNvSpPr/>
          <p:nvPr/>
        </p:nvSpPr>
        <p:spPr>
          <a:xfrm>
            <a:off x="9086255" y="4600575"/>
            <a:ext cx="2315468" cy="4765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수명 및 양산성 검증 과제</a:t>
            </a:r>
            <a:pPr algn="ctr"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(Remaining challenges)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838200" y="5667375"/>
            <a:ext cx="487680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LGD 내부 기술 로드맵 (2026)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5813524" y="6705600"/>
            <a:ext cx="55527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93"/>
              </a:lnSpc>
              <a:buNone/>
            </a:pPr>
            <a:r>
              <a:rPr lang="en-US" sz="7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750" dirty="0"/>
          </a:p>
        </p:txBody>
      </p:sp>
      <p:sp>
        <p:nvSpPr>
          <p:cNvPr id="26" name="Text 18"/>
          <p:cNvSpPr/>
          <p:nvPr/>
        </p:nvSpPr>
        <p:spPr>
          <a:xfrm>
            <a:off x="466725" y="6467475"/>
            <a:ext cx="1828800" cy="1509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2026-04-13T15:54:09Z</dcterms:created>
  <dcterms:modified xsi:type="dcterms:W3CDTF">2026-04-13T15:54:09Z</dcterms:modified>
</cp:coreProperties>
</file>