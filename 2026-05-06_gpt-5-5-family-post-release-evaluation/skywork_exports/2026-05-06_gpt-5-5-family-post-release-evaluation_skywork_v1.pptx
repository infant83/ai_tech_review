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image" Target="../media/image-5-31.png"/><Relationship Id="rId32" Type="http://schemas.openxmlformats.org/officeDocument/2006/relationships/image" Target="../media/image-5-32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4900" y="1133475"/>
            <a:ext cx="9509760" cy="58980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644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 기술동향 리포트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1266825" y="2238375"/>
            <a:ext cx="564642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GPT-5.5 모델 라인업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381750" y="1990725"/>
            <a:ext cx="581025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Hallucination 완화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266825" y="3343275"/>
            <a:ext cx="39052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에이전트 실행 능력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6381750" y="3343275"/>
            <a:ext cx="39052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비용 산정 주의사항</a:t>
            </a:r>
            <a:endParaRPr lang="en-US" sz="1875" dirty="0"/>
          </a:p>
        </p:txBody>
      </p:sp>
      <p:sp>
        <p:nvSpPr>
          <p:cNvPr id="8" name="Text 5"/>
          <p:cNvSpPr/>
          <p:nvPr/>
        </p:nvSpPr>
        <p:spPr>
          <a:xfrm>
            <a:off x="1266825" y="4772025"/>
            <a:ext cx="39052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벤치마크 결과 해석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6381750" y="4772025"/>
            <a:ext cx="465582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 도입 전 거버넌스 권장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485900" y="2628900"/>
            <a:ext cx="2011680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 평가 대상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629400" y="2400300"/>
            <a:ext cx="2891730" cy="6090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개선되었으나 완전 해소 아님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 검증 필요</a:t>
            </a:r>
            <a:endParaRPr lang="en-US" sz="1725" dirty="0"/>
          </a:p>
        </p:txBody>
      </p:sp>
      <p:sp>
        <p:nvSpPr>
          <p:cNvPr id="12" name="Text 9"/>
          <p:cNvSpPr/>
          <p:nvPr/>
        </p:nvSpPr>
        <p:spPr>
          <a:xfrm>
            <a:off x="1485900" y="3752850"/>
            <a:ext cx="3268980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유의미한 성능 개선 확인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629400" y="3752850"/>
            <a:ext cx="3436590" cy="6090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토큰 단가가 아닌 작업 단위 총비용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xhigh 설정 오해 금지</a:t>
            </a:r>
            <a:endParaRPr lang="en-US" sz="1725" dirty="0"/>
          </a:p>
        </p:txBody>
      </p:sp>
      <p:sp>
        <p:nvSpPr>
          <p:cNvPr id="14" name="Text 11"/>
          <p:cNvSpPr/>
          <p:nvPr/>
        </p:nvSpPr>
        <p:spPr>
          <a:xfrm>
            <a:off x="1485900" y="5467350"/>
            <a:ext cx="2263140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항목별 선두 상이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629400" y="5200650"/>
            <a:ext cx="2514600" cy="55602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기록·검증·도구 범위·승인</a:t>
            </a:r>
            <a:pPr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 체계 선행 구축 필수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3886200" y="2428875"/>
            <a:ext cx="2147888" cy="9085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85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'Thinking</a:t>
            </a:r>
            <a:pPr indent="0" marL="0">
              <a:lnSpc>
                <a:spcPts val="2385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85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</a:t>
            </a:r>
            <a:pPr indent="0" marL="0">
              <a:lnSpc>
                <a:spcPts val="2385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85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Instant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886200" y="3343275"/>
            <a:ext cx="1644848" cy="3028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85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200150" y="6086475"/>
            <a:ext cx="5562600" cy="3028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85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김현중 with Codex Agent | AI Governance Team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982521" y="2038350"/>
            <a:ext cx="408533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744843" y="3381375"/>
            <a:ext cx="398115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61925" y="6467475"/>
            <a:ext cx="2286000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813971" y="6734175"/>
            <a:ext cx="544711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43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2026-05-07 | PUBLIC |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557" y="4793605"/>
            <a:ext cx="621655" cy="63088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6557" y="3312319"/>
            <a:ext cx="609600" cy="61719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353" y="1865263"/>
            <a:ext cx="646063" cy="61719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694" y="4793605"/>
            <a:ext cx="633859" cy="624036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694" y="3298627"/>
            <a:ext cx="633859" cy="6445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157" y="1844725"/>
            <a:ext cx="572988" cy="569119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28600" y="142875"/>
            <a:ext cx="1049274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 (Executive Takeaways)</a:t>
            </a:r>
            <a:endParaRPr lang="en-US" sz="2550" dirty="0"/>
          </a:p>
        </p:txBody>
      </p:sp>
      <p:sp>
        <p:nvSpPr>
          <p:cNvPr id="11" name="Text 1"/>
          <p:cNvSpPr/>
          <p:nvPr/>
        </p:nvSpPr>
        <p:spPr>
          <a:xfrm>
            <a:off x="1571625" y="2085975"/>
            <a:ext cx="425958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 출시 확정</a:t>
            </a:r>
            <a:endParaRPr lang="en-US" sz="1950" dirty="0"/>
          </a:p>
        </p:txBody>
      </p:sp>
      <p:sp>
        <p:nvSpPr>
          <p:cNvPr id="12" name="Text 2"/>
          <p:cNvSpPr/>
          <p:nvPr/>
        </p:nvSpPr>
        <p:spPr>
          <a:xfrm>
            <a:off x="1571625" y="3552825"/>
            <a:ext cx="465582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3종 모델은 별개 평가 대상</a:t>
            </a:r>
            <a:endParaRPr lang="en-US" sz="1950" dirty="0"/>
          </a:p>
        </p:txBody>
      </p:sp>
      <p:sp>
        <p:nvSpPr>
          <p:cNvPr id="13" name="Text 3"/>
          <p:cNvSpPr/>
          <p:nvPr/>
        </p:nvSpPr>
        <p:spPr>
          <a:xfrm>
            <a:off x="1571625" y="5019675"/>
            <a:ext cx="3840480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0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이전트 실행 능력 개선</a:t>
            </a:r>
            <a:endParaRPr lang="en-US" sz="2100" dirty="0"/>
          </a:p>
        </p:txBody>
      </p:sp>
      <p:sp>
        <p:nvSpPr>
          <p:cNvPr id="14" name="Text 4"/>
          <p:cNvSpPr/>
          <p:nvPr/>
        </p:nvSpPr>
        <p:spPr>
          <a:xfrm>
            <a:off x="7058025" y="2085975"/>
            <a:ext cx="5133975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벤치마크 선두는 측정 대상에 따라 다름</a:t>
            </a:r>
            <a:endParaRPr lang="en-US" sz="1950" dirty="0"/>
          </a:p>
        </p:txBody>
      </p:sp>
      <p:sp>
        <p:nvSpPr>
          <p:cNvPr id="15" name="Text 5"/>
          <p:cNvSpPr/>
          <p:nvPr/>
        </p:nvSpPr>
        <p:spPr>
          <a:xfrm>
            <a:off x="7058025" y="3552825"/>
            <a:ext cx="5133975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사실성 일부 개선 — 완전 해소 아님</a:t>
            </a:r>
            <a:endParaRPr lang="en-US" sz="1950" dirty="0"/>
          </a:p>
        </p:txBody>
      </p:sp>
      <p:sp>
        <p:nvSpPr>
          <p:cNvPr id="16" name="Text 6"/>
          <p:cNvSpPr/>
          <p:nvPr/>
        </p:nvSpPr>
        <p:spPr>
          <a:xfrm>
            <a:off x="7058025" y="5019675"/>
            <a:ext cx="5133975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불확실 시 답변 보류 능력 별도 검증 필요</a:t>
            </a:r>
            <a:endParaRPr lang="en-US" sz="1950" dirty="0"/>
          </a:p>
        </p:txBody>
      </p:sp>
      <p:sp>
        <p:nvSpPr>
          <p:cNvPr id="17" name="Text 7"/>
          <p:cNvSpPr/>
          <p:nvPr/>
        </p:nvSpPr>
        <p:spPr>
          <a:xfrm>
            <a:off x="1668661" y="1724025"/>
            <a:ext cx="37713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Fact</a:t>
            </a:r>
            <a:endParaRPr lang="en-US" sz="1350" dirty="0"/>
          </a:p>
        </p:txBody>
      </p:sp>
      <p:sp>
        <p:nvSpPr>
          <p:cNvPr id="18" name="Text 8"/>
          <p:cNvSpPr/>
          <p:nvPr/>
        </p:nvSpPr>
        <p:spPr>
          <a:xfrm>
            <a:off x="1668661" y="3209925"/>
            <a:ext cx="37713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Fact</a:t>
            </a:r>
            <a:endParaRPr lang="en-US" sz="1350" dirty="0"/>
          </a:p>
        </p:txBody>
      </p:sp>
      <p:sp>
        <p:nvSpPr>
          <p:cNvPr id="19" name="Text 9"/>
          <p:cNvSpPr/>
          <p:nvPr/>
        </p:nvSpPr>
        <p:spPr>
          <a:xfrm>
            <a:off x="1649164" y="4676775"/>
            <a:ext cx="806648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Inference</a:t>
            </a:r>
            <a:endParaRPr lang="en-US" sz="1275" dirty="0"/>
          </a:p>
        </p:txBody>
      </p:sp>
      <p:sp>
        <p:nvSpPr>
          <p:cNvPr id="20" name="Text 10"/>
          <p:cNvSpPr/>
          <p:nvPr/>
        </p:nvSpPr>
        <p:spPr>
          <a:xfrm>
            <a:off x="7131844" y="1724025"/>
            <a:ext cx="890588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Inference</a:t>
            </a:r>
            <a:endParaRPr lang="en-US" sz="1425" dirty="0"/>
          </a:p>
        </p:txBody>
      </p:sp>
      <p:sp>
        <p:nvSpPr>
          <p:cNvPr id="21" name="Text 11"/>
          <p:cNvSpPr/>
          <p:nvPr/>
        </p:nvSpPr>
        <p:spPr>
          <a:xfrm>
            <a:off x="7138988" y="3209925"/>
            <a:ext cx="733425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Caution</a:t>
            </a:r>
            <a:endParaRPr lang="en-US" sz="1350" dirty="0"/>
          </a:p>
        </p:txBody>
      </p:sp>
      <p:sp>
        <p:nvSpPr>
          <p:cNvPr id="22" name="Text 12"/>
          <p:cNvSpPr/>
          <p:nvPr/>
        </p:nvSpPr>
        <p:spPr>
          <a:xfrm>
            <a:off x="7138988" y="4676775"/>
            <a:ext cx="733425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Caution</a:t>
            </a:r>
            <a:endParaRPr lang="en-US" sz="1350" dirty="0"/>
          </a:p>
        </p:txBody>
      </p:sp>
      <p:sp>
        <p:nvSpPr>
          <p:cNvPr id="23" name="Text 13"/>
          <p:cNvSpPr/>
          <p:nvPr/>
        </p:nvSpPr>
        <p:spPr>
          <a:xfrm>
            <a:off x="1571625" y="2486025"/>
            <a:ext cx="10620375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Thinking 2026-04-23 / Instant 2026-05-05 공식 출시</a:t>
            </a:r>
            <a:endParaRPr lang="en-US" sz="1350" dirty="0"/>
          </a:p>
        </p:txBody>
      </p:sp>
      <p:sp>
        <p:nvSpPr>
          <p:cNvPr id="24" name="Text 14"/>
          <p:cNvSpPr/>
          <p:nvPr/>
        </p:nvSpPr>
        <p:spPr>
          <a:xfrm>
            <a:off x="1571625" y="3952875"/>
            <a:ext cx="6995160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Thinking·Pro·Instant를 같은 증거로 비교 금지</a:t>
            </a:r>
            <a:endParaRPr lang="en-US" sz="1350" dirty="0"/>
          </a:p>
        </p:txBody>
      </p:sp>
      <p:sp>
        <p:nvSpPr>
          <p:cNvPr id="25" name="Text 15"/>
          <p:cNvSpPr/>
          <p:nvPr/>
        </p:nvSpPr>
        <p:spPr>
          <a:xfrm>
            <a:off x="1571625" y="5419725"/>
            <a:ext cx="6732270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53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코드·도구 사용·긴 문맥 처리에서 가장 선택력 있는 증거</a:t>
            </a:r>
            <a:endParaRPr lang="en-US" sz="1425" dirty="0"/>
          </a:p>
        </p:txBody>
      </p:sp>
      <p:sp>
        <p:nvSpPr>
          <p:cNvPr id="26" name="Text 16"/>
          <p:cNvSpPr/>
          <p:nvPr/>
        </p:nvSpPr>
        <p:spPr>
          <a:xfrm>
            <a:off x="7058025" y="2486025"/>
            <a:ext cx="5133975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SWE-Bench Pro-MCP Atlas에서는 Claude-Gemini가 앞섬</a:t>
            </a:r>
            <a:endParaRPr lang="en-US" sz="1350" dirty="0"/>
          </a:p>
        </p:txBody>
      </p:sp>
      <p:sp>
        <p:nvSpPr>
          <p:cNvPr id="27" name="Text 17"/>
          <p:cNvSpPr/>
          <p:nvPr/>
        </p:nvSpPr>
        <p:spPr>
          <a:xfrm>
            <a:off x="7058025" y="3952875"/>
            <a:ext cx="5133975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53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허위 주장 감소 확인, 그러나 내부 평가 기준임</a:t>
            </a:r>
            <a:endParaRPr lang="en-US" sz="1425" dirty="0"/>
          </a:p>
        </p:txBody>
      </p:sp>
      <p:sp>
        <p:nvSpPr>
          <p:cNvPr id="28" name="Text 18"/>
          <p:cNvSpPr/>
          <p:nvPr/>
        </p:nvSpPr>
        <p:spPr>
          <a:xfrm>
            <a:off x="7058025" y="5419725"/>
            <a:ext cx="5133975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AA-Omniscience: Hallucination 86% — 내부 검증 필수</a:t>
            </a:r>
            <a:endParaRPr lang="en-US" sz="1350" dirty="0"/>
          </a:p>
        </p:txBody>
      </p:sp>
      <p:sp>
        <p:nvSpPr>
          <p:cNvPr id="29" name="Text 19"/>
          <p:cNvSpPr/>
          <p:nvPr/>
        </p:nvSpPr>
        <p:spPr>
          <a:xfrm>
            <a:off x="466725" y="6467475"/>
            <a:ext cx="2171700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4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298" y="1666429"/>
            <a:ext cx="1267867" cy="113154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0659" y="1645890"/>
            <a:ext cx="1158180" cy="117946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8965" y="1639044"/>
            <a:ext cx="1097161" cy="1186309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38125" y="133350"/>
            <a:ext cx="8549640" cy="4177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89"/>
              </a:lnSpc>
              <a:buNone/>
            </a:pPr>
            <a:r>
              <a:rPr lang="en-US" sz="255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계열 모델 구분 (Variant Map)</a:t>
            </a:r>
            <a:endParaRPr lang="en-US" sz="2550" dirty="0"/>
          </a:p>
        </p:txBody>
      </p:sp>
      <p:sp>
        <p:nvSpPr>
          <p:cNvPr id="8" name="Text 1"/>
          <p:cNvSpPr/>
          <p:nvPr/>
        </p:nvSpPr>
        <p:spPr>
          <a:xfrm>
            <a:off x="978694" y="2971800"/>
            <a:ext cx="256698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806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 Thinking</a:t>
            </a:r>
            <a:endParaRPr lang="en-US" sz="2175" dirty="0"/>
          </a:p>
        </p:txBody>
      </p:sp>
      <p:sp>
        <p:nvSpPr>
          <p:cNvPr id="9" name="Text 2"/>
          <p:cNvSpPr/>
          <p:nvPr/>
        </p:nvSpPr>
        <p:spPr>
          <a:xfrm>
            <a:off x="4557713" y="2971800"/>
            <a:ext cx="1781175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806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 Pro</a:t>
            </a:r>
            <a:endParaRPr lang="en-US" sz="2175" dirty="0"/>
          </a:p>
        </p:txBody>
      </p:sp>
      <p:sp>
        <p:nvSpPr>
          <p:cNvPr id="10" name="Text 3"/>
          <p:cNvSpPr/>
          <p:nvPr/>
        </p:nvSpPr>
        <p:spPr>
          <a:xfrm>
            <a:off x="8811964" y="2971800"/>
            <a:ext cx="227349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806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 Instant</a:t>
            </a:r>
            <a:endParaRPr lang="en-US" sz="2175" dirty="0"/>
          </a:p>
        </p:txBody>
      </p:sp>
      <p:sp>
        <p:nvSpPr>
          <p:cNvPr id="11" name="Text 4"/>
          <p:cNvSpPr/>
          <p:nvPr/>
        </p:nvSpPr>
        <p:spPr>
          <a:xfrm>
            <a:off x="323850" y="742950"/>
            <a:ext cx="871728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 제품군 주요 모델 및 특성 비교 분석</a:t>
            </a:r>
            <a:endParaRPr lang="en-US" sz="1950" dirty="0"/>
          </a:p>
        </p:txBody>
      </p:sp>
      <p:sp>
        <p:nvSpPr>
          <p:cNvPr id="12" name="Text 5"/>
          <p:cNvSpPr/>
          <p:nvPr/>
        </p:nvSpPr>
        <p:spPr>
          <a:xfrm>
            <a:off x="838200" y="3476625"/>
            <a:ext cx="3164086" cy="10447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4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복잡한 다단계 작업 전담</a:t>
            </a:r>
            <a:pPr indent="0" marL="0">
              <a:lnSpc>
                <a:spcPts val="274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4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코드 작성 및 터미널 실행</a:t>
            </a:r>
            <a:pPr indent="0" marL="0">
              <a:lnSpc>
                <a:spcPts val="274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4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웹 탐색 및 긴 문서 조사 수행</a:t>
            </a:r>
            <a:endParaRPr lang="en-US" sz="1725" dirty="0"/>
          </a:p>
        </p:txBody>
      </p:sp>
      <p:sp>
        <p:nvSpPr>
          <p:cNvPr id="13" name="Text 6"/>
          <p:cNvSpPr/>
          <p:nvPr/>
        </p:nvSpPr>
        <p:spPr>
          <a:xfrm>
            <a:off x="4619625" y="3476625"/>
            <a:ext cx="3384203" cy="139303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4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동일 기반 모델에 parallel</a:t>
            </a:r>
            <a:pPr indent="0" marL="0">
              <a:lnSpc>
                <a:spcPts val="274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4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test-time compute 증가 설정</a:t>
            </a:r>
            <a:pPr indent="0" marL="0">
              <a:lnSpc>
                <a:spcPts val="274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4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더 긴 추론 시간으로 높은</a:t>
            </a:r>
            <a:pPr indent="0" marL="0">
              <a:lnSpc>
                <a:spcPts val="274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4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 확보</a:t>
            </a:r>
            <a:endParaRPr lang="en-US" sz="1725" dirty="0"/>
          </a:p>
        </p:txBody>
      </p:sp>
      <p:sp>
        <p:nvSpPr>
          <p:cNvPr id="14" name="Text 7"/>
          <p:cNvSpPr/>
          <p:nvPr/>
        </p:nvSpPr>
        <p:spPr>
          <a:xfrm>
            <a:off x="8534400" y="3476625"/>
            <a:ext cx="3164086" cy="9996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2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ChatGPT 기반 모델 교체</a:t>
            </a:r>
            <a:pPr indent="0" marL="0">
              <a:lnSpc>
                <a:spcPts val="262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62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기존 모델: GPT-5.3 Instant</a:t>
            </a:r>
            <a:pPr indent="0" marL="0">
              <a:lnSpc>
                <a:spcPts val="262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62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GPT-5.4 Instant 공식명 없음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1945928" y="4991100"/>
            <a:ext cx="8319046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 강도 (Inference Intensity): Low → Medium(기본) → High → xhigh(비동기 평가)</a:t>
            </a:r>
            <a:endParaRPr lang="en-US" sz="1575" dirty="0"/>
          </a:p>
        </p:txBody>
      </p:sp>
      <p:sp>
        <p:nvSpPr>
          <p:cNvPr id="16" name="Text 9"/>
          <p:cNvSpPr/>
          <p:nvPr/>
        </p:nvSpPr>
        <p:spPr>
          <a:xfrm>
            <a:off x="2266950" y="5372100"/>
            <a:ext cx="9083873" cy="516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[Caution (Red)] xhigh 환경 점수 ≠ 실제 배포 성능 (연구 환경 vs production 설정 차이 구분 필수)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[Inference (Blue)] 세 모델은 별도 평가 객체 (같은 표 기재되나 동일 증거로 결론 도출 금지)</a:t>
            </a:r>
            <a:endParaRPr lang="en-US" sz="1575" dirty="0"/>
          </a:p>
        </p:txBody>
      </p:sp>
      <p:sp>
        <p:nvSpPr>
          <p:cNvPr id="17" name="Text 10"/>
          <p:cNvSpPr/>
          <p:nvPr/>
        </p:nvSpPr>
        <p:spPr>
          <a:xfrm>
            <a:off x="9582150" y="6200775"/>
            <a:ext cx="2441228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60"/>
              </a:lnSpc>
              <a:buNone/>
            </a:pPr>
            <a:r>
              <a:rPr lang="en-US" sz="97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LGD 내부 기술 분석 자료 (2026-05)</a:t>
            </a:r>
            <a:endParaRPr lang="en-US" sz="975" dirty="0"/>
          </a:p>
        </p:txBody>
      </p:sp>
      <p:sp>
        <p:nvSpPr>
          <p:cNvPr id="18" name="Text 11"/>
          <p:cNvSpPr/>
          <p:nvPr/>
        </p:nvSpPr>
        <p:spPr>
          <a:xfrm>
            <a:off x="5870674" y="6705600"/>
            <a:ext cx="555278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6059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94" y="1570434"/>
            <a:ext cx="11301859" cy="422448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85750" y="142875"/>
            <a:ext cx="9212580" cy="3690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6"/>
              </a:lnSpc>
              <a:buNone/>
            </a:pPr>
            <a:r>
              <a:rPr lang="en-US" sz="23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출시 타임라인 (Release Timeline)</a:t>
            </a:r>
            <a:endParaRPr lang="en-US" sz="2325" dirty="0"/>
          </a:p>
        </p:txBody>
      </p:sp>
      <p:sp>
        <p:nvSpPr>
          <p:cNvPr id="6" name="Text 1"/>
          <p:cNvSpPr/>
          <p:nvPr/>
        </p:nvSpPr>
        <p:spPr>
          <a:xfrm>
            <a:off x="352425" y="742950"/>
            <a:ext cx="455676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 기술동향 리포트</a:t>
            </a:r>
            <a:endParaRPr lang="en-US" sz="17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94" y="1714500"/>
            <a:ext cx="10692259" cy="269512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94" y="1714500"/>
            <a:ext cx="2173932" cy="4381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7627" y="1714500"/>
            <a:ext cx="4569321" cy="4381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6948" y="1714500"/>
            <a:ext cx="1575197" cy="4381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2145" y="1714500"/>
            <a:ext cx="2373809" cy="4381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694" y="2152650"/>
            <a:ext cx="2173932" cy="422821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7627" y="2152650"/>
            <a:ext cx="4569321" cy="42282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39258" y="2267545"/>
            <a:ext cx="1907679" cy="20002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86948" y="2152650"/>
            <a:ext cx="1575197" cy="422821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62145" y="2152650"/>
            <a:ext cx="2373809" cy="422821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3694" y="2575471"/>
            <a:ext cx="2173932" cy="422821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7627" y="2575471"/>
            <a:ext cx="4569321" cy="42282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66927" y="2690366"/>
            <a:ext cx="2052191" cy="20002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86948" y="2575471"/>
            <a:ext cx="1575197" cy="422821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62145" y="2575471"/>
            <a:ext cx="2373809" cy="422821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3694" y="2998291"/>
            <a:ext cx="2173932" cy="470297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917627" y="2998291"/>
            <a:ext cx="4569321" cy="470297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87987" y="3159621"/>
            <a:ext cx="810071" cy="161925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86948" y="2998291"/>
            <a:ext cx="1575197" cy="470297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062145" y="2998291"/>
            <a:ext cx="2373809" cy="470297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3694" y="3468588"/>
            <a:ext cx="2173932" cy="470297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917627" y="3468588"/>
            <a:ext cx="4569321" cy="470297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86948" y="3468588"/>
            <a:ext cx="1575197" cy="470297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062145" y="3468588"/>
            <a:ext cx="2373809" cy="470297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07216" y="3607296"/>
            <a:ext cx="865138" cy="200025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3694" y="3938885"/>
            <a:ext cx="2173932" cy="470743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917627" y="3938885"/>
            <a:ext cx="4569321" cy="470743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486948" y="3938885"/>
            <a:ext cx="1575197" cy="470743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062145" y="3938885"/>
            <a:ext cx="2373809" cy="470743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107216" y="4077742"/>
            <a:ext cx="865138" cy="200025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743694" y="1714500"/>
            <a:ext cx="198343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벤치마크</a:t>
            </a:r>
            <a:endParaRPr lang="en-US" sz="1350" dirty="0"/>
          </a:p>
        </p:txBody>
      </p:sp>
      <p:sp>
        <p:nvSpPr>
          <p:cNvPr id="35" name="Text 1"/>
          <p:cNvSpPr/>
          <p:nvPr/>
        </p:nvSpPr>
        <p:spPr>
          <a:xfrm>
            <a:off x="2917627" y="1714500"/>
            <a:ext cx="437882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GPT-5.5 (연구/최적화)</a:t>
            </a:r>
            <a:endParaRPr lang="en-US" sz="1350" dirty="0"/>
          </a:p>
        </p:txBody>
      </p:sp>
      <p:sp>
        <p:nvSpPr>
          <p:cNvPr id="36" name="Text 2"/>
          <p:cNvSpPr/>
          <p:nvPr/>
        </p:nvSpPr>
        <p:spPr>
          <a:xfrm>
            <a:off x="7486948" y="1714500"/>
            <a:ext cx="138469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GPT-5.4</a:t>
            </a:r>
            <a:endParaRPr lang="en-US" sz="1350" dirty="0"/>
          </a:p>
        </p:txBody>
      </p:sp>
      <p:sp>
        <p:nvSpPr>
          <p:cNvPr id="37" name="Text 3"/>
          <p:cNvSpPr/>
          <p:nvPr/>
        </p:nvSpPr>
        <p:spPr>
          <a:xfrm>
            <a:off x="9062145" y="1714500"/>
            <a:ext cx="218330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Claude Opus 4.7 (경쟁사)</a:t>
            </a:r>
            <a:endParaRPr lang="en-US" sz="1350" dirty="0"/>
          </a:p>
        </p:txBody>
      </p:sp>
      <p:sp>
        <p:nvSpPr>
          <p:cNvPr id="38" name="Text 4"/>
          <p:cNvSpPr/>
          <p:nvPr/>
        </p:nvSpPr>
        <p:spPr>
          <a:xfrm>
            <a:off x="743694" y="2152650"/>
            <a:ext cx="2021532" cy="4228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Terminal-Bench 2.0</a:t>
            </a:r>
            <a:endParaRPr lang="en-US" sz="1350" dirty="0"/>
          </a:p>
        </p:txBody>
      </p:sp>
      <p:sp>
        <p:nvSpPr>
          <p:cNvPr id="39" name="Text 5"/>
          <p:cNvSpPr/>
          <p:nvPr/>
        </p:nvSpPr>
        <p:spPr>
          <a:xfrm>
            <a:off x="3957638" y="2260402"/>
            <a:ext cx="4862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32F2F"/>
                </a:solidFill>
              </a:rPr>
              <a:t>82.7%</a:t>
            </a:r>
            <a:endParaRPr lang="en-US" sz="1350" dirty="0"/>
          </a:p>
        </p:txBody>
      </p:sp>
      <p:sp>
        <p:nvSpPr>
          <p:cNvPr id="40" name="Text 6"/>
          <p:cNvSpPr/>
          <p:nvPr/>
        </p:nvSpPr>
        <p:spPr>
          <a:xfrm>
            <a:off x="4539258" y="2267545"/>
            <a:ext cx="171717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/>
                </a:solidFill>
              </a:rPr>
              <a:t>초록 #2E7D32, 인라인 라운드 필</a:t>
            </a:r>
            <a:endParaRPr lang="en-US" sz="975" dirty="0"/>
          </a:p>
        </p:txBody>
      </p:sp>
      <p:sp>
        <p:nvSpPr>
          <p:cNvPr id="41" name="Text 7"/>
          <p:cNvSpPr/>
          <p:nvPr/>
        </p:nvSpPr>
        <p:spPr>
          <a:xfrm>
            <a:off x="7486948" y="2152650"/>
            <a:ext cx="1422797" cy="4228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75.1%</a:t>
            </a:r>
            <a:endParaRPr lang="en-US" sz="1350" dirty="0"/>
          </a:p>
        </p:txBody>
      </p:sp>
      <p:sp>
        <p:nvSpPr>
          <p:cNvPr id="42" name="Text 8"/>
          <p:cNvSpPr/>
          <p:nvPr/>
        </p:nvSpPr>
        <p:spPr>
          <a:xfrm>
            <a:off x="9062145" y="2152650"/>
            <a:ext cx="2221409" cy="4228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69.4%</a:t>
            </a:r>
            <a:endParaRPr lang="en-US" sz="1350" dirty="0"/>
          </a:p>
        </p:txBody>
      </p:sp>
      <p:sp>
        <p:nvSpPr>
          <p:cNvPr id="43" name="Text 9"/>
          <p:cNvSpPr/>
          <p:nvPr/>
        </p:nvSpPr>
        <p:spPr>
          <a:xfrm>
            <a:off x="743694" y="2575471"/>
            <a:ext cx="2021532" cy="4228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MRCR 512K-1M</a:t>
            </a:r>
            <a:endParaRPr lang="en-US" sz="1350" dirty="0"/>
          </a:p>
        </p:txBody>
      </p:sp>
      <p:sp>
        <p:nvSpPr>
          <p:cNvPr id="44" name="Text 10"/>
          <p:cNvSpPr/>
          <p:nvPr/>
        </p:nvSpPr>
        <p:spPr>
          <a:xfrm>
            <a:off x="3885307" y="2683222"/>
            <a:ext cx="4862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32F2F"/>
                </a:solidFill>
              </a:rPr>
              <a:t>74.0%</a:t>
            </a:r>
            <a:endParaRPr lang="en-US" sz="1350" dirty="0"/>
          </a:p>
        </p:txBody>
      </p:sp>
      <p:sp>
        <p:nvSpPr>
          <p:cNvPr id="45" name="Text 11"/>
          <p:cNvSpPr/>
          <p:nvPr/>
        </p:nvSpPr>
        <p:spPr>
          <a:xfrm>
            <a:off x="4466927" y="2690366"/>
            <a:ext cx="186169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/>
                </a:solidFill>
              </a:rPr>
              <a:t>▶ 파랑 #1565C0, 인라인 라운드 필</a:t>
            </a:r>
            <a:endParaRPr lang="en-US" sz="975" dirty="0"/>
          </a:p>
        </p:txBody>
      </p:sp>
      <p:sp>
        <p:nvSpPr>
          <p:cNvPr id="46" name="Text 12"/>
          <p:cNvSpPr/>
          <p:nvPr/>
        </p:nvSpPr>
        <p:spPr>
          <a:xfrm>
            <a:off x="7486948" y="2575471"/>
            <a:ext cx="1422797" cy="4228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36.6%</a:t>
            </a:r>
            <a:endParaRPr lang="en-US" sz="1350" dirty="0"/>
          </a:p>
        </p:txBody>
      </p:sp>
      <p:sp>
        <p:nvSpPr>
          <p:cNvPr id="47" name="Text 13"/>
          <p:cNvSpPr/>
          <p:nvPr/>
        </p:nvSpPr>
        <p:spPr>
          <a:xfrm>
            <a:off x="9062145" y="2575471"/>
            <a:ext cx="2221409" cy="4228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32.2%</a:t>
            </a:r>
            <a:endParaRPr lang="en-US" sz="1350" dirty="0"/>
          </a:p>
        </p:txBody>
      </p:sp>
      <p:sp>
        <p:nvSpPr>
          <p:cNvPr id="48" name="Text 14"/>
          <p:cNvSpPr/>
          <p:nvPr/>
        </p:nvSpPr>
        <p:spPr>
          <a:xfrm>
            <a:off x="743694" y="2998291"/>
            <a:ext cx="2021532" cy="4702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FrontierMath Tier 4</a:t>
            </a:r>
            <a:endParaRPr lang="en-US" sz="1350" dirty="0"/>
          </a:p>
        </p:txBody>
      </p:sp>
      <p:sp>
        <p:nvSpPr>
          <p:cNvPr id="49" name="Text 15"/>
          <p:cNvSpPr/>
          <p:nvPr/>
        </p:nvSpPr>
        <p:spPr>
          <a:xfrm>
            <a:off x="4506367" y="3133427"/>
            <a:ext cx="4862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35.4%</a:t>
            </a:r>
            <a:endParaRPr lang="en-US" sz="1350" dirty="0"/>
          </a:p>
        </p:txBody>
      </p:sp>
      <p:sp>
        <p:nvSpPr>
          <p:cNvPr id="50" name="Text 16"/>
          <p:cNvSpPr/>
          <p:nvPr/>
        </p:nvSpPr>
        <p:spPr>
          <a:xfrm>
            <a:off x="5087987" y="3159621"/>
            <a:ext cx="61957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/>
                </a:solidFill>
              </a:rPr>
              <a:t>Fact badge</a:t>
            </a:r>
            <a:endParaRPr lang="en-US" sz="975" dirty="0"/>
          </a:p>
        </p:txBody>
      </p:sp>
      <p:sp>
        <p:nvSpPr>
          <p:cNvPr id="51" name="Text 17"/>
          <p:cNvSpPr/>
          <p:nvPr/>
        </p:nvSpPr>
        <p:spPr>
          <a:xfrm>
            <a:off x="7486948" y="2998291"/>
            <a:ext cx="1422797" cy="4702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데이터 없음</a:t>
            </a:r>
            <a:endParaRPr lang="en-US" sz="1350" dirty="0"/>
          </a:p>
        </p:txBody>
      </p:sp>
      <p:sp>
        <p:nvSpPr>
          <p:cNvPr id="52" name="Text 18"/>
          <p:cNvSpPr/>
          <p:nvPr/>
        </p:nvSpPr>
        <p:spPr>
          <a:xfrm>
            <a:off x="9062145" y="2998291"/>
            <a:ext cx="2221409" cy="4702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22.9%</a:t>
            </a:r>
            <a:endParaRPr lang="en-US" sz="1350" dirty="0"/>
          </a:p>
        </p:txBody>
      </p:sp>
      <p:sp>
        <p:nvSpPr>
          <p:cNvPr id="53" name="Text 19"/>
          <p:cNvSpPr/>
          <p:nvPr/>
        </p:nvSpPr>
        <p:spPr>
          <a:xfrm>
            <a:off x="743694" y="3468588"/>
            <a:ext cx="2021532" cy="4702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MCP Atlas (에이전트)</a:t>
            </a:r>
            <a:endParaRPr lang="en-US" sz="1350" dirty="0"/>
          </a:p>
        </p:txBody>
      </p:sp>
      <p:sp>
        <p:nvSpPr>
          <p:cNvPr id="54" name="Text 20"/>
          <p:cNvSpPr/>
          <p:nvPr/>
        </p:nvSpPr>
        <p:spPr>
          <a:xfrm>
            <a:off x="2917627" y="3468588"/>
            <a:ext cx="4416921" cy="4702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58.6%</a:t>
            </a:r>
            <a:endParaRPr lang="en-US" sz="1350" dirty="0"/>
          </a:p>
        </p:txBody>
      </p:sp>
      <p:sp>
        <p:nvSpPr>
          <p:cNvPr id="55" name="Text 21"/>
          <p:cNvSpPr/>
          <p:nvPr/>
        </p:nvSpPr>
        <p:spPr>
          <a:xfrm>
            <a:off x="7486948" y="3468588"/>
            <a:ext cx="1422797" cy="4702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데이터 없음</a:t>
            </a:r>
            <a:endParaRPr lang="en-US" sz="1350" dirty="0"/>
          </a:p>
        </p:txBody>
      </p:sp>
      <p:sp>
        <p:nvSpPr>
          <p:cNvPr id="56" name="Text 22"/>
          <p:cNvSpPr/>
          <p:nvPr/>
        </p:nvSpPr>
        <p:spPr>
          <a:xfrm>
            <a:off x="9525595" y="3600152"/>
            <a:ext cx="4862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79.1%</a:t>
            </a:r>
            <a:endParaRPr lang="en-US" sz="1350" dirty="0"/>
          </a:p>
        </p:txBody>
      </p:sp>
      <p:sp>
        <p:nvSpPr>
          <p:cNvPr id="57" name="Text 23"/>
          <p:cNvSpPr/>
          <p:nvPr/>
        </p:nvSpPr>
        <p:spPr>
          <a:xfrm>
            <a:off x="10107216" y="3607296"/>
            <a:ext cx="6746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/>
                </a:solidFill>
              </a:rPr>
              <a:t>▶ Inference</a:t>
            </a:r>
            <a:endParaRPr lang="en-US" sz="975" dirty="0"/>
          </a:p>
        </p:txBody>
      </p:sp>
      <p:sp>
        <p:nvSpPr>
          <p:cNvPr id="58" name="Text 24"/>
          <p:cNvSpPr/>
          <p:nvPr/>
        </p:nvSpPr>
        <p:spPr>
          <a:xfrm>
            <a:off x="743694" y="3938885"/>
            <a:ext cx="2021532" cy="4707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SWE-Bench Pro (에이전트)</a:t>
            </a:r>
            <a:endParaRPr lang="en-US" sz="1350" dirty="0"/>
          </a:p>
        </p:txBody>
      </p:sp>
      <p:sp>
        <p:nvSpPr>
          <p:cNvPr id="59" name="Text 25"/>
          <p:cNvSpPr/>
          <p:nvPr/>
        </p:nvSpPr>
        <p:spPr>
          <a:xfrm>
            <a:off x="2917627" y="3938885"/>
            <a:ext cx="4416921" cy="4707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58.6%</a:t>
            </a:r>
            <a:endParaRPr lang="en-US" sz="1350" dirty="0"/>
          </a:p>
        </p:txBody>
      </p:sp>
      <p:sp>
        <p:nvSpPr>
          <p:cNvPr id="60" name="Text 26"/>
          <p:cNvSpPr/>
          <p:nvPr/>
        </p:nvSpPr>
        <p:spPr>
          <a:xfrm>
            <a:off x="7486948" y="3938885"/>
            <a:ext cx="1422797" cy="4707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데이터 없음</a:t>
            </a:r>
            <a:endParaRPr lang="en-US" sz="1350" dirty="0"/>
          </a:p>
        </p:txBody>
      </p:sp>
      <p:sp>
        <p:nvSpPr>
          <p:cNvPr id="61" name="Text 27"/>
          <p:cNvSpPr/>
          <p:nvPr/>
        </p:nvSpPr>
        <p:spPr>
          <a:xfrm>
            <a:off x="9525595" y="4070598"/>
            <a:ext cx="4862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64.3%</a:t>
            </a:r>
            <a:endParaRPr lang="en-US" sz="1350" dirty="0"/>
          </a:p>
        </p:txBody>
      </p:sp>
      <p:sp>
        <p:nvSpPr>
          <p:cNvPr id="62" name="Text 28"/>
          <p:cNvSpPr/>
          <p:nvPr/>
        </p:nvSpPr>
        <p:spPr>
          <a:xfrm>
            <a:off x="10107216" y="4077742"/>
            <a:ext cx="6746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/>
                </a:solidFill>
              </a:rPr>
              <a:t>▶ Inference</a:t>
            </a:r>
            <a:endParaRPr lang="en-US" sz="975" dirty="0"/>
          </a:p>
        </p:txBody>
      </p:sp>
      <p:sp>
        <p:nvSpPr>
          <p:cNvPr id="63" name="Text 29"/>
          <p:cNvSpPr/>
          <p:nvPr/>
        </p:nvSpPr>
        <p:spPr>
          <a:xfrm>
            <a:off x="228600" y="133350"/>
            <a:ext cx="11963400" cy="3967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24"/>
              </a:lnSpc>
              <a:buNone/>
            </a:pPr>
            <a:r>
              <a:rPr lang="en-US" sz="26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벤치마크 전체 표면 (Benchmark Surface)</a:t>
            </a:r>
            <a:endParaRPr lang="en-US" sz="2625" dirty="0"/>
          </a:p>
        </p:txBody>
      </p:sp>
      <p:sp>
        <p:nvSpPr>
          <p:cNvPr id="64" name="Text 30"/>
          <p:cNvSpPr/>
          <p:nvPr/>
        </p:nvSpPr>
        <p:spPr>
          <a:xfrm>
            <a:off x="4468118" y="6172200"/>
            <a:ext cx="3331815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 / Key Takeaways</a:t>
            </a:r>
            <a:endParaRPr lang="en-US" sz="1725" dirty="0"/>
          </a:p>
        </p:txBody>
      </p:sp>
      <p:sp>
        <p:nvSpPr>
          <p:cNvPr id="65" name="Text 31"/>
          <p:cNvSpPr/>
          <p:nvPr/>
        </p:nvSpPr>
        <p:spPr>
          <a:xfrm>
            <a:off x="771525" y="1323975"/>
            <a:ext cx="289179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벤치마크 성능 비교표</a:t>
            </a:r>
            <a:endParaRPr lang="en-US" sz="1725" dirty="0"/>
          </a:p>
        </p:txBody>
      </p:sp>
      <p:sp>
        <p:nvSpPr>
          <p:cNvPr id="66" name="Text 32"/>
          <p:cNvSpPr/>
          <p:nvPr/>
        </p:nvSpPr>
        <p:spPr>
          <a:xfrm>
            <a:off x="981075" y="4648200"/>
            <a:ext cx="377190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최적화 및 성능 상한선</a:t>
            </a:r>
            <a:endParaRPr lang="en-US" sz="1650" dirty="0"/>
          </a:p>
        </p:txBody>
      </p:sp>
      <p:sp>
        <p:nvSpPr>
          <p:cNvPr id="67" name="Text 33"/>
          <p:cNvSpPr/>
          <p:nvPr/>
        </p:nvSpPr>
        <p:spPr>
          <a:xfrm>
            <a:off x="6324600" y="4648200"/>
            <a:ext cx="427482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환경 및 운영 시 주의사항</a:t>
            </a:r>
            <a:endParaRPr lang="en-US" sz="1650" dirty="0"/>
          </a:p>
        </p:txBody>
      </p:sp>
      <p:sp>
        <p:nvSpPr>
          <p:cNvPr id="68" name="Text 34"/>
          <p:cNvSpPr/>
          <p:nvPr/>
        </p:nvSpPr>
        <p:spPr>
          <a:xfrm>
            <a:off x="10649396" y="4676775"/>
            <a:ext cx="618083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Caution</a:t>
            </a:r>
            <a:endParaRPr lang="en-US" sz="1125" dirty="0"/>
          </a:p>
        </p:txBody>
      </p:sp>
      <p:sp>
        <p:nvSpPr>
          <p:cNvPr id="69" name="Text 35"/>
          <p:cNvSpPr/>
          <p:nvPr/>
        </p:nvSpPr>
        <p:spPr>
          <a:xfrm>
            <a:off x="1019175" y="4953000"/>
            <a:ext cx="3530798" cy="4765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BrowseComp Pro 설정 시 90.1% 달성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기본 설정 84.4% 대비 성능 한계치 확장</a:t>
            </a:r>
            <a:endParaRPr lang="en-US" sz="1350" dirty="0"/>
          </a:p>
        </p:txBody>
      </p:sp>
      <p:sp>
        <p:nvSpPr>
          <p:cNvPr id="70" name="Text 36"/>
          <p:cNvSpPr/>
          <p:nvPr/>
        </p:nvSpPr>
        <p:spPr>
          <a:xfrm>
            <a:off x="6362700" y="4953000"/>
            <a:ext cx="5469136" cy="7148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발표 수치는 xhigh 연구 환경 기준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production 환경 기본값은 medium, 실제 운영 성능과 상이함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발표 수치를 그대로 운영 성능으로 해석 금지</a:t>
            </a:r>
            <a:endParaRPr lang="en-US" sz="1350" dirty="0"/>
          </a:p>
        </p:txBody>
      </p:sp>
      <p:sp>
        <p:nvSpPr>
          <p:cNvPr id="71" name="Text 37"/>
          <p:cNvSpPr/>
          <p:nvPr/>
        </p:nvSpPr>
        <p:spPr>
          <a:xfrm>
            <a:off x="3255169" y="4676775"/>
            <a:ext cx="89058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Fact badge</a:t>
            </a:r>
            <a:endParaRPr lang="en-US" sz="1200" dirty="0"/>
          </a:p>
        </p:txBody>
      </p:sp>
      <p:sp>
        <p:nvSpPr>
          <p:cNvPr id="72" name="Text 38"/>
          <p:cNvSpPr/>
          <p:nvPr/>
        </p:nvSpPr>
        <p:spPr>
          <a:xfrm>
            <a:off x="5876925" y="6705600"/>
            <a:ext cx="419100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7780" y="2653903"/>
            <a:ext cx="1011882" cy="87778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671" y="2269927"/>
            <a:ext cx="2218879" cy="145375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957" y="2269927"/>
            <a:ext cx="2255490" cy="1426369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28600" y="142875"/>
            <a:ext cx="1196340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작업과 에이전트형 실행 / Code Tasks and Agent-like Execution</a:t>
            </a:r>
            <a:endParaRPr lang="en-US" sz="2550" dirty="0"/>
          </a:p>
        </p:txBody>
      </p:sp>
      <p:sp>
        <p:nvSpPr>
          <p:cNvPr id="8" name="Text 1"/>
          <p:cNvSpPr/>
          <p:nvPr/>
        </p:nvSpPr>
        <p:spPr>
          <a:xfrm>
            <a:off x="352425" y="742950"/>
            <a:ext cx="11839575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벤치마크별 성능 비교 및 고려사항 / Benchmark Performance Comparison &amp; Considerations</a:t>
            </a:r>
            <a:endParaRPr lang="en-US" sz="1950" dirty="0"/>
          </a:p>
        </p:txBody>
      </p:sp>
      <p:sp>
        <p:nvSpPr>
          <p:cNvPr id="9" name="Text 2"/>
          <p:cNvSpPr/>
          <p:nvPr/>
        </p:nvSpPr>
        <p:spPr>
          <a:xfrm>
            <a:off x="1029593" y="4029075"/>
            <a:ext cx="2493615" cy="472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0064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Terminal-Bench 2.0 리더</a:t>
            </a:r>
            <a:pPr algn="ctr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0064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0064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(Fact: Green badge)</a:t>
            </a:r>
            <a:endParaRPr lang="en-US" sz="1500" dirty="0"/>
          </a:p>
        </p:txBody>
      </p:sp>
      <p:sp>
        <p:nvSpPr>
          <p:cNvPr id="10" name="Text 3"/>
          <p:cNvSpPr/>
          <p:nvPr/>
        </p:nvSpPr>
        <p:spPr>
          <a:xfrm>
            <a:off x="5047655" y="4029075"/>
            <a:ext cx="2105918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53"/>
              </a:lnSpc>
              <a:buNone/>
            </a:pPr>
            <a:r>
              <a:rPr lang="en-US" sz="1575" b="1" dirty="0">
                <a:solidFill>
                  <a:srgbClr val="0064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SWE-Bench Pro 최강</a:t>
            </a:r>
            <a:pPr algn="ctr" indent="0" marL="0">
              <a:lnSpc>
                <a:spcPts val="1953"/>
              </a:lnSpc>
              <a:buNone/>
            </a:pPr>
            <a:r>
              <a:rPr lang="en-US" sz="1575" b="1" dirty="0">
                <a:solidFill>
                  <a:srgbClr val="0064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953"/>
              </a:lnSpc>
              <a:buNone/>
            </a:pPr>
            <a:r>
              <a:rPr lang="en-US" sz="1575" b="1" dirty="0">
                <a:solidFill>
                  <a:srgbClr val="0064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(Fact: Green badge)</a:t>
            </a:r>
            <a:endParaRPr lang="en-US" sz="1575" dirty="0"/>
          </a:p>
        </p:txBody>
      </p:sp>
      <p:sp>
        <p:nvSpPr>
          <p:cNvPr id="11" name="Text 4"/>
          <p:cNvSpPr/>
          <p:nvPr/>
        </p:nvSpPr>
        <p:spPr>
          <a:xfrm>
            <a:off x="771525" y="4714875"/>
            <a:ext cx="6019800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GPT-5.5 82.7% 달성 (선두)</a:t>
            </a:r>
            <a:endParaRPr lang="en-US" sz="1500" dirty="0"/>
          </a:p>
        </p:txBody>
      </p:sp>
      <p:sp>
        <p:nvSpPr>
          <p:cNvPr id="12" name="Text 5"/>
          <p:cNvSpPr/>
          <p:nvPr/>
        </p:nvSpPr>
        <p:spPr>
          <a:xfrm>
            <a:off x="771525" y="5057775"/>
            <a:ext cx="3426023" cy="472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GPT-5.4(75.1%), Opus 4.7(69.4%)</a:t>
            </a:r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대비 확고한 우위</a:t>
            </a:r>
            <a:endParaRPr lang="en-US" sz="1500" dirty="0"/>
          </a:p>
        </p:txBody>
      </p:sp>
      <p:sp>
        <p:nvSpPr>
          <p:cNvPr id="13" name="Text 6"/>
          <p:cNvSpPr/>
          <p:nvPr/>
        </p:nvSpPr>
        <p:spPr>
          <a:xfrm>
            <a:off x="4619625" y="4714875"/>
            <a:ext cx="7162800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Claude Opus 4.7 선두 (64.3%)</a:t>
            </a:r>
            <a:endParaRPr lang="en-US" sz="1500" dirty="0"/>
          </a:p>
        </p:txBody>
      </p:sp>
      <p:sp>
        <p:nvSpPr>
          <p:cNvPr id="14" name="Text 7"/>
          <p:cNvSpPr/>
          <p:nvPr/>
        </p:nvSpPr>
        <p:spPr>
          <a:xfrm>
            <a:off x="4619625" y="5057775"/>
            <a:ext cx="3185071" cy="472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GPT-5.5 58.6% 기록 — 측정 대상</a:t>
            </a:r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최적화 차이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8458200" y="4171950"/>
            <a:ext cx="3733800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Expert-SWE 내부 평가 (73.1% 기록)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8458200" y="4781550"/>
            <a:ext cx="3733800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67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연구 환경 vs 실배포 설정 </a:t>
            </a:r>
            <a:pPr indent="0" marL="0">
              <a:lnSpc>
                <a:spcPts val="1767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Caution</a:t>
            </a:r>
            <a:endParaRPr lang="en-US" sz="1425" dirty="0"/>
          </a:p>
        </p:txBody>
      </p:sp>
      <p:sp>
        <p:nvSpPr>
          <p:cNvPr id="17" name="Text 10"/>
          <p:cNvSpPr/>
          <p:nvPr/>
        </p:nvSpPr>
        <p:spPr>
          <a:xfrm>
            <a:off x="8458200" y="5124450"/>
            <a:ext cx="3733800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67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xhigh 수치는 기본 medium과 차이 존재</a:t>
            </a:r>
            <a:endParaRPr lang="en-US" sz="1425" dirty="0"/>
          </a:p>
        </p:txBody>
      </p:sp>
      <p:sp>
        <p:nvSpPr>
          <p:cNvPr id="18" name="Text 11"/>
          <p:cNvSpPr/>
          <p:nvPr/>
        </p:nvSpPr>
        <p:spPr>
          <a:xfrm>
            <a:off x="8458200" y="5467350"/>
            <a:ext cx="3733800" cy="1653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02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작업 유형별 최적 모델 선택 </a:t>
            </a:r>
            <a:pPr indent="0" marL="0">
              <a:lnSpc>
                <a:spcPts val="1302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Inference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8458200" y="5810250"/>
            <a:ext cx="373380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7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용도별 검증 권장 </a:t>
            </a:r>
            <a:pPr indent="0" marL="0">
              <a:lnSpc>
                <a:spcPts val="1674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Inference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1661517" y="3829050"/>
            <a:ext cx="1162943" cy="1602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62"/>
              </a:lnSpc>
              <a:buNone/>
            </a:pPr>
            <a:r>
              <a:rPr lang="en-US" sz="1275" b="1" dirty="0">
                <a:solidFill>
                  <a:srgbClr val="008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[Fact: Green]</a:t>
            </a:r>
            <a:endParaRPr lang="en-US" sz="1275" dirty="0"/>
          </a:p>
        </p:txBody>
      </p:sp>
      <p:sp>
        <p:nvSpPr>
          <p:cNvPr id="21" name="Text 14"/>
          <p:cNvSpPr/>
          <p:nvPr/>
        </p:nvSpPr>
        <p:spPr>
          <a:xfrm>
            <a:off x="5481042" y="3829050"/>
            <a:ext cx="1162943" cy="1602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62"/>
              </a:lnSpc>
              <a:buNone/>
            </a:pPr>
            <a:r>
              <a:rPr lang="en-US" sz="1275" b="1" dirty="0">
                <a:solidFill>
                  <a:srgbClr val="008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[Fact: Green]</a:t>
            </a:r>
            <a:endParaRPr lang="en-US" sz="1275" dirty="0"/>
          </a:p>
        </p:txBody>
      </p:sp>
      <p:sp>
        <p:nvSpPr>
          <p:cNvPr id="22" name="Text 15"/>
          <p:cNvSpPr/>
          <p:nvPr/>
        </p:nvSpPr>
        <p:spPr>
          <a:xfrm>
            <a:off x="8683823" y="4476750"/>
            <a:ext cx="1739205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1050" b="1" dirty="0">
                <a:solidFill>
                  <a:srgbClr val="000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Inference: Blue </a:t>
            </a:r>
            <a:pPr algn="ctr" indent="0" marL="0">
              <a:lnSpc>
                <a:spcPts val="104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Caution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8359973" y="2847975"/>
            <a:ext cx="691455" cy="39320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4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Expert-s</a:t>
            </a:r>
            <a:pPr algn="ctr" indent="0" marL="0">
              <a:lnSpc>
                <a:spcPts val="154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4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고델 실정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0683627" y="2657475"/>
            <a:ext cx="701873" cy="7369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Nuanced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Factors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&amp; 일문의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콧 정각</a:t>
            </a:r>
            <a:endParaRPr lang="en-US" sz="1125" dirty="0"/>
          </a:p>
        </p:txBody>
      </p:sp>
      <p:sp>
        <p:nvSpPr>
          <p:cNvPr id="25" name="Text 18"/>
          <p:cNvSpPr/>
          <p:nvPr/>
        </p:nvSpPr>
        <p:spPr>
          <a:xfrm>
            <a:off x="1617315" y="1724025"/>
            <a:ext cx="1299121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11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터미널 벤치마크</a:t>
            </a:r>
            <a:endParaRPr lang="en-US" sz="1425" dirty="0"/>
          </a:p>
        </p:txBody>
      </p:sp>
      <p:sp>
        <p:nvSpPr>
          <p:cNvPr id="26" name="Text 19"/>
          <p:cNvSpPr/>
          <p:nvPr/>
        </p:nvSpPr>
        <p:spPr>
          <a:xfrm>
            <a:off x="5171480" y="1724025"/>
            <a:ext cx="1896368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11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이슈 벤치마크</a:t>
            </a:r>
            <a:endParaRPr lang="en-US" sz="1425" dirty="0"/>
          </a:p>
        </p:txBody>
      </p:sp>
      <p:sp>
        <p:nvSpPr>
          <p:cNvPr id="27" name="Text 20"/>
          <p:cNvSpPr/>
          <p:nvPr/>
        </p:nvSpPr>
        <p:spPr>
          <a:xfrm>
            <a:off x="8984903" y="1724025"/>
            <a:ext cx="1822996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11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 평가 및 실행 지침</a:t>
            </a:r>
            <a:endParaRPr lang="en-US" sz="1425" dirty="0"/>
          </a:p>
        </p:txBody>
      </p:sp>
      <p:sp>
        <p:nvSpPr>
          <p:cNvPr id="28" name="Text 21"/>
          <p:cNvSpPr/>
          <p:nvPr/>
        </p:nvSpPr>
        <p:spPr>
          <a:xfrm>
            <a:off x="5813524" y="6705600"/>
            <a:ext cx="555278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A1A1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  <p:sp>
        <p:nvSpPr>
          <p:cNvPr id="29" name="Text 22"/>
          <p:cNvSpPr/>
          <p:nvPr/>
        </p:nvSpPr>
        <p:spPr>
          <a:xfrm>
            <a:off x="266700" y="6467475"/>
            <a:ext cx="2286000" cy="1885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85"/>
              </a:lnSpc>
              <a:buNone/>
            </a:pPr>
            <a:r>
              <a:rPr lang="en-US" sz="15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2714625" y="5953125"/>
            <a:ext cx="1885950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064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내부 벤치마크 데이터</a:t>
            </a:r>
            <a:endParaRPr lang="en-US" sz="825" dirty="0"/>
          </a:p>
        </p:txBody>
      </p:sp>
      <p:sp>
        <p:nvSpPr>
          <p:cNvPr id="31" name="Text 24"/>
          <p:cNvSpPr/>
          <p:nvPr/>
        </p:nvSpPr>
        <p:spPr>
          <a:xfrm>
            <a:off x="6562725" y="5953125"/>
            <a:ext cx="1885950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064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내부 벤치마크 데이터</a:t>
            </a:r>
            <a:endParaRPr lang="en-US" sz="825" dirty="0"/>
          </a:p>
        </p:txBody>
      </p:sp>
      <p:sp>
        <p:nvSpPr>
          <p:cNvPr id="32" name="Text 25"/>
          <p:cNvSpPr/>
          <p:nvPr/>
        </p:nvSpPr>
        <p:spPr>
          <a:xfrm>
            <a:off x="10515600" y="5953125"/>
            <a:ext cx="1634490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064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내부 연구 데이터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7294" y="5321796"/>
            <a:ext cx="963067" cy="63088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9984" y="5664696"/>
            <a:ext cx="280392" cy="24675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7780" y="5349180"/>
            <a:ext cx="292596" cy="26744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4" y="5356027"/>
            <a:ext cx="2304157" cy="16445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9373" y="4814292"/>
            <a:ext cx="426690" cy="425053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4267" y="4814292"/>
            <a:ext cx="414486" cy="43204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6486" y="5376565"/>
            <a:ext cx="451098" cy="48681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8777" y="5397103"/>
            <a:ext cx="329059" cy="438894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28157" y="5376565"/>
            <a:ext cx="463153" cy="486817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6063" y="4759375"/>
            <a:ext cx="2316361" cy="1076623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09498" y="2893963"/>
            <a:ext cx="438894" cy="438894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90063" y="2893963"/>
            <a:ext cx="475357" cy="452586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7577" y="2235696"/>
            <a:ext cx="2413992" cy="115892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62486" y="2235696"/>
            <a:ext cx="2426196" cy="115892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2482453"/>
            <a:ext cx="2499271" cy="6858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228600" y="123825"/>
            <a:ext cx="1196340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7. 도구 사용과 컴퓨터 조작 | Tool Use and Computer Operation</a:t>
            </a:r>
            <a:endParaRPr lang="en-US" sz="2550" dirty="0"/>
          </a:p>
        </p:txBody>
      </p:sp>
      <p:sp>
        <p:nvSpPr>
          <p:cNvPr id="20" name="Text 1"/>
          <p:cNvSpPr/>
          <p:nvPr/>
        </p:nvSpPr>
        <p:spPr>
          <a:xfrm>
            <a:off x="466725" y="742950"/>
            <a:ext cx="4953000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06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 기술동향 리포트</a:t>
            </a:r>
            <a:endParaRPr lang="en-US" sz="1875" dirty="0"/>
          </a:p>
        </p:txBody>
      </p:sp>
      <p:sp>
        <p:nvSpPr>
          <p:cNvPr id="21" name="Text 2"/>
          <p:cNvSpPr/>
          <p:nvPr/>
        </p:nvSpPr>
        <p:spPr>
          <a:xfrm>
            <a:off x="657225" y="1362075"/>
            <a:ext cx="341757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8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BrowseComp 성능</a:t>
            </a:r>
            <a:endParaRPr lang="en-US" sz="1725" dirty="0"/>
          </a:p>
        </p:txBody>
      </p:sp>
      <p:sp>
        <p:nvSpPr>
          <p:cNvPr id="22" name="Text 3"/>
          <p:cNvSpPr/>
          <p:nvPr/>
        </p:nvSpPr>
        <p:spPr>
          <a:xfrm>
            <a:off x="3514725" y="1362075"/>
            <a:ext cx="315468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8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MCP Atlas 성능</a:t>
            </a:r>
            <a:endParaRPr lang="en-US" sz="1725" dirty="0"/>
          </a:p>
        </p:txBody>
      </p:sp>
      <p:sp>
        <p:nvSpPr>
          <p:cNvPr id="23" name="Text 4"/>
          <p:cNvSpPr/>
          <p:nvPr/>
        </p:nvSpPr>
        <p:spPr>
          <a:xfrm>
            <a:off x="6381750" y="1362075"/>
            <a:ext cx="262890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8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OSWorld 성능</a:t>
            </a:r>
            <a:endParaRPr lang="en-US" sz="1725" dirty="0"/>
          </a:p>
        </p:txBody>
      </p:sp>
      <p:sp>
        <p:nvSpPr>
          <p:cNvPr id="24" name="Text 5"/>
          <p:cNvSpPr/>
          <p:nvPr/>
        </p:nvSpPr>
        <p:spPr>
          <a:xfrm>
            <a:off x="9248775" y="1362075"/>
            <a:ext cx="2147888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8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설계 영향</a:t>
            </a:r>
            <a:endParaRPr lang="en-US" sz="1725" dirty="0"/>
          </a:p>
        </p:txBody>
      </p:sp>
      <p:sp>
        <p:nvSpPr>
          <p:cNvPr id="25" name="Text 6"/>
          <p:cNvSpPr/>
          <p:nvPr/>
        </p:nvSpPr>
        <p:spPr>
          <a:xfrm>
            <a:off x="657225" y="3962400"/>
            <a:ext cx="262890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8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OSWorld 성능</a:t>
            </a:r>
            <a:endParaRPr lang="en-US" sz="1725" dirty="0"/>
          </a:p>
        </p:txBody>
      </p:sp>
      <p:sp>
        <p:nvSpPr>
          <p:cNvPr id="26" name="Text 7"/>
          <p:cNvSpPr/>
          <p:nvPr/>
        </p:nvSpPr>
        <p:spPr>
          <a:xfrm>
            <a:off x="3514725" y="3962400"/>
            <a:ext cx="2252663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8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설계 영향</a:t>
            </a:r>
            <a:endParaRPr lang="en-US" sz="1725" dirty="0"/>
          </a:p>
        </p:txBody>
      </p:sp>
      <p:sp>
        <p:nvSpPr>
          <p:cNvPr id="27" name="Text 8"/>
          <p:cNvSpPr/>
          <p:nvPr/>
        </p:nvSpPr>
        <p:spPr>
          <a:xfrm>
            <a:off x="6381750" y="3962400"/>
            <a:ext cx="289179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8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vs 배포 차이</a:t>
            </a:r>
            <a:endParaRPr lang="en-US" sz="1725" dirty="0"/>
          </a:p>
        </p:txBody>
      </p:sp>
      <p:sp>
        <p:nvSpPr>
          <p:cNvPr id="28" name="Text 9"/>
          <p:cNvSpPr/>
          <p:nvPr/>
        </p:nvSpPr>
        <p:spPr>
          <a:xfrm>
            <a:off x="9248775" y="3962400"/>
            <a:ext cx="146685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8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판단</a:t>
            </a:r>
            <a:endParaRPr lang="en-US" sz="1725" dirty="0"/>
          </a:p>
        </p:txBody>
      </p:sp>
      <p:sp>
        <p:nvSpPr>
          <p:cNvPr id="29" name="Text 10"/>
          <p:cNvSpPr/>
          <p:nvPr/>
        </p:nvSpPr>
        <p:spPr>
          <a:xfrm>
            <a:off x="9248775" y="2314575"/>
            <a:ext cx="2587823" cy="7371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checklist 항목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질문: 도구 선택, 파라미터,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 오류가 주요 실패 원인</a:t>
            </a:r>
            <a:endParaRPr lang="en-US" sz="1500" dirty="0"/>
          </a:p>
        </p:txBody>
      </p:sp>
      <p:sp>
        <p:nvSpPr>
          <p:cNvPr id="30" name="Text 11"/>
          <p:cNvSpPr/>
          <p:nvPr/>
        </p:nvSpPr>
        <p:spPr>
          <a:xfrm>
            <a:off x="9248775" y="4533900"/>
            <a:ext cx="2200275" cy="516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4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checklist 항목</a:t>
            </a:r>
            <a:pPr indent="0" marL="0">
              <a:lnSpc>
                <a:spcPts val="1354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54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질문: 도구 사용 선두는 벤치마크 및</a:t>
            </a:r>
            <a:pPr indent="0" marL="0">
              <a:lnSpc>
                <a:spcPts val="1354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54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설정에 따라 다름</a:t>
            </a:r>
            <a:endParaRPr lang="en-US" sz="1050" dirty="0"/>
          </a:p>
        </p:txBody>
      </p:sp>
      <p:sp>
        <p:nvSpPr>
          <p:cNvPr id="31" name="Text 12"/>
          <p:cNvSpPr/>
          <p:nvPr/>
        </p:nvSpPr>
        <p:spPr>
          <a:xfrm>
            <a:off x="657225" y="1971675"/>
            <a:ext cx="2116336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BrowseComp: 웹 검색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성능</a:t>
            </a:r>
            <a:endParaRPr lang="en-US" sz="1500" dirty="0"/>
          </a:p>
        </p:txBody>
      </p:sp>
      <p:sp>
        <p:nvSpPr>
          <p:cNvPr id="32" name="Text 13"/>
          <p:cNvSpPr/>
          <p:nvPr/>
        </p:nvSpPr>
        <p:spPr>
          <a:xfrm>
            <a:off x="657225" y="4152900"/>
            <a:ext cx="2273498" cy="4670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OSWorld Performance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OSWorld: 컴퓨터 조작 실행</a:t>
            </a:r>
            <a:endParaRPr lang="en-US" sz="1425" dirty="0"/>
          </a:p>
        </p:txBody>
      </p:sp>
      <p:sp>
        <p:nvSpPr>
          <p:cNvPr id="33" name="Text 14"/>
          <p:cNvSpPr/>
          <p:nvPr/>
        </p:nvSpPr>
        <p:spPr>
          <a:xfrm>
            <a:off x="3514725" y="1971675"/>
            <a:ext cx="5029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MCP Atlas: 외부 도구 사용 평가</a:t>
            </a:r>
            <a:endParaRPr lang="en-US" sz="1500" dirty="0"/>
          </a:p>
        </p:txBody>
      </p:sp>
      <p:sp>
        <p:nvSpPr>
          <p:cNvPr id="34" name="Text 15"/>
          <p:cNvSpPr/>
          <p:nvPr/>
        </p:nvSpPr>
        <p:spPr>
          <a:xfrm>
            <a:off x="3514725" y="4152900"/>
            <a:ext cx="229448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Impact of Tool Design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설계가 결과에 미치는 영향</a:t>
            </a:r>
            <a:endParaRPr lang="en-US" sz="1200" dirty="0"/>
          </a:p>
        </p:txBody>
      </p:sp>
      <p:sp>
        <p:nvSpPr>
          <p:cNvPr id="35" name="Text 16"/>
          <p:cNvSpPr/>
          <p:nvPr/>
        </p:nvSpPr>
        <p:spPr>
          <a:xfrm>
            <a:off x="6381750" y="1971675"/>
            <a:ext cx="41148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OSWorld: 컴퓨터 조작 실행</a:t>
            </a:r>
            <a:endParaRPr lang="en-US" sz="1500" dirty="0"/>
          </a:p>
        </p:txBody>
      </p:sp>
      <p:sp>
        <p:nvSpPr>
          <p:cNvPr id="36" name="Text 17"/>
          <p:cNvSpPr/>
          <p:nvPr/>
        </p:nvSpPr>
        <p:spPr>
          <a:xfrm>
            <a:off x="6381750" y="4152900"/>
            <a:ext cx="2587823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Evaluation vs Deployment</a:t>
            </a:r>
            <a:pPr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환경과 실제 배포의 차이</a:t>
            </a:r>
            <a:endParaRPr lang="en-US" sz="1500" dirty="0"/>
          </a:p>
        </p:txBody>
      </p:sp>
      <p:sp>
        <p:nvSpPr>
          <p:cNvPr id="37" name="Text 18"/>
          <p:cNvSpPr/>
          <p:nvPr/>
        </p:nvSpPr>
        <p:spPr>
          <a:xfrm>
            <a:off x="9248775" y="1628775"/>
            <a:ext cx="2943225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Impact of Tool Design</a:t>
            </a:r>
            <a:endParaRPr lang="en-US" sz="1500" dirty="0"/>
          </a:p>
        </p:txBody>
      </p:sp>
      <p:sp>
        <p:nvSpPr>
          <p:cNvPr id="38" name="Text 19"/>
          <p:cNvSpPr/>
          <p:nvPr/>
        </p:nvSpPr>
        <p:spPr>
          <a:xfrm>
            <a:off x="9248775" y="6048375"/>
            <a:ext cx="2943225" cy="1314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0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질문: X, A, O의 성능 차이?</a:t>
            </a:r>
            <a:endParaRPr lang="en-US" sz="1500" dirty="0"/>
          </a:p>
        </p:txBody>
      </p:sp>
      <p:sp>
        <p:nvSpPr>
          <p:cNvPr id="39" name="Text 20"/>
          <p:cNvSpPr/>
          <p:nvPr/>
        </p:nvSpPr>
        <p:spPr>
          <a:xfrm>
            <a:off x="657225" y="3257550"/>
            <a:ext cx="609600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0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Gemini 3.1 Pro(85.9%)에 근소 차이</a:t>
            </a:r>
            <a:endParaRPr lang="en-US" sz="1200" dirty="0"/>
          </a:p>
        </p:txBody>
      </p:sp>
      <p:sp>
        <p:nvSpPr>
          <p:cNvPr id="40" name="Text 21"/>
          <p:cNvSpPr/>
          <p:nvPr/>
        </p:nvSpPr>
        <p:spPr>
          <a:xfrm>
            <a:off x="6338292" y="5562600"/>
            <a:ext cx="953393" cy="3854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환경</a:t>
            </a:r>
            <a:pPr algn="ctr"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(xhigh) 점수</a:t>
            </a:r>
            <a:endParaRPr lang="en-US" sz="1275" dirty="0"/>
          </a:p>
        </p:txBody>
      </p:sp>
      <p:sp>
        <p:nvSpPr>
          <p:cNvPr id="41" name="Text 22"/>
          <p:cNvSpPr/>
          <p:nvPr/>
        </p:nvSpPr>
        <p:spPr>
          <a:xfrm>
            <a:off x="6281142" y="4991100"/>
            <a:ext cx="2210693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🔬 vs 🖥️</a:t>
            </a:r>
            <a:endParaRPr lang="en-US" sz="1350" dirty="0"/>
          </a:p>
        </p:txBody>
      </p:sp>
      <p:sp>
        <p:nvSpPr>
          <p:cNvPr id="42" name="Text 23"/>
          <p:cNvSpPr/>
          <p:nvPr/>
        </p:nvSpPr>
        <p:spPr>
          <a:xfrm>
            <a:off x="7482780" y="5562600"/>
            <a:ext cx="1341090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Production</a:t>
            </a:r>
            <a:pPr algn="ct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기본(medium) 성능</a:t>
            </a:r>
            <a:endParaRPr lang="en-US" sz="1125" dirty="0"/>
          </a:p>
        </p:txBody>
      </p:sp>
      <p:sp>
        <p:nvSpPr>
          <p:cNvPr id="43" name="Text 24"/>
          <p:cNvSpPr/>
          <p:nvPr/>
        </p:nvSpPr>
        <p:spPr>
          <a:xfrm>
            <a:off x="9248775" y="2619375"/>
            <a:ext cx="617220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536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checklist</a:t>
            </a:r>
            <a:endParaRPr lang="en-US" sz="450" dirty="0"/>
          </a:p>
        </p:txBody>
      </p:sp>
      <p:sp>
        <p:nvSpPr>
          <p:cNvPr id="44" name="Text 25"/>
          <p:cNvSpPr/>
          <p:nvPr/>
        </p:nvSpPr>
        <p:spPr>
          <a:xfrm>
            <a:off x="9248775" y="4762500"/>
            <a:ext cx="617220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536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checklist</a:t>
            </a:r>
            <a:endParaRPr lang="en-US" sz="450" dirty="0"/>
          </a:p>
        </p:txBody>
      </p:sp>
      <p:sp>
        <p:nvSpPr>
          <p:cNvPr id="45" name="Text 26"/>
          <p:cNvSpPr/>
          <p:nvPr/>
        </p:nvSpPr>
        <p:spPr>
          <a:xfrm>
            <a:off x="9248775" y="4991100"/>
            <a:ext cx="617220" cy="623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91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checklist</a:t>
            </a:r>
            <a:endParaRPr lang="en-US" sz="450" dirty="0"/>
          </a:p>
        </p:txBody>
      </p:sp>
      <p:sp>
        <p:nvSpPr>
          <p:cNvPr id="46" name="Text 27"/>
          <p:cNvSpPr/>
          <p:nvPr/>
        </p:nvSpPr>
        <p:spPr>
          <a:xfrm>
            <a:off x="3552825" y="4991100"/>
            <a:ext cx="822960" cy="830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654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checklist</a:t>
            </a:r>
            <a:endParaRPr lang="en-US" sz="600" dirty="0"/>
          </a:p>
        </p:txBody>
      </p:sp>
      <p:sp>
        <p:nvSpPr>
          <p:cNvPr id="47" name="Text 28"/>
          <p:cNvSpPr/>
          <p:nvPr/>
        </p:nvSpPr>
        <p:spPr>
          <a:xfrm>
            <a:off x="9753600" y="5743575"/>
            <a:ext cx="24095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0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200" dirty="0"/>
          </a:p>
        </p:txBody>
      </p:sp>
      <p:sp>
        <p:nvSpPr>
          <p:cNvPr id="48" name="Text 29"/>
          <p:cNvSpPr/>
          <p:nvPr/>
        </p:nvSpPr>
        <p:spPr>
          <a:xfrm>
            <a:off x="10210800" y="5743575"/>
            <a:ext cx="24095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0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</a:t>
            </a:r>
            <a:endParaRPr lang="en-US" sz="1200" dirty="0"/>
          </a:p>
        </p:txBody>
      </p:sp>
      <p:sp>
        <p:nvSpPr>
          <p:cNvPr id="49" name="Text 30"/>
          <p:cNvSpPr/>
          <p:nvPr/>
        </p:nvSpPr>
        <p:spPr>
          <a:xfrm>
            <a:off x="9734550" y="5743575"/>
            <a:ext cx="23038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0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200" dirty="0"/>
          </a:p>
        </p:txBody>
      </p:sp>
      <p:sp>
        <p:nvSpPr>
          <p:cNvPr id="50" name="Text 31"/>
          <p:cNvSpPr/>
          <p:nvPr/>
        </p:nvSpPr>
        <p:spPr>
          <a:xfrm>
            <a:off x="9248775" y="2228850"/>
            <a:ext cx="502920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982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Fact</a:t>
            </a:r>
            <a:endParaRPr lang="en-US" sz="825" dirty="0"/>
          </a:p>
        </p:txBody>
      </p:sp>
      <p:sp>
        <p:nvSpPr>
          <p:cNvPr id="51" name="Text 32"/>
          <p:cNvSpPr/>
          <p:nvPr/>
        </p:nvSpPr>
        <p:spPr>
          <a:xfrm>
            <a:off x="9248775" y="4371975"/>
            <a:ext cx="502920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982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Fact</a:t>
            </a:r>
            <a:endParaRPr lang="en-US" sz="825" dirty="0"/>
          </a:p>
        </p:txBody>
      </p:sp>
      <p:sp>
        <p:nvSpPr>
          <p:cNvPr id="52" name="Text 33"/>
          <p:cNvSpPr/>
          <p:nvPr/>
        </p:nvSpPr>
        <p:spPr>
          <a:xfrm>
            <a:off x="9248775" y="4857750"/>
            <a:ext cx="502920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982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Fact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788" y="5431482"/>
            <a:ext cx="585192" cy="30852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788" y="4135338"/>
            <a:ext cx="4986486" cy="9394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157" y="2098477"/>
            <a:ext cx="6193482" cy="13646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85750" y="142875"/>
            <a:ext cx="1188720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13"/>
              </a:lnSpc>
              <a:buNone/>
            </a:pPr>
            <a:r>
              <a:rPr lang="en-US" sz="225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8. 긴 문맥 처리 (Long-Context Handling)</a:t>
            </a:r>
            <a:endParaRPr lang="en-US" sz="2250" dirty="0"/>
          </a:p>
        </p:txBody>
      </p:sp>
      <p:sp>
        <p:nvSpPr>
          <p:cNvPr id="8" name="Text 1"/>
          <p:cNvSpPr/>
          <p:nvPr/>
        </p:nvSpPr>
        <p:spPr>
          <a:xfrm>
            <a:off x="352425" y="742950"/>
            <a:ext cx="6720840" cy="3546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93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백만 토큰 문맥 지원 및 RAG 필수성</a:t>
            </a:r>
            <a:endParaRPr lang="en-US" sz="2100" dirty="0"/>
          </a:p>
        </p:txBody>
      </p:sp>
      <p:sp>
        <p:nvSpPr>
          <p:cNvPr id="9" name="Text 2"/>
          <p:cNvSpPr/>
          <p:nvPr/>
        </p:nvSpPr>
        <p:spPr>
          <a:xfrm>
            <a:off x="771525" y="1428750"/>
            <a:ext cx="9201150" cy="31759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01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벤치마크 성능 비교 (Performance Comparison)</a:t>
            </a:r>
            <a:endParaRPr lang="en-US" sz="1725" dirty="0"/>
          </a:p>
        </p:txBody>
      </p:sp>
      <p:sp>
        <p:nvSpPr>
          <p:cNvPr id="10" name="Text 3"/>
          <p:cNvSpPr/>
          <p:nvPr/>
        </p:nvSpPr>
        <p:spPr>
          <a:xfrm>
            <a:off x="8696325" y="1428750"/>
            <a:ext cx="3154680" cy="31759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01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 및 핵심 고려사항</a:t>
            </a:r>
            <a:endParaRPr lang="en-US" sz="1725" dirty="0"/>
          </a:p>
        </p:txBody>
      </p:sp>
      <p:sp>
        <p:nvSpPr>
          <p:cNvPr id="11" name="Text 4"/>
          <p:cNvSpPr/>
          <p:nvPr/>
        </p:nvSpPr>
        <p:spPr>
          <a:xfrm>
            <a:off x="8763000" y="2114550"/>
            <a:ext cx="2514600" cy="2787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문맥 창 크기 현황</a:t>
            </a:r>
            <a:endParaRPr lang="en-US" sz="1650" dirty="0"/>
          </a:p>
        </p:txBody>
      </p:sp>
      <p:sp>
        <p:nvSpPr>
          <p:cNvPr id="12" name="Text 5"/>
          <p:cNvSpPr/>
          <p:nvPr/>
        </p:nvSpPr>
        <p:spPr>
          <a:xfrm>
            <a:off x="8763000" y="4171950"/>
            <a:ext cx="3017520" cy="2787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설계 핵심 원칙</a:t>
            </a:r>
            <a:endParaRPr lang="en-US" sz="1650" dirty="0"/>
          </a:p>
        </p:txBody>
      </p:sp>
      <p:sp>
        <p:nvSpPr>
          <p:cNvPr id="13" name="Text 6"/>
          <p:cNvSpPr/>
          <p:nvPr/>
        </p:nvSpPr>
        <p:spPr>
          <a:xfrm>
            <a:off x="8763000" y="2457450"/>
            <a:ext cx="3122265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Thinking 유료 플랜 256K 지원</a:t>
            </a:r>
            <a:pPr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Pro 플랜 400K 지원</a:t>
            </a:r>
            <a:endParaRPr lang="en-US" sz="1650" dirty="0"/>
          </a:p>
        </p:txBody>
      </p:sp>
      <p:sp>
        <p:nvSpPr>
          <p:cNvPr id="14" name="Text 7"/>
          <p:cNvSpPr/>
          <p:nvPr/>
        </p:nvSpPr>
        <p:spPr>
          <a:xfrm>
            <a:off x="8763000" y="3276600"/>
            <a:ext cx="3248025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추론) 큰 문맥 창이 정확한 인용을</a:t>
            </a:r>
            <a:pPr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자동으로 보장하지 않음.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8763000" y="4514850"/>
            <a:ext cx="2430661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문서 조각 출처 기록 및</a:t>
            </a:r>
            <a:pPr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메타데이터 관리</a:t>
            </a:r>
            <a:endParaRPr lang="en-US" sz="1650" dirty="0"/>
          </a:p>
        </p:txBody>
      </p:sp>
      <p:sp>
        <p:nvSpPr>
          <p:cNvPr id="16" name="Text 9"/>
          <p:cNvSpPr/>
          <p:nvPr/>
        </p:nvSpPr>
        <p:spPr>
          <a:xfrm>
            <a:off x="8763000" y="5200650"/>
            <a:ext cx="2923133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☑ 인용 검증 및 출처 대조 체계</a:t>
            </a:r>
            <a:pPr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구축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962025" y="5476875"/>
            <a:ext cx="7480846" cy="5322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95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주의) 균일하지 않은 성능 분포에 유의. Graphwalks parents 1M 벤치마크에서는</a:t>
            </a:r>
            <a:pPr indent="0" marL="0">
              <a:lnSpc>
                <a:spcPts val="2095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95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Opus 4.6 (72.0%) 선전.</a:t>
            </a:r>
            <a:endParaRPr lang="en-US" sz="1575" dirty="0"/>
          </a:p>
        </p:txBody>
      </p:sp>
      <p:sp>
        <p:nvSpPr>
          <p:cNvPr id="18" name="Text 11"/>
          <p:cNvSpPr/>
          <p:nvPr/>
        </p:nvSpPr>
        <p:spPr>
          <a:xfrm>
            <a:off x="8639175" y="6162675"/>
            <a:ext cx="35099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GPT-5.5 기술 리포트 (추정)</a:t>
            </a:r>
            <a:endParaRPr lang="en-US" sz="1125" dirty="0"/>
          </a:p>
        </p:txBody>
      </p:sp>
      <p:sp>
        <p:nvSpPr>
          <p:cNvPr id="19" name="Text 12"/>
          <p:cNvSpPr/>
          <p:nvPr/>
        </p:nvSpPr>
        <p:spPr>
          <a:xfrm>
            <a:off x="285750" y="6467475"/>
            <a:ext cx="2057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5871567" y="6715125"/>
            <a:ext cx="534293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6980" y="5157192"/>
            <a:ext cx="816769" cy="75426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2094" y="3524994"/>
            <a:ext cx="621655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0180" y="5225653"/>
            <a:ext cx="1877467" cy="67195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2259" y="5239494"/>
            <a:ext cx="743694" cy="71318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169" y="116532"/>
            <a:ext cx="3694063" cy="411361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352425" y="742950"/>
            <a:ext cx="5547360" cy="37073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19"/>
              </a:lnSpc>
              <a:buNone/>
            </a:pPr>
            <a:r>
              <a:rPr lang="en-US" sz="21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 기술동향 리포트</a:t>
            </a:r>
            <a:endParaRPr lang="en-US" sz="2100" dirty="0"/>
          </a:p>
        </p:txBody>
      </p:sp>
      <p:sp>
        <p:nvSpPr>
          <p:cNvPr id="10" name="Text 1"/>
          <p:cNvSpPr/>
          <p:nvPr/>
        </p:nvSpPr>
        <p:spPr>
          <a:xfrm>
            <a:off x="1089571" y="2247900"/>
            <a:ext cx="2430661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모델별 API 운영 비용</a:t>
            </a:r>
            <a:endParaRPr lang="en-US" sz="1950" dirty="0"/>
          </a:p>
        </p:txBody>
      </p:sp>
      <p:sp>
        <p:nvSpPr>
          <p:cNvPr id="11" name="Text 2"/>
          <p:cNvSpPr/>
          <p:nvPr/>
        </p:nvSpPr>
        <p:spPr>
          <a:xfrm>
            <a:off x="4468118" y="1466850"/>
            <a:ext cx="3331815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및 비용 최적화 (TCO) 전략</a:t>
            </a:r>
            <a:endParaRPr lang="en-US" sz="1950" dirty="0"/>
          </a:p>
        </p:txBody>
      </p:sp>
      <p:sp>
        <p:nvSpPr>
          <p:cNvPr id="12" name="Text 3"/>
          <p:cNvSpPr/>
          <p:nvPr/>
        </p:nvSpPr>
        <p:spPr>
          <a:xfrm>
            <a:off x="4466183" y="2247900"/>
            <a:ext cx="3373636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토큰 효율성 및 추론 강도 관리</a:t>
            </a:r>
            <a:endParaRPr lang="en-US" sz="1950" dirty="0"/>
          </a:p>
        </p:txBody>
      </p:sp>
      <p:sp>
        <p:nvSpPr>
          <p:cNvPr id="13" name="Text 4"/>
          <p:cNvSpPr/>
          <p:nvPr/>
        </p:nvSpPr>
        <p:spPr>
          <a:xfrm>
            <a:off x="8237637" y="2247900"/>
            <a:ext cx="3384203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TCO 계산 및 단계적 도입 전략</a:t>
            </a:r>
            <a:endParaRPr lang="en-US" sz="1950" dirty="0"/>
          </a:p>
        </p:txBody>
      </p:sp>
      <p:sp>
        <p:nvSpPr>
          <p:cNvPr id="14" name="Text 5"/>
          <p:cNvSpPr/>
          <p:nvPr/>
        </p:nvSpPr>
        <p:spPr>
          <a:xfrm>
            <a:off x="762000" y="2819400"/>
            <a:ext cx="5120640" cy="3180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04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Fact gpt-5.5 (표준):</a:t>
            </a:r>
            <a:endParaRPr lang="en-US" sz="1575" dirty="0"/>
          </a:p>
        </p:txBody>
      </p:sp>
      <p:sp>
        <p:nvSpPr>
          <p:cNvPr id="15" name="Text 6"/>
          <p:cNvSpPr/>
          <p:nvPr/>
        </p:nvSpPr>
        <p:spPr>
          <a:xfrm>
            <a:off x="914400" y="3162300"/>
            <a:ext cx="2472630" cy="5432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입력: $5.00 / 1M 토큰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출력: $30.00 / 1M 토큰</a:t>
            </a:r>
            <a:endParaRPr lang="en-US" sz="1725" dirty="0"/>
          </a:p>
        </p:txBody>
      </p:sp>
      <p:sp>
        <p:nvSpPr>
          <p:cNvPr id="16" name="Text 7"/>
          <p:cNvSpPr/>
          <p:nvPr/>
        </p:nvSpPr>
        <p:spPr>
          <a:xfrm>
            <a:off x="762000" y="3962400"/>
            <a:ext cx="4415790" cy="28768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66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Fact gpt-5.5-pro:</a:t>
            </a:r>
            <a:endParaRPr lang="en-US" sz="1425" dirty="0"/>
          </a:p>
        </p:txBody>
      </p:sp>
      <p:sp>
        <p:nvSpPr>
          <p:cNvPr id="17" name="Text 8"/>
          <p:cNvSpPr/>
          <p:nvPr/>
        </p:nvSpPr>
        <p:spPr>
          <a:xfrm>
            <a:off x="914400" y="4305300"/>
            <a:ext cx="2640211" cy="5432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입력: $30.00 / 1M 토큰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출력: $180.00 / 1M 토큰</a:t>
            </a:r>
            <a:endParaRPr lang="en-US" sz="1725" dirty="0"/>
          </a:p>
        </p:txBody>
      </p:sp>
      <p:sp>
        <p:nvSpPr>
          <p:cNvPr id="18" name="Text 9"/>
          <p:cNvSpPr/>
          <p:nvPr/>
        </p:nvSpPr>
        <p:spPr>
          <a:xfrm>
            <a:off x="877193" y="4895850"/>
            <a:ext cx="2912715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8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(비고: 고정확도 비동기 전용)</a:t>
            </a:r>
            <a:endParaRPr lang="en-US" sz="1725" dirty="0"/>
          </a:p>
        </p:txBody>
      </p:sp>
      <p:sp>
        <p:nvSpPr>
          <p:cNvPr id="19" name="Text 10"/>
          <p:cNvSpPr/>
          <p:nvPr/>
        </p:nvSpPr>
        <p:spPr>
          <a:xfrm>
            <a:off x="4572000" y="2819400"/>
            <a:ext cx="4994910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4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Fact xhigh 강도 기준:</a:t>
            </a:r>
            <a:endParaRPr lang="en-US" sz="1725" dirty="0"/>
          </a:p>
        </p:txBody>
      </p:sp>
      <p:sp>
        <p:nvSpPr>
          <p:cNvPr id="20" name="Text 11"/>
          <p:cNvSpPr/>
          <p:nvPr/>
        </p:nvSpPr>
        <p:spPr>
          <a:xfrm>
            <a:off x="4733925" y="3162300"/>
            <a:ext cx="2965103" cy="5432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출력 토큰 약 40% 감소 확인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(비용 상쇄)</a:t>
            </a:r>
            <a:endParaRPr lang="en-US" sz="1725" dirty="0"/>
          </a:p>
        </p:txBody>
      </p:sp>
      <p:sp>
        <p:nvSpPr>
          <p:cNvPr id="21" name="Text 12"/>
          <p:cNvSpPr/>
          <p:nvPr/>
        </p:nvSpPr>
        <p:spPr>
          <a:xfrm>
            <a:off x="4572000" y="3914775"/>
            <a:ext cx="3509963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4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Inference 작업 난이도별 추론 강도</a:t>
            </a:r>
            <a:pPr indent="0" marL="0">
              <a:lnSpc>
                <a:spcPts val="274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4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(4단계) 선택 기준:</a:t>
            </a:r>
            <a:endParaRPr lang="en-US" sz="1725" dirty="0"/>
          </a:p>
        </p:txBody>
      </p:sp>
      <p:sp>
        <p:nvSpPr>
          <p:cNvPr id="22" name="Text 13"/>
          <p:cNvSpPr/>
          <p:nvPr/>
        </p:nvSpPr>
        <p:spPr>
          <a:xfrm>
            <a:off x="4733925" y="4514850"/>
            <a:ext cx="578358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76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low→medium→high→xhigh</a:t>
            </a:r>
            <a:endParaRPr lang="en-US" sz="1650" dirty="0"/>
          </a:p>
        </p:txBody>
      </p:sp>
      <p:sp>
        <p:nvSpPr>
          <p:cNvPr id="23" name="Text 14"/>
          <p:cNvSpPr/>
          <p:nvPr/>
        </p:nvSpPr>
        <p:spPr>
          <a:xfrm>
            <a:off x="8391525" y="2819400"/>
            <a:ext cx="3800475" cy="3180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04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Caution 실제 TCO 공식 적용 필수:</a:t>
            </a:r>
            <a:endParaRPr lang="en-US" sz="1575" dirty="0"/>
          </a:p>
        </p:txBody>
      </p:sp>
      <p:sp>
        <p:nvSpPr>
          <p:cNvPr id="24" name="Text 15"/>
          <p:cNvSpPr/>
          <p:nvPr/>
        </p:nvSpPr>
        <p:spPr>
          <a:xfrm>
            <a:off x="8543925" y="3162300"/>
            <a:ext cx="3174653" cy="5432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단가 × 토큰 수 + 재시도 + 검토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지연 시간 손실</a:t>
            </a:r>
            <a:endParaRPr lang="en-US" sz="1725" dirty="0"/>
          </a:p>
        </p:txBody>
      </p:sp>
      <p:sp>
        <p:nvSpPr>
          <p:cNvPr id="25" name="Text 16"/>
          <p:cNvSpPr/>
          <p:nvPr/>
        </p:nvSpPr>
        <p:spPr>
          <a:xfrm>
            <a:off x="8391525" y="3990975"/>
            <a:ext cx="3800475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4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Fact 단계적 전환 권장 (A/B 평가):</a:t>
            </a:r>
            <a:endParaRPr lang="en-US" sz="1725" dirty="0"/>
          </a:p>
        </p:txBody>
      </p:sp>
      <p:sp>
        <p:nvSpPr>
          <p:cNvPr id="26" name="Text 17"/>
          <p:cNvSpPr/>
          <p:nvPr/>
        </p:nvSpPr>
        <p:spPr>
          <a:xfrm>
            <a:off x="8543925" y="4333875"/>
            <a:ext cx="2608808" cy="5432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작업별 비용·성능 검증 후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전사 확대</a:t>
            </a:r>
            <a:endParaRPr lang="en-US" sz="1725" dirty="0"/>
          </a:p>
        </p:txBody>
      </p:sp>
      <p:sp>
        <p:nvSpPr>
          <p:cNvPr id="27" name="Text 18"/>
          <p:cNvSpPr/>
          <p:nvPr/>
        </p:nvSpPr>
        <p:spPr>
          <a:xfrm>
            <a:off x="5813971" y="6705600"/>
            <a:ext cx="544711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43"/>
              </a:lnSpc>
              <a:buNone/>
            </a:pPr>
            <a:r>
              <a:rPr lang="en-US" sz="7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  <p:sp>
        <p:nvSpPr>
          <p:cNvPr id="28" name="Text 19"/>
          <p:cNvSpPr/>
          <p:nvPr/>
        </p:nvSpPr>
        <p:spPr>
          <a:xfrm>
            <a:off x="466725" y="6467475"/>
            <a:ext cx="1828800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173" y="5897761"/>
            <a:ext cx="365671" cy="36343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3663" y="5870377"/>
            <a:ext cx="414486" cy="41820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173" y="5890915"/>
            <a:ext cx="414486" cy="35659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196" y="5061198"/>
            <a:ext cx="475357" cy="24675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8486" y="3079105"/>
            <a:ext cx="719286" cy="74056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0188" y="5061198"/>
            <a:ext cx="841177" cy="23306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30180" y="3127177"/>
            <a:ext cx="707082" cy="6445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7553" y="5061198"/>
            <a:ext cx="451098" cy="246757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96988" y="4341019"/>
            <a:ext cx="329059" cy="418207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62894" y="3086100"/>
            <a:ext cx="719286" cy="740569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228600" y="123825"/>
            <a:ext cx="11963400" cy="3414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88"/>
              </a:lnSpc>
              <a:buNone/>
            </a:pPr>
            <a:r>
              <a:rPr lang="en-US" sz="24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Hallucination 평가 방법론 / Hallucination Evaluation Methodology</a:t>
            </a:r>
            <a:endParaRPr lang="en-US" sz="2400" dirty="0"/>
          </a:p>
        </p:txBody>
      </p:sp>
      <p:sp>
        <p:nvSpPr>
          <p:cNvPr id="15" name="Text 1"/>
          <p:cNvSpPr/>
          <p:nvPr/>
        </p:nvSpPr>
        <p:spPr>
          <a:xfrm>
            <a:off x="352425" y="742950"/>
            <a:ext cx="6720840" cy="3519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72"/>
              </a:lnSpc>
              <a:buNone/>
            </a:pPr>
            <a:r>
              <a:rPr lang="en-US" sz="2100" dirty="0">
                <a:solidFill>
                  <a:srgbClr val="4D4D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다각화 및 단일 지표 오남용 경계</a:t>
            </a:r>
            <a:endParaRPr lang="en-US" sz="2100" dirty="0"/>
          </a:p>
        </p:txBody>
      </p:sp>
      <p:sp>
        <p:nvSpPr>
          <p:cNvPr id="16" name="Text 2"/>
          <p:cNvSpPr/>
          <p:nvPr/>
        </p:nvSpPr>
        <p:spPr>
          <a:xfrm>
            <a:off x="3959423" y="1666875"/>
            <a:ext cx="4253805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8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Hallucination 평가 체계 및 주요 지표 비교</a:t>
            </a:r>
            <a:endParaRPr lang="en-US" sz="1725" dirty="0"/>
          </a:p>
        </p:txBody>
      </p:sp>
      <p:sp>
        <p:nvSpPr>
          <p:cNvPr id="17" name="Text 3"/>
          <p:cNvSpPr/>
          <p:nvPr/>
        </p:nvSpPr>
        <p:spPr>
          <a:xfrm>
            <a:off x="690563" y="2457450"/>
            <a:ext cx="3248025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방식 1: 내부 high-stakes 평가</a:t>
            </a:r>
            <a:endParaRPr lang="en-US" sz="1575" dirty="0"/>
          </a:p>
        </p:txBody>
      </p:sp>
      <p:sp>
        <p:nvSpPr>
          <p:cNvPr id="18" name="Text 4"/>
          <p:cNvSpPr/>
          <p:nvPr/>
        </p:nvSpPr>
        <p:spPr>
          <a:xfrm>
            <a:off x="4627215" y="2457450"/>
            <a:ext cx="2975521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방식 2: 사용자 신고 기반 평가</a:t>
            </a:r>
            <a:endParaRPr lang="en-US" sz="1575" dirty="0"/>
          </a:p>
        </p:txBody>
      </p:sp>
      <p:sp>
        <p:nvSpPr>
          <p:cNvPr id="19" name="Text 5"/>
          <p:cNvSpPr/>
          <p:nvPr/>
        </p:nvSpPr>
        <p:spPr>
          <a:xfrm>
            <a:off x="8113812" y="2457450"/>
            <a:ext cx="3593753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방식 3: AA-Omniscience 외부 평가</a:t>
            </a:r>
            <a:endParaRPr lang="en-US" sz="1500" dirty="0"/>
          </a:p>
        </p:txBody>
      </p:sp>
      <p:sp>
        <p:nvSpPr>
          <p:cNvPr id="20" name="Text 6"/>
          <p:cNvSpPr/>
          <p:nvPr/>
        </p:nvSpPr>
        <p:spPr>
          <a:xfrm>
            <a:off x="681038" y="4343400"/>
            <a:ext cx="1362075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90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GPT-5.3 Instant</a:t>
            </a:r>
            <a:pPr algn="ctr" indent="0" marL="0">
              <a:lnSpc>
                <a:spcPts val="1390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90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(baseline)</a:t>
            </a:r>
            <a:endParaRPr lang="en-US" sz="1275" dirty="0"/>
          </a:p>
        </p:txBody>
      </p:sp>
      <p:sp>
        <p:nvSpPr>
          <p:cNvPr id="21" name="Text 7"/>
          <p:cNvSpPr/>
          <p:nvPr/>
        </p:nvSpPr>
        <p:spPr>
          <a:xfrm>
            <a:off x="2542580" y="4267200"/>
            <a:ext cx="1267718" cy="5607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</a:t>
            </a:r>
            <a:pPr algn="ctr"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(52.5% 허위 주장</a:t>
            </a:r>
            <a:pPr algn="ctr"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감소)</a:t>
            </a:r>
            <a:endParaRPr lang="en-US" sz="1350" dirty="0"/>
          </a:p>
        </p:txBody>
      </p:sp>
      <p:sp>
        <p:nvSpPr>
          <p:cNvPr id="22" name="Text 8"/>
          <p:cNvSpPr/>
          <p:nvPr/>
        </p:nvSpPr>
        <p:spPr>
          <a:xfrm>
            <a:off x="8235255" y="4267200"/>
            <a:ext cx="1550640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4.7 (참고):</a:t>
            </a:r>
            <a:pPr algn="ctr" indent="0" marL="0">
              <a:lnSpc>
                <a:spcPts val="1308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08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36% Hallucination</a:t>
            </a:r>
            <a:pPr algn="ctr" indent="0" marL="0">
              <a:lnSpc>
                <a:spcPts val="1308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08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비율</a:t>
            </a:r>
            <a:endParaRPr lang="en-US" sz="1200" dirty="0"/>
          </a:p>
        </p:txBody>
      </p:sp>
      <p:sp>
        <p:nvSpPr>
          <p:cNvPr id="23" name="Text 9"/>
          <p:cNvSpPr/>
          <p:nvPr/>
        </p:nvSpPr>
        <p:spPr>
          <a:xfrm>
            <a:off x="6318349" y="4267200"/>
            <a:ext cx="1393478" cy="5607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</a:t>
            </a:r>
            <a:pPr algn="ctr"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(37.3% 부정확 주장</a:t>
            </a:r>
            <a:pPr algn="ctr"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감소)</a:t>
            </a:r>
            <a:endParaRPr lang="en-US" sz="1350" dirty="0"/>
          </a:p>
        </p:txBody>
      </p:sp>
      <p:sp>
        <p:nvSpPr>
          <p:cNvPr id="24" name="Text 10"/>
          <p:cNvSpPr/>
          <p:nvPr/>
        </p:nvSpPr>
        <p:spPr>
          <a:xfrm>
            <a:off x="10127456" y="4267200"/>
            <a:ext cx="1414463" cy="4362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45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GPT-5.5:</a:t>
            </a:r>
            <a:pPr algn="ctr" indent="0" marL="0">
              <a:lnSpc>
                <a:spcPts val="1145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145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86% Hallucination</a:t>
            </a:r>
            <a:pPr algn="ctr" indent="0" marL="0">
              <a:lnSpc>
                <a:spcPts val="1145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145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비율</a:t>
            </a:r>
            <a:endParaRPr lang="en-US" sz="1050" dirty="0"/>
          </a:p>
        </p:txBody>
      </p:sp>
      <p:sp>
        <p:nvSpPr>
          <p:cNvPr id="25" name="Text 11"/>
          <p:cNvSpPr/>
          <p:nvPr/>
        </p:nvSpPr>
        <p:spPr>
          <a:xfrm>
            <a:off x="1221581" y="5095875"/>
            <a:ext cx="2252663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[Fact] 선별 질문 묶음 기준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 사실성 개선 핵심 지표</a:t>
            </a:r>
            <a:endParaRPr lang="en-US" sz="1500" dirty="0"/>
          </a:p>
        </p:txBody>
      </p:sp>
      <p:sp>
        <p:nvSpPr>
          <p:cNvPr id="26" name="Text 12"/>
          <p:cNvSpPr/>
          <p:nvPr/>
        </p:nvSpPr>
        <p:spPr>
          <a:xfrm>
            <a:off x="4730948" y="5095875"/>
            <a:ext cx="2786955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[Inference] 사용자 피드백 분석 결과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사실 오류 개선 정도 측정</a:t>
            </a:r>
            <a:endParaRPr lang="en-US" sz="1500" dirty="0"/>
          </a:p>
        </p:txBody>
      </p:sp>
      <p:sp>
        <p:nvSpPr>
          <p:cNvPr id="27" name="Text 13"/>
          <p:cNvSpPr/>
          <p:nvPr/>
        </p:nvSpPr>
        <p:spPr>
          <a:xfrm>
            <a:off x="8506718" y="5095875"/>
            <a:ext cx="2912715" cy="3854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[Fact] AA-Omniscience 외부 벤치마크</a:t>
            </a:r>
            <a:pPr algn="ctr"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 Hallucination 문제점 부각</a:t>
            </a:r>
            <a:endParaRPr lang="en-US" sz="1275" dirty="0"/>
          </a:p>
        </p:txBody>
      </p:sp>
      <p:sp>
        <p:nvSpPr>
          <p:cNvPr id="28" name="Text 14"/>
          <p:cNvSpPr/>
          <p:nvPr/>
        </p:nvSpPr>
        <p:spPr>
          <a:xfrm>
            <a:off x="1019175" y="5905500"/>
            <a:ext cx="3719512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평가는 교환 불가한 별개 측정값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묶음 방법·조건이 상이하여 단일 운영 지표로 협산 금지</a:t>
            </a:r>
            <a:endParaRPr lang="en-US" sz="1350" dirty="0"/>
          </a:p>
        </p:txBody>
      </p:sp>
      <p:sp>
        <p:nvSpPr>
          <p:cNvPr id="29" name="Text 15"/>
          <p:cNvSpPr/>
          <p:nvPr/>
        </p:nvSpPr>
        <p:spPr>
          <a:xfrm>
            <a:off x="4857750" y="5905500"/>
            <a:ext cx="3499396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answer-when-uncertain 능력 별도 검증 필요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모를 때 답변 부류 여부는 사실성 개선 수치와 분리 평가 요</a:t>
            </a:r>
            <a:endParaRPr lang="en-US" sz="1350" dirty="0"/>
          </a:p>
        </p:txBody>
      </p:sp>
      <p:sp>
        <p:nvSpPr>
          <p:cNvPr id="30" name="Text 16"/>
          <p:cNvSpPr/>
          <p:nvPr/>
        </p:nvSpPr>
        <p:spPr>
          <a:xfrm>
            <a:off x="8639175" y="5905500"/>
            <a:ext cx="3530798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[Caution] 내부 개선 수치 ≠ 전체 트래픽 대표값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선별 묶음 결과를 실제 운영 성능으로 확대 해석 금지</a:t>
            </a:r>
            <a:endParaRPr lang="en-US" sz="1350" dirty="0"/>
          </a:p>
        </p:txBody>
      </p:sp>
      <p:sp>
        <p:nvSpPr>
          <p:cNvPr id="31" name="Text 17"/>
          <p:cNvSpPr/>
          <p:nvPr/>
        </p:nvSpPr>
        <p:spPr>
          <a:xfrm>
            <a:off x="466725" y="6467475"/>
            <a:ext cx="1828800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64"/>
              </a:lnSpc>
              <a:buNone/>
            </a:pPr>
            <a:r>
              <a:rPr lang="en-US" sz="1200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  <p:sp>
        <p:nvSpPr>
          <p:cNvPr id="32" name="Text 18"/>
          <p:cNvSpPr/>
          <p:nvPr/>
        </p:nvSpPr>
        <p:spPr>
          <a:xfrm>
            <a:off x="5876330" y="6715125"/>
            <a:ext cx="429518" cy="732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576"/>
              </a:lnSpc>
              <a:buNone/>
            </a:pPr>
            <a:r>
              <a:rPr lang="en-US" sz="600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6059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596" y="4821138"/>
            <a:ext cx="414486" cy="50735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188" y="3449538"/>
            <a:ext cx="463153" cy="41820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6290" y="1810494"/>
            <a:ext cx="438894" cy="28798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9780" y="2002482"/>
            <a:ext cx="487561" cy="43889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879" y="2599134"/>
            <a:ext cx="5071765" cy="3010644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238125" y="142875"/>
            <a:ext cx="5280660" cy="3519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72"/>
              </a:lnSpc>
              <a:buNone/>
            </a:pPr>
            <a:r>
              <a:rPr lang="en-US" sz="24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사실성 vs 불확실성 표시</a:t>
            </a:r>
            <a:endParaRPr lang="en-US" sz="2475" dirty="0"/>
          </a:p>
        </p:txBody>
      </p:sp>
      <p:sp>
        <p:nvSpPr>
          <p:cNvPr id="10" name="Text 1"/>
          <p:cNvSpPr/>
          <p:nvPr/>
        </p:nvSpPr>
        <p:spPr>
          <a:xfrm>
            <a:off x="352425" y="742950"/>
            <a:ext cx="1079754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지식량과 답변 보류 능력을 기반으로 하는 2×2 분석 프레임워크</a:t>
            </a:r>
            <a:endParaRPr lang="en-US" sz="1950" dirty="0"/>
          </a:p>
        </p:txBody>
      </p:sp>
      <p:sp>
        <p:nvSpPr>
          <p:cNvPr id="11" name="Text 2"/>
          <p:cNvSpPr/>
          <p:nvPr/>
        </p:nvSpPr>
        <p:spPr>
          <a:xfrm>
            <a:off x="7058025" y="1781175"/>
            <a:ext cx="4644390" cy="30673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이상적 시나리오 (✅) Fact</a:t>
            </a:r>
            <a:endParaRPr lang="en-US" sz="1725" dirty="0"/>
          </a:p>
        </p:txBody>
      </p:sp>
      <p:sp>
        <p:nvSpPr>
          <p:cNvPr id="12" name="Text 3"/>
          <p:cNvSpPr/>
          <p:nvPr/>
        </p:nvSpPr>
        <p:spPr>
          <a:xfrm>
            <a:off x="7058025" y="3209925"/>
            <a:ext cx="5133975" cy="30673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시나리오 (⚠️) Caution</a:t>
            </a:r>
            <a:endParaRPr lang="en-US" sz="1725" dirty="0"/>
          </a:p>
        </p:txBody>
      </p:sp>
      <p:sp>
        <p:nvSpPr>
          <p:cNvPr id="13" name="Text 4"/>
          <p:cNvSpPr/>
          <p:nvPr/>
        </p:nvSpPr>
        <p:spPr>
          <a:xfrm>
            <a:off x="7058025" y="4781550"/>
            <a:ext cx="2628900" cy="30673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평가팀 실용 가이드</a:t>
            </a:r>
            <a:endParaRPr lang="en-US" sz="1725" dirty="0"/>
          </a:p>
        </p:txBody>
      </p:sp>
      <p:sp>
        <p:nvSpPr>
          <p:cNvPr id="14" name="Text 5"/>
          <p:cNvSpPr/>
          <p:nvPr/>
        </p:nvSpPr>
        <p:spPr>
          <a:xfrm>
            <a:off x="352425" y="1095375"/>
            <a:ext cx="11839575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2×2 Analysis Framework Based on Knowledge and Deferral Ability</a:t>
            </a:r>
            <a:endParaRPr lang="en-US" sz="1500" dirty="0"/>
          </a:p>
        </p:txBody>
      </p:sp>
      <p:sp>
        <p:nvSpPr>
          <p:cNvPr id="15" name="Text 6"/>
          <p:cNvSpPr/>
          <p:nvPr/>
        </p:nvSpPr>
        <p:spPr>
          <a:xfrm>
            <a:off x="7058025" y="2143125"/>
            <a:ext cx="3604171" cy="510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지식량 증대로 정확한 답변 영역 확대 및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적절한 보류 능력 확보 목표</a:t>
            </a:r>
            <a:endParaRPr lang="en-US" sz="1500" dirty="0"/>
          </a:p>
        </p:txBody>
      </p:sp>
      <p:sp>
        <p:nvSpPr>
          <p:cNvPr id="16" name="Text 7"/>
          <p:cNvSpPr/>
          <p:nvPr/>
        </p:nvSpPr>
        <p:spPr>
          <a:xfrm>
            <a:off x="7058025" y="3571875"/>
            <a:ext cx="3908078" cy="510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 오류 및 근거 누락 등 Hallucination과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불충분 설명 방지 대책 마련 필요</a:t>
            </a:r>
            <a:endParaRPr lang="en-US" sz="1500" dirty="0"/>
          </a:p>
        </p:txBody>
      </p:sp>
      <p:sp>
        <p:nvSpPr>
          <p:cNvPr id="17" name="Text 8"/>
          <p:cNvSpPr/>
          <p:nvPr/>
        </p:nvSpPr>
        <p:spPr>
          <a:xfrm>
            <a:off x="7058025" y="5124450"/>
            <a:ext cx="5133975" cy="2552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 유형 세분화·도구 조건별·보류 허용 설계 권장</a:t>
            </a:r>
            <a:endParaRPr lang="en-US" sz="1500" dirty="0"/>
          </a:p>
        </p:txBody>
      </p:sp>
      <p:sp>
        <p:nvSpPr>
          <p:cNvPr id="18" name="Text 9"/>
          <p:cNvSpPr/>
          <p:nvPr/>
        </p:nvSpPr>
        <p:spPr>
          <a:xfrm>
            <a:off x="200025" y="6372225"/>
            <a:ext cx="1362075" cy="6036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76"/>
              </a:lnSpc>
              <a:buNone/>
            </a:pPr>
            <a:r>
              <a:rPr lang="en-US" sz="12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 기반</a:t>
            </a:r>
            <a:pPr indent="0" marL="0">
              <a:lnSpc>
                <a:spcPts val="2376"/>
              </a:lnSpc>
              <a:buNone/>
            </a:pPr>
            <a:r>
              <a:rPr lang="en-US" sz="12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76"/>
              </a:lnSpc>
              <a:buNone/>
            </a:pPr>
            <a:r>
              <a:rPr lang="en-US" sz="12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개발</a:t>
            </a:r>
            <a:endParaRPr lang="en-US" sz="1200" dirty="0"/>
          </a:p>
        </p:txBody>
      </p:sp>
      <p:sp>
        <p:nvSpPr>
          <p:cNvPr id="19" name="Text 10"/>
          <p:cNvSpPr/>
          <p:nvPr/>
        </p:nvSpPr>
        <p:spPr>
          <a:xfrm>
            <a:off x="10306050" y="6515100"/>
            <a:ext cx="1885950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소스 레이블 / Source label</a:t>
            </a:r>
            <a:endParaRPr lang="en-US" sz="900" dirty="0"/>
          </a:p>
        </p:txBody>
      </p:sp>
      <p:sp>
        <p:nvSpPr>
          <p:cNvPr id="20" name="Text 11"/>
          <p:cNvSpPr/>
          <p:nvPr/>
        </p:nvSpPr>
        <p:spPr>
          <a:xfrm>
            <a:off x="5813971" y="6734175"/>
            <a:ext cx="544711" cy="879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693"/>
              </a:lnSpc>
              <a:buNone/>
            </a:pPr>
            <a:r>
              <a:rPr lang="en-US" sz="825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577" y="5109121"/>
            <a:ext cx="707082" cy="69949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055" y="3531840"/>
            <a:ext cx="767953" cy="80917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0063" y="3531840"/>
            <a:ext cx="767953" cy="80917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2275" y="3531840"/>
            <a:ext cx="755898" cy="80917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4486" y="3531840"/>
            <a:ext cx="755898" cy="80917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6698" y="3531840"/>
            <a:ext cx="767953" cy="809179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0965" y="3531840"/>
            <a:ext cx="755898" cy="809179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3169" y="2132707"/>
            <a:ext cx="743694" cy="64457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3694" y="4999434"/>
            <a:ext cx="767953" cy="70633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0157" y="3566071"/>
            <a:ext cx="694879" cy="795486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0157" y="2153394"/>
            <a:ext cx="719286" cy="726877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228600" y="123825"/>
            <a:ext cx="1196340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안전성과 사이버 능력 / Safety and Cyber Capability</a:t>
            </a:r>
            <a:endParaRPr lang="en-US" sz="2550" dirty="0"/>
          </a:p>
        </p:txBody>
      </p:sp>
      <p:sp>
        <p:nvSpPr>
          <p:cNvPr id="16" name="Text 1"/>
          <p:cNvSpPr/>
          <p:nvPr/>
        </p:nvSpPr>
        <p:spPr>
          <a:xfrm>
            <a:off x="352425" y="742950"/>
            <a:ext cx="713232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모델의 사이버 위험 평가 및 통제 체계</a:t>
            </a:r>
            <a:endParaRPr lang="en-US" sz="1950" dirty="0"/>
          </a:p>
        </p:txBody>
      </p:sp>
      <p:sp>
        <p:nvSpPr>
          <p:cNvPr id="17" name="Text 2"/>
          <p:cNvSpPr/>
          <p:nvPr/>
        </p:nvSpPr>
        <p:spPr>
          <a:xfrm>
            <a:off x="1685925" y="2152650"/>
            <a:ext cx="802386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사이버 영역 ‘High Capability’ 판정</a:t>
            </a:r>
            <a:endParaRPr lang="en-US" sz="1950" dirty="0"/>
          </a:p>
        </p:txBody>
      </p:sp>
      <p:sp>
        <p:nvSpPr>
          <p:cNvPr id="18" name="Text 3"/>
          <p:cNvSpPr/>
          <p:nvPr/>
        </p:nvSpPr>
        <p:spPr>
          <a:xfrm>
            <a:off x="1685925" y="3562350"/>
            <a:ext cx="653796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UK AISI 외부 평가 결과 공식 확인</a:t>
            </a:r>
            <a:endParaRPr lang="en-US" sz="1950" dirty="0"/>
          </a:p>
        </p:txBody>
      </p:sp>
      <p:sp>
        <p:nvSpPr>
          <p:cNvPr id="19" name="Text 4"/>
          <p:cNvSpPr/>
          <p:nvPr/>
        </p:nvSpPr>
        <p:spPr>
          <a:xfrm>
            <a:off x="1685925" y="5029200"/>
            <a:ext cx="564642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Instant 모델도 고위험군 분류</a:t>
            </a:r>
            <a:endParaRPr lang="en-US" sz="1950" dirty="0"/>
          </a:p>
        </p:txBody>
      </p:sp>
      <p:sp>
        <p:nvSpPr>
          <p:cNvPr id="20" name="Text 5"/>
          <p:cNvSpPr/>
          <p:nvPr/>
        </p:nvSpPr>
        <p:spPr>
          <a:xfrm>
            <a:off x="7239000" y="2124075"/>
            <a:ext cx="326898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자율성의 이중성</a:t>
            </a:r>
            <a:endParaRPr lang="en-US" sz="1950" dirty="0"/>
          </a:p>
        </p:txBody>
      </p:sp>
      <p:sp>
        <p:nvSpPr>
          <p:cNvPr id="21" name="Text 6"/>
          <p:cNvSpPr/>
          <p:nvPr/>
        </p:nvSpPr>
        <p:spPr>
          <a:xfrm>
            <a:off x="7848600" y="3067050"/>
            <a:ext cx="3619500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06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6단계 운영 통제 체계</a:t>
            </a:r>
            <a:endParaRPr lang="en-US" sz="1875" dirty="0"/>
          </a:p>
        </p:txBody>
      </p:sp>
      <p:sp>
        <p:nvSpPr>
          <p:cNvPr id="22" name="Text 7"/>
          <p:cNvSpPr/>
          <p:nvPr/>
        </p:nvSpPr>
        <p:spPr>
          <a:xfrm>
            <a:off x="7239000" y="5143500"/>
            <a:ext cx="4379565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방어적 활용과 위험의 균형</a:t>
            </a:r>
            <a:endParaRPr lang="en-US" sz="1950" dirty="0"/>
          </a:p>
        </p:txBody>
      </p:sp>
      <p:sp>
        <p:nvSpPr>
          <p:cNvPr id="23" name="Text 8"/>
          <p:cNvSpPr/>
          <p:nvPr/>
        </p:nvSpPr>
        <p:spPr>
          <a:xfrm>
            <a:off x="1524893" y="1447800"/>
            <a:ext cx="1026765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평가</a:t>
            </a:r>
            <a:endParaRPr lang="en-US" sz="1500" dirty="0"/>
          </a:p>
        </p:txBody>
      </p:sp>
      <p:sp>
        <p:nvSpPr>
          <p:cNvPr id="24" name="Text 9"/>
          <p:cNvSpPr/>
          <p:nvPr/>
        </p:nvSpPr>
        <p:spPr>
          <a:xfrm>
            <a:off x="7344221" y="1447800"/>
            <a:ext cx="1037183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53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 및 대응</a:t>
            </a:r>
            <a:endParaRPr lang="en-US" sz="1425" dirty="0"/>
          </a:p>
        </p:txBody>
      </p:sp>
      <p:sp>
        <p:nvSpPr>
          <p:cNvPr id="25" name="Text 10"/>
          <p:cNvSpPr/>
          <p:nvPr/>
        </p:nvSpPr>
        <p:spPr>
          <a:xfrm>
            <a:off x="1685925" y="2524125"/>
            <a:ext cx="4494758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53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OpenAI 시스템 카드: 사이버보안·생물·화학 영역</a:t>
            </a:r>
            <a:pPr indent="0" marL="0">
              <a:lnSpc>
                <a:spcPts val="1953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53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고위험 능력 분류</a:t>
            </a:r>
            <a:endParaRPr lang="en-US" sz="1575" dirty="0"/>
          </a:p>
        </p:txBody>
      </p:sp>
      <p:sp>
        <p:nvSpPr>
          <p:cNvPr id="26" name="Text 11"/>
          <p:cNvSpPr/>
          <p:nvPr/>
        </p:nvSpPr>
        <p:spPr>
          <a:xfrm>
            <a:off x="1685925" y="3943350"/>
            <a:ext cx="3394621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53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역공학 및 사이버 훈련장 end-to-end</a:t>
            </a:r>
            <a:pPr indent="0" marL="0">
              <a:lnSpc>
                <a:spcPts val="1953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53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수행 사례</a:t>
            </a:r>
            <a:endParaRPr lang="en-US" sz="1575" dirty="0"/>
          </a:p>
        </p:txBody>
      </p:sp>
      <p:sp>
        <p:nvSpPr>
          <p:cNvPr id="27" name="Text 12"/>
          <p:cNvSpPr/>
          <p:nvPr/>
        </p:nvSpPr>
        <p:spPr>
          <a:xfrm>
            <a:off x="1685925" y="5343525"/>
            <a:ext cx="968121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53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 Instant, ‘xhigh’ 기준 첫 고위험 분류 모델</a:t>
            </a:r>
            <a:endParaRPr lang="en-US" sz="1575" dirty="0"/>
          </a:p>
        </p:txBody>
      </p:sp>
      <p:sp>
        <p:nvSpPr>
          <p:cNvPr id="28" name="Text 13"/>
          <p:cNvSpPr/>
          <p:nvPr/>
        </p:nvSpPr>
        <p:spPr>
          <a:xfrm>
            <a:off x="7239000" y="2524125"/>
            <a:ext cx="495300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17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추론·코드 능력 향상이 악용 위험도 함께 높임</a:t>
            </a:r>
            <a:endParaRPr lang="en-US" sz="1575" dirty="0"/>
          </a:p>
        </p:txBody>
      </p:sp>
      <p:sp>
        <p:nvSpPr>
          <p:cNvPr id="29" name="Text 14"/>
          <p:cNvSpPr/>
          <p:nvPr/>
        </p:nvSpPr>
        <p:spPr>
          <a:xfrm>
            <a:off x="6487418" y="4410075"/>
            <a:ext cx="398115" cy="4152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신원</a:t>
            </a:r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1500" dirty="0"/>
          </a:p>
        </p:txBody>
      </p:sp>
      <p:sp>
        <p:nvSpPr>
          <p:cNvPr id="30" name="Text 15"/>
          <p:cNvSpPr/>
          <p:nvPr/>
        </p:nvSpPr>
        <p:spPr>
          <a:xfrm>
            <a:off x="7208490" y="4410075"/>
            <a:ext cx="67047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범위</a:t>
            </a:r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</a:t>
            </a:r>
            <a:endParaRPr lang="en-US" sz="1200" dirty="0"/>
          </a:p>
        </p:txBody>
      </p:sp>
      <p:sp>
        <p:nvSpPr>
          <p:cNvPr id="31" name="Text 16"/>
          <p:cNvSpPr/>
          <p:nvPr/>
        </p:nvSpPr>
        <p:spPr>
          <a:xfrm>
            <a:off x="8258621" y="4410075"/>
            <a:ext cx="408533" cy="4152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격리</a:t>
            </a:r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</a:t>
            </a:r>
            <a:endParaRPr lang="en-US" sz="1500" dirty="0"/>
          </a:p>
        </p:txBody>
      </p:sp>
      <p:sp>
        <p:nvSpPr>
          <p:cNvPr id="32" name="Text 17"/>
          <p:cNvSpPr/>
          <p:nvPr/>
        </p:nvSpPr>
        <p:spPr>
          <a:xfrm>
            <a:off x="9173468" y="4410075"/>
            <a:ext cx="398115" cy="4152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</a:t>
            </a:r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절차</a:t>
            </a:r>
            <a:endParaRPr lang="en-US" sz="1500" dirty="0"/>
          </a:p>
        </p:txBody>
      </p:sp>
      <p:sp>
        <p:nvSpPr>
          <p:cNvPr id="33" name="Text 18"/>
          <p:cNvSpPr/>
          <p:nvPr/>
        </p:nvSpPr>
        <p:spPr>
          <a:xfrm>
            <a:off x="10020746" y="4410075"/>
            <a:ext cx="408533" cy="4152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</a:t>
            </a:r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</a:t>
            </a:r>
            <a:endParaRPr lang="en-US" sz="1500" dirty="0"/>
          </a:p>
        </p:txBody>
      </p:sp>
      <p:sp>
        <p:nvSpPr>
          <p:cNvPr id="34" name="Text 19"/>
          <p:cNvSpPr/>
          <p:nvPr/>
        </p:nvSpPr>
        <p:spPr>
          <a:xfrm>
            <a:off x="10938421" y="4410075"/>
            <a:ext cx="33516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90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물백</a:t>
            </a:r>
            <a:endParaRPr lang="en-US" sz="1275" dirty="0"/>
          </a:p>
        </p:txBody>
      </p:sp>
      <p:sp>
        <p:nvSpPr>
          <p:cNvPr id="35" name="Text 20"/>
          <p:cNvSpPr/>
          <p:nvPr/>
        </p:nvSpPr>
        <p:spPr>
          <a:xfrm>
            <a:off x="7239000" y="5505450"/>
            <a:ext cx="49530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분석·취약점 탐지 등 방어적 활용과 위험 통제 필요</a:t>
            </a:r>
            <a:endParaRPr lang="en-US" sz="1500" dirty="0"/>
          </a:p>
        </p:txBody>
      </p:sp>
      <p:sp>
        <p:nvSpPr>
          <p:cNvPr id="36" name="Text 21"/>
          <p:cNvSpPr/>
          <p:nvPr/>
        </p:nvSpPr>
        <p:spPr>
          <a:xfrm>
            <a:off x="8696325" y="6229350"/>
            <a:ext cx="3495675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[출처: OpenAI System Card, UK AISI Report]</a:t>
            </a:r>
            <a:endParaRPr lang="en-US" sz="1125" dirty="0"/>
          </a:p>
        </p:txBody>
      </p:sp>
      <p:sp>
        <p:nvSpPr>
          <p:cNvPr id="37" name="Text 22"/>
          <p:cNvSpPr/>
          <p:nvPr/>
        </p:nvSpPr>
        <p:spPr>
          <a:xfrm>
            <a:off x="228600" y="6467475"/>
            <a:ext cx="182880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  <p:sp>
        <p:nvSpPr>
          <p:cNvPr id="38" name="Text 23"/>
          <p:cNvSpPr/>
          <p:nvPr/>
        </p:nvSpPr>
        <p:spPr>
          <a:xfrm>
            <a:off x="5870674" y="6715125"/>
            <a:ext cx="555278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39644"/>
            <a:ext cx="280392" cy="26059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392" y="4930825"/>
            <a:ext cx="853380" cy="80917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188" y="3387775"/>
            <a:ext cx="877788" cy="83656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6392" y="1803648"/>
            <a:ext cx="853380" cy="93940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196" y="4958209"/>
            <a:ext cx="914400" cy="76110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415159"/>
            <a:ext cx="877788" cy="80917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1899642"/>
            <a:ext cx="865584" cy="754261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28600" y="133350"/>
            <a:ext cx="10287000" cy="3978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사례 매트릭스 (Use-Case Map)</a:t>
            </a:r>
            <a:endParaRPr lang="en-US" sz="2700" dirty="0"/>
          </a:p>
        </p:txBody>
      </p:sp>
      <p:sp>
        <p:nvSpPr>
          <p:cNvPr id="11" name="Text 1"/>
          <p:cNvSpPr/>
          <p:nvPr/>
        </p:nvSpPr>
        <p:spPr>
          <a:xfrm>
            <a:off x="352425" y="742950"/>
            <a:ext cx="6934200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55"/>
              </a:lnSpc>
              <a:buNone/>
            </a:pPr>
            <a:r>
              <a:rPr lang="en-US" sz="19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최적의 GPT-5.5 모델 선택 및 제언</a:t>
            </a:r>
            <a:endParaRPr lang="en-US" sz="1950" dirty="0"/>
          </a:p>
        </p:txBody>
      </p:sp>
      <p:sp>
        <p:nvSpPr>
          <p:cNvPr id="12" name="Text 2"/>
          <p:cNvSpPr/>
          <p:nvPr/>
        </p:nvSpPr>
        <p:spPr>
          <a:xfrm>
            <a:off x="1990725" y="2181225"/>
            <a:ext cx="4421386" cy="6572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18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일상 보조 → GPT-5.5 Instant 권장</a:t>
            </a:r>
            <a:pPr indent="0" marL="0">
              <a:lnSpc>
                <a:spcPts val="2588"/>
              </a:lnSpc>
              <a:buNone/>
            </a:pPr>
            <a:r>
              <a:rPr lang="en-US" sz="18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88"/>
              </a:lnSpc>
              <a:buNone/>
            </a:pPr>
            <a:r>
              <a:rPr lang="en-US" sz="18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기본값 추론, 개인화·메모리 출처 통제 적용</a:t>
            </a:r>
            <a:endParaRPr lang="en-US" sz="1875" dirty="0"/>
          </a:p>
        </p:txBody>
      </p:sp>
      <p:sp>
        <p:nvSpPr>
          <p:cNvPr id="13" name="Text 3"/>
          <p:cNvSpPr/>
          <p:nvPr/>
        </p:nvSpPr>
        <p:spPr>
          <a:xfrm>
            <a:off x="7477125" y="2181225"/>
            <a:ext cx="4337596" cy="6572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18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고위험 도메인은 RAG + 전문가 검토</a:t>
            </a:r>
            <a:pPr indent="0" marL="0">
              <a:lnSpc>
                <a:spcPts val="2588"/>
              </a:lnSpc>
              <a:buNone/>
            </a:pPr>
            <a:r>
              <a:rPr lang="en-US" sz="18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88"/>
              </a:lnSpc>
              <a:buNone/>
            </a:pPr>
            <a:r>
              <a:rPr lang="en-US" sz="18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사실성 개선 ≠ 의료·법률·금융 통제 해소</a:t>
            </a:r>
            <a:endParaRPr lang="en-US" sz="1875" dirty="0"/>
          </a:p>
        </p:txBody>
      </p:sp>
      <p:sp>
        <p:nvSpPr>
          <p:cNvPr id="14" name="Text 4"/>
          <p:cNvSpPr/>
          <p:nvPr/>
        </p:nvSpPr>
        <p:spPr>
          <a:xfrm>
            <a:off x="1990725" y="3686175"/>
            <a:ext cx="4023271" cy="9068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81"/>
              </a:lnSpc>
              <a:buNone/>
            </a:pPr>
            <a:r>
              <a:rPr lang="en-US" sz="17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에이전트 처리 및 검토 필수</a:t>
            </a:r>
            <a:pPr indent="0" marL="0">
              <a:lnSpc>
                <a:spcPts val="2381"/>
              </a:lnSpc>
              <a:buNone/>
            </a:pPr>
            <a:r>
              <a:rPr lang="en-US" sz="17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81"/>
              </a:lnSpc>
              <a:buNone/>
            </a:pPr>
            <a:r>
              <a:rPr lang="en-US" sz="17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medium/high 추론, 격리 환경·diff 검토·</a:t>
            </a:r>
            <a:pPr indent="0" marL="0">
              <a:lnSpc>
                <a:spcPts val="2381"/>
              </a:lnSpc>
              <a:buNone/>
            </a:pPr>
            <a:r>
              <a:rPr lang="en-US" sz="17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81"/>
              </a:lnSpc>
              <a:buNone/>
            </a:pPr>
            <a:r>
              <a:rPr lang="en-US" sz="17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디플리기 경고 필수</a:t>
            </a:r>
            <a:endParaRPr lang="en-US" sz="1725" dirty="0"/>
          </a:p>
        </p:txBody>
      </p:sp>
      <p:sp>
        <p:nvSpPr>
          <p:cNvPr id="15" name="Text 5"/>
          <p:cNvSpPr/>
          <p:nvPr/>
        </p:nvSpPr>
        <p:spPr>
          <a:xfrm>
            <a:off x="7477125" y="3686175"/>
            <a:ext cx="3342233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대량 처리는 소형 모델 고려</a:t>
            </a:r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GPT-5.5 강점이 과한 비용으로 나타날 수 있음</a:t>
            </a:r>
            <a:endParaRPr lang="en-US" sz="1500" dirty="0"/>
          </a:p>
        </p:txBody>
      </p:sp>
      <p:sp>
        <p:nvSpPr>
          <p:cNvPr id="16" name="Text 6"/>
          <p:cNvSpPr/>
          <p:nvPr/>
        </p:nvSpPr>
        <p:spPr>
          <a:xfrm>
            <a:off x="1990725" y="5219700"/>
            <a:ext cx="4107061" cy="6572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18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고난도 기술 검토는 xhigh 비동기</a:t>
            </a:r>
            <a:pPr indent="0" marL="0">
              <a:lnSpc>
                <a:spcPts val="2588"/>
              </a:lnSpc>
              <a:buNone/>
            </a:pPr>
            <a:r>
              <a:rPr lang="en-US" sz="18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88"/>
              </a:lnSpc>
              <a:buNone/>
            </a:pPr>
            <a:r>
              <a:rPr lang="en-US" sz="18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추적 로그·도구 예산·사람 확인 3중 통제</a:t>
            </a:r>
            <a:endParaRPr lang="en-US" sz="1875" dirty="0"/>
          </a:p>
        </p:txBody>
      </p:sp>
      <p:sp>
        <p:nvSpPr>
          <p:cNvPr id="17" name="Text 7"/>
          <p:cNvSpPr/>
          <p:nvPr/>
        </p:nvSpPr>
        <p:spPr>
          <a:xfrm>
            <a:off x="7477125" y="5219700"/>
            <a:ext cx="372993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xhigh 성능 != 운영 Baseline</a:t>
            </a:r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production 기본값은 medium, 별도 검증 필요</a:t>
            </a:r>
            <a:endParaRPr lang="en-US" sz="1350" dirty="0"/>
          </a:p>
        </p:txBody>
      </p:sp>
      <p:sp>
        <p:nvSpPr>
          <p:cNvPr id="18" name="Text 8"/>
          <p:cNvSpPr/>
          <p:nvPr/>
        </p:nvSpPr>
        <p:spPr>
          <a:xfrm>
            <a:off x="2114550" y="1800225"/>
            <a:ext cx="3562350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Fact=초록 #2E7D32</a:t>
            </a:r>
            <a:endParaRPr lang="en-US" sz="1275" dirty="0"/>
          </a:p>
        </p:txBody>
      </p:sp>
      <p:sp>
        <p:nvSpPr>
          <p:cNvPr id="19" name="Text 9"/>
          <p:cNvSpPr/>
          <p:nvPr/>
        </p:nvSpPr>
        <p:spPr>
          <a:xfrm>
            <a:off x="2114550" y="3333750"/>
            <a:ext cx="4015740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Caution=빨강 #B71C1C</a:t>
            </a:r>
            <a:endParaRPr lang="en-US" sz="1275" dirty="0"/>
          </a:p>
        </p:txBody>
      </p:sp>
      <p:sp>
        <p:nvSpPr>
          <p:cNvPr id="20" name="Text 10"/>
          <p:cNvSpPr/>
          <p:nvPr/>
        </p:nvSpPr>
        <p:spPr>
          <a:xfrm>
            <a:off x="2114550" y="4857750"/>
            <a:ext cx="4663440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Inference=파랑 #1565C0</a:t>
            </a:r>
            <a:endParaRPr lang="en-US" sz="1275" dirty="0"/>
          </a:p>
        </p:txBody>
      </p:sp>
      <p:sp>
        <p:nvSpPr>
          <p:cNvPr id="21" name="Text 11"/>
          <p:cNvSpPr/>
          <p:nvPr/>
        </p:nvSpPr>
        <p:spPr>
          <a:xfrm>
            <a:off x="7600950" y="1800225"/>
            <a:ext cx="4015740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Caution=빨강 #B71C1C</a:t>
            </a:r>
            <a:endParaRPr lang="en-US" sz="1275" dirty="0"/>
          </a:p>
        </p:txBody>
      </p:sp>
      <p:sp>
        <p:nvSpPr>
          <p:cNvPr id="22" name="Text 12"/>
          <p:cNvSpPr/>
          <p:nvPr/>
        </p:nvSpPr>
        <p:spPr>
          <a:xfrm>
            <a:off x="7600950" y="3333750"/>
            <a:ext cx="4591050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Inference=파랑 #1565C0</a:t>
            </a:r>
            <a:endParaRPr lang="en-US" sz="1275" dirty="0"/>
          </a:p>
        </p:txBody>
      </p:sp>
      <p:sp>
        <p:nvSpPr>
          <p:cNvPr id="23" name="Text 13"/>
          <p:cNvSpPr/>
          <p:nvPr/>
        </p:nvSpPr>
        <p:spPr>
          <a:xfrm>
            <a:off x="7600950" y="4857750"/>
            <a:ext cx="4015740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Caution=빨강 #B71C1C</a:t>
            </a:r>
            <a:endParaRPr lang="en-US" sz="1275" dirty="0"/>
          </a:p>
        </p:txBody>
      </p:sp>
      <p:sp>
        <p:nvSpPr>
          <p:cNvPr id="24" name="Text 14"/>
          <p:cNvSpPr/>
          <p:nvPr/>
        </p:nvSpPr>
        <p:spPr>
          <a:xfrm>
            <a:off x="5886896" y="6715125"/>
            <a:ext cx="408533" cy="9242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28"/>
              </a:lnSpc>
              <a:buNone/>
            </a:pPr>
            <a:r>
              <a:rPr lang="en-US" sz="750" dirty="0">
                <a:solidFill>
                  <a:srgbClr val="B7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750" dirty="0"/>
          </a:p>
        </p:txBody>
      </p:sp>
      <p:sp>
        <p:nvSpPr>
          <p:cNvPr id="25" name="Text 15"/>
          <p:cNvSpPr/>
          <p:nvPr/>
        </p:nvSpPr>
        <p:spPr>
          <a:xfrm>
            <a:off x="466725" y="6457950"/>
            <a:ext cx="1828800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64"/>
              </a:lnSpc>
              <a:buNone/>
            </a:pPr>
            <a:r>
              <a:rPr lang="en-US" sz="1200" b="1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8125" y="133350"/>
            <a:ext cx="11953875" cy="3414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88"/>
              </a:lnSpc>
              <a:buNone/>
            </a:pPr>
            <a:r>
              <a:rPr lang="en-US" sz="2400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배치 전 점검표 (Pre-Deployment Checklist)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304800" y="742950"/>
            <a:ext cx="11887200" cy="3646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71"/>
              </a:lnSpc>
              <a:buNone/>
            </a:pPr>
            <a:r>
              <a:rPr lang="en-US" sz="2175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안전하고 신뢰할 수 있는 GPT-5.5 배포를 위한 최종 필수 점검 목록</a:t>
            </a:r>
            <a:endParaRPr lang="en-US" sz="2175" dirty="0"/>
          </a:p>
        </p:txBody>
      </p:sp>
      <p:sp>
        <p:nvSpPr>
          <p:cNvPr id="6" name="Text 2"/>
          <p:cNvSpPr/>
          <p:nvPr/>
        </p:nvSpPr>
        <p:spPr>
          <a:xfrm>
            <a:off x="962025" y="2533650"/>
            <a:ext cx="5303520" cy="3646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71"/>
              </a:lnSpc>
              <a:buNone/>
            </a:pPr>
            <a:r>
              <a:rPr lang="en-US" sz="2175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모델 유형·추론 강도 기록</a:t>
            </a:r>
            <a:endParaRPr lang="en-US" sz="2175" dirty="0"/>
          </a:p>
        </p:txBody>
      </p:sp>
      <p:sp>
        <p:nvSpPr>
          <p:cNvPr id="7" name="Text 3"/>
          <p:cNvSpPr/>
          <p:nvPr/>
        </p:nvSpPr>
        <p:spPr>
          <a:xfrm>
            <a:off x="962025" y="4562475"/>
            <a:ext cx="7292340" cy="3646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71"/>
              </a:lnSpc>
              <a:buNone/>
            </a:pPr>
            <a:r>
              <a:rPr lang="en-US" sz="2175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답변 보류(abstention) 허용</a:t>
            </a:r>
            <a:endParaRPr lang="en-US" sz="2175" dirty="0"/>
          </a:p>
        </p:txBody>
      </p:sp>
      <p:sp>
        <p:nvSpPr>
          <p:cNvPr id="8" name="Text 4"/>
          <p:cNvSpPr/>
          <p:nvPr/>
        </p:nvSpPr>
        <p:spPr>
          <a:xfrm>
            <a:off x="962025" y="3543300"/>
            <a:ext cx="6629400" cy="3646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71"/>
              </a:lnSpc>
              <a:buNone/>
            </a:pPr>
            <a:r>
              <a:rPr lang="en-US" sz="2175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도구 권한·부작용 범위 사전 설정</a:t>
            </a:r>
            <a:endParaRPr lang="en-US" sz="2175" dirty="0"/>
          </a:p>
        </p:txBody>
      </p:sp>
      <p:sp>
        <p:nvSpPr>
          <p:cNvPr id="9" name="Text 5"/>
          <p:cNvSpPr/>
          <p:nvPr/>
        </p:nvSpPr>
        <p:spPr>
          <a:xfrm>
            <a:off x="6686550" y="2533650"/>
            <a:ext cx="5505450" cy="3646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71"/>
              </a:lnSpc>
              <a:buNone/>
            </a:pPr>
            <a:r>
              <a:rPr lang="en-US" sz="2175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사실 주장에 인용·출처 요구</a:t>
            </a:r>
            <a:endParaRPr lang="en-US" sz="2175" dirty="0"/>
          </a:p>
        </p:txBody>
      </p:sp>
      <p:sp>
        <p:nvSpPr>
          <p:cNvPr id="10" name="Text 6"/>
          <p:cNvSpPr/>
          <p:nvPr/>
        </p:nvSpPr>
        <p:spPr>
          <a:xfrm>
            <a:off x="6686550" y="4562475"/>
            <a:ext cx="5505450" cy="3646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71"/>
              </a:lnSpc>
              <a:buNone/>
            </a:pPr>
            <a:r>
              <a:rPr lang="en-US" sz="2175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고위험 도메인 사람 검토 유지</a:t>
            </a:r>
            <a:endParaRPr lang="en-US" sz="2175" dirty="0"/>
          </a:p>
        </p:txBody>
      </p:sp>
      <p:sp>
        <p:nvSpPr>
          <p:cNvPr id="11" name="Text 7"/>
          <p:cNvSpPr/>
          <p:nvPr/>
        </p:nvSpPr>
        <p:spPr>
          <a:xfrm>
            <a:off x="6686550" y="3543300"/>
            <a:ext cx="5505450" cy="3646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71"/>
              </a:lnSpc>
              <a:buNone/>
            </a:pPr>
            <a:r>
              <a:rPr lang="en-US" sz="2175" b="1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운영 트래픽과 평가 차이 추적</a:t>
            </a:r>
            <a:endParaRPr lang="en-US" sz="2175" dirty="0"/>
          </a:p>
        </p:txBody>
      </p:sp>
      <p:sp>
        <p:nvSpPr>
          <p:cNvPr id="12" name="Text 8"/>
          <p:cNvSpPr/>
          <p:nvPr/>
        </p:nvSpPr>
        <p:spPr>
          <a:xfrm>
            <a:off x="2172593" y="1543050"/>
            <a:ext cx="2074515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및 시스템 구성</a:t>
            </a:r>
            <a:endParaRPr lang="en-US" sz="1875" dirty="0"/>
          </a:p>
        </p:txBody>
      </p:sp>
      <p:sp>
        <p:nvSpPr>
          <p:cNvPr id="13" name="Text 9"/>
          <p:cNvSpPr/>
          <p:nvPr/>
        </p:nvSpPr>
        <p:spPr>
          <a:xfrm>
            <a:off x="7662863" y="1543050"/>
            <a:ext cx="2619375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신뢰 및 운영 검토</a:t>
            </a:r>
            <a:endParaRPr lang="en-US" sz="1875" dirty="0"/>
          </a:p>
        </p:txBody>
      </p:sp>
      <p:sp>
        <p:nvSpPr>
          <p:cNvPr id="14" name="Text 10"/>
          <p:cNvSpPr/>
          <p:nvPr/>
        </p:nvSpPr>
        <p:spPr>
          <a:xfrm>
            <a:off x="1323975" y="2943225"/>
            <a:ext cx="7886700" cy="2891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Variant와 Effort 설정을 배포 기록에 남긴다</a:t>
            </a:r>
            <a:endParaRPr lang="en-US" sz="1725" dirty="0"/>
          </a:p>
        </p:txBody>
      </p:sp>
      <p:sp>
        <p:nvSpPr>
          <p:cNvPr id="15" name="Text 11"/>
          <p:cNvSpPr/>
          <p:nvPr/>
        </p:nvSpPr>
        <p:spPr>
          <a:xfrm>
            <a:off x="1323975" y="5000625"/>
            <a:ext cx="5783580" cy="2891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모를 때 멈추는 응답을 허용하고 보상한다</a:t>
            </a:r>
            <a:endParaRPr lang="en-US" sz="1725" dirty="0"/>
          </a:p>
        </p:txBody>
      </p:sp>
      <p:sp>
        <p:nvSpPr>
          <p:cNvPr id="16" name="Text 12"/>
          <p:cNvSpPr/>
          <p:nvPr/>
        </p:nvSpPr>
        <p:spPr>
          <a:xfrm>
            <a:off x="1323975" y="3952875"/>
            <a:ext cx="5783580" cy="2891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접근 범위와 부작용을 미리 제한한다</a:t>
            </a:r>
            <a:endParaRPr lang="en-US" sz="1725" dirty="0"/>
          </a:p>
        </p:txBody>
      </p:sp>
      <p:sp>
        <p:nvSpPr>
          <p:cNvPr id="17" name="Text 13"/>
          <p:cNvSpPr/>
          <p:nvPr/>
        </p:nvSpPr>
        <p:spPr>
          <a:xfrm>
            <a:off x="7058025" y="2943225"/>
            <a:ext cx="5133975" cy="2891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사실 주장에 출처 첨부를 의무화한다</a:t>
            </a:r>
            <a:endParaRPr lang="en-US" sz="1725" dirty="0"/>
          </a:p>
        </p:txBody>
      </p:sp>
      <p:sp>
        <p:nvSpPr>
          <p:cNvPr id="18" name="Text 14"/>
          <p:cNvSpPr/>
          <p:nvPr/>
        </p:nvSpPr>
        <p:spPr>
          <a:xfrm>
            <a:off x="7058025" y="5000625"/>
            <a:ext cx="5133975" cy="2891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의료·법률·금융·보안은 반드시 전문가가 확인한다</a:t>
            </a:r>
            <a:endParaRPr lang="en-US" sz="1725" dirty="0"/>
          </a:p>
        </p:txBody>
      </p:sp>
      <p:sp>
        <p:nvSpPr>
          <p:cNvPr id="19" name="Text 15"/>
          <p:cNvSpPr/>
          <p:nvPr/>
        </p:nvSpPr>
        <p:spPr>
          <a:xfrm>
            <a:off x="7058025" y="3952875"/>
            <a:ext cx="5133975" cy="2891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77"/>
              </a:lnSpc>
              <a:buNone/>
            </a:pPr>
            <a:r>
              <a:rPr lang="en-US" sz="1725" dirty="0">
                <a:solidFill>
                  <a:srgbClr val="1F1F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평가와 실제 운영 결과를 비교한다</a:t>
            </a:r>
            <a:endParaRPr lang="en-US" sz="1725" dirty="0"/>
          </a:p>
        </p:txBody>
      </p:sp>
      <p:sp>
        <p:nvSpPr>
          <p:cNvPr id="20" name="Text 16"/>
          <p:cNvSpPr/>
          <p:nvPr/>
        </p:nvSpPr>
        <p:spPr>
          <a:xfrm>
            <a:off x="104775" y="6457950"/>
            <a:ext cx="22860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5813524" y="6715125"/>
            <a:ext cx="555278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43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271" y="3908971"/>
            <a:ext cx="1755577" cy="60349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157" y="2626519"/>
            <a:ext cx="268188" cy="26744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953" y="2352229"/>
            <a:ext cx="292596" cy="23991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953" y="2016175"/>
            <a:ext cx="292596" cy="28798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28600" y="123825"/>
            <a:ext cx="11692890" cy="3740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45"/>
              </a:lnSpc>
              <a:buNone/>
            </a:pPr>
            <a:r>
              <a:rPr lang="en-US" sz="24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경영진용 한 장 요약 / Executive Summary</a:t>
            </a:r>
            <a:endParaRPr lang="en-US" sz="2475" dirty="0"/>
          </a:p>
        </p:txBody>
      </p:sp>
      <p:sp>
        <p:nvSpPr>
          <p:cNvPr id="9" name="Text 1"/>
          <p:cNvSpPr/>
          <p:nvPr/>
        </p:nvSpPr>
        <p:spPr>
          <a:xfrm>
            <a:off x="771525" y="1600200"/>
            <a:ext cx="256032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무엇이 바뀌었나</a:t>
            </a:r>
            <a:endParaRPr lang="en-US" sz="2100" dirty="0"/>
          </a:p>
        </p:txBody>
      </p:sp>
      <p:sp>
        <p:nvSpPr>
          <p:cNvPr id="10" name="Text 2"/>
          <p:cNvSpPr/>
          <p:nvPr/>
        </p:nvSpPr>
        <p:spPr>
          <a:xfrm>
            <a:off x="771525" y="3276600"/>
            <a:ext cx="320040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벤치마크 선두 비교</a:t>
            </a:r>
            <a:endParaRPr lang="en-US" sz="2100" dirty="0"/>
          </a:p>
        </p:txBody>
      </p:sp>
      <p:sp>
        <p:nvSpPr>
          <p:cNvPr id="11" name="Text 3"/>
          <p:cNvSpPr/>
          <p:nvPr/>
        </p:nvSpPr>
        <p:spPr>
          <a:xfrm>
            <a:off x="6534150" y="1600200"/>
            <a:ext cx="320040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 시험해볼 항목</a:t>
            </a:r>
            <a:endParaRPr lang="en-US" sz="2100" dirty="0"/>
          </a:p>
        </p:txBody>
      </p:sp>
      <p:sp>
        <p:nvSpPr>
          <p:cNvPr id="12" name="Text 4"/>
          <p:cNvSpPr/>
          <p:nvPr/>
        </p:nvSpPr>
        <p:spPr>
          <a:xfrm>
            <a:off x="6534150" y="3343275"/>
            <a:ext cx="352044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과대 해석 금지 사항</a:t>
            </a:r>
            <a:endParaRPr lang="en-US" sz="2100" dirty="0"/>
          </a:p>
        </p:txBody>
      </p:sp>
      <p:sp>
        <p:nvSpPr>
          <p:cNvPr id="13" name="Text 5"/>
          <p:cNvSpPr/>
          <p:nvPr/>
        </p:nvSpPr>
        <p:spPr>
          <a:xfrm>
            <a:off x="771525" y="4991100"/>
            <a:ext cx="640080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사실성 vs Hallucination</a:t>
            </a:r>
            <a:endParaRPr lang="en-US" sz="2100" dirty="0"/>
          </a:p>
        </p:txBody>
      </p:sp>
      <p:sp>
        <p:nvSpPr>
          <p:cNvPr id="14" name="Text 6"/>
          <p:cNvSpPr/>
          <p:nvPr/>
        </p:nvSpPr>
        <p:spPr>
          <a:xfrm>
            <a:off x="6534150" y="4991100"/>
            <a:ext cx="160020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결론</a:t>
            </a:r>
            <a:endParaRPr lang="en-US" sz="2100" dirty="0"/>
          </a:p>
        </p:txBody>
      </p:sp>
      <p:sp>
        <p:nvSpPr>
          <p:cNvPr id="15" name="Text 7"/>
          <p:cNvSpPr/>
          <p:nvPr/>
        </p:nvSpPr>
        <p:spPr>
          <a:xfrm>
            <a:off x="771525" y="2038350"/>
            <a:ext cx="5332958" cy="614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🤔 Thinking, 에이전트·도구·긴 문맥 개선</a:t>
            </a:r>
            <a:pPr indent="0" marL="0">
              <a:lnSpc>
                <a:spcPts val="241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1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💼 Instant: 기본 모델 교체 / Pro: 고정확도 설정</a:t>
            </a:r>
            <a:endParaRPr lang="en-US" sz="1950" dirty="0"/>
          </a:p>
        </p:txBody>
      </p:sp>
      <p:sp>
        <p:nvSpPr>
          <p:cNvPr id="16" name="Text 8"/>
          <p:cNvSpPr/>
          <p:nvPr/>
        </p:nvSpPr>
        <p:spPr>
          <a:xfrm>
            <a:off x="771525" y="3686175"/>
            <a:ext cx="4159448" cy="85055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3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대상에 따라 상이함.</a:t>
            </a:r>
            <a:pPr indent="0" marL="0">
              <a:lnSpc>
                <a:spcPts val="223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3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터미널 작업: GPT-5.5 약점</a:t>
            </a:r>
            <a:pPr indent="0" marL="0">
              <a:lnSpc>
                <a:spcPts val="223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3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이해 해결: Claude Opus 4.7 약점</a:t>
            </a:r>
            <a:endParaRPr lang="en-US" sz="1800" dirty="0"/>
          </a:p>
        </p:txBody>
      </p:sp>
      <p:sp>
        <p:nvSpPr>
          <p:cNvPr id="17" name="Text 9"/>
          <p:cNvSpPr/>
          <p:nvPr/>
        </p:nvSpPr>
        <p:spPr>
          <a:xfrm>
            <a:off x="6534150" y="2038350"/>
            <a:ext cx="3227040" cy="9210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Instant: 저위험 일상 보조</a:t>
            </a:r>
            <a:pPr indent="0" marL="0">
              <a:lnSpc>
                <a:spcPts val="241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1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Thinking: 코드·조사</a:t>
            </a:r>
            <a:pPr indent="0" marL="0">
              <a:lnSpc>
                <a:spcPts val="241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1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Pro: 고가치 비동기 작업</a:t>
            </a:r>
            <a:endParaRPr lang="en-US" sz="1950" dirty="0"/>
          </a:p>
        </p:txBody>
      </p:sp>
      <p:sp>
        <p:nvSpPr>
          <p:cNvPr id="18" name="Text 10"/>
          <p:cNvSpPr/>
          <p:nvPr/>
        </p:nvSpPr>
        <p:spPr>
          <a:xfrm>
            <a:off x="6534150" y="3781425"/>
            <a:ext cx="5270153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xhigh 점수를 production 기본값으로 제시 금지</a:t>
            </a:r>
            <a:pPr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Pro를 별도 아키텍처로 설명 금지</a:t>
            </a:r>
            <a:endParaRPr lang="en-US" sz="1875" dirty="0"/>
          </a:p>
        </p:txBody>
      </p:sp>
      <p:sp>
        <p:nvSpPr>
          <p:cNvPr id="19" name="Text 11"/>
          <p:cNvSpPr/>
          <p:nvPr/>
        </p:nvSpPr>
        <p:spPr>
          <a:xfrm>
            <a:off x="771525" y="5429250"/>
            <a:ext cx="5353943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사실성 개선 ≠ Hallucination 해소</a:t>
            </a:r>
            <a:pPr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불확실할 때 답변 보류 능력은 별도 내부 검증 필요</a:t>
            </a:r>
            <a:endParaRPr lang="en-US" sz="1875" dirty="0"/>
          </a:p>
        </p:txBody>
      </p:sp>
      <p:sp>
        <p:nvSpPr>
          <p:cNvPr id="20" name="Text 12"/>
          <p:cNvSpPr/>
          <p:nvPr/>
        </p:nvSpPr>
        <p:spPr>
          <a:xfrm>
            <a:off x="6534150" y="5429250"/>
            <a:ext cx="5123408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'더 높은 권한 전에 기록·근거 검증·도구 범위·</a:t>
            </a:r>
            <a:pPr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25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승인·되돌리기 경로를 먼저 갖출 것'</a:t>
            </a:r>
            <a:endParaRPr lang="en-US" sz="1875" dirty="0"/>
          </a:p>
        </p:txBody>
      </p:sp>
      <p:sp>
        <p:nvSpPr>
          <p:cNvPr id="21" name="Text 13"/>
          <p:cNvSpPr/>
          <p:nvPr/>
        </p:nvSpPr>
        <p:spPr>
          <a:xfrm>
            <a:off x="352425" y="742950"/>
            <a:ext cx="11839575" cy="2948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2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 및 권고 사항 / Key Insights and Recommendations</a:t>
            </a:r>
            <a:endParaRPr lang="en-US" sz="1800" dirty="0"/>
          </a:p>
        </p:txBody>
      </p:sp>
      <p:sp>
        <p:nvSpPr>
          <p:cNvPr id="22" name="Text 14"/>
          <p:cNvSpPr/>
          <p:nvPr/>
        </p:nvSpPr>
        <p:spPr>
          <a:xfrm>
            <a:off x="8853934" y="3429000"/>
            <a:ext cx="722858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Caution</a:t>
            </a:r>
            <a:endParaRPr lang="en-US" sz="1275" dirty="0"/>
          </a:p>
        </p:txBody>
      </p:sp>
      <p:sp>
        <p:nvSpPr>
          <p:cNvPr id="23" name="Text 15"/>
          <p:cNvSpPr/>
          <p:nvPr/>
        </p:nvSpPr>
        <p:spPr>
          <a:xfrm>
            <a:off x="3761780" y="5057775"/>
            <a:ext cx="848618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Caution</a:t>
            </a:r>
            <a:endParaRPr lang="en-US" sz="1500" dirty="0"/>
          </a:p>
        </p:txBody>
      </p:sp>
      <p:sp>
        <p:nvSpPr>
          <p:cNvPr id="24" name="Text 16"/>
          <p:cNvSpPr/>
          <p:nvPr/>
        </p:nvSpPr>
        <p:spPr>
          <a:xfrm>
            <a:off x="4120902" y="5438775"/>
            <a:ext cx="492323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Fact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104775" y="6467475"/>
            <a:ext cx="22860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5876925" y="6715125"/>
            <a:ext cx="419100" cy="848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668"/>
              </a:lnSpc>
              <a:buNone/>
            </a:pPr>
            <a:r>
              <a:rPr lang="en-US" sz="67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김현중 with Codex Agent | AI Governance Team</dc:creator>
  <cp:lastModifiedBy>김현중 with Codex Agent | AI Governance Team</cp:lastModifiedBy>
  <cp:revision>1</cp:revision>
  <dcterms:created xsi:type="dcterms:W3CDTF">2026-05-07T00:00:00Z</dcterms:created>
  <dcterms:modified xsi:type="dcterms:W3CDTF">2026-05-07T00:00:00Z</dcterms:modified>
</cp:coreProperties>
</file>