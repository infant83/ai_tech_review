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Malgun Gothic"/>
              </a:rPr>
              <a:t>AI TECH REVIEW | 2026-04-23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978408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9201D"/>
                </a:solidFill>
                <a:latin typeface="Malgun Gothic"/>
              </a:rPr>
              <a:t>2026-04-17 AI Updates Weekly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996696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543D"/>
                </a:solidFill>
                <a:latin typeface="Malgun Gothic"/>
              </a:rPr>
              <a:t>모델 성능 경쟁에서 에이전트 운영 레이어 경쟁으로 이동하는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7680960" cy="10789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6605B"/>
                </a:solidFill>
                <a:latin typeface="Malgun Gothic"/>
              </a:rPr>
              <a:t>기반 자료: Lev Selector 영상, 동반 PPTX, 공식 Anthropic/OpenAI 문서, MCP docs, GitHub repos, 노동시장 tracker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91456"/>
            <a:ext cx="1143000" cy="292608"/>
          </a:xfrm>
          <a:prstGeom prst="roundRect">
            <a:avLst/>
          </a:prstGeom>
          <a:solidFill>
            <a:srgbClr val="E6F4F1"/>
          </a:solidFill>
          <a:ln w="9525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4846320"/>
            <a:ext cx="996696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F766E"/>
                </a:solidFill>
                <a:latin typeface="Malgun Gothic"/>
              </a:rPr>
              <a:t>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4791456"/>
            <a:ext cx="1143000" cy="292608"/>
          </a:xfrm>
          <a:prstGeom prst="roundRect">
            <a:avLst/>
          </a:prstGeom>
          <a:solidFill>
            <a:srgbClr val="E6F4F1"/>
          </a:solidFill>
          <a:ln w="9525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9112" y="4846320"/>
            <a:ext cx="996696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F766E"/>
                </a:solidFill>
                <a:latin typeface="Malgun Gothic"/>
              </a:rPr>
              <a:t>Harness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4791456"/>
            <a:ext cx="1143000" cy="292608"/>
          </a:xfrm>
          <a:prstGeom prst="roundRect">
            <a:avLst/>
          </a:prstGeom>
          <a:solidFill>
            <a:srgbClr val="E6F4F1"/>
          </a:solidFill>
          <a:ln w="9525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1" y="4846320"/>
            <a:ext cx="996696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F766E"/>
                </a:solidFill>
                <a:latin typeface="Malgun Gothic"/>
              </a:rPr>
              <a:t>Protocol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4791456"/>
            <a:ext cx="1143000" cy="292608"/>
          </a:xfrm>
          <a:prstGeom prst="roundRect">
            <a:avLst/>
          </a:prstGeom>
          <a:solidFill>
            <a:srgbClr val="E6F4F1"/>
          </a:solidFill>
          <a:ln w="9525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4846320"/>
            <a:ext cx="996696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F766E"/>
                </a:solidFill>
                <a:latin typeface="Malgun Gothic"/>
              </a:rPr>
              <a:t>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4791456"/>
            <a:ext cx="1143000" cy="292608"/>
          </a:xfrm>
          <a:prstGeom prst="roundRect">
            <a:avLst/>
          </a:prstGeom>
          <a:solidFill>
            <a:srgbClr val="E6F4F1"/>
          </a:solidFill>
          <a:ln w="9525">
            <a:solidFill>
              <a:srgbClr val="E6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4846320"/>
            <a:ext cx="996696" cy="1645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F766E"/>
                </a:solidFill>
                <a:latin typeface="Malgun Gothic"/>
              </a:rP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Template reference: LGD_Template.pptx | Package: 2026-04-17_ai-updates-weekly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이번 업데이트의 증거 지형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영상과 PPTX는 discovery layer, 결론은 공식 문서와 repo 검증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974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" cy="425196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81328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Confirmed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2386584" cy="36301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Opus 4.7: 2026-04-16 공식 공개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Agent SDK: tools/MCP/hooks/subagents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MCP primitives: tools/resources/prompts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Plugin marketplace docs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Mythos Preview: gated cyber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6974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54864" cy="425196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481328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Strong Secondary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828800"/>
            <a:ext cx="2386584" cy="36301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Anthropic $30B ARR signal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OpenAI $25B 비교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Broadcom/Google compute 규모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일부 enterprise customer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325880"/>
            <a:ext cx="26974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54864" cy="425196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481328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Weak / Unverified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1828800"/>
            <a:ext cx="2386584" cy="36301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Mythos internal flywheel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금융당국 emergency meeting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전통 SW 즉시 소멸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단일 노동시장 붕괴 서사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26974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325880"/>
            <a:ext cx="54864" cy="425196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481328"/>
            <a:ext cx="23865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1828800"/>
            <a:ext cx="2386584" cy="36301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경쟁축은 agent operating layer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프롬프트 -&gt; 패키지/프로토콜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개인 digital employee stack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권한/감사가 adoption 병목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Anthropic Opus/SDK docs, MCP architecture, Anthropic GitHub repos, OpenAI enterprise note, source deck link harvest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Agent Operating Layer의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더 좋은 답변보다 더 안정적인 실행면이 경쟁축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3429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54864" cy="109728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29844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45920"/>
            <a:ext cx="3118104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01D"/>
                </a:solidFill>
                <a:latin typeface="Malgun Gothic"/>
              </a:rPr>
              <a:t>Opus 4.7 / GPT-5.4 / Gemini / Mythos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43000"/>
            <a:ext cx="3429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43000"/>
            <a:ext cx="54864" cy="109728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29844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20"/>
            <a:ext cx="3118104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01D"/>
                </a:solidFill>
                <a:latin typeface="Malgun Gothic"/>
              </a:rPr>
              <a:t>Claude Code / Agent SDK / desktop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143000"/>
            <a:ext cx="3429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143000"/>
            <a:ext cx="54864" cy="109728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29844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645920"/>
            <a:ext cx="3118104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01D"/>
                </a:solidFill>
                <a:latin typeface="Malgun Gothic"/>
              </a:rPr>
              <a:t>MCP tools / resources / prompts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743200"/>
            <a:ext cx="3429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743200"/>
            <a:ext cx="54864" cy="109728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89864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246120"/>
            <a:ext cx="3118104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01D"/>
                </a:solidFill>
                <a:latin typeface="Malgun Gothic"/>
              </a:rPr>
              <a:t>plugins / skills / marketplaces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743200"/>
            <a:ext cx="3429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743200"/>
            <a:ext cx="54864" cy="109728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289864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246120"/>
            <a:ext cx="3118104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01D"/>
                </a:solidFill>
                <a:latin typeface="Malgun Gothic"/>
              </a:rPr>
              <a:t>Cognee / Obsidian / session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2743200"/>
            <a:ext cx="34290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2743200"/>
            <a:ext cx="54864" cy="109728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289864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3246120"/>
            <a:ext cx="3118104" cy="4754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01D"/>
                </a:solidFill>
                <a:latin typeface="Malgun Gothic"/>
              </a:rPr>
              <a:t>CLI / browser / files / SaaS /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343400"/>
            <a:ext cx="6995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4600" y="4343400"/>
            <a:ext cx="54864" cy="86868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9192" y="4498848"/>
            <a:ext cx="66842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Governance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9192" y="4846320"/>
            <a:ext cx="6684264" cy="24688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9201D"/>
                </a:solidFill>
                <a:latin typeface="Malgun Gothic"/>
              </a:rPr>
              <a:t>permissions / audit / approval / sandbox / data boundaries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715000"/>
            <a:ext cx="101955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5715000"/>
            <a:ext cx="54864" cy="749808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5870448"/>
            <a:ext cx="98846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핵심 판단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6217920"/>
            <a:ext cx="9884664" cy="12801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19201D"/>
                </a:solidFill>
                <a:latin typeface="Malgun Gothic"/>
              </a:rPr>
              <a:t>팀은 모델 leaderboard만 보지 말고, 도구 권한·메모리·감사·실패 복구·배포비용을 함께 평가해야 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Interpretation based on source pack + Anthropic/OpenAI/MCP 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Anthropic Stack: Opus 4.7 + Agent SDK +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모델 출시와 개발자 실행면이 같은 방향으로 움직임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864" cy="41148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89888"/>
            <a:ext cx="32552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Claude Opus 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37360"/>
            <a:ext cx="3255264" cy="349300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2026-04-16 official announcement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1M context window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coding / AI agents / enterprise workflows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API model id: claude-opus-4-7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premium model: hard tasks 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34440"/>
            <a:ext cx="54864" cy="41148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389888"/>
            <a:ext cx="32552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Claude Agent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737360"/>
            <a:ext cx="3255264" cy="349300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Built-in tools: Read / Write / Edit / Bash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Hooks, permissions, sessions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Subagents for parallel/context isolation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MCP integration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External agents reuse Claude Code harness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54864" cy="411480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389888"/>
            <a:ext cx="32552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Claude Code /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737360"/>
            <a:ext cx="3255264" cy="349300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Releases around Apr 16-18 confirm fast iteration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Developer-focused UI and routines signal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Agent teams, browser preview, PR handling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Execution surface, not only chat 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anthropic.com/claude/opus, code.claude.com/docs/en/agent-sdk/overview, github.com/anthropics/claude-code/releases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Plugins + MCP: 프롬프트가 패키지와 프로토콜로 변한다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재사용 가능한 workflow는 instruction + tools + permissions + tests의 묶음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3657600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07008"/>
            <a:ext cx="54864" cy="437083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62456"/>
            <a:ext cx="33467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Plugin / Skill Packaging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09928"/>
            <a:ext cx="3346704" cy="374904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knowledge-work-plugins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financial-services-plugins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.claude-plugin/plugin.json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marketplace.json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repo/local cache 기반 배포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팀별 workflow standardization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07008"/>
            <a:ext cx="3291840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07008"/>
            <a:ext cx="54864" cy="4370832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362456"/>
            <a:ext cx="298094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MCP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709928"/>
            <a:ext cx="2980944" cy="374904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Host: Claude Code / Desktop / IDE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Client: server별 dedicated connection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Server: context provider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Primitives: tools, resources, prompts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Transport: stdio or streamable HTTP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207008"/>
            <a:ext cx="3611880" cy="43708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207008"/>
            <a:ext cx="54864" cy="4370832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1362456"/>
            <a:ext cx="33009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왜 중요한가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1709928"/>
            <a:ext cx="3300984" cy="374904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integration code 반복을 줄임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tool discovery와 call 방식 표준화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agent가 SaaS/DB/files를 다룰 수 있음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동시에 supply-chain surface도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code.claude.com/docs/en/plugin-marketplaces, modelcontextprotocol.io/docs/learn/architecture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Mythos Preview: Capability와 Control의 경계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일반 공개가 아니라 보안 방어 중심 제한 preview로 읽어야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892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543D"/>
                </a:solidFill>
                <a:latin typeface="Malgun Gothic"/>
              </a:rPr>
              <a:t>공식 자료로 확인되는 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83480" cy="196596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200"/>
              </a:spcAft>
              <a:defRPr sz="1130">
                <a:solidFill>
                  <a:srgbClr val="19201D"/>
                </a:solidFill>
                <a:latin typeface="Malgun Gothic"/>
              </a:defRPr>
            </a:pPr>
            <a:r>
              <a:rPr sz="1130">
                <a:solidFill>
                  <a:srgbClr val="19201D"/>
                </a:solidFill>
                <a:latin typeface="Malgun Gothic"/>
              </a:rPr>
              <a:t>• containerized scaffold 안에서 source를 읽고 취약점 가설을 세움</a:t>
            </a:r>
          </a:p>
          <a:p>
            <a:pPr>
              <a:spcAft>
                <a:spcPts val="200"/>
              </a:spcAft>
              <a:defRPr sz="1130">
                <a:solidFill>
                  <a:srgbClr val="19201D"/>
                </a:solidFill>
                <a:latin typeface="Malgun Gothic"/>
              </a:defRPr>
            </a:pPr>
            <a:r>
              <a:rPr sz="1130">
                <a:solidFill>
                  <a:srgbClr val="19201D"/>
                </a:solidFill>
                <a:latin typeface="Malgun Gothic"/>
              </a:rPr>
              <a:t>• 실행·debug·검증을 반복해 bug report와 PoC를 생성</a:t>
            </a:r>
          </a:p>
          <a:p>
            <a:pPr>
              <a:spcAft>
                <a:spcPts val="200"/>
              </a:spcAft>
              <a:defRPr sz="1130">
                <a:solidFill>
                  <a:srgbClr val="19201D"/>
                </a:solidFill>
                <a:latin typeface="Malgun Gothic"/>
              </a:defRPr>
            </a:pPr>
            <a:r>
              <a:rPr sz="1130">
                <a:solidFill>
                  <a:srgbClr val="19201D"/>
                </a:solidFill>
                <a:latin typeface="Malgun Gothic"/>
              </a:rPr>
              <a:t>• 최종 triage와 coordinated disclosure 원칙을 강조</a:t>
            </a:r>
          </a:p>
          <a:p>
            <a:pPr>
              <a:spcAft>
                <a:spcPts val="200"/>
              </a:spcAft>
              <a:defRPr sz="1130">
                <a:solidFill>
                  <a:srgbClr val="19201D"/>
                </a:solidFill>
                <a:latin typeface="Malgun Gothic"/>
              </a:defRPr>
            </a:pPr>
            <a:r>
              <a:rPr sz="1130">
                <a:solidFill>
                  <a:srgbClr val="19201D"/>
                </a:solidFill>
                <a:latin typeface="Malgun Gothic"/>
              </a:rPr>
              <a:t>• general availability가 아니라 restricted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0292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Malgun Gothic"/>
              </a:rPr>
              <a:t>슬라이드에서 낮춰야 할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4983480" cy="196596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200"/>
              </a:spcAft>
              <a:defRPr sz="1130">
                <a:solidFill>
                  <a:srgbClr val="19201D"/>
                </a:solidFill>
                <a:latin typeface="Malgun Gothic"/>
              </a:defRPr>
            </a:pPr>
            <a:r>
              <a:rPr sz="1130">
                <a:solidFill>
                  <a:srgbClr val="19201D"/>
                </a:solidFill>
                <a:latin typeface="Malgun Gothic"/>
              </a:rPr>
              <a:t>• internal flywheel / regulator emergency meeting는 official baseline 아님</a:t>
            </a:r>
          </a:p>
          <a:p>
            <a:pPr>
              <a:spcAft>
                <a:spcPts val="200"/>
              </a:spcAft>
              <a:defRPr sz="1130">
                <a:solidFill>
                  <a:srgbClr val="19201D"/>
                </a:solidFill>
                <a:latin typeface="Malgun Gothic"/>
              </a:defRPr>
            </a:pPr>
            <a:r>
              <a:rPr sz="1130">
                <a:solidFill>
                  <a:srgbClr val="19201D"/>
                </a:solidFill>
                <a:latin typeface="Malgun Gothic"/>
              </a:rPr>
              <a:t>• 4x productivity 같은 내부 생산성 수치는 별도 확인 필요</a:t>
            </a:r>
          </a:p>
          <a:p>
            <a:pPr>
              <a:spcAft>
                <a:spcPts val="200"/>
              </a:spcAft>
              <a:defRPr sz="1130">
                <a:solidFill>
                  <a:srgbClr val="19201D"/>
                </a:solidFill>
                <a:latin typeface="Malgun Gothic"/>
              </a:defRPr>
            </a:pPr>
            <a:r>
              <a:rPr sz="1130">
                <a:solidFill>
                  <a:srgbClr val="19201D"/>
                </a:solidFill>
                <a:latin typeface="Malgun Gothic"/>
              </a:rPr>
              <a:t>• cyber 모델은 '더 강한 코딩 모델'보다 release governance 이슈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51960"/>
            <a:ext cx="10652760" cy="960120"/>
          </a:xfrm>
          <a:prstGeom prst="rect">
            <a:avLst/>
          </a:prstGeom>
          <a:solidFill>
            <a:srgbClr val="F4F9F7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07992"/>
            <a:ext cx="10149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9201D"/>
                </a:solidFill>
                <a:latin typeface="Malgun Gothic"/>
              </a:rPr>
              <a:t>Implication: 방어팀은 현재 공개 frontier model로 vulnerability finding practice를 시작하되, tool 권한·sandbox·audit·disclosure process를 먼저 설계해야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red.anthropic.com/2026/mythos-preview, Claude Mythos Preview system card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Personal Digital Employee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개인 자동화와 enterprise agent stack이 같은 재료를 사용하기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1965960" cy="1097280"/>
          </a:xfrm>
          <a:prstGeom prst="rect">
            <a:avLst/>
          </a:prstGeom>
          <a:solidFill>
            <a:srgbClr val="E6F4F1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600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543D"/>
                </a:solidFill>
                <a:latin typeface="Malgun Gothic"/>
              </a:rP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6002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Claude Code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OpenClaw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Hermes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8608" y="1949957"/>
            <a:ext cx="256032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7208" y="1417320"/>
            <a:ext cx="19659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600200"/>
            <a:ext cx="1600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543D"/>
                </a:solidFill>
                <a:latin typeface="Malgun Gothic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920240"/>
            <a:ext cx="16002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Obsidian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GWS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local 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1456" y="1949957"/>
            <a:ext cx="256031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0056" y="1417320"/>
            <a:ext cx="1965960" cy="1097280"/>
          </a:xfrm>
          <a:prstGeom prst="rect">
            <a:avLst/>
          </a:prstGeom>
          <a:solidFill>
            <a:srgbClr val="E6F4F1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600200"/>
            <a:ext cx="1600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543D"/>
                </a:solidFill>
                <a:latin typeface="Malgun Gothic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1920240"/>
            <a:ext cx="16002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MCP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CLI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4304" y="1949957"/>
            <a:ext cx="256032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32904" y="1417320"/>
            <a:ext cx="19659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1600200"/>
            <a:ext cx="1600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543D"/>
                </a:solidFill>
                <a:latin typeface="Malgun Gothic"/>
              </a:rPr>
              <a:t>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1920240"/>
            <a:ext cx="16002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Cognee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graph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17152" y="1949957"/>
            <a:ext cx="256031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45752" y="1417320"/>
            <a:ext cx="1965960" cy="1097280"/>
          </a:xfrm>
          <a:prstGeom prst="rect">
            <a:avLst/>
          </a:prstGeom>
          <a:solidFill>
            <a:srgbClr val="E6F4F1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1600200"/>
            <a:ext cx="1600200" cy="2011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543D"/>
                </a:solidFill>
                <a:latin typeface="Malgun Gothic"/>
              </a:rPr>
              <a:t>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1920240"/>
            <a:ext cx="1600200" cy="42062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Telegram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Slack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9201D"/>
                </a:solidFill>
                <a:latin typeface="Malgun Gothic"/>
              </a:rPr>
              <a:t>PR/docs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4612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246120"/>
            <a:ext cx="54864" cy="210312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401568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Google Workspace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749039"/>
            <a:ext cx="4855464" cy="1481327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Drive/Gmail/Calendar/Sheets/Docs/Chat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structured JSON output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agent skills and recipes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OAuth setup is still the real adoption friction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246120"/>
            <a:ext cx="5166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246120"/>
            <a:ext cx="54864" cy="210312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401568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Memory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749039"/>
            <a:ext cx="4855464" cy="1481327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Cognee, Obsidian wiki/RAG, markdown graph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vector-only retrieval is not enough for long-lived agents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pinned facts + provenance + update policy needed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github.com/googleworkspace/cli, github.com/topoteretes/cognee, source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Workflow UI와 Deployment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agent가 만든 결과를 실제 운영으로 넘기는 마지막 표면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4747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" cy="425196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44168"/>
            <a:ext cx="31638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Workflow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3163824" cy="36301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Langflow: runtime 포함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React Flow: React 기반 canvas UI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LiteGraph.js: vanilla JS / low overhead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목적: human reviewable execution graph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188720"/>
            <a:ext cx="34747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188720"/>
            <a:ext cx="54864" cy="425196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344168"/>
            <a:ext cx="31638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Railway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691640"/>
            <a:ext cx="3163824" cy="36301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GitHub repo / Docker image deploy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build, networking, SSL, env config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Hobby: $5 minimum usage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deployment platform, not vibe-coding tool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188720"/>
            <a:ext cx="34747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188720"/>
            <a:ext cx="54864" cy="425196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344168"/>
            <a:ext cx="31638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Operating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691640"/>
            <a:ext cx="3163824" cy="36301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누가 approve 하는가?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실패 시 rollback은?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로그와 비용은 어디에 남나?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민감 데이터는 어디까지 나가나?</a:t>
            </a:r>
          </a:p>
          <a:p>
            <a:pPr>
              <a:spcAft>
                <a:spcPts val="100"/>
              </a:spcAft>
              <a:defRPr sz="1040">
                <a:solidFill>
                  <a:srgbClr val="19201D"/>
                </a:solidFill>
                <a:latin typeface="Malgun Gothic"/>
              </a:defRPr>
            </a:pPr>
            <a:r>
              <a:rPr sz="1040">
                <a:solidFill>
                  <a:srgbClr val="19201D"/>
                </a:solidFill>
                <a:latin typeface="Malgun Gothic"/>
              </a:rPr>
              <a:t>• model/backend swap 가능한가?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railway.com/pricing, langflow.org, reactflow.dev, github.com/jagenjo/litegraph.js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Enterprise AI Market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수치보다 중요한 것은 양사 모두 operating layer로 이동한다는 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53035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54864" cy="3429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49926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Anthropic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83080"/>
            <a:ext cx="4992624" cy="280720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$30B ARR claim: secondary market signal</a:t>
            </a:r>
          </a:p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enterprise-heavy revenue narrative</a:t>
            </a:r>
          </a:p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Opus / Code / SDK / plugins / Mythos가 한 방향</a:t>
            </a:r>
          </a:p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official audited disclosure처럼 쓰면 안 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30352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54864" cy="34290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435607"/>
            <a:ext cx="49926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OpenAI Official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783080"/>
            <a:ext cx="4992624" cy="280720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2026-04-08 enterprise note</a:t>
            </a:r>
          </a:p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enterprise = more than 40% of revenue</a:t>
            </a:r>
          </a:p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consumer parity by end-2026 target</a:t>
            </a:r>
          </a:p>
          <a:p>
            <a:pPr>
              <a:spcAft>
                <a:spcPts val="100"/>
              </a:spcAft>
              <a:defRPr sz="1080">
                <a:solidFill>
                  <a:srgbClr val="19201D"/>
                </a:solidFill>
                <a:latin typeface="Malgun Gothic"/>
              </a:defRPr>
            </a:pPr>
            <a:r>
              <a:rPr sz="1080">
                <a:solidFill>
                  <a:srgbClr val="19201D"/>
                </a:solidFill>
                <a:latin typeface="Malgun Gothic"/>
              </a:rPr>
              <a:t>• Frontier + unified AI superapp + agents across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166360"/>
            <a:ext cx="10789920" cy="658368"/>
          </a:xfrm>
          <a:prstGeom prst="rect">
            <a:avLst/>
          </a:prstGeom>
          <a:solidFill>
            <a:srgbClr val="F4F9F7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67528"/>
            <a:ext cx="102870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9201D"/>
                </a:solidFill>
                <a:latin typeface="Malgun Gothic"/>
              </a:rPr>
              <a:t>결론: Anthropic vs OpenAI의 실전 경쟁은 chat UX가 아니라 enterprise work surface, agent runtime, connectors, memory, governance에서 벌어진다.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OpenAI next phase of enterprise AI, PYMNTS/Axios/Bloomberg-cited secondary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Labor Market: 단일 서사로 읽으면 틀린다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해고와 job posting 회복은 동시에 존재할 수 있음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34290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54864" cy="429768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8988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Layoffs remain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3118104" cy="367588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Layoffs.fyi: 2026 tech layoffs continued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TrueUp: impacted people and layoff events tracked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AI Job Loss Tracker: AI material-factor methodology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methodology마다 범위가 다름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34290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54864" cy="429768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89888"/>
            <a:ext cx="31181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Job postings can recover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737360"/>
            <a:ext cx="3118104" cy="367588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Gizmodo/TrueUp: software job listings +30% YTD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about 67,000 openings cited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postings != actual hires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ghost jobs / automated HR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2004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54864" cy="429768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389888"/>
            <a:ext cx="288950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Practical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737360"/>
            <a:ext cx="2889504" cy="367588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AI가 모든 개발자를 즉시 대체한다는 주장은 약함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역할은 agent design/review/verification으로 이동</a:t>
            </a:r>
          </a:p>
          <a:p>
            <a:pPr>
              <a:spcAft>
                <a:spcPts val="100"/>
              </a:spcAft>
              <a:defRPr sz="1030">
                <a:solidFill>
                  <a:srgbClr val="19201D"/>
                </a:solidFill>
                <a:latin typeface="Malgun Gothic"/>
              </a:defRPr>
            </a:pPr>
            <a:r>
              <a:rPr sz="1030">
                <a:solidFill>
                  <a:srgbClr val="19201D"/>
                </a:solidFill>
                <a:latin typeface="Malgun Gothic"/>
              </a:rPr>
              <a:t>• 교육 기준은 tool fluency + judgment +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Sources: layoffs.fyi, trueup.io/layoffs, jobloss.ai, Gizmodo Apr 6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Adoption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agent stack은 생산성만큼 blast radius도 키운다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5166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54864" cy="105156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298448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Vendor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45920"/>
            <a:ext cx="4855464" cy="4297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9201D"/>
                </a:solidFill>
                <a:latin typeface="Malgun Gothic"/>
              </a:rPr>
              <a:t>SDK + plugin + marketplace + memory가 한 벤더에 묶임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166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4864" cy="105156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98448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Hidden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45920"/>
            <a:ext cx="4855464" cy="4297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9201D"/>
                </a:solidFill>
                <a:latin typeface="Malgun Gothic"/>
              </a:rPr>
              <a:t>1M context, long sessions, tool loops의 비용 예측 문제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33472"/>
            <a:ext cx="5166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633472"/>
            <a:ext cx="54864" cy="105156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788920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Permission sprawl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136391"/>
            <a:ext cx="4855464" cy="4297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9201D"/>
                </a:solidFill>
                <a:latin typeface="Malgun Gothic"/>
              </a:rPr>
              <a:t>files / browser / email / SaaS 권한이 확장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33472"/>
            <a:ext cx="5166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33472"/>
            <a:ext cx="54864" cy="105156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788920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Memory contamination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136391"/>
            <a:ext cx="4855464" cy="4297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9201D"/>
                </a:solidFill>
                <a:latin typeface="Malgun Gothic"/>
              </a:rPr>
              <a:t>outdated facts, private data, bad summaries 축적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23944"/>
            <a:ext cx="5166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123944"/>
            <a:ext cx="54864" cy="105156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279392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Tool 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626864"/>
            <a:ext cx="4855464" cy="4297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9201D"/>
                </a:solidFill>
                <a:latin typeface="Malgun Gothic"/>
              </a:rPr>
              <a:t>lookalike tools, prompt injection, exfiltration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123944"/>
            <a:ext cx="5166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23944"/>
            <a:ext cx="54864" cy="105156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279392"/>
            <a:ext cx="485546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Benchmark distraction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4626864"/>
            <a:ext cx="4855464" cy="42976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19201D"/>
                </a:solidFill>
                <a:latin typeface="Malgun Gothic"/>
              </a:rPr>
              <a:t>leaderboard가 workflow success를 대체하지 못함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Risk framing based on report synthesis and MCP/tool/agent architecture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30-90 Day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작은 workflow부터 권한과 검증 루프를 포함해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35204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54864" cy="448056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320954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91640"/>
            <a:ext cx="3209544" cy="38587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반복 업무 10개 분류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read-only / draft-only / approval / execute 권한 단계 정의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Claude Code/Codex/Gemini/OpenClaw 중 하나로 작은 workflow 재현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Obsidian/Drive/GitHub context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5204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54864" cy="448056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44168"/>
            <a:ext cx="320954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60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691640"/>
            <a:ext cx="3209544" cy="38587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MCP/CLI 기반 실제 시스템 1개 연결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session memory + run log 저장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팀 공통 skills/plugins 3-5개 작성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small service를 Railway/Vercel/Cloudflare/Render 중 하나에 deploy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188720"/>
            <a:ext cx="352044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188720"/>
            <a:ext cx="54864" cy="448056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344168"/>
            <a:ext cx="320954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1691640"/>
            <a:ext cx="3209544" cy="385876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end-to-end agent workflow SOP화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prompt injection / permissions / secrets review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model/backend portability test</a:t>
            </a:r>
          </a:p>
          <a:p>
            <a:pPr>
              <a:spcAft>
                <a:spcPts val="100"/>
              </a:spcAft>
              <a:defRPr sz="1000">
                <a:solidFill>
                  <a:srgbClr val="19201D"/>
                </a:solidFill>
                <a:latin typeface="Malgun Gothic"/>
              </a:defRPr>
            </a:pPr>
            <a:r>
              <a:rPr sz="1000">
                <a:solidFill>
                  <a:srgbClr val="19201D"/>
                </a:solidFill>
                <a:latin typeface="Malgun Gothic"/>
              </a:rPr>
              <a:t>• cycle time / rework / defect escape 지표화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Action plan adapted from deep research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Pilot Architecture: Agent Workflow의 최소 운영 골격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실험이라도 governance를 나중에 붙이지 말고 처음부터 넣는다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600200" cy="1051560"/>
          </a:xfrm>
          <a:prstGeom prst="rect">
            <a:avLst/>
          </a:prstGeom>
          <a:solidFill>
            <a:srgbClr val="E6F4F1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755648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8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topic / ticket / doc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2059686"/>
            <a:ext cx="274319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39" y="1554480"/>
            <a:ext cx="1600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755648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029968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source pack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repo / drive / obsidian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5072" y="2059686"/>
            <a:ext cx="274319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554480"/>
            <a:ext cx="1600200" cy="1051560"/>
          </a:xfrm>
          <a:prstGeom prst="rect">
            <a:avLst/>
          </a:prstGeom>
          <a:solidFill>
            <a:srgbClr val="E6F4F1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755648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029968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model + SDK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permissions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9592" y="2059686"/>
            <a:ext cx="274319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1554480"/>
            <a:ext cx="1600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1755648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029968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MCP / CLI / 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read + write gates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2059686"/>
            <a:ext cx="274320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1554480"/>
            <a:ext cx="1600200" cy="1051560"/>
          </a:xfrm>
          <a:prstGeom prst="rect">
            <a:avLst/>
          </a:prstGeom>
          <a:solidFill>
            <a:srgbClr val="E6F4F1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1755648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2029968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tests / lint / human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8632" y="2059686"/>
            <a:ext cx="274320" cy="32004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0" y="1554480"/>
            <a:ext cx="16002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8" y="1755648"/>
            <a:ext cx="1371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029968"/>
            <a:ext cx="1371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9201D"/>
                </a:solidFill>
                <a:latin typeface="Malgun Gothic"/>
              </a:rPr>
              <a:t>report / PR / deck / deploy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03320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703320"/>
            <a:ext cx="54864" cy="141732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858768"/>
            <a:ext cx="29352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Must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206240"/>
            <a:ext cx="2935224" cy="79552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source IDs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tool calls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permissions used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cost/session time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human approvals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703320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3703320"/>
            <a:ext cx="54864" cy="1417320"/>
          </a:xfrm>
          <a:prstGeom prst="rect">
            <a:avLst/>
          </a:prstGeom>
          <a:solidFill>
            <a:srgbClr val="B91C1C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3858768"/>
            <a:ext cx="29352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B91C1C"/>
                </a:solidFill>
                <a:latin typeface="Malgun Gothic"/>
              </a:rPr>
              <a:t>Must block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4206240"/>
            <a:ext cx="2935224" cy="79552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secret export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unreviewed write actions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unknown MCP tools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network calls from unsafe context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703320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3703320"/>
            <a:ext cx="54864" cy="141732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9871" y="3858768"/>
            <a:ext cx="293522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Must 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1" y="4206240"/>
            <a:ext cx="2935224" cy="79552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cycle time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review time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defects caught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rollback count</a:t>
            </a:r>
          </a:p>
          <a:p>
            <a:pPr>
              <a:spcAft>
                <a:spcPts val="100"/>
              </a:spcAft>
              <a:defRPr sz="960">
                <a:solidFill>
                  <a:srgbClr val="19201D"/>
                </a:solidFill>
                <a:latin typeface="Malgun Gothic"/>
              </a:defRPr>
            </a:pPr>
            <a:r>
              <a:rPr sz="960">
                <a:solidFill>
                  <a:srgbClr val="19201D"/>
                </a:solidFill>
                <a:latin typeface="Malgun Gothic"/>
              </a:rPr>
              <a:t>• user trust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Recommended pilot pattern for engineering and product teams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78638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201D"/>
                </a:solidFill>
                <a:latin typeface="Malgun Gothic"/>
              </a:rPr>
              <a:t>Final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49808"/>
            <a:ext cx="8183879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543D"/>
                </a:solidFill>
                <a:latin typeface="Malgun Gothic"/>
              </a:rPr>
              <a:t>좋은 모델을 사는 것보다 좋은 실행면을 설계하는 팀이 이긴다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6858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6070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543D"/>
                </a:solidFill>
                <a:latin typeface="Malgun Gothic"/>
              </a:rPr>
              <a:t>AI 경쟁은 모델 지능 단독 경쟁에서, 에이전트를 실제 업무 맥락 안에서 안전하게 실행시키는 운영 레이어 경쟁으로 이동하고 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88920"/>
            <a:ext cx="3154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788920"/>
            <a:ext cx="54864" cy="192024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944368"/>
            <a:ext cx="28437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F766E"/>
                </a:solidFill>
                <a:latin typeface="Malgun Gothic"/>
              </a:rP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291839"/>
            <a:ext cx="2843784" cy="129844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MCP/CLI/tool permission 설계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verification loop와 rollback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memory provenance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788920"/>
            <a:ext cx="3154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88920"/>
            <a:ext cx="54864" cy="192024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944368"/>
            <a:ext cx="28437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2563EB"/>
                </a:solidFill>
                <a:latin typeface="Malgun Gothic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291839"/>
            <a:ext cx="2843784" cy="129844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agent workflow를 feature가 아니라 operating flow로 정의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human approval UX 설계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trust and audit as product surface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788920"/>
            <a:ext cx="31546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788920"/>
            <a:ext cx="54864" cy="192024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944368"/>
            <a:ext cx="2843784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C2410C"/>
                </a:solidFill>
                <a:latin typeface="Malgun Gothic"/>
              </a:rPr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291839"/>
            <a:ext cx="2843784" cy="1298448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vendor portability 유지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enterprise AI budget은 workflow ROI로 평가</a:t>
            </a:r>
          </a:p>
          <a:p>
            <a:pPr>
              <a:spcAft>
                <a:spcPts val="100"/>
              </a:spcAft>
              <a:defRPr sz="1019">
                <a:solidFill>
                  <a:srgbClr val="19201D"/>
                </a:solidFill>
                <a:latin typeface="Malgun Gothic"/>
              </a:defRPr>
            </a:pPr>
            <a:r>
              <a:rPr sz="1019">
                <a:solidFill>
                  <a:srgbClr val="19201D"/>
                </a:solidFill>
                <a:latin typeface="Malgun Gothic"/>
              </a:rPr>
              <a:t>• labor role redesign 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47104"/>
            <a:ext cx="1092708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6605B"/>
                </a:solidFill>
                <a:latin typeface="Malgun Gothic"/>
              </a:rPr>
              <a:t>See reports/2026-04-17_ai-updates-weekly_deepresearch.md for full evidence and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