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image" Target="../media/image-8-36.png"/><Relationship Id="rId37" Type="http://schemas.openxmlformats.org/officeDocument/2006/relationships/image" Target="../media/image-8-37.png"/><Relationship Id="rId38" Type="http://schemas.openxmlformats.org/officeDocument/2006/relationships/image" Target="../media/image-8-38.png"/><Relationship Id="rId39" Type="http://schemas.openxmlformats.org/officeDocument/2006/relationships/image" Target="../media/image-8-39.png"/><Relationship Id="rId40" Type="http://schemas.openxmlformats.org/officeDocument/2006/relationships/image" Target="../media/image-8-40.png"/><Relationship Id="rId41" Type="http://schemas.openxmlformats.org/officeDocument/2006/relationships/image" Target="../media/image-8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914400"/>
            <a:ext cx="11601450" cy="7200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5670"/>
              </a:lnSpc>
              <a:buNone/>
            </a:pPr>
            <a:r>
              <a:rPr lang="en-US" sz="4725" b="1" dirty="0">
                <a:solidFill>
                  <a:srgbClr val="0C15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On-Prem 음성·회의록 스택 실전 검토</a:t>
            </a:r>
            <a:endParaRPr lang="en-US" sz="4725" dirty="0"/>
          </a:p>
        </p:txBody>
      </p:sp>
      <p:sp>
        <p:nvSpPr>
          <p:cNvPr id="4" name="Text 1"/>
          <p:cNvSpPr/>
          <p:nvPr/>
        </p:nvSpPr>
        <p:spPr>
          <a:xfrm>
            <a:off x="590550" y="1733550"/>
            <a:ext cx="1160145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275"/>
              </a:lnSpc>
              <a:buNone/>
            </a:pPr>
            <a:r>
              <a:rPr lang="en-US" sz="285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· Whisper Stack · NVIDIA Riva 기술 평가 브리핑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2607915" y="4143375"/>
            <a:ext cx="1299121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488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목적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8275290" y="4143375"/>
            <a:ext cx="1299121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488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기준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590550" y="2800350"/>
            <a:ext cx="6778823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8"/>
              </a:lnSpc>
              <a:buNone/>
            </a:pPr>
            <a:r>
              <a:rPr lang="en-US" sz="2025" dirty="0">
                <a:solidFill>
                  <a:srgbClr val="0C15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범위: STT · Diarization · 로컬 LLM · 회의록 자동화</a:t>
            </a:r>
            <a:pPr indent="0" marL="0">
              <a:lnSpc>
                <a:spcPts val="3038"/>
              </a:lnSpc>
              <a:buNone/>
            </a:pPr>
            <a:r>
              <a:rPr lang="en-US" sz="2025" dirty="0">
                <a:solidFill>
                  <a:srgbClr val="0C15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038"/>
              </a:lnSpc>
              <a:buNone/>
            </a:pPr>
            <a:r>
              <a:rPr lang="en-US" sz="2025" dirty="0">
                <a:solidFill>
                  <a:srgbClr val="0C15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분류: 내부 기술 브리핑 | 보안등급: PUBLIC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455265" y="5029200"/>
            <a:ext cx="5699671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0C15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On-Prem/폐쇄망 환경에서 한국어 음성인식 기반</a:t>
            </a:r>
            <a:pPr algn="ctr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0C15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0C15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자동화 스택의 기술 현황 및 실전 가능성 검토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6197798" y="5029200"/>
            <a:ext cx="5511105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0C15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지원 완성도 · 폐쇄망 운영 가능성</a:t>
            </a:r>
            <a:pPr algn="ctr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0C15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0C15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조합 유연성 · 엔터프라이즈 SLA 적합성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638175" y="6543675"/>
            <a:ext cx="1828800" cy="1829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01400" y="6553200"/>
            <a:ext cx="681038" cy="1361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73"/>
              </a:lnSpc>
              <a:buNone/>
            </a:pPr>
            <a:r>
              <a:rPr lang="en-US" sz="975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09600"/>
            <a:ext cx="1028700" cy="4671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79"/>
              </a:lnSpc>
              <a:buNone/>
            </a:pPr>
            <a:r>
              <a:rPr lang="en-US" sz="337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375" dirty="0"/>
          </a:p>
        </p:txBody>
      </p:sp>
      <p:sp>
        <p:nvSpPr>
          <p:cNvPr id="4" name="Text 1"/>
          <p:cNvSpPr/>
          <p:nvPr/>
        </p:nvSpPr>
        <p:spPr>
          <a:xfrm>
            <a:off x="533400" y="1181100"/>
            <a:ext cx="430911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58"/>
              </a:lnSpc>
              <a:buNone/>
            </a:pPr>
            <a:r>
              <a:rPr lang="en-US" sz="2175" dirty="0">
                <a:solidFill>
                  <a:srgbClr val="5F60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범위 및 구성 개요</a:t>
            </a:r>
            <a:endParaRPr lang="en-US" sz="2175" dirty="0"/>
          </a:p>
        </p:txBody>
      </p:sp>
      <p:sp>
        <p:nvSpPr>
          <p:cNvPr id="5" name="Text 2"/>
          <p:cNvSpPr/>
          <p:nvPr/>
        </p:nvSpPr>
        <p:spPr>
          <a:xfrm>
            <a:off x="1447800" y="2038350"/>
            <a:ext cx="331470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58"/>
              </a:lnSpc>
              <a:buNone/>
            </a:pPr>
            <a:r>
              <a:rPr lang="en-US" sz="217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문제 정의</a:t>
            </a:r>
            <a:endParaRPr lang="en-US" sz="2175" dirty="0"/>
          </a:p>
        </p:txBody>
      </p:sp>
      <p:sp>
        <p:nvSpPr>
          <p:cNvPr id="6" name="Text 3"/>
          <p:cNvSpPr/>
          <p:nvPr/>
        </p:nvSpPr>
        <p:spPr>
          <a:xfrm>
            <a:off x="1447800" y="3171825"/>
            <a:ext cx="530352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58"/>
              </a:lnSpc>
              <a:buNone/>
            </a:pPr>
            <a:r>
              <a:rPr lang="en-US" sz="217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구성요소 맵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1447800" y="4324350"/>
            <a:ext cx="430911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58"/>
              </a:lnSpc>
              <a:buNone/>
            </a:pPr>
            <a:r>
              <a:rPr lang="en-US" sz="217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컴포넌트 심층 평가</a:t>
            </a:r>
            <a:endParaRPr lang="en-US" sz="2175" dirty="0"/>
          </a:p>
        </p:txBody>
      </p:sp>
      <p:sp>
        <p:nvSpPr>
          <p:cNvPr id="8" name="Text 5"/>
          <p:cNvSpPr/>
          <p:nvPr/>
        </p:nvSpPr>
        <p:spPr>
          <a:xfrm>
            <a:off x="1447800" y="5448300"/>
            <a:ext cx="331470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58"/>
              </a:lnSpc>
              <a:buNone/>
            </a:pPr>
            <a:r>
              <a:rPr lang="en-US" sz="217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오픈소스 대안 스택</a:t>
            </a:r>
            <a:endParaRPr lang="en-US" sz="2175" dirty="0"/>
          </a:p>
        </p:txBody>
      </p:sp>
      <p:sp>
        <p:nvSpPr>
          <p:cNvPr id="9" name="Text 6"/>
          <p:cNvSpPr/>
          <p:nvPr/>
        </p:nvSpPr>
        <p:spPr>
          <a:xfrm>
            <a:off x="7086600" y="2038350"/>
            <a:ext cx="265176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58"/>
              </a:lnSpc>
              <a:buNone/>
            </a:pPr>
            <a:r>
              <a:rPr lang="en-US" sz="217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스택 비교 분석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7086600" y="3171825"/>
            <a:ext cx="430911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58"/>
              </a:lnSpc>
              <a:buNone/>
            </a:pPr>
            <a:r>
              <a:rPr lang="en-US" sz="217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아키텍처 A/B/C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7086600" y="4324350"/>
            <a:ext cx="375666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58"/>
              </a:lnSpc>
              <a:buNone/>
            </a:pPr>
            <a:r>
              <a:rPr lang="en-US" sz="217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PoC 계획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752921" y="2181225"/>
            <a:ext cx="408533" cy="411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41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175" dirty="0"/>
          </a:p>
        </p:txBody>
      </p:sp>
      <p:sp>
        <p:nvSpPr>
          <p:cNvPr id="13" name="Text 10"/>
          <p:cNvSpPr/>
          <p:nvPr/>
        </p:nvSpPr>
        <p:spPr>
          <a:xfrm>
            <a:off x="752921" y="3305175"/>
            <a:ext cx="408533" cy="411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41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752921" y="4438650"/>
            <a:ext cx="408533" cy="411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41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752921" y="5572125"/>
            <a:ext cx="408533" cy="411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41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6448871" y="2181225"/>
            <a:ext cx="408533" cy="411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41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175" dirty="0"/>
          </a:p>
        </p:txBody>
      </p:sp>
      <p:sp>
        <p:nvSpPr>
          <p:cNvPr id="17" name="Text 14"/>
          <p:cNvSpPr/>
          <p:nvPr/>
        </p:nvSpPr>
        <p:spPr>
          <a:xfrm>
            <a:off x="6448871" y="3305175"/>
            <a:ext cx="408533" cy="411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41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6448871" y="4438650"/>
            <a:ext cx="408533" cy="411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41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175" dirty="0"/>
          </a:p>
        </p:txBody>
      </p:sp>
      <p:sp>
        <p:nvSpPr>
          <p:cNvPr id="19" name="Text 16"/>
          <p:cNvSpPr/>
          <p:nvPr/>
        </p:nvSpPr>
        <p:spPr>
          <a:xfrm>
            <a:off x="1447800" y="2514600"/>
            <a:ext cx="662940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On-Prem 음성 스택 도입의 맥락과 핵심 요구사항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47800" y="3638550"/>
            <a:ext cx="9692640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component stack 심층 분해: Leopard, Cheetah, Falcon, Orca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47800" y="4762500"/>
            <a:ext cx="571500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지원 현황, 문서 신뢰도, 상용 리스크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447800" y="5895975"/>
            <a:ext cx="8903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whisper.cpp + pyannote + llama.cpp 기본선 구성</a:t>
            </a:r>
            <a:endParaRPr lang="en-US" sz="1425" dirty="0"/>
          </a:p>
        </p:txBody>
      </p:sp>
      <p:sp>
        <p:nvSpPr>
          <p:cNvPr id="23" name="Text 20"/>
          <p:cNvSpPr/>
          <p:nvPr/>
        </p:nvSpPr>
        <p:spPr>
          <a:xfrm>
            <a:off x="7086600" y="2514600"/>
            <a:ext cx="510540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vs OSS vs NVIDIA Riva 비교 매트릭스</a:t>
            </a:r>
            <a:endParaRPr lang="en-US" sz="1425" dirty="0"/>
          </a:p>
        </p:txBody>
      </p:sp>
      <p:sp>
        <p:nvSpPr>
          <p:cNvPr id="24" name="Text 21"/>
          <p:cNvSpPr/>
          <p:nvPr/>
        </p:nvSpPr>
        <p:spPr>
          <a:xfrm>
            <a:off x="7068443" y="3638550"/>
            <a:ext cx="5123557" cy="2073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2"/>
              </a:lnSpc>
              <a:buNone/>
            </a:pPr>
            <a:r>
              <a:rPr lang="en-US" sz="127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음성 어시스턴트 · 회의록 파이프라인 · 엔터프라이즈 플랫폼</a:t>
            </a:r>
            <a:endParaRPr lang="en-US" sz="1275" dirty="0"/>
          </a:p>
        </p:txBody>
      </p:sp>
      <p:sp>
        <p:nvSpPr>
          <p:cNvPr id="25" name="Text 22"/>
          <p:cNvSpPr/>
          <p:nvPr/>
        </p:nvSpPr>
        <p:spPr>
          <a:xfrm>
            <a:off x="7086600" y="4762500"/>
            <a:ext cx="510540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실행 계획, 정량/정성 기준, Go/No-Go 결정 프레임워크</a:t>
            </a:r>
            <a:endParaRPr lang="en-US" sz="1425" dirty="0"/>
          </a:p>
        </p:txBody>
      </p:sp>
      <p:sp>
        <p:nvSpPr>
          <p:cNvPr id="26" name="Text 23"/>
          <p:cNvSpPr/>
          <p:nvPr/>
        </p:nvSpPr>
        <p:spPr>
          <a:xfrm>
            <a:off x="6467475" y="5667375"/>
            <a:ext cx="108585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5F60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범위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6467475" y="5924550"/>
            <a:ext cx="572452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99"/>
              </a:lnSpc>
              <a:buNone/>
            </a:pPr>
            <a:r>
              <a:rPr lang="en-US" sz="1275" dirty="0">
                <a:solidFill>
                  <a:srgbClr val="1C21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주요 검토 항목: 기술 검증, 한국어 적합성, 상용성, 운영 효율성</a:t>
            </a:r>
            <a:endParaRPr lang="en-US" sz="1275" dirty="0"/>
          </a:p>
        </p:txBody>
      </p:sp>
      <p:sp>
        <p:nvSpPr>
          <p:cNvPr id="28" name="Text 25"/>
          <p:cNvSpPr/>
          <p:nvPr/>
        </p:nvSpPr>
        <p:spPr>
          <a:xfrm>
            <a:off x="638175" y="6543675"/>
            <a:ext cx="2171700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40"/>
              </a:lnSpc>
              <a:buNone/>
            </a:pPr>
            <a:r>
              <a:rPr lang="en-US" sz="1425" b="1" dirty="0">
                <a:solidFill>
                  <a:srgbClr val="7A7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425" dirty="0"/>
          </a:p>
        </p:txBody>
      </p:sp>
      <p:sp>
        <p:nvSpPr>
          <p:cNvPr id="29" name="Text 26"/>
          <p:cNvSpPr/>
          <p:nvPr/>
        </p:nvSpPr>
        <p:spPr>
          <a:xfrm>
            <a:off x="11201400" y="6553200"/>
            <a:ext cx="660053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987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188" y="0"/>
            <a:ext cx="4303663" cy="1885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00075"/>
            <a:ext cx="5029200" cy="4987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27"/>
              </a:lnSpc>
              <a:buNone/>
            </a:pPr>
            <a:r>
              <a:rPr lang="en-US" sz="3300" b="1" dirty="0">
                <a:solidFill>
                  <a:srgbClr val="0B1A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문제 정의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571500" y="1181100"/>
            <a:ext cx="9566910" cy="331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On-Prem 음성·회의록 스택 도입 필요성과 평가 맥락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771525" y="1971675"/>
            <a:ext cx="3703320" cy="331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On-Prem인가?</a:t>
            </a:r>
            <a:endParaRPr lang="en-US" sz="2025" dirty="0"/>
          </a:p>
        </p:txBody>
      </p:sp>
      <p:sp>
        <p:nvSpPr>
          <p:cNvPr id="7" name="Text 3"/>
          <p:cNvSpPr/>
          <p:nvPr/>
        </p:nvSpPr>
        <p:spPr>
          <a:xfrm>
            <a:off x="8277225" y="1971675"/>
            <a:ext cx="1543050" cy="331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범위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8277225" y="4533900"/>
            <a:ext cx="1543050" cy="331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전제</a:t>
            </a:r>
            <a:endParaRPr lang="en-US" sz="2025" dirty="0"/>
          </a:p>
        </p:txBody>
      </p:sp>
      <p:sp>
        <p:nvSpPr>
          <p:cNvPr id="9" name="Text 5"/>
          <p:cNvSpPr/>
          <p:nvPr/>
        </p:nvSpPr>
        <p:spPr>
          <a:xfrm>
            <a:off x="838200" y="2724150"/>
            <a:ext cx="11353800" cy="368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보안·규정 준수: 내부 음성 데이터의 외부 클라우드 전송 금지 요건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838200" y="3457575"/>
            <a:ext cx="11201400" cy="368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네트워크 격리: 망분리 환경에서 외부 API 호출 불가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838200" y="4191000"/>
            <a:ext cx="11353800" cy="368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데이터 주권: 발화 원문·의사결정 내용의 사내 저장 필요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838200" y="4924425"/>
            <a:ext cx="11353800" cy="368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비용 예측성: 사용량 기반 SaaS 과금 대비 고정 인프라 비용 선호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838200" y="5657850"/>
            <a:ext cx="11353800" cy="368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커스터마이제이션: 도메인 특화 용어(제품명, 조직명) 인식 개선 필요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8277225" y="2552700"/>
            <a:ext cx="3834705" cy="3932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ASR (Automatic Speech Recognition)</a:t>
            </a:r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정확도 중심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77225" y="3143250"/>
            <a:ext cx="3914775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Speaker Diarization: 화자 분리 정확도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277225" y="3476625"/>
            <a:ext cx="3914775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로컬 LLM: 요약 / Action Item 추출</a:t>
            </a:r>
            <a:endParaRPr lang="en-US" sz="1425" dirty="0"/>
          </a:p>
        </p:txBody>
      </p:sp>
      <p:sp>
        <p:nvSpPr>
          <p:cNvPr id="17" name="Text 13"/>
          <p:cNvSpPr/>
          <p:nvPr/>
        </p:nvSpPr>
        <p:spPr>
          <a:xfrm>
            <a:off x="8277225" y="3800475"/>
            <a:ext cx="3914775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워크플로우 통합: 문서·협업툴 연동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277225" y="5153025"/>
            <a:ext cx="3914775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완성형 솔루션인 아닌 컴포넌트 기반 평가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277225" y="5486400"/>
            <a:ext cx="3914775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회의록 품질 = STT 정확도만이 아님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277225" y="5800725"/>
            <a:ext cx="3914775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실적 기준: 한국어 + 폐쇄망 + 운영 가능성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1172825" y="6543675"/>
            <a:ext cx="69145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619125" y="6543675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5" y="1741884"/>
            <a:ext cx="11167765" cy="331231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65" y="1741884"/>
            <a:ext cx="1292572" cy="31134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337" y="1741884"/>
            <a:ext cx="1710779" cy="31134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116" y="1741884"/>
            <a:ext cx="2547045" cy="31134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161" y="1741884"/>
            <a:ext cx="3592562" cy="31134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2723" y="1741884"/>
            <a:ext cx="2024807" cy="31134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65" y="2053233"/>
            <a:ext cx="11167765" cy="59040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765" y="2053233"/>
            <a:ext cx="1292572" cy="59040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2337" y="2053233"/>
            <a:ext cx="1710779" cy="59040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3116" y="2053233"/>
            <a:ext cx="2547045" cy="59040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50161" y="2053233"/>
            <a:ext cx="3592562" cy="59040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42723" y="2053233"/>
            <a:ext cx="2024807" cy="59040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9765" y="2643634"/>
            <a:ext cx="11167765" cy="83537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9765" y="2643634"/>
            <a:ext cx="1292572" cy="835372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92337" y="2643634"/>
            <a:ext cx="1710779" cy="835372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03116" y="2643634"/>
            <a:ext cx="2547045" cy="835372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50161" y="2643634"/>
            <a:ext cx="3592562" cy="835372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42723" y="2643634"/>
            <a:ext cx="2024807" cy="835372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9765" y="3479006"/>
            <a:ext cx="11167765" cy="394246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9765" y="3479006"/>
            <a:ext cx="1292572" cy="394246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92337" y="3479006"/>
            <a:ext cx="1710779" cy="394246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3116" y="3479006"/>
            <a:ext cx="2547045" cy="394246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50161" y="3479006"/>
            <a:ext cx="3592562" cy="394246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42723" y="3479006"/>
            <a:ext cx="2024807" cy="394246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9765" y="3873252"/>
            <a:ext cx="11167765" cy="590401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9765" y="3873252"/>
            <a:ext cx="1292572" cy="590401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792337" y="3873252"/>
            <a:ext cx="1710779" cy="590401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03116" y="3873252"/>
            <a:ext cx="2547045" cy="590401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50161" y="3873252"/>
            <a:ext cx="3592562" cy="590401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42723" y="3873252"/>
            <a:ext cx="2024807" cy="590401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9765" y="4463653"/>
            <a:ext cx="11167765" cy="59055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9765" y="4463653"/>
            <a:ext cx="1292572" cy="59055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792337" y="4463653"/>
            <a:ext cx="1710779" cy="59055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503116" y="4463653"/>
            <a:ext cx="2547045" cy="59055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050161" y="4463653"/>
            <a:ext cx="3592562" cy="59055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642723" y="4463653"/>
            <a:ext cx="2024807" cy="59055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16855" y="6521946"/>
            <a:ext cx="280392" cy="27429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499765" y="1741884"/>
            <a:ext cx="1140172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FFFFFF"/>
                </a:solidFill>
              </a:rPr>
              <a:t>구성요소</a:t>
            </a:r>
            <a:endParaRPr lang="en-US" sz="1425" dirty="0"/>
          </a:p>
        </p:txBody>
      </p:sp>
      <p:sp>
        <p:nvSpPr>
          <p:cNvPr id="41" name="Text 1"/>
          <p:cNvSpPr/>
          <p:nvPr/>
        </p:nvSpPr>
        <p:spPr>
          <a:xfrm>
            <a:off x="1792337" y="1741884"/>
            <a:ext cx="1558379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FFFFFF"/>
                </a:solidFill>
              </a:rPr>
              <a:t>유형</a:t>
            </a:r>
            <a:endParaRPr lang="en-US" sz="1425" dirty="0"/>
          </a:p>
        </p:txBody>
      </p:sp>
      <p:sp>
        <p:nvSpPr>
          <p:cNvPr id="42" name="Text 2"/>
          <p:cNvSpPr/>
          <p:nvPr/>
        </p:nvSpPr>
        <p:spPr>
          <a:xfrm>
            <a:off x="3503116" y="1741884"/>
            <a:ext cx="2394645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FFFFFF"/>
                </a:solidFill>
              </a:rPr>
              <a:t>역할</a:t>
            </a:r>
            <a:endParaRPr lang="en-US" sz="1425" dirty="0"/>
          </a:p>
        </p:txBody>
      </p:sp>
      <p:sp>
        <p:nvSpPr>
          <p:cNvPr id="43" name="Text 3"/>
          <p:cNvSpPr/>
          <p:nvPr/>
        </p:nvSpPr>
        <p:spPr>
          <a:xfrm>
            <a:off x="6050161" y="1741884"/>
            <a:ext cx="3440162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FFFFFF"/>
                </a:solidFill>
              </a:rPr>
              <a:t>한국어 지원</a:t>
            </a:r>
            <a:endParaRPr lang="en-US" sz="1425" dirty="0"/>
          </a:p>
        </p:txBody>
      </p:sp>
      <p:sp>
        <p:nvSpPr>
          <p:cNvPr id="44" name="Text 4"/>
          <p:cNvSpPr/>
          <p:nvPr/>
        </p:nvSpPr>
        <p:spPr>
          <a:xfrm>
            <a:off x="9642723" y="1741884"/>
            <a:ext cx="1872407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FFFFFF"/>
                </a:solidFill>
              </a:rPr>
              <a:t>기업 회의록 핵심 여부</a:t>
            </a:r>
            <a:endParaRPr lang="en-US" sz="1425" dirty="0"/>
          </a:p>
        </p:txBody>
      </p:sp>
      <p:sp>
        <p:nvSpPr>
          <p:cNvPr id="45" name="Text 5"/>
          <p:cNvSpPr/>
          <p:nvPr/>
        </p:nvSpPr>
        <p:spPr>
          <a:xfrm>
            <a:off x="499765" y="2053233"/>
            <a:ext cx="1140172" cy="59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00000"/>
                </a:solidFill>
              </a:rPr>
              <a:t>Leopard</a:t>
            </a:r>
            <a:endParaRPr lang="en-US" sz="1350" dirty="0"/>
          </a:p>
        </p:txBody>
      </p:sp>
      <p:sp>
        <p:nvSpPr>
          <p:cNvPr id="46" name="Text 6"/>
          <p:cNvSpPr/>
          <p:nvPr/>
        </p:nvSpPr>
        <p:spPr>
          <a:xfrm>
            <a:off x="1792337" y="2053233"/>
            <a:ext cx="1558379" cy="59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Batch STT</a:t>
            </a:r>
            <a:endParaRPr lang="en-US" sz="1125" dirty="0"/>
          </a:p>
        </p:txBody>
      </p:sp>
      <p:sp>
        <p:nvSpPr>
          <p:cNvPr id="47" name="Text 7"/>
          <p:cNvSpPr/>
          <p:nvPr/>
        </p:nvSpPr>
        <p:spPr>
          <a:xfrm>
            <a:off x="3503116" y="2053233"/>
            <a:ext cx="2394645" cy="59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파일 전사, 도메인 용어 커스텀</a:t>
            </a:r>
            <a:endParaRPr lang="en-US" sz="1125" dirty="0"/>
          </a:p>
        </p:txBody>
      </p:sp>
      <p:sp>
        <p:nvSpPr>
          <p:cNvPr id="48" name="Text 8"/>
          <p:cNvSpPr/>
          <p:nvPr/>
        </p:nvSpPr>
        <p:spPr>
          <a:xfrm>
            <a:off x="6050161" y="2053233"/>
            <a:ext cx="3440162" cy="59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✅ 공식 지원 (English, French, German, Italian, Japanese, Korean, Portuguese, Spanish)</a:t>
            </a:r>
            <a:endParaRPr lang="en-US" sz="1125" dirty="0"/>
          </a:p>
        </p:txBody>
      </p:sp>
      <p:sp>
        <p:nvSpPr>
          <p:cNvPr id="49" name="Text 9"/>
          <p:cNvSpPr/>
          <p:nvPr/>
        </p:nvSpPr>
        <p:spPr>
          <a:xfrm>
            <a:off x="9642723" y="2053233"/>
            <a:ext cx="1872407" cy="59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보조 (배치 한정)</a:t>
            </a:r>
            <a:endParaRPr lang="en-US" sz="1125" dirty="0"/>
          </a:p>
        </p:txBody>
      </p:sp>
      <p:sp>
        <p:nvSpPr>
          <p:cNvPr id="50" name="Text 10"/>
          <p:cNvSpPr/>
          <p:nvPr/>
        </p:nvSpPr>
        <p:spPr>
          <a:xfrm>
            <a:off x="499765" y="2643634"/>
            <a:ext cx="1140172" cy="83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00000"/>
                </a:solidFill>
              </a:rPr>
              <a:t>Cheetah</a:t>
            </a:r>
            <a:endParaRPr lang="en-US" sz="1350" dirty="0"/>
          </a:p>
        </p:txBody>
      </p:sp>
      <p:sp>
        <p:nvSpPr>
          <p:cNvPr id="51" name="Text 11"/>
          <p:cNvSpPr/>
          <p:nvPr/>
        </p:nvSpPr>
        <p:spPr>
          <a:xfrm>
            <a:off x="1792337" y="2643634"/>
            <a:ext cx="1558379" cy="83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Streaming STT</a:t>
            </a:r>
            <a:endParaRPr lang="en-US" sz="1125" dirty="0"/>
          </a:p>
        </p:txBody>
      </p:sp>
      <p:sp>
        <p:nvSpPr>
          <p:cNvPr id="52" name="Text 12"/>
          <p:cNvSpPr/>
          <p:nvPr/>
        </p:nvSpPr>
        <p:spPr>
          <a:xfrm>
            <a:off x="3503116" y="2643634"/>
            <a:ext cx="2394645" cy="83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실시간 전사</a:t>
            </a:r>
            <a:endParaRPr lang="en-US" sz="1125" dirty="0"/>
          </a:p>
        </p:txBody>
      </p:sp>
      <p:sp>
        <p:nvSpPr>
          <p:cNvPr id="53" name="Text 13"/>
          <p:cNvSpPr/>
          <p:nvPr/>
        </p:nvSpPr>
        <p:spPr>
          <a:xfrm>
            <a:off x="6050161" y="2643634"/>
            <a:ext cx="3440162" cy="83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⚠️ 공식 docs 일관성 없음 — visible area 와 formal language section 불일치, Korean self-serve 가용성 불명확</a:t>
            </a:r>
            <a:endParaRPr lang="en-US" sz="1125" dirty="0"/>
          </a:p>
        </p:txBody>
      </p:sp>
      <p:sp>
        <p:nvSpPr>
          <p:cNvPr id="54" name="Text 14"/>
          <p:cNvSpPr/>
          <p:nvPr/>
        </p:nvSpPr>
        <p:spPr>
          <a:xfrm>
            <a:off x="9642723" y="2643634"/>
            <a:ext cx="1872407" cy="83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⚠️ 리스크 (검증 필요)</a:t>
            </a:r>
            <a:endParaRPr lang="en-US" sz="1125" dirty="0"/>
          </a:p>
        </p:txBody>
      </p:sp>
      <p:sp>
        <p:nvSpPr>
          <p:cNvPr id="55" name="Text 15"/>
          <p:cNvSpPr/>
          <p:nvPr/>
        </p:nvSpPr>
        <p:spPr>
          <a:xfrm>
            <a:off x="499765" y="3479006"/>
            <a:ext cx="1140172" cy="39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00000"/>
                </a:solidFill>
              </a:rPr>
              <a:t>Falcon</a:t>
            </a:r>
            <a:endParaRPr lang="en-US" sz="1350" dirty="0"/>
          </a:p>
        </p:txBody>
      </p:sp>
      <p:sp>
        <p:nvSpPr>
          <p:cNvPr id="56" name="Text 16"/>
          <p:cNvSpPr/>
          <p:nvPr/>
        </p:nvSpPr>
        <p:spPr>
          <a:xfrm>
            <a:off x="1792337" y="3479006"/>
            <a:ext cx="1558379" cy="39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Diarization</a:t>
            </a:r>
            <a:endParaRPr lang="en-US" sz="1125" dirty="0"/>
          </a:p>
        </p:txBody>
      </p:sp>
      <p:sp>
        <p:nvSpPr>
          <p:cNvPr id="57" name="Text 17"/>
          <p:cNvSpPr/>
          <p:nvPr/>
        </p:nvSpPr>
        <p:spPr>
          <a:xfrm>
            <a:off x="3503116" y="3479006"/>
            <a:ext cx="2394645" cy="39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화자 분리 및 attribution</a:t>
            </a:r>
            <a:endParaRPr lang="en-US" sz="1125" dirty="0"/>
          </a:p>
        </p:txBody>
      </p:sp>
      <p:sp>
        <p:nvSpPr>
          <p:cNvPr id="58" name="Text 18"/>
          <p:cNvSpPr/>
          <p:nvPr/>
        </p:nvSpPr>
        <p:spPr>
          <a:xfrm>
            <a:off x="6050161" y="3479006"/>
            <a:ext cx="3440162" cy="39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문서상 언어별 성능 독립 검증 필요</a:t>
            </a:r>
            <a:endParaRPr lang="en-US" sz="1125" dirty="0"/>
          </a:p>
        </p:txBody>
      </p:sp>
      <p:sp>
        <p:nvSpPr>
          <p:cNvPr id="59" name="Text 19"/>
          <p:cNvSpPr/>
          <p:nvPr/>
        </p:nvSpPr>
        <p:spPr>
          <a:xfrm>
            <a:off x="9642723" y="3479006"/>
            <a:ext cx="1872407" cy="39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조건부 (정확도 검증 필수)</a:t>
            </a:r>
            <a:endParaRPr lang="en-US" sz="1125" dirty="0"/>
          </a:p>
        </p:txBody>
      </p:sp>
      <p:sp>
        <p:nvSpPr>
          <p:cNvPr id="60" name="Text 20"/>
          <p:cNvSpPr/>
          <p:nvPr/>
        </p:nvSpPr>
        <p:spPr>
          <a:xfrm>
            <a:off x="499765" y="3873252"/>
            <a:ext cx="1140172" cy="59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00000"/>
                </a:solidFill>
              </a:rPr>
              <a:t>Orca</a:t>
            </a:r>
            <a:endParaRPr lang="en-US" sz="1350" dirty="0"/>
          </a:p>
        </p:txBody>
      </p:sp>
      <p:sp>
        <p:nvSpPr>
          <p:cNvPr id="61" name="Text 21"/>
          <p:cNvSpPr/>
          <p:nvPr/>
        </p:nvSpPr>
        <p:spPr>
          <a:xfrm>
            <a:off x="1792337" y="3873252"/>
            <a:ext cx="1558379" cy="59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Streaming TTS</a:t>
            </a:r>
            <a:endParaRPr lang="en-US" sz="1125" dirty="0"/>
          </a:p>
        </p:txBody>
      </p:sp>
      <p:sp>
        <p:nvSpPr>
          <p:cNvPr id="62" name="Text 22"/>
          <p:cNvSpPr/>
          <p:nvPr/>
        </p:nvSpPr>
        <p:spPr>
          <a:xfrm>
            <a:off x="3503116" y="3873252"/>
            <a:ext cx="2394645" cy="59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로컬 음성 출력, LLM 연동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voice UX</a:t>
            </a:r>
            <a:endParaRPr lang="en-US" sz="1125" dirty="0"/>
          </a:p>
        </p:txBody>
      </p:sp>
      <p:sp>
        <p:nvSpPr>
          <p:cNvPr id="63" name="Text 23"/>
          <p:cNvSpPr/>
          <p:nvPr/>
        </p:nvSpPr>
        <p:spPr>
          <a:xfrm>
            <a:off x="6050161" y="3873252"/>
            <a:ext cx="3440162" cy="59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공식 TTS 지원 언어 범위 내</a:t>
            </a:r>
            <a:endParaRPr lang="en-US" sz="1125" dirty="0"/>
          </a:p>
        </p:txBody>
      </p:sp>
      <p:sp>
        <p:nvSpPr>
          <p:cNvPr id="64" name="Text 24"/>
          <p:cNvSpPr/>
          <p:nvPr/>
        </p:nvSpPr>
        <p:spPr>
          <a:xfrm>
            <a:off x="9642723" y="3873252"/>
            <a:ext cx="1872407" cy="59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회의록 핵심 아님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(voice UX 전용)</a:t>
            </a:r>
            <a:endParaRPr lang="en-US" sz="1125" dirty="0"/>
          </a:p>
        </p:txBody>
      </p:sp>
      <p:sp>
        <p:nvSpPr>
          <p:cNvPr id="65" name="Text 25"/>
          <p:cNvSpPr/>
          <p:nvPr/>
        </p:nvSpPr>
        <p:spPr>
          <a:xfrm>
            <a:off x="499765" y="4463653"/>
            <a:ext cx="114017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00000"/>
                </a:solidFill>
              </a:rPr>
              <a:t>picoLLM</a:t>
            </a:r>
            <a:endParaRPr lang="en-US" sz="1350" dirty="0"/>
          </a:p>
        </p:txBody>
      </p:sp>
      <p:sp>
        <p:nvSpPr>
          <p:cNvPr id="66" name="Text 26"/>
          <p:cNvSpPr/>
          <p:nvPr/>
        </p:nvSpPr>
        <p:spPr>
          <a:xfrm>
            <a:off x="1792337" y="4463653"/>
            <a:ext cx="155837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Local LLM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orchestration</a:t>
            </a:r>
            <a:endParaRPr lang="en-US" sz="1125" dirty="0"/>
          </a:p>
        </p:txBody>
      </p:sp>
      <p:sp>
        <p:nvSpPr>
          <p:cNvPr id="67" name="Text 27"/>
          <p:cNvSpPr/>
          <p:nvPr/>
        </p:nvSpPr>
        <p:spPr>
          <a:xfrm>
            <a:off x="3503116" y="4463653"/>
            <a:ext cx="23946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로컬 에이전트 / 명령 라우팅</a:t>
            </a:r>
            <a:endParaRPr lang="en-US" sz="1125" dirty="0"/>
          </a:p>
        </p:txBody>
      </p:sp>
      <p:sp>
        <p:nvSpPr>
          <p:cNvPr id="68" name="Text 28"/>
          <p:cNvSpPr/>
          <p:nvPr/>
        </p:nvSpPr>
        <p:spPr>
          <a:xfrm>
            <a:off x="6050161" y="4463653"/>
            <a:ext cx="34401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-</a:t>
            </a:r>
            <a:endParaRPr lang="en-US" sz="1125" dirty="0"/>
          </a:p>
        </p:txBody>
      </p:sp>
      <p:sp>
        <p:nvSpPr>
          <p:cNvPr id="69" name="Text 29"/>
          <p:cNvSpPr/>
          <p:nvPr/>
        </p:nvSpPr>
        <p:spPr>
          <a:xfrm>
            <a:off x="9642723" y="4463653"/>
            <a:ext cx="187240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보조 레이어</a:t>
            </a:r>
            <a:endParaRPr lang="en-US" sz="1125" dirty="0"/>
          </a:p>
        </p:txBody>
      </p:sp>
      <p:sp>
        <p:nvSpPr>
          <p:cNvPr id="70" name="Text 30"/>
          <p:cNvSpPr/>
          <p:nvPr/>
        </p:nvSpPr>
        <p:spPr>
          <a:xfrm>
            <a:off x="571500" y="581025"/>
            <a:ext cx="8046720" cy="4987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27"/>
              </a:lnSpc>
              <a:buNone/>
            </a:pPr>
            <a:r>
              <a:rPr lang="en-US" sz="3300" b="1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구성요소 맵</a:t>
            </a:r>
            <a:endParaRPr lang="en-US" sz="3300" dirty="0"/>
          </a:p>
        </p:txBody>
      </p:sp>
      <p:sp>
        <p:nvSpPr>
          <p:cNvPr id="71" name="Text 31"/>
          <p:cNvSpPr/>
          <p:nvPr/>
        </p:nvSpPr>
        <p:spPr>
          <a:xfrm>
            <a:off x="571500" y="1143000"/>
            <a:ext cx="1162050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Picovoice는 완성형 회의록 플랫폼이 아니라 voice component stack이다</a:t>
            </a:r>
            <a:endParaRPr lang="en-US" sz="2100" dirty="0"/>
          </a:p>
        </p:txBody>
      </p:sp>
      <p:sp>
        <p:nvSpPr>
          <p:cNvPr id="72" name="Text 32"/>
          <p:cNvSpPr/>
          <p:nvPr/>
        </p:nvSpPr>
        <p:spPr>
          <a:xfrm>
            <a:off x="562868" y="5257800"/>
            <a:ext cx="1236315" cy="2382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Lane</a:t>
            </a:r>
            <a:endParaRPr lang="en-US" sz="1350" dirty="0"/>
          </a:p>
        </p:txBody>
      </p:sp>
      <p:sp>
        <p:nvSpPr>
          <p:cNvPr id="73" name="Text 33"/>
          <p:cNvSpPr/>
          <p:nvPr/>
        </p:nvSpPr>
        <p:spPr>
          <a:xfrm>
            <a:off x="6315075" y="5181600"/>
            <a:ext cx="312420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68"/>
              </a:lnSpc>
              <a:buNone/>
            </a:pPr>
            <a:r>
              <a:rPr lang="en-US" sz="7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공식 지원 (Cheetah ⚠️ 검증 필요)</a:t>
            </a:r>
            <a:endParaRPr lang="en-US" sz="750" dirty="0"/>
          </a:p>
        </p:txBody>
      </p:sp>
      <p:sp>
        <p:nvSpPr>
          <p:cNvPr id="74" name="Text 34"/>
          <p:cNvSpPr/>
          <p:nvPr/>
        </p:nvSpPr>
        <p:spPr>
          <a:xfrm>
            <a:off x="100905" y="5781675"/>
            <a:ext cx="12091095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Cheetah 한국어 streaming STT: 공식 visible area에는 표시되나, formal language support section과 일치하지 않음. 상용 문의 전 독립 검증 필수.</a:t>
            </a:r>
            <a:endParaRPr lang="en-US" sz="1350" dirty="0"/>
          </a:p>
        </p:txBody>
      </p:sp>
      <p:sp>
        <p:nvSpPr>
          <p:cNvPr id="75" name="Text 35"/>
          <p:cNvSpPr/>
          <p:nvPr/>
        </p:nvSpPr>
        <p:spPr>
          <a:xfrm>
            <a:off x="619125" y="5943600"/>
            <a:ext cx="1145286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AccessKey call-home: 로컬 처리 강조에도 불구하고 pricing 문서에 명시됨</a:t>
            </a:r>
            <a:endParaRPr lang="en-US" sz="1350" dirty="0"/>
          </a:p>
        </p:txBody>
      </p:sp>
      <p:sp>
        <p:nvSpPr>
          <p:cNvPr id="76" name="Text 36"/>
          <p:cNvSpPr/>
          <p:nvPr/>
        </p:nvSpPr>
        <p:spPr>
          <a:xfrm>
            <a:off x="533400" y="6229350"/>
            <a:ext cx="936117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Sources: picovoice.ai/docs/leopard · /cheetah · /orca · /falcon</a:t>
            </a:r>
            <a:endParaRPr lang="en-US" sz="975" dirty="0"/>
          </a:p>
        </p:txBody>
      </p:sp>
      <p:sp>
        <p:nvSpPr>
          <p:cNvPr id="77" name="Text 37"/>
          <p:cNvSpPr/>
          <p:nvPr/>
        </p:nvSpPr>
        <p:spPr>
          <a:xfrm>
            <a:off x="11163300" y="6553200"/>
            <a:ext cx="701873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C2C2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5" y="6542484"/>
            <a:ext cx="280392" cy="2742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542925"/>
            <a:ext cx="11620500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064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Leopard 심층 평가: Korean Batch STT 공식 지원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533400" y="1162050"/>
            <a:ext cx="1165860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한국어 지원이 확인되나, 도메인 특화 및 배치 전용 한계를 사전 인지해야 한다</a:t>
            </a:r>
            <a:endParaRPr lang="en-US" sz="2325" dirty="0"/>
          </a:p>
        </p:txBody>
      </p:sp>
      <p:sp>
        <p:nvSpPr>
          <p:cNvPr id="6" name="Text 2"/>
          <p:cNvSpPr/>
          <p:nvPr/>
        </p:nvSpPr>
        <p:spPr>
          <a:xfrm>
            <a:off x="771525" y="1914525"/>
            <a:ext cx="389763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지원 확인 사항</a:t>
            </a:r>
            <a:endParaRPr lang="en-US" sz="2325" dirty="0"/>
          </a:p>
        </p:txBody>
      </p:sp>
      <p:sp>
        <p:nvSpPr>
          <p:cNvPr id="7" name="Text 3"/>
          <p:cNvSpPr/>
          <p:nvPr/>
        </p:nvSpPr>
        <p:spPr>
          <a:xfrm>
            <a:off x="6629400" y="1914525"/>
            <a:ext cx="283464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및 한계</a:t>
            </a:r>
            <a:endParaRPr lang="en-US" sz="2325" dirty="0"/>
          </a:p>
        </p:txBody>
      </p:sp>
      <p:sp>
        <p:nvSpPr>
          <p:cNvPr id="8" name="Text 4"/>
          <p:cNvSpPr/>
          <p:nvPr/>
        </p:nvSpPr>
        <p:spPr>
          <a:xfrm>
            <a:off x="6629400" y="4362450"/>
            <a:ext cx="212598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포인트</a:t>
            </a:r>
            <a:endParaRPr lang="en-US" sz="2325" dirty="0"/>
          </a:p>
        </p:txBody>
      </p:sp>
      <p:sp>
        <p:nvSpPr>
          <p:cNvPr id="9" name="Text 5"/>
          <p:cNvSpPr/>
          <p:nvPr/>
        </p:nvSpPr>
        <p:spPr>
          <a:xfrm>
            <a:off x="895350" y="2486025"/>
            <a:ext cx="5741640" cy="906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언어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Leopard 공식 지원: English, French, German, Italian,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Japanese, Korean, Portuguese, Spanish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한국어(Korean)는 공식 지원 목록에 포함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5350" y="3819525"/>
            <a:ext cx="5773043" cy="12180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파일 기반 배치 전사 (File-based batch transcription)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도메인 용어 코스터마이제이션 지원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Edge 디바이스 최적화 (low resource footprint)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AccessKey 기반 라이선스 관리 (call-home 행동 확인 필요)</a:t>
            </a:r>
            <a:endParaRPr lang="en-US" sz="1725" dirty="0"/>
          </a:p>
        </p:txBody>
      </p:sp>
      <p:sp>
        <p:nvSpPr>
          <p:cNvPr id="11" name="Text 7"/>
          <p:cNvSpPr/>
          <p:nvPr/>
        </p:nvSpPr>
        <p:spPr>
          <a:xfrm>
            <a:off x="895350" y="5095875"/>
            <a:ext cx="262890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적용 적합성</a:t>
            </a:r>
            <a:endParaRPr lang="en-US" sz="1725" dirty="0"/>
          </a:p>
        </p:txBody>
      </p:sp>
      <p:sp>
        <p:nvSpPr>
          <p:cNvPr id="12" name="Text 8"/>
          <p:cNvSpPr/>
          <p:nvPr/>
        </p:nvSpPr>
        <p:spPr>
          <a:xfrm>
            <a:off x="895350" y="5372100"/>
            <a:ext cx="5353943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사전 녹취된 회의 음성 처리: ✅ 적합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스트리밍 전사: ❌ Cheetah 영역 (리스크 있음)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대용량 배치 처리: ✅ 가능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6686550" y="2486025"/>
            <a:ext cx="5228183" cy="13599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폐쇄망 환경: AccessKey validation call-home 행동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네트워크 끊기 전 반드시 검증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스트리밍 전사 불가: 실시간 회의 전사 불가, 배치 전용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도메인 WER: 특수 용어(제품명, 조직 고유 용어) 사전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작업 필요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라이선스: 상용 사용 시 엔터프라이즈 플랜 계약 필요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86550" y="4867275"/>
            <a:ext cx="5270153" cy="13037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한국어 WER 측정: 대표 도메인 회의 음성 샘플로 독립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AccessKey: 폐쇄망 차단 상태에서 기능 정상 작동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여부 확인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커스텀 용어 사전 적용 효과 측정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11172825" y="6572250"/>
            <a:ext cx="691455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400050" y="6572250"/>
            <a:ext cx="681038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1028700" y="6572250"/>
            <a:ext cx="104013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Display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5195292" y="6572250"/>
            <a:ext cx="1791593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picovoice.ai/docs/leopard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025"/>
            <a:ext cx="843534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59"/>
              </a:lnSpc>
              <a:buNone/>
            </a:pPr>
            <a:r>
              <a:rPr lang="en-US" sz="3075" b="1" dirty="0">
                <a:solidFill>
                  <a:srgbClr val="0B1A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Cheetah 한국어 리스크 분석</a:t>
            </a:r>
            <a:endParaRPr lang="en-US" sz="3075" dirty="0"/>
          </a:p>
        </p:txBody>
      </p:sp>
      <p:sp>
        <p:nvSpPr>
          <p:cNvPr id="4" name="Text 1"/>
          <p:cNvSpPr/>
          <p:nvPr/>
        </p:nvSpPr>
        <p:spPr>
          <a:xfrm>
            <a:off x="659011" y="2638425"/>
            <a:ext cx="184398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불일치 근거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4472434" y="2638425"/>
            <a:ext cx="1770608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리스크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8233321" y="2638425"/>
            <a:ext cx="159246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검증 절차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29468" y="5629275"/>
            <a:ext cx="1192336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2B48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이 리스크가 해소되지 않을 경우, 실시간 스트리밍 전사는 faster-whisper 기반 오픈소스 대안으로 대체 설계해야 한다.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153293" y="1781175"/>
            <a:ext cx="12038558" cy="4759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9E7B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Cheetah의 한국어 streaming STT 지원은 Picovoice 공식 visible area(UI 목록)에는 표시되나, formal language support</a:t>
            </a:r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9E7B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9E7B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documentation section과 니경 내용이 일치하지 않는다. Self-serve 방식의 즉시 가용성을 전제로 도입 결정을 내리지 말 것.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742950" y="3152775"/>
            <a:ext cx="274498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👁️ visible area (제품 UI 목록):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Korean ✔ 표시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2950" y="3714750"/>
            <a:ext cx="3604171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formal language support section: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Korean 명시적 미포함 또는 누락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2950" y="4286250"/>
            <a:ext cx="472059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⏰ 버전별 문서 갱신 불일치 가능성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742950" y="4648200"/>
            <a:ext cx="3667125" cy="4759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❓ 공식 FAQ에서 언어별 streaming STT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가용성 일관성 미확인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4495800" y="3152775"/>
            <a:ext cx="568071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계획 대비 실제 가용성 갭 발생 가능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4495800" y="3476625"/>
            <a:ext cx="3164086" cy="4759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스트리밍 전사 기반 실시간 회의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구축 후 재작업 비용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4495800" y="4048125"/>
            <a:ext cx="2703165" cy="4759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자체 테스터로 확인 불가한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라이선스/정책 제약 가능성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4495800" y="4676775"/>
            <a:ext cx="3635573" cy="4759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상용 계약 전 공식 support 채널 확인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없이는 불확실성 잔존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8305800" y="3152775"/>
            <a:ext cx="3729930" cy="4759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Picovoice 공식 영업 채널 접촉 →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streaming STT 가용성 서면 확인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8305800" y="3714750"/>
            <a:ext cx="3426023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PoC 기간 중 실제 Korean 음성으로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Cheetah API 직접 테스터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05800" y="4286250"/>
            <a:ext cx="388620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WER 측정 및 Whisper 대비 성능 비교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8305800" y="4676775"/>
            <a:ext cx="2965103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불가 시 Leopard(배치) + 별도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streaming 솔루션 조합 검토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205413" y="6219825"/>
            <a:ext cx="178117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picovoice.ai/docs/cheetah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1201400" y="6543675"/>
            <a:ext cx="66005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09600" y="654367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5" y="6501259"/>
            <a:ext cx="280392" cy="2742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47700"/>
            <a:ext cx="4800600" cy="47610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749"/>
              </a:lnSpc>
              <a:buNone/>
            </a:pPr>
            <a:r>
              <a:rPr lang="en-US" sz="3150" b="1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오픈소스 대안 스택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457200" y="1219200"/>
            <a:ext cx="1173480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whisper.cpp + pyannote + llama.cpp 조합이 On-Prem 회의록 파이프라인의 현실적 기본선이다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771525" y="1962150"/>
            <a:ext cx="289179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whisper.cpp</a:t>
            </a:r>
            <a:endParaRPr lang="en-US" sz="1725" dirty="0"/>
          </a:p>
        </p:txBody>
      </p:sp>
      <p:sp>
        <p:nvSpPr>
          <p:cNvPr id="7" name="Text 3"/>
          <p:cNvSpPr/>
          <p:nvPr/>
        </p:nvSpPr>
        <p:spPr>
          <a:xfrm>
            <a:off x="4572000" y="1962150"/>
            <a:ext cx="368046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pyannote.audio</a:t>
            </a:r>
            <a:endParaRPr lang="en-US" sz="1725" dirty="0"/>
          </a:p>
        </p:txBody>
      </p:sp>
      <p:sp>
        <p:nvSpPr>
          <p:cNvPr id="8" name="Text 4"/>
          <p:cNvSpPr/>
          <p:nvPr/>
        </p:nvSpPr>
        <p:spPr>
          <a:xfrm>
            <a:off x="8305800" y="1962150"/>
            <a:ext cx="236601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llama.cpp</a:t>
            </a:r>
            <a:endParaRPr lang="en-US" sz="1725" dirty="0"/>
          </a:p>
        </p:txBody>
      </p:sp>
      <p:sp>
        <p:nvSpPr>
          <p:cNvPr id="9" name="Text 5"/>
          <p:cNvSpPr/>
          <p:nvPr/>
        </p:nvSpPr>
        <p:spPr>
          <a:xfrm>
            <a:off x="2969865" y="1905000"/>
            <a:ext cx="880021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ASR 엔진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573643" y="1905000"/>
            <a:ext cx="817215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38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LLM</a:t>
            </a:r>
            <a:endParaRPr lang="en-US" sz="1425" dirty="0"/>
          </a:p>
        </p:txBody>
      </p:sp>
      <p:sp>
        <p:nvSpPr>
          <p:cNvPr id="11" name="Text 7"/>
          <p:cNvSpPr/>
          <p:nvPr/>
        </p:nvSpPr>
        <p:spPr>
          <a:xfrm>
            <a:off x="2930723" y="4991100"/>
            <a:ext cx="901005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가치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283773" y="4991100"/>
            <a:ext cx="1320105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고려사항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062663" y="5334000"/>
            <a:ext cx="5762625" cy="529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권장 (pyannote, llama.cpp) | 파이프라인 오케스트레이션</a:t>
            </a:r>
            <a:pPr algn="ctr"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구현 필요 | 상용 지원 없음 — 내부 운영 역량 필요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7225" y="2524125"/>
            <a:ext cx="3719512" cy="7545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 오픈소스 batch/streaming STT 엔진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한국어: ✔ Whisper large-v2/v3 기반 공식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다국어 지원</a:t>
            </a:r>
            <a:endParaRPr lang="en-US" sz="1425" dirty="0"/>
          </a:p>
        </p:txBody>
      </p:sp>
      <p:sp>
        <p:nvSpPr>
          <p:cNvPr id="15" name="Text 11"/>
          <p:cNvSpPr/>
          <p:nvPr/>
        </p:nvSpPr>
        <p:spPr>
          <a:xfrm>
            <a:off x="657225" y="3352800"/>
            <a:ext cx="6629400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배포: CPU/GPU 혼용, 양자화 지원, 완전 로컬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448175" y="2524125"/>
            <a:ext cx="3321248" cy="529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 화자 분리(Diarization) 오픈소스</a:t>
            </a:r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라이브러리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48175" y="3076575"/>
            <a:ext cx="5410200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한국어: ✔ 언어 비독립적 음향 특성 기반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448175" y="3371850"/>
            <a:ext cx="673227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배포: Python 기반, GPU 권장, 로컬 완전 실행</a:t>
            </a:r>
            <a:endParaRPr lang="en-US" sz="1425" dirty="0"/>
          </a:p>
        </p:txBody>
      </p:sp>
      <p:sp>
        <p:nvSpPr>
          <p:cNvPr id="19" name="Text 15"/>
          <p:cNvSpPr/>
          <p:nvPr/>
        </p:nvSpPr>
        <p:spPr>
          <a:xfrm>
            <a:off x="8239125" y="2524125"/>
            <a:ext cx="3876675" cy="7545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 양자화 LLM 기반 요약 / Action Item 추출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한국어: ✔ 모델 선택에 따라 지원 (Qwen,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EXAONE 등)</a:t>
            </a:r>
            <a:endParaRPr lang="en-US" sz="1425" dirty="0"/>
          </a:p>
        </p:txBody>
      </p:sp>
      <p:sp>
        <p:nvSpPr>
          <p:cNvPr id="20" name="Text 16"/>
          <p:cNvSpPr/>
          <p:nvPr/>
        </p:nvSpPr>
        <p:spPr>
          <a:xfrm>
            <a:off x="8239125" y="3371850"/>
            <a:ext cx="3952875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배포: CPU/GPU 혼용, on-prem 완전 처리 가능</a:t>
            </a:r>
            <a:endParaRPr lang="en-US" sz="1425" dirty="0"/>
          </a:p>
        </p:txBody>
      </p:sp>
      <p:sp>
        <p:nvSpPr>
          <p:cNvPr id="21" name="Text 17"/>
          <p:cNvSpPr/>
          <p:nvPr/>
        </p:nvSpPr>
        <p:spPr>
          <a:xfrm>
            <a:off x="657225" y="3762375"/>
            <a:ext cx="3939480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GGML 양자화로 CPU 단독 실행 가능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faster-whisper는 CTranslate2 기반 속도 최적화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한국어 WER: 공개 벤치마크 기준 상급 수준</a:t>
            </a:r>
            <a:endParaRPr lang="en-US" sz="1275" dirty="0"/>
          </a:p>
        </p:txBody>
      </p:sp>
      <p:sp>
        <p:nvSpPr>
          <p:cNvPr id="22" name="Text 18"/>
          <p:cNvSpPr/>
          <p:nvPr/>
        </p:nvSpPr>
        <p:spPr>
          <a:xfrm>
            <a:off x="4448175" y="3762375"/>
            <a:ext cx="3352800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Speaker Diarization 3.1 기준 최신 모델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HuggingFace 모델 하위 연동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상암 라이선스 별도 확인 필요</a:t>
            </a:r>
            <a:endParaRPr lang="en-US" sz="1275" dirty="0"/>
          </a:p>
        </p:txBody>
      </p:sp>
      <p:sp>
        <p:nvSpPr>
          <p:cNvPr id="23" name="Text 19"/>
          <p:cNvSpPr/>
          <p:nvPr/>
        </p:nvSpPr>
        <p:spPr>
          <a:xfrm>
            <a:off x="8305800" y="3762375"/>
            <a:ext cx="2870746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GGUF 포맷, 4/8-bit 양자화 지원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Metal, CUDA, OpenCL 백엔드 선택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REST API 서버 모드 지원</a:t>
            </a:r>
            <a:endParaRPr lang="en-US" sz="1275" dirty="0"/>
          </a:p>
        </p:txBody>
      </p:sp>
      <p:sp>
        <p:nvSpPr>
          <p:cNvPr id="24" name="Text 20"/>
          <p:cNvSpPr/>
          <p:nvPr/>
        </p:nvSpPr>
        <p:spPr>
          <a:xfrm>
            <a:off x="581471" y="5334000"/>
            <a:ext cx="5647283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STT→Diarization→Summarization→Action Item 순차</a:t>
            </a:r>
            <a:pPr algn="ctr"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| 각 컴포넌트 독립 교체 가능 | 페쇄망 완전 처리 가능</a:t>
            </a:r>
            <a:endParaRPr lang="en-US" sz="1275" dirty="0"/>
          </a:p>
        </p:txBody>
      </p:sp>
      <p:sp>
        <p:nvSpPr>
          <p:cNvPr id="25" name="Text 21"/>
          <p:cNvSpPr/>
          <p:nvPr/>
        </p:nvSpPr>
        <p:spPr>
          <a:xfrm>
            <a:off x="657225" y="6467475"/>
            <a:ext cx="1943100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7"/>
              </a:lnSpc>
              <a:buNone/>
            </a:pPr>
            <a:r>
              <a:rPr lang="en-US" sz="127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75" dirty="0"/>
          </a:p>
        </p:txBody>
      </p:sp>
      <p:sp>
        <p:nvSpPr>
          <p:cNvPr id="26" name="Text 22"/>
          <p:cNvSpPr/>
          <p:nvPr/>
        </p:nvSpPr>
        <p:spPr>
          <a:xfrm>
            <a:off x="11201400" y="6534150"/>
            <a:ext cx="660053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3256508" y="6191250"/>
            <a:ext cx="5678686" cy="1474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1"/>
              </a:lnSpc>
              <a:buNone/>
            </a:pPr>
            <a:r>
              <a:rPr lang="en-US" sz="90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github.com/ggerganov/whisper.cpp · pyannote.audio · github.com/ggerganov/llama.cpp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769894" y="1905000"/>
            <a:ext cx="890588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화자 분리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57" y="1467594"/>
            <a:ext cx="11240988" cy="35181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57" y="1467594"/>
            <a:ext cx="2810173" cy="419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530" y="1467594"/>
            <a:ext cx="2810173" cy="419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702" y="1467594"/>
            <a:ext cx="2810173" cy="419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5875" y="1467594"/>
            <a:ext cx="2810470" cy="419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357" y="1886694"/>
            <a:ext cx="2810173" cy="53384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5530" y="1886694"/>
            <a:ext cx="2810173" cy="53384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1491" y="2067967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5702" y="1886694"/>
            <a:ext cx="2810173" cy="53384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7453" y="1987451"/>
            <a:ext cx="171450" cy="1714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5875" y="1886694"/>
            <a:ext cx="2810470" cy="53384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9348" y="2074069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357" y="2420541"/>
            <a:ext cx="2810173" cy="58653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85530" y="2420541"/>
            <a:ext cx="2810173" cy="586532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5702" y="2420541"/>
            <a:ext cx="2810173" cy="586532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21822" y="2634258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5875" y="2420541"/>
            <a:ext cx="2810470" cy="586532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55969" y="2547640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357" y="3007072"/>
            <a:ext cx="2810173" cy="51955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85530" y="3007072"/>
            <a:ext cx="2810173" cy="519559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5702" y="3007072"/>
            <a:ext cx="2810173" cy="519559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05875" y="3007072"/>
            <a:ext cx="2810470" cy="519559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5357" y="3526631"/>
            <a:ext cx="2810173" cy="519559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85530" y="3526631"/>
            <a:ext cx="2810173" cy="519559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5702" y="3526631"/>
            <a:ext cx="2810173" cy="519559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05875" y="3526631"/>
            <a:ext cx="2810470" cy="519559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5357" y="4046190"/>
            <a:ext cx="2810173" cy="352425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85530" y="4046190"/>
            <a:ext cx="2810173" cy="352425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43325" y="4142780"/>
            <a:ext cx="171450" cy="17145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95702" y="4046190"/>
            <a:ext cx="2810173" cy="352425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905875" y="4046190"/>
            <a:ext cx="2810470" cy="352425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455795" y="4142780"/>
            <a:ext cx="171450" cy="17145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75357" y="4398615"/>
            <a:ext cx="2810173" cy="587127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285530" y="4398615"/>
            <a:ext cx="2810173" cy="587127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095702" y="4398615"/>
            <a:ext cx="2810173" cy="587127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11218" y="4612630"/>
            <a:ext cx="171450" cy="17145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905875" y="4398615"/>
            <a:ext cx="2810470" cy="587127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558635" y="4526012"/>
            <a:ext cx="171450" cy="171450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16855" y="6542484"/>
            <a:ext cx="268188" cy="274290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449788" y="5088582"/>
            <a:ext cx="292596" cy="281136"/>
          </a:xfrm>
          <a:prstGeom prst="rect">
            <a:avLst/>
          </a:prstGeom>
        </p:spPr>
      </p:pic>
      <p:sp>
        <p:nvSpPr>
          <p:cNvPr id="43" name="Text 0"/>
          <p:cNvSpPr/>
          <p:nvPr/>
        </p:nvSpPr>
        <p:spPr>
          <a:xfrm>
            <a:off x="475357" y="1467594"/>
            <a:ext cx="261967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평가 기준</a:t>
            </a:r>
            <a:endParaRPr lang="en-US" sz="1200" dirty="0"/>
          </a:p>
        </p:txBody>
      </p:sp>
      <p:sp>
        <p:nvSpPr>
          <p:cNvPr id="44" name="Text 1"/>
          <p:cNvSpPr/>
          <p:nvPr/>
        </p:nvSpPr>
        <p:spPr>
          <a:xfrm>
            <a:off x="3285530" y="1467594"/>
            <a:ext cx="261967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Picovoice</a:t>
            </a:r>
            <a:endParaRPr lang="en-US" sz="1200" dirty="0"/>
          </a:p>
        </p:txBody>
      </p:sp>
      <p:sp>
        <p:nvSpPr>
          <p:cNvPr id="45" name="Text 2"/>
          <p:cNvSpPr/>
          <p:nvPr/>
        </p:nvSpPr>
        <p:spPr>
          <a:xfrm>
            <a:off x="6095702" y="1467594"/>
            <a:ext cx="261967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Whisper+pyannote+llama.cpp</a:t>
            </a:r>
            <a:endParaRPr lang="en-US" sz="1200" dirty="0"/>
          </a:p>
        </p:txBody>
      </p:sp>
      <p:sp>
        <p:nvSpPr>
          <p:cNvPr id="46" name="Text 3"/>
          <p:cNvSpPr/>
          <p:nvPr/>
        </p:nvSpPr>
        <p:spPr>
          <a:xfrm>
            <a:off x="8905875" y="1467594"/>
            <a:ext cx="26199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NVIDIA Riva</a:t>
            </a:r>
            <a:endParaRPr lang="en-US" sz="1200" dirty="0"/>
          </a:p>
        </p:txBody>
      </p:sp>
      <p:sp>
        <p:nvSpPr>
          <p:cNvPr id="47" name="Text 4"/>
          <p:cNvSpPr/>
          <p:nvPr/>
        </p:nvSpPr>
        <p:spPr>
          <a:xfrm>
            <a:off x="475357" y="1886694"/>
            <a:ext cx="2657773" cy="5338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한국어 지원 완성도</a:t>
            </a:r>
            <a:endParaRPr lang="en-US" sz="1050" dirty="0"/>
          </a:p>
        </p:txBody>
      </p:sp>
      <p:sp>
        <p:nvSpPr>
          <p:cNvPr id="48" name="Text 5"/>
          <p:cNvSpPr/>
          <p:nvPr/>
        </p:nvSpPr>
        <p:spPr>
          <a:xfrm>
            <a:off x="3285530" y="1886694"/>
            <a:ext cx="2657773" cy="5338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Leopard </a:t>
            </a:r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✔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공식 / Cheetah </a:t>
            </a:r>
            <a:pPr algn="ctr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9BF2C"/>
                </a:solidFill>
              </a:rPr>
              <a:t>⚠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불명확</a:t>
            </a:r>
            <a:endParaRPr lang="en-US" sz="1050" dirty="0"/>
          </a:p>
        </p:txBody>
      </p:sp>
      <p:sp>
        <p:nvSpPr>
          <p:cNvPr id="49" name="Text 6"/>
          <p:cNvSpPr/>
          <p:nvPr/>
        </p:nvSpPr>
        <p:spPr>
          <a:xfrm>
            <a:off x="6095702" y="1886694"/>
            <a:ext cx="2657773" cy="5338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✔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Whisper large-v3 공식 다국어,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pyannote 언어 비독립</a:t>
            </a:r>
            <a:endParaRPr lang="en-US" sz="1050" dirty="0"/>
          </a:p>
        </p:txBody>
      </p:sp>
      <p:sp>
        <p:nvSpPr>
          <p:cNvPr id="50" name="Text 7"/>
          <p:cNvSpPr/>
          <p:nvPr/>
        </p:nvSpPr>
        <p:spPr>
          <a:xfrm>
            <a:off x="8905875" y="1886694"/>
            <a:ext cx="2658070" cy="5338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✔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다국어, 커스텀 도메인 적용 가능</a:t>
            </a:r>
            <a:endParaRPr lang="en-US" sz="1050" dirty="0"/>
          </a:p>
        </p:txBody>
      </p:sp>
      <p:sp>
        <p:nvSpPr>
          <p:cNvPr id="51" name="Text 8"/>
          <p:cNvSpPr/>
          <p:nvPr/>
        </p:nvSpPr>
        <p:spPr>
          <a:xfrm>
            <a:off x="475357" y="2420541"/>
            <a:ext cx="2657773" cy="5865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폐쇄망 운용 가능성</a:t>
            </a:r>
            <a:endParaRPr lang="en-US" sz="1050" dirty="0"/>
          </a:p>
        </p:txBody>
      </p:sp>
      <p:sp>
        <p:nvSpPr>
          <p:cNvPr id="52" name="Text 9"/>
          <p:cNvSpPr/>
          <p:nvPr/>
        </p:nvSpPr>
        <p:spPr>
          <a:xfrm>
            <a:off x="3285530" y="2420541"/>
            <a:ext cx="2657773" cy="5865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9BF2C"/>
                </a:solidFill>
              </a:rPr>
              <a:t>⚠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AccessKey call-home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행동 검증 필요</a:t>
            </a:r>
            <a:endParaRPr lang="en-US" sz="1050" dirty="0"/>
          </a:p>
        </p:txBody>
      </p:sp>
      <p:sp>
        <p:nvSpPr>
          <p:cNvPr id="53" name="Text 10"/>
          <p:cNvSpPr/>
          <p:nvPr/>
        </p:nvSpPr>
        <p:spPr>
          <a:xfrm>
            <a:off x="6095702" y="2420541"/>
            <a:ext cx="2657773" cy="5865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✔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완전 오프라인 운용 가능</a:t>
            </a:r>
            <a:endParaRPr lang="en-US" sz="1050" dirty="0"/>
          </a:p>
        </p:txBody>
      </p:sp>
      <p:sp>
        <p:nvSpPr>
          <p:cNvPr id="54" name="Text 11"/>
          <p:cNvSpPr/>
          <p:nvPr/>
        </p:nvSpPr>
        <p:spPr>
          <a:xfrm>
            <a:off x="8905875" y="2420541"/>
            <a:ext cx="2658070" cy="5865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✔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완전 로컬 배포 가능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(GPU 인프라 필요)</a:t>
            </a:r>
            <a:endParaRPr lang="en-US" sz="1050" dirty="0"/>
          </a:p>
        </p:txBody>
      </p:sp>
      <p:sp>
        <p:nvSpPr>
          <p:cNvPr id="55" name="Text 12"/>
          <p:cNvSpPr/>
          <p:nvPr/>
        </p:nvSpPr>
        <p:spPr>
          <a:xfrm>
            <a:off x="475357" y="3007072"/>
            <a:ext cx="2657773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인프라 요구사항</a:t>
            </a:r>
            <a:endParaRPr lang="en-US" sz="1050" dirty="0"/>
          </a:p>
        </p:txBody>
      </p:sp>
      <p:sp>
        <p:nvSpPr>
          <p:cNvPr id="56" name="Text 13"/>
          <p:cNvSpPr/>
          <p:nvPr/>
        </p:nvSpPr>
        <p:spPr>
          <a:xfrm>
            <a:off x="3285530" y="3007072"/>
            <a:ext cx="2657773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경량 (CPU 가능, Edge 최적화)</a:t>
            </a:r>
            <a:endParaRPr lang="en-US" sz="1050" dirty="0"/>
          </a:p>
        </p:txBody>
      </p:sp>
      <p:sp>
        <p:nvSpPr>
          <p:cNvPr id="57" name="Text 14"/>
          <p:cNvSpPr/>
          <p:nvPr/>
        </p:nvSpPr>
        <p:spPr>
          <a:xfrm>
            <a:off x="6095702" y="3007072"/>
            <a:ext cx="2657773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CPU/GPU 선택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(pyannote, llama.cpp GPU 권장)</a:t>
            </a:r>
            <a:endParaRPr lang="en-US" sz="1050" dirty="0"/>
          </a:p>
        </p:txBody>
      </p:sp>
      <p:sp>
        <p:nvSpPr>
          <p:cNvPr id="58" name="Text 15"/>
          <p:cNvSpPr/>
          <p:nvPr/>
        </p:nvSpPr>
        <p:spPr>
          <a:xfrm>
            <a:off x="8905875" y="3007072"/>
            <a:ext cx="2658070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GPU 필수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(CUDA, NVIDIA 하드웨어)</a:t>
            </a:r>
            <a:endParaRPr lang="en-US" sz="1050" dirty="0"/>
          </a:p>
        </p:txBody>
      </p:sp>
      <p:sp>
        <p:nvSpPr>
          <p:cNvPr id="59" name="Text 16"/>
          <p:cNvSpPr/>
          <p:nvPr/>
        </p:nvSpPr>
        <p:spPr>
          <a:xfrm>
            <a:off x="475357" y="3526631"/>
            <a:ext cx="2657773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운영 복잡도</a:t>
            </a:r>
            <a:endParaRPr lang="en-US" sz="1050" dirty="0"/>
          </a:p>
        </p:txBody>
      </p:sp>
      <p:sp>
        <p:nvSpPr>
          <p:cNvPr id="60" name="Text 17"/>
          <p:cNvSpPr/>
          <p:nvPr/>
        </p:nvSpPr>
        <p:spPr>
          <a:xfrm>
            <a:off x="3285530" y="3526631"/>
            <a:ext cx="2657773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낮음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(통합 SDK, 단순 API)</a:t>
            </a:r>
            <a:endParaRPr lang="en-US" sz="1050" dirty="0"/>
          </a:p>
        </p:txBody>
      </p:sp>
      <p:sp>
        <p:nvSpPr>
          <p:cNvPr id="61" name="Text 18"/>
          <p:cNvSpPr/>
          <p:nvPr/>
        </p:nvSpPr>
        <p:spPr>
          <a:xfrm>
            <a:off x="6095702" y="3526631"/>
            <a:ext cx="2657773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중간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(파이프라인 직접 구성,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오케스트레이션 필요)</a:t>
            </a:r>
            <a:endParaRPr lang="en-US" sz="1050" dirty="0"/>
          </a:p>
        </p:txBody>
      </p:sp>
      <p:sp>
        <p:nvSpPr>
          <p:cNvPr id="62" name="Text 19"/>
          <p:cNvSpPr/>
          <p:nvPr/>
        </p:nvSpPr>
        <p:spPr>
          <a:xfrm>
            <a:off x="8905875" y="3526631"/>
            <a:ext cx="2658070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높음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(Triton, NeMo, Docker 스택 관리)</a:t>
            </a:r>
            <a:endParaRPr lang="en-US" sz="1050" dirty="0"/>
          </a:p>
        </p:txBody>
      </p:sp>
      <p:sp>
        <p:nvSpPr>
          <p:cNvPr id="63" name="Text 20"/>
          <p:cNvSpPr/>
          <p:nvPr/>
        </p:nvSpPr>
        <p:spPr>
          <a:xfrm>
            <a:off x="475357" y="4046190"/>
            <a:ext cx="26577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엔터프라이즈 지원/SLA</a:t>
            </a:r>
            <a:endParaRPr lang="en-US" sz="1050" dirty="0"/>
          </a:p>
        </p:txBody>
      </p:sp>
      <p:sp>
        <p:nvSpPr>
          <p:cNvPr id="64" name="Text 21"/>
          <p:cNvSpPr/>
          <p:nvPr/>
        </p:nvSpPr>
        <p:spPr>
          <a:xfrm>
            <a:off x="3285530" y="4046190"/>
            <a:ext cx="26577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✔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상용 지원 (엔터프라이즈 플랜)</a:t>
            </a:r>
            <a:endParaRPr lang="en-US" sz="1050" dirty="0"/>
          </a:p>
        </p:txBody>
      </p:sp>
      <p:sp>
        <p:nvSpPr>
          <p:cNvPr id="65" name="Text 22"/>
          <p:cNvSpPr/>
          <p:nvPr/>
        </p:nvSpPr>
        <p:spPr>
          <a:xfrm>
            <a:off x="6095702" y="4046190"/>
            <a:ext cx="26577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D32F2F"/>
                </a:solidFill>
              </a:rPr>
              <a:t>✘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상용 지원 없음, 내부 역량 필요</a:t>
            </a:r>
            <a:endParaRPr lang="en-US" sz="1050" dirty="0"/>
          </a:p>
        </p:txBody>
      </p:sp>
      <p:sp>
        <p:nvSpPr>
          <p:cNvPr id="66" name="Text 23"/>
          <p:cNvSpPr/>
          <p:nvPr/>
        </p:nvSpPr>
        <p:spPr>
          <a:xfrm>
            <a:off x="8905875" y="4046190"/>
            <a:ext cx="265807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✔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NVIDIA 엔터프라이즈 지원</a:t>
            </a:r>
            <a:endParaRPr lang="en-US" sz="1050" dirty="0"/>
          </a:p>
        </p:txBody>
      </p:sp>
      <p:sp>
        <p:nvSpPr>
          <p:cNvPr id="67" name="Text 24"/>
          <p:cNvSpPr/>
          <p:nvPr/>
        </p:nvSpPr>
        <p:spPr>
          <a:xfrm>
            <a:off x="475357" y="4398615"/>
            <a:ext cx="2657773" cy="587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회의록 파이프라인 완결성</a:t>
            </a:r>
            <a:endParaRPr lang="en-US" sz="1050" dirty="0"/>
          </a:p>
        </p:txBody>
      </p:sp>
      <p:sp>
        <p:nvSpPr>
          <p:cNvPr id="68" name="Text 25"/>
          <p:cNvSpPr/>
          <p:nvPr/>
        </p:nvSpPr>
        <p:spPr>
          <a:xfrm>
            <a:off x="3285530" y="4398615"/>
            <a:ext cx="2657773" cy="587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9BF2C"/>
                </a:solidFill>
              </a:rPr>
              <a:t>⚠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STT+Diarization 제공,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요약/통합 직접 구성 필요</a:t>
            </a:r>
            <a:endParaRPr lang="en-US" sz="1050" dirty="0"/>
          </a:p>
        </p:txBody>
      </p:sp>
      <p:sp>
        <p:nvSpPr>
          <p:cNvPr id="69" name="Text 26"/>
          <p:cNvSpPr/>
          <p:nvPr/>
        </p:nvSpPr>
        <p:spPr>
          <a:xfrm>
            <a:off x="6095702" y="4398615"/>
            <a:ext cx="2657773" cy="587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✔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전체 파이프라인 구성 가능 (모듈러)</a:t>
            </a:r>
            <a:endParaRPr lang="en-US" sz="1050" dirty="0"/>
          </a:p>
        </p:txBody>
      </p:sp>
      <p:sp>
        <p:nvSpPr>
          <p:cNvPr id="70" name="Text 27"/>
          <p:cNvSpPr/>
          <p:nvPr/>
        </p:nvSpPr>
        <p:spPr>
          <a:xfrm>
            <a:off x="8905875" y="4398615"/>
            <a:ext cx="2658070" cy="587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✔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ASR+Diarization 완결,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LLM 레이어 외부 연동</a:t>
            </a:r>
            <a:endParaRPr lang="en-US" sz="1050" dirty="0"/>
          </a:p>
        </p:txBody>
      </p:sp>
      <p:sp>
        <p:nvSpPr>
          <p:cNvPr id="71" name="Text 28"/>
          <p:cNvSpPr/>
          <p:nvPr/>
        </p:nvSpPr>
        <p:spPr>
          <a:xfrm>
            <a:off x="571500" y="400050"/>
            <a:ext cx="6686550" cy="5100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016"/>
              </a:lnSpc>
              <a:buNone/>
            </a:pPr>
            <a:r>
              <a:rPr lang="en-US" sz="3375" b="1" dirty="0">
                <a:solidFill>
                  <a:srgbClr val="101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스택 비교 분석 매트릭스</a:t>
            </a:r>
            <a:endParaRPr lang="en-US" sz="3375" dirty="0"/>
          </a:p>
        </p:txBody>
      </p:sp>
      <p:sp>
        <p:nvSpPr>
          <p:cNvPr id="72" name="Text 29"/>
          <p:cNvSpPr/>
          <p:nvPr/>
        </p:nvSpPr>
        <p:spPr>
          <a:xfrm>
            <a:off x="571500" y="942975"/>
            <a:ext cx="1162050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969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· Whisper+OSS · NVIDIA Riva — 5개 기준 정성적 비교</a:t>
            </a:r>
            <a:endParaRPr lang="en-US" sz="2100" dirty="0"/>
          </a:p>
        </p:txBody>
      </p:sp>
      <p:sp>
        <p:nvSpPr>
          <p:cNvPr id="73" name="Text 30"/>
          <p:cNvSpPr/>
          <p:nvPr/>
        </p:nvSpPr>
        <p:spPr>
          <a:xfrm>
            <a:off x="5744468" y="5095875"/>
            <a:ext cx="102676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가이드</a:t>
            </a:r>
            <a:endParaRPr lang="en-US" sz="1500" dirty="0"/>
          </a:p>
        </p:txBody>
      </p:sp>
      <p:sp>
        <p:nvSpPr>
          <p:cNvPr id="74" name="Text 31"/>
          <p:cNvSpPr/>
          <p:nvPr/>
        </p:nvSpPr>
        <p:spPr>
          <a:xfrm>
            <a:off x="3050381" y="5467350"/>
            <a:ext cx="6234113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01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적합: 경량 Edge 디바이스, voice assistant 우선, 상용 지원 필요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01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01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Whisper+OSS 적합: 완전 오픈소스, 유연한 파이프라인, GPU 있음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01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01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NVIDIA Riva 적합: GPU 인프라 확보, 대규모 엔터프라이즈, SLA 요건</a:t>
            </a:r>
            <a:endParaRPr lang="en-US" sz="1425" dirty="0"/>
          </a:p>
        </p:txBody>
      </p:sp>
      <p:sp>
        <p:nvSpPr>
          <p:cNvPr id="75" name="Text 32"/>
          <p:cNvSpPr/>
          <p:nvPr/>
        </p:nvSpPr>
        <p:spPr>
          <a:xfrm>
            <a:off x="11163300" y="6572250"/>
            <a:ext cx="70187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125" dirty="0"/>
          </a:p>
        </p:txBody>
      </p:sp>
      <p:sp>
        <p:nvSpPr>
          <p:cNvPr id="76" name="Text 33"/>
          <p:cNvSpPr/>
          <p:nvPr/>
        </p:nvSpPr>
        <p:spPr>
          <a:xfrm>
            <a:off x="609600" y="6572250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5" y="6521946"/>
            <a:ext cx="280392" cy="2674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98" y="1844725"/>
            <a:ext cx="11301859" cy="33672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33400" y="628650"/>
            <a:ext cx="11658600" cy="5328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195"/>
              </a:lnSpc>
              <a:buNone/>
            </a:pPr>
            <a:r>
              <a:rPr lang="en-US" sz="3525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아키텍처 A: 로컬 음성 어시스턴트</a:t>
            </a:r>
            <a:endParaRPr lang="en-US" sz="3525" dirty="0"/>
          </a:p>
        </p:txBody>
      </p:sp>
      <p:sp>
        <p:nvSpPr>
          <p:cNvPr id="6" name="Text 1"/>
          <p:cNvSpPr/>
          <p:nvPr/>
        </p:nvSpPr>
        <p:spPr>
          <a:xfrm>
            <a:off x="533400" y="1219200"/>
            <a:ext cx="98069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최적 사용처: 저지연 로컬 음성 어시스턴트</a:t>
            </a:r>
            <a:endParaRPr lang="en-US" sz="1950" dirty="0"/>
          </a:p>
        </p:txBody>
      </p:sp>
      <p:sp>
        <p:nvSpPr>
          <p:cNvPr id="7" name="Text 2"/>
          <p:cNvSpPr/>
          <p:nvPr/>
        </p:nvSpPr>
        <p:spPr>
          <a:xfrm>
            <a:off x="1022896" y="5467350"/>
            <a:ext cx="11168955" cy="652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아키텍처는 low-latency local voice UX에 적합. 회의록 백본 파이프라인과 목적이 다름 — 혼용 주의.</a:t>
            </a:r>
            <a:pPr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요구사항은 Architecture B 참조.</a:t>
            </a:r>
            <a:endParaRPr lang="en-US" sz="1725" dirty="0"/>
          </a:p>
        </p:txBody>
      </p:sp>
      <p:sp>
        <p:nvSpPr>
          <p:cNvPr id="8" name="Text 3"/>
          <p:cNvSpPr/>
          <p:nvPr/>
        </p:nvSpPr>
        <p:spPr>
          <a:xfrm>
            <a:off x="11563350" y="6524625"/>
            <a:ext cx="28277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1201400" y="6524625"/>
            <a:ext cx="63906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19125" y="6524625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59" y="6521946"/>
            <a:ext cx="268188" cy="27429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694" y="4677073"/>
            <a:ext cx="219373" cy="27429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7694" y="4004965"/>
            <a:ext cx="219373" cy="2742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7694" y="3346698"/>
            <a:ext cx="219373" cy="27429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98" y="1405830"/>
            <a:ext cx="7522369" cy="4697611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90550" y="314325"/>
            <a:ext cx="11601450" cy="5531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356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아키텍처 B: 프라이빗 회의록 파이프라인</a:t>
            </a:r>
            <a:endParaRPr lang="en-US" sz="3300" dirty="0"/>
          </a:p>
        </p:txBody>
      </p:sp>
      <p:sp>
        <p:nvSpPr>
          <p:cNvPr id="9" name="Text 1"/>
          <p:cNvSpPr/>
          <p:nvPr/>
        </p:nvSpPr>
        <p:spPr>
          <a:xfrm>
            <a:off x="533400" y="904875"/>
            <a:ext cx="10184130" cy="3394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3"/>
              </a:lnSpc>
              <a:buNone/>
            </a:pPr>
            <a:r>
              <a:rPr lang="en-US" sz="20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STT가 아닌 구조화된 회의록 출력이 비즈니스 가치를 만든다</a:t>
            </a:r>
            <a:endParaRPr lang="en-US" sz="2025" dirty="0"/>
          </a:p>
        </p:txBody>
      </p:sp>
      <p:sp>
        <p:nvSpPr>
          <p:cNvPr id="10" name="Text 2"/>
          <p:cNvSpPr/>
          <p:nvPr/>
        </p:nvSpPr>
        <p:spPr>
          <a:xfrm>
            <a:off x="8574286" y="1714500"/>
            <a:ext cx="268218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품질 결정 순서</a:t>
            </a:r>
            <a:endParaRPr lang="en-US" sz="1875" dirty="0"/>
          </a:p>
        </p:txBody>
      </p:sp>
      <p:sp>
        <p:nvSpPr>
          <p:cNvPr id="11" name="Text 3"/>
          <p:cNvSpPr/>
          <p:nvPr/>
        </p:nvSpPr>
        <p:spPr>
          <a:xfrm>
            <a:off x="8391525" y="2352675"/>
            <a:ext cx="38004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Diarization 정확도 (가장 중요)</a:t>
            </a:r>
            <a:endParaRPr lang="en-US" sz="1650" dirty="0"/>
          </a:p>
        </p:txBody>
      </p:sp>
      <p:sp>
        <p:nvSpPr>
          <p:cNvPr id="12" name="Text 4"/>
          <p:cNvSpPr/>
          <p:nvPr/>
        </p:nvSpPr>
        <p:spPr>
          <a:xfrm>
            <a:off x="8763000" y="3000375"/>
            <a:ext cx="34290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Segmentation 품질</a:t>
            </a:r>
            <a:endParaRPr lang="en-US" sz="1725" dirty="0"/>
          </a:p>
        </p:txBody>
      </p:sp>
      <p:sp>
        <p:nvSpPr>
          <p:cNvPr id="13" name="Text 5"/>
          <p:cNvSpPr/>
          <p:nvPr/>
        </p:nvSpPr>
        <p:spPr>
          <a:xfrm>
            <a:off x="8639175" y="3648075"/>
            <a:ext cx="35528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Summarization 적절성</a:t>
            </a:r>
            <a:endParaRPr lang="en-US" sz="1725" dirty="0"/>
          </a:p>
        </p:txBody>
      </p:sp>
      <p:sp>
        <p:nvSpPr>
          <p:cNvPr id="14" name="Text 6"/>
          <p:cNvSpPr/>
          <p:nvPr/>
        </p:nvSpPr>
        <p:spPr>
          <a:xfrm>
            <a:off x="8582025" y="4305300"/>
            <a:ext cx="360997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Action Item 추출 완결성</a:t>
            </a:r>
            <a:endParaRPr lang="en-US" sz="1725" dirty="0"/>
          </a:p>
        </p:txBody>
      </p:sp>
      <p:sp>
        <p:nvSpPr>
          <p:cNvPr id="15" name="Text 7"/>
          <p:cNvSpPr/>
          <p:nvPr/>
        </p:nvSpPr>
        <p:spPr>
          <a:xfrm>
            <a:off x="8696325" y="4953000"/>
            <a:ext cx="349567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워크플로우 통합 완성도</a:t>
            </a:r>
            <a:endParaRPr lang="en-US" sz="1725" dirty="0"/>
          </a:p>
        </p:txBody>
      </p:sp>
      <p:sp>
        <p:nvSpPr>
          <p:cNvPr id="16" name="Text 8"/>
          <p:cNvSpPr/>
          <p:nvPr/>
        </p:nvSpPr>
        <p:spPr>
          <a:xfrm>
            <a:off x="8239125" y="5610225"/>
            <a:ext cx="3352800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32"/>
              </a:lnSpc>
              <a:buNone/>
            </a:pPr>
            <a:r>
              <a:rPr lang="en-US" sz="1650" b="1" dirty="0">
                <a:solidFill>
                  <a:srgbClr val="996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병목은 STT가 아닌 ①~⑤에 있다</a:t>
            </a:r>
            <a:endParaRPr lang="en-US" sz="1650" dirty="0"/>
          </a:p>
        </p:txBody>
      </p:sp>
      <p:sp>
        <p:nvSpPr>
          <p:cNvPr id="17" name="Text 9"/>
          <p:cNvSpPr/>
          <p:nvPr/>
        </p:nvSpPr>
        <p:spPr>
          <a:xfrm>
            <a:off x="3386584" y="6229350"/>
            <a:ext cx="554250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picovoice.ai/docs/falcon · github.com/ggerganov/whisper.cpp · pyannote.audio</a:t>
            </a:r>
            <a:endParaRPr lang="en-US" sz="1050" dirty="0"/>
          </a:p>
        </p:txBody>
      </p:sp>
      <p:sp>
        <p:nvSpPr>
          <p:cNvPr id="18" name="Text 10"/>
          <p:cNvSpPr/>
          <p:nvPr/>
        </p:nvSpPr>
        <p:spPr>
          <a:xfrm>
            <a:off x="11087100" y="6543675"/>
            <a:ext cx="785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125" dirty="0"/>
          </a:p>
        </p:txBody>
      </p:sp>
      <p:sp>
        <p:nvSpPr>
          <p:cNvPr id="19" name="Text 11"/>
          <p:cNvSpPr/>
          <p:nvPr/>
        </p:nvSpPr>
        <p:spPr>
          <a:xfrm>
            <a:off x="590550" y="6543675"/>
            <a:ext cx="1714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5" y="6542484"/>
            <a:ext cx="280392" cy="2742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9587" y="600075"/>
            <a:ext cx="11682413" cy="4999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36"/>
              </a:lnSpc>
              <a:buNone/>
            </a:pPr>
            <a:r>
              <a:rPr lang="en-US" sz="3075" b="1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아키텍처 C: NVIDIA Riva 기반 엔터프라이즈 음성 플랫폼</a:t>
            </a:r>
            <a:endParaRPr lang="en-US" sz="3075" dirty="0"/>
          </a:p>
        </p:txBody>
      </p:sp>
      <p:sp>
        <p:nvSpPr>
          <p:cNvPr id="5" name="Text 1"/>
          <p:cNvSpPr/>
          <p:nvPr/>
        </p:nvSpPr>
        <p:spPr>
          <a:xfrm>
            <a:off x="590550" y="1143000"/>
            <a:ext cx="11601450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4"/>
              </a:lnSpc>
              <a:buNone/>
            </a:pPr>
            <a:r>
              <a:rPr lang="en-US" sz="2025" dirty="0">
                <a:solidFill>
                  <a:srgbClr val="4D4D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인프라가 확보된 경우, Riva는 엔터프라이즈 음성 플랫폼 완결성이 가장 높다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771525" y="1943100"/>
            <a:ext cx="210312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Riva ASR</a:t>
            </a:r>
            <a:endParaRPr lang="en-US" sz="1725" dirty="0"/>
          </a:p>
        </p:txBody>
      </p:sp>
      <p:sp>
        <p:nvSpPr>
          <p:cNvPr id="7" name="Text 3"/>
          <p:cNvSpPr/>
          <p:nvPr/>
        </p:nvSpPr>
        <p:spPr>
          <a:xfrm>
            <a:off x="3457575" y="1838325"/>
            <a:ext cx="2011561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Riva Diarization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Punctuation</a:t>
            </a:r>
            <a:endParaRPr lang="en-US" sz="1725" dirty="0"/>
          </a:p>
        </p:txBody>
      </p:sp>
      <p:sp>
        <p:nvSpPr>
          <p:cNvPr id="8" name="Text 4"/>
          <p:cNvSpPr/>
          <p:nvPr/>
        </p:nvSpPr>
        <p:spPr>
          <a:xfrm>
            <a:off x="6019800" y="1971675"/>
            <a:ext cx="210312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Riva TTS</a:t>
            </a:r>
            <a:endParaRPr lang="en-US" sz="1725" dirty="0"/>
          </a:p>
        </p:txBody>
      </p:sp>
      <p:sp>
        <p:nvSpPr>
          <p:cNvPr id="9" name="Text 5"/>
          <p:cNvSpPr/>
          <p:nvPr/>
        </p:nvSpPr>
        <p:spPr>
          <a:xfrm>
            <a:off x="771525" y="3790950"/>
            <a:ext cx="420624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NeMo Fine-tuning</a:t>
            </a:r>
            <a:endParaRPr lang="en-US" sz="1725" dirty="0"/>
          </a:p>
        </p:txBody>
      </p:sp>
      <p:sp>
        <p:nvSpPr>
          <p:cNvPr id="10" name="Text 6"/>
          <p:cNvSpPr/>
          <p:nvPr/>
        </p:nvSpPr>
        <p:spPr>
          <a:xfrm>
            <a:off x="3457575" y="3695700"/>
            <a:ext cx="2001143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Triton Inference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</a:t>
            </a:r>
            <a:endParaRPr lang="en-US" sz="1725" dirty="0"/>
          </a:p>
        </p:txBody>
      </p:sp>
      <p:sp>
        <p:nvSpPr>
          <p:cNvPr id="11" name="Text 7"/>
          <p:cNvSpPr/>
          <p:nvPr/>
        </p:nvSpPr>
        <p:spPr>
          <a:xfrm>
            <a:off x="6019800" y="3686175"/>
            <a:ext cx="1791593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LLM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Layer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639175" y="1943100"/>
            <a:ext cx="184023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시나리오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8639175" y="3495675"/>
            <a:ext cx="236601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7955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제약 및 고려사항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771525" y="2514600"/>
            <a:ext cx="2682180" cy="7657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GPU 가속 스트리밍/배치 전사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다국어 지원, 커스텀 도메인 적응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및 오프라인 전사 지원</a:t>
            </a:r>
            <a:endParaRPr lang="en-US" sz="1425" dirty="0"/>
          </a:p>
        </p:txBody>
      </p:sp>
      <p:sp>
        <p:nvSpPr>
          <p:cNvPr id="15" name="Text 11"/>
          <p:cNvSpPr/>
          <p:nvPr/>
        </p:nvSpPr>
        <p:spPr>
          <a:xfrm>
            <a:off x="3457575" y="2514600"/>
            <a:ext cx="2137321" cy="7657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화자 분리 + 구두점 복원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통합 파이프라인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엔터프라이즈급 정확도</a:t>
            </a:r>
            <a:endParaRPr lang="en-US" sz="1425" dirty="0"/>
          </a:p>
        </p:txBody>
      </p:sp>
      <p:sp>
        <p:nvSpPr>
          <p:cNvPr id="16" name="Text 12"/>
          <p:cNvSpPr/>
          <p:nvPr/>
        </p:nvSpPr>
        <p:spPr>
          <a:xfrm>
            <a:off x="6019800" y="2514600"/>
            <a:ext cx="2483048" cy="4833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04"/>
              </a:lnSpc>
              <a:buNone/>
            </a:pPr>
            <a:r>
              <a:rPr lang="en-US" sz="135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뉴럴 TTS, 커스텀 보이스 지원</a:t>
            </a:r>
            <a:pPr indent="0" marL="0">
              <a:lnSpc>
                <a:spcPts val="1904"/>
              </a:lnSpc>
              <a:buNone/>
            </a:pPr>
            <a:r>
              <a:rPr lang="en-US" sz="135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04"/>
              </a:lnSpc>
              <a:buNone/>
            </a:pPr>
            <a:r>
              <a:rPr lang="en-US" sz="135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고품질 한국어 음성 합성 가능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71525" y="4419600"/>
            <a:ext cx="2221111" cy="10209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도메인 특화 모델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커스터마이징 프레임워크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내부 음성 데이터 기반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fine-tuning 기능</a:t>
            </a:r>
            <a:endParaRPr lang="en-US" sz="1425" dirty="0"/>
          </a:p>
        </p:txBody>
      </p:sp>
      <p:sp>
        <p:nvSpPr>
          <p:cNvPr id="18" name="Text 14"/>
          <p:cNvSpPr/>
          <p:nvPr/>
        </p:nvSpPr>
        <p:spPr>
          <a:xfrm>
            <a:off x="3457575" y="4419600"/>
            <a:ext cx="1854398" cy="10745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15"/>
              </a:lnSpc>
              <a:buNone/>
            </a:pPr>
            <a:r>
              <a:rPr lang="en-US" sz="150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고성능 모델 서빙,</a:t>
            </a:r>
            <a:pPr indent="0" marL="0">
              <a:lnSpc>
                <a:spcPts val="2115"/>
              </a:lnSpc>
              <a:buNone/>
            </a:pPr>
            <a:r>
              <a:rPr lang="en-US" sz="150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15"/>
              </a:lnSpc>
              <a:buNone/>
            </a:pPr>
            <a:r>
              <a:rPr lang="en-US" sz="150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배포 자동화</a:t>
            </a:r>
            <a:pPr indent="0" marL="0">
              <a:lnSpc>
                <a:spcPts val="2115"/>
              </a:lnSpc>
              <a:buNone/>
            </a:pPr>
            <a:r>
              <a:rPr lang="en-US" sz="150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15"/>
              </a:lnSpc>
              <a:buNone/>
            </a:pPr>
            <a:r>
              <a:rPr lang="en-US" sz="150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멀티 모델 동시 서빙,</a:t>
            </a:r>
            <a:pPr indent="0" marL="0">
              <a:lnSpc>
                <a:spcPts val="2115"/>
              </a:lnSpc>
              <a:buNone/>
            </a:pPr>
            <a:r>
              <a:rPr lang="en-US" sz="150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15"/>
              </a:lnSpc>
              <a:buNone/>
            </a:pPr>
            <a:r>
              <a:rPr lang="en-US" sz="150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GPU 활용 최적화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019800" y="4419600"/>
            <a:ext cx="2388840" cy="10209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llama.cpp 또는 별도 LLM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서버 (Riva 외부 레이어)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요약, Action Item 추출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연동</a:t>
            </a:r>
            <a:endParaRPr lang="en-US" sz="1425" dirty="0"/>
          </a:p>
        </p:txBody>
      </p:sp>
      <p:sp>
        <p:nvSpPr>
          <p:cNvPr id="20" name="Text 16"/>
          <p:cNvSpPr/>
          <p:nvPr/>
        </p:nvSpPr>
        <p:spPr>
          <a:xfrm>
            <a:off x="8639175" y="2352675"/>
            <a:ext cx="3478411" cy="7657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대규모 기업 배포 (100+ 회사실 동시 운영)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높은 SLA 요구사항 (가용성, 응답 시간)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도메인 특화 모델 지속 개선 계획</a:t>
            </a:r>
            <a:endParaRPr lang="en-US" sz="1425" dirty="0"/>
          </a:p>
        </p:txBody>
      </p:sp>
      <p:sp>
        <p:nvSpPr>
          <p:cNvPr id="21" name="Text 17"/>
          <p:cNvSpPr/>
          <p:nvPr/>
        </p:nvSpPr>
        <p:spPr>
          <a:xfrm>
            <a:off x="8619083" y="3914775"/>
            <a:ext cx="3572768" cy="13698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GPU 인프라 필수 (CUDA, NVIDIA 하드웨어)</a:t>
            </a:r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NVIDIA 밴드 의존도 높음</a:t>
            </a:r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플랫폼 설정 복잡도 높음</a:t>
            </a:r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(Triton, NeMo, Docker)</a:t>
            </a:r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라이선스 및 엔터프라이즈 지원 계약 필요</a:t>
            </a:r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98"/>
              </a:lnSpc>
              <a:buNone/>
            </a:pPr>
            <a:r>
              <a:rPr lang="en-US" sz="127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초기 도입 비용 및 운영 리스크 높음</a:t>
            </a:r>
            <a:endParaRPr lang="en-US" sz="1275" dirty="0"/>
          </a:p>
        </p:txBody>
      </p:sp>
      <p:sp>
        <p:nvSpPr>
          <p:cNvPr id="22" name="Text 18"/>
          <p:cNvSpPr/>
          <p:nvPr/>
        </p:nvSpPr>
        <p:spPr>
          <a:xfrm>
            <a:off x="39886" y="5943600"/>
            <a:ext cx="12111930" cy="2242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66"/>
              </a:lnSpc>
              <a:buNone/>
            </a:pPr>
            <a:r>
              <a:rPr lang="en-US" sz="1650" b="1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Riva는 Picovoice 또는 Whisper stack 대비 운영 복잡도와 초기 비용이 높으나, 대규모 기업 배포 및 SLA 요구 시 현실적 선택지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9734550" y="6296025"/>
            <a:ext cx="209550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docs.nvidia.com/deeplearning/riva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163300" y="6600825"/>
            <a:ext cx="75426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125" dirty="0">
                <a:solidFill>
                  <a:srgbClr val="0B0D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" y="6501259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965" y="4951363"/>
            <a:ext cx="316855" cy="27429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63" y="4958209"/>
            <a:ext cx="280392" cy="2674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66725" y="304800"/>
            <a:ext cx="11725275" cy="528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160"/>
              </a:lnSpc>
              <a:buNone/>
            </a:pPr>
            <a:r>
              <a:rPr lang="en-US" sz="32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PoC 계획 및 Go/No-Go 기준</a:t>
            </a:r>
            <a:endParaRPr lang="en-US" sz="3225" dirty="0"/>
          </a:p>
        </p:txBody>
      </p:sp>
      <p:sp>
        <p:nvSpPr>
          <p:cNvPr id="7" name="Text 1"/>
          <p:cNvSpPr/>
          <p:nvPr/>
        </p:nvSpPr>
        <p:spPr>
          <a:xfrm>
            <a:off x="466725" y="914400"/>
            <a:ext cx="90678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안에 아키텍처 결정을 위한 증거를 확보하라</a:t>
            </a:r>
            <a:endParaRPr lang="en-US" sz="2100" dirty="0"/>
          </a:p>
        </p:txBody>
      </p:sp>
      <p:sp>
        <p:nvSpPr>
          <p:cNvPr id="8" name="Text 2"/>
          <p:cNvSpPr/>
          <p:nvPr/>
        </p:nvSpPr>
        <p:spPr>
          <a:xfrm>
            <a:off x="962025" y="4943475"/>
            <a:ext cx="12573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8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 조건</a:t>
            </a:r>
            <a:endParaRPr lang="en-US" sz="1650" dirty="0"/>
          </a:p>
        </p:txBody>
      </p:sp>
      <p:sp>
        <p:nvSpPr>
          <p:cNvPr id="9" name="Text 3"/>
          <p:cNvSpPr/>
          <p:nvPr/>
        </p:nvSpPr>
        <p:spPr>
          <a:xfrm>
            <a:off x="6324600" y="4943475"/>
            <a:ext cx="210312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B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No-Go 조건</a:t>
            </a:r>
            <a:endParaRPr lang="en-US" sz="1725" dirty="0"/>
          </a:p>
        </p:txBody>
      </p:sp>
      <p:sp>
        <p:nvSpPr>
          <p:cNvPr id="10" name="Text 4"/>
          <p:cNvSpPr/>
          <p:nvPr/>
        </p:nvSpPr>
        <p:spPr>
          <a:xfrm>
            <a:off x="1721644" y="1733550"/>
            <a:ext cx="1100138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1-30</a:t>
            </a:r>
            <a:endParaRPr lang="en-US" sz="1725" dirty="0"/>
          </a:p>
        </p:txBody>
      </p:sp>
      <p:sp>
        <p:nvSpPr>
          <p:cNvPr id="11" name="Text 5"/>
          <p:cNvSpPr/>
          <p:nvPr/>
        </p:nvSpPr>
        <p:spPr>
          <a:xfrm>
            <a:off x="5477321" y="1733550"/>
            <a:ext cx="1246733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31-60</a:t>
            </a:r>
            <a:endParaRPr lang="en-US" sz="1725" dirty="0"/>
          </a:p>
        </p:txBody>
      </p:sp>
      <p:sp>
        <p:nvSpPr>
          <p:cNvPr id="12" name="Text 6"/>
          <p:cNvSpPr/>
          <p:nvPr/>
        </p:nvSpPr>
        <p:spPr>
          <a:xfrm>
            <a:off x="9329738" y="1733550"/>
            <a:ext cx="1152525" cy="31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5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61-90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048643" y="2247900"/>
            <a:ext cx="2493615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</a:rPr>
              <a:t>환경 구축 및 기존선 측정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5603974" y="2247900"/>
            <a:ext cx="974378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</a:rPr>
              <a:t>비교 검증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8509099" y="2247900"/>
            <a:ext cx="2860328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</a:rPr>
              <a:t>워크플로우 통합 및 의사결정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62000" y="5276850"/>
            <a:ext cx="2441228" cy="934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WER/DER 허용 임계 내 달성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페쇄망 완전 운영 확인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통합 부담 수용 가능 수준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운영자 유통성 확인</a:t>
            </a:r>
            <a:endParaRPr lang="en-US" sz="1425" dirty="0"/>
          </a:p>
        </p:txBody>
      </p:sp>
      <p:sp>
        <p:nvSpPr>
          <p:cNvPr id="17" name="Text 11"/>
          <p:cNvSpPr/>
          <p:nvPr/>
        </p:nvSpPr>
        <p:spPr>
          <a:xfrm>
            <a:off x="6448425" y="5276850"/>
            <a:ext cx="3719512" cy="8846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Cheetah 한국어 streaming STT 미검증 상태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AccessKey call-home 페쇄망 차단 불가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DER 임계 초과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통합 복잡도 과다 (ROI 불명확)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90550" y="2705100"/>
            <a:ext cx="4044255" cy="15481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페쇄망 배포 환경 구성 (네트워크 격리 검증 포함)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대표 한국어 회의 음성 데이터셋 수집 및 전처리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Picovoice AccessKey call-home 행동 네트워크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 검증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Leopard / Cheetah / Whisper 기존선 WER 측정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기존 지표 수립: WER, DER, latency,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throughput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457700" y="2705100"/>
            <a:ext cx="3750915" cy="17692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Picovoice 스택 vs Whisper stack (faster-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whisper + pyannote + llama.cpp) 병렬 실행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NVIDIA Riva 파일럿 (GPU 인프라 가용 시)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정량 지표: WER, DER, latency, throughput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정성 지표: 운영자 유용성, 페쇄망 운영 가능성,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부담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Cheetah 한국어 streaming STT 가용성 공식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(상용 문의)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324850" y="2705100"/>
            <a:ext cx="3017490" cy="10447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선택 스택의 downstream 통합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(문서/협업툴/티켓)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운영자 리뷰 및 실사용 피드백 수집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Go/No-Go 기준 평가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최종 아키텍처 결정 및 조달 계획 수립</a:t>
            </a:r>
            <a:endParaRPr lang="en-US" sz="1275" dirty="0"/>
          </a:p>
        </p:txBody>
      </p:sp>
      <p:sp>
        <p:nvSpPr>
          <p:cNvPr id="21" name="Text 15"/>
          <p:cNvSpPr/>
          <p:nvPr/>
        </p:nvSpPr>
        <p:spPr>
          <a:xfrm>
            <a:off x="11811000" y="6524625"/>
            <a:ext cx="94208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25" dirty="0"/>
          </a:p>
        </p:txBody>
      </p:sp>
      <p:sp>
        <p:nvSpPr>
          <p:cNvPr id="22" name="Text 16"/>
          <p:cNvSpPr/>
          <p:nvPr/>
        </p:nvSpPr>
        <p:spPr>
          <a:xfrm>
            <a:off x="11201400" y="6543675"/>
            <a:ext cx="586680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981"/>
              </a:lnSpc>
              <a:buNone/>
            </a:pPr>
            <a:r>
              <a:rPr lang="en-US" sz="90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5" y="6535638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090" y="4498777"/>
            <a:ext cx="3389263" cy="76795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090" y="3504307"/>
            <a:ext cx="3389263" cy="76795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090" y="2578596"/>
            <a:ext cx="3389263" cy="69949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33400" y="628650"/>
            <a:ext cx="9010650" cy="602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1"/>
              </a:lnSpc>
              <a:buNone/>
            </a:pPr>
            <a:r>
              <a:rPr lang="en-US" sz="2175" b="1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즉시 실행 가능 액션</a:t>
            </a:r>
            <a:pPr indent="0" marL="0">
              <a:lnSpc>
                <a:spcPts val="2371"/>
              </a:lnSpc>
              <a:buNone/>
            </a:pPr>
            <a:r>
              <a:rPr lang="en-US" sz="2175" b="1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1"/>
              </a:lnSpc>
              <a:buNone/>
            </a:pPr>
            <a:r>
              <a:rPr lang="en-US" sz="2175" b="1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스택 선택보다 검증이 먼저다 – 90일 PoC가 의사결정의 유일한 근거다</a:t>
            </a:r>
            <a:endParaRPr lang="en-US" sz="2175" dirty="0"/>
          </a:p>
        </p:txBody>
      </p:sp>
      <p:sp>
        <p:nvSpPr>
          <p:cNvPr id="8" name="Text 1"/>
          <p:cNvSpPr/>
          <p:nvPr/>
        </p:nvSpPr>
        <p:spPr>
          <a:xfrm>
            <a:off x="771525" y="2019300"/>
            <a:ext cx="59436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1950" dirty="0"/>
          </a:p>
        </p:txBody>
      </p:sp>
      <p:sp>
        <p:nvSpPr>
          <p:cNvPr id="9" name="Text 2"/>
          <p:cNvSpPr/>
          <p:nvPr/>
        </p:nvSpPr>
        <p:spPr>
          <a:xfrm>
            <a:off x="4533900" y="2019300"/>
            <a:ext cx="237744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프레임워크</a:t>
            </a:r>
            <a:endParaRPr lang="en-US" sz="1950" dirty="0"/>
          </a:p>
        </p:txBody>
      </p:sp>
      <p:sp>
        <p:nvSpPr>
          <p:cNvPr id="10" name="Text 3"/>
          <p:cNvSpPr/>
          <p:nvPr/>
        </p:nvSpPr>
        <p:spPr>
          <a:xfrm>
            <a:off x="8305800" y="1990725"/>
            <a:ext cx="297180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Steps</a:t>
            </a:r>
            <a:endParaRPr lang="en-US" sz="1950" dirty="0"/>
          </a:p>
        </p:txBody>
      </p:sp>
      <p:sp>
        <p:nvSpPr>
          <p:cNvPr id="11" name="Text 4"/>
          <p:cNvSpPr/>
          <p:nvPr/>
        </p:nvSpPr>
        <p:spPr>
          <a:xfrm>
            <a:off x="2454473" y="6105525"/>
            <a:ext cx="739705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플랫폼을 선택하지 말고, 요구사항을 검증하라. 그 다음에 스택을 결정하라.</a:t>
            </a:r>
            <a:endParaRPr lang="en-US" sz="1725" dirty="0"/>
          </a:p>
        </p:txBody>
      </p:sp>
      <p:sp>
        <p:nvSpPr>
          <p:cNvPr id="12" name="Text 5"/>
          <p:cNvSpPr/>
          <p:nvPr/>
        </p:nvSpPr>
        <p:spPr>
          <a:xfrm>
            <a:off x="771525" y="2581275"/>
            <a:ext cx="3729930" cy="30968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Picovoice는 음성 컴포넌트 스택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(완성형 회의록 플랫폼 아님)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Leopard 한국어 배치 STT: 공식 지원 ✅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Cheetah 한국어 스트리밍 STT: 가용성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불명확 ⚠️ – 독립 검증 필수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Falcon 화자 분리: 정확도 독립 검증 후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결정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회의록 가치 병목: Diarization →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Segmentation → Summarization →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Item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현실적 기반선: whisper.cpp +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pyannote + llama.cpp 조합</a:t>
            </a:r>
            <a:endParaRPr lang="en-US" sz="1575" dirty="0"/>
          </a:p>
        </p:txBody>
      </p:sp>
      <p:sp>
        <p:nvSpPr>
          <p:cNvPr id="13" name="Text 6"/>
          <p:cNvSpPr/>
          <p:nvPr/>
        </p:nvSpPr>
        <p:spPr>
          <a:xfrm>
            <a:off x="8305800" y="2581275"/>
            <a:ext cx="3687961" cy="24324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한국어 대표 회의 음성 데이터셋 확보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폐쇄망 테스트 환경 구성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Picovoice 영업 채널 접촉: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Cheetah 한국어 스트리밍 가용성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서면 확인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Whisper + pyannote 기선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구축 시작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PoC 평가 지표 확정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(WER, DER, 레이턴시, 스루풋)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4708178" y="5514975"/>
            <a:ext cx="2870746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선택은 90일 PoC 데이터로 결정</a:t>
            </a:r>
            <a:endParaRPr lang="en-US" sz="1275" dirty="0"/>
          </a:p>
        </p:txBody>
      </p:sp>
      <p:sp>
        <p:nvSpPr>
          <p:cNvPr id="15" name="Text 8"/>
          <p:cNvSpPr/>
          <p:nvPr/>
        </p:nvSpPr>
        <p:spPr>
          <a:xfrm>
            <a:off x="11172825" y="6543675"/>
            <a:ext cx="71244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125" dirty="0"/>
          </a:p>
        </p:txBody>
      </p:sp>
      <p:sp>
        <p:nvSpPr>
          <p:cNvPr id="16" name="Text 9"/>
          <p:cNvSpPr/>
          <p:nvPr/>
        </p:nvSpPr>
        <p:spPr>
          <a:xfrm>
            <a:off x="628650" y="6543675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2026-04-12T02:05:37Z</dcterms:created>
  <dcterms:modified xsi:type="dcterms:W3CDTF">2026-04-12T02:05:37Z</dcterms:modified>
</cp:coreProperties>
</file>