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6325" y="638175"/>
            <a:ext cx="8235255" cy="12695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On-Prem 음성·회의록 스택</a:t>
            </a:r>
            <a:pPr indent="0" marL="0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검토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1295400" y="2352675"/>
            <a:ext cx="1089660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기업 데이터 보안 및 주권 확보를 위한 폐쇄망 운영 요구 증대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1295400" y="2847975"/>
            <a:ext cx="1089660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Picovoice, Whisper Stack, NVIDIA Riva 등 주요 On-Prem 기술 스택 심층 분석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295400" y="3352800"/>
            <a:ext cx="1089660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한국어 실시간 STT 불확실성 및 아키텍처 병목 해결 방안 제시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1295400" y="3848100"/>
            <a:ext cx="1071753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90일 실전 PoC 실행 계획 및 의사결정 기준 제언</a:t>
            </a:r>
            <a:endParaRPr lang="en-US" sz="2175" dirty="0"/>
          </a:p>
        </p:txBody>
      </p:sp>
      <p:sp>
        <p:nvSpPr>
          <p:cNvPr id="8" name="Text 5"/>
          <p:cNvSpPr/>
          <p:nvPr/>
        </p:nvSpPr>
        <p:spPr>
          <a:xfrm>
            <a:off x="1266825" y="5143500"/>
            <a:ext cx="744855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전략팀 | 2026.04.11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10306050" y="6467475"/>
            <a:ext cx="1749623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| 2026.04.11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725" y="6457950"/>
            <a:ext cx="19431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067" y="4779913"/>
            <a:ext cx="1438573" cy="3976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679" y="3298627"/>
            <a:ext cx="1389757" cy="6788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161" y="1837879"/>
            <a:ext cx="1182588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894" y="3847207"/>
            <a:ext cx="2084784" cy="1522363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228600"/>
            <a:ext cx="1196340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환경에서 On-Premise 음성 스택 도입의 필수성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838200" y="2352675"/>
            <a:ext cx="6995160" cy="4388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주권 및 규제 준수 강화</a:t>
            </a:r>
            <a:endParaRPr lang="en-US" sz="2700" dirty="0"/>
          </a:p>
        </p:txBody>
      </p:sp>
      <p:sp>
        <p:nvSpPr>
          <p:cNvPr id="10" name="Text 2"/>
          <p:cNvSpPr/>
          <p:nvPr/>
        </p:nvSpPr>
        <p:spPr>
          <a:xfrm>
            <a:off x="352425" y="742950"/>
            <a:ext cx="1152144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주권 확보와 비즈니스 요건 충족을 위한 클라우드 탈피 전략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6448425" y="4781550"/>
            <a:ext cx="564642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이상의 파이프라인 구축 필요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6448425" y="1943100"/>
            <a:ext cx="386334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 실시간 처리 확보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6448425" y="3371850"/>
            <a:ext cx="416052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업무 산출물 생성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838200" y="2933700"/>
            <a:ext cx="5479703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민감한 회의 음성의 외부 전송 원천 차단 및 기밀 보호</a:t>
            </a:r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금융·의료 등 보안 규제 및 페쇄망 운영 의무 산업 대응 필수</a:t>
            </a:r>
            <a:endParaRPr lang="en-US" sz="1725" dirty="0"/>
          </a:p>
        </p:txBody>
      </p:sp>
      <p:sp>
        <p:nvSpPr>
          <p:cNvPr id="15" name="Text 7"/>
          <p:cNvSpPr/>
          <p:nvPr/>
        </p:nvSpPr>
        <p:spPr>
          <a:xfrm>
            <a:off x="6448425" y="5181600"/>
            <a:ext cx="4515743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화자 분리(Diarization), 요약, 시스템 연동이 회의록 품질 결정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엔드-투-엔드 파이프라인 성능 최적화가 필수적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6448425" y="2333625"/>
            <a:ext cx="394989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클라우드 왕복 지연 없이 즉각적 음성 인터랙션 실현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음성 서비스 및 저지연 AI 에이전트 구축 가능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448425" y="3733800"/>
            <a:ext cx="4379565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단순 전사를 넘어 회의 요약, 결정사항, 실행항목 자동 추출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회의록 작성 시간 단축 및 업무 효율성 극대화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2005459" y="1647825"/>
            <a:ext cx="2399258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보안 및 규제 대응</a:t>
            </a:r>
            <a:endParaRPr lang="en-US" sz="1725" dirty="0"/>
          </a:p>
        </p:txBody>
      </p:sp>
      <p:sp>
        <p:nvSpPr>
          <p:cNvPr id="19" name="Text 11"/>
          <p:cNvSpPr/>
          <p:nvPr/>
        </p:nvSpPr>
        <p:spPr>
          <a:xfrm>
            <a:off x="6719292" y="1600200"/>
            <a:ext cx="74384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</a:t>
            </a:r>
            <a:endParaRPr lang="en-US" sz="1725" dirty="0"/>
          </a:p>
        </p:txBody>
      </p:sp>
      <p:sp>
        <p:nvSpPr>
          <p:cNvPr id="20" name="Text 12"/>
          <p:cNvSpPr/>
          <p:nvPr/>
        </p:nvSpPr>
        <p:spPr>
          <a:xfrm>
            <a:off x="6593681" y="3019425"/>
            <a:ext cx="99536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생산성</a:t>
            </a:r>
            <a:endParaRPr lang="en-US" sz="1725" dirty="0"/>
          </a:p>
        </p:txBody>
      </p:sp>
      <p:sp>
        <p:nvSpPr>
          <p:cNvPr id="21" name="Text 13"/>
          <p:cNvSpPr/>
          <p:nvPr/>
        </p:nvSpPr>
        <p:spPr>
          <a:xfrm>
            <a:off x="6487418" y="4467225"/>
            <a:ext cx="123631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요건</a:t>
            </a:r>
            <a:endParaRPr lang="en-US" sz="1725" dirty="0"/>
          </a:p>
        </p:txBody>
      </p:sp>
      <p:sp>
        <p:nvSpPr>
          <p:cNvPr id="22" name="Text 14"/>
          <p:cNvSpPr/>
          <p:nvPr/>
        </p:nvSpPr>
        <p:spPr>
          <a:xfrm>
            <a:off x="228600" y="64008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5871567" y="6686550"/>
            <a:ext cx="534293" cy="876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9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173" y="2187625"/>
            <a:ext cx="4864596" cy="13098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588" y="2475607"/>
            <a:ext cx="877788" cy="486817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23825"/>
            <a:ext cx="1088136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I/O와 회의록 시스템의 아키텍처적 차이 분석</a:t>
            </a:r>
            <a:endParaRPr lang="en-US" sz="2550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768096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변환 기능과 통합 워크플로우 간의 구조적 비교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946374" y="1628775"/>
            <a:ext cx="244122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I/O: 단순 변환 엔진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7527131" y="1628775"/>
            <a:ext cx="309086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시스템: 통합 파이프라인</a:t>
            </a:r>
            <a:endParaRPr lang="en-US" sz="1725" dirty="0"/>
          </a:p>
        </p:txBody>
      </p:sp>
      <p:sp>
        <p:nvSpPr>
          <p:cNvPr id="10" name="Text 4"/>
          <p:cNvSpPr/>
          <p:nvPr/>
        </p:nvSpPr>
        <p:spPr>
          <a:xfrm>
            <a:off x="962025" y="3486150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음성 엔진 구성</a:t>
            </a:r>
            <a:endParaRPr lang="en-US" sz="1725" dirty="0"/>
          </a:p>
        </p:txBody>
      </p:sp>
      <p:sp>
        <p:nvSpPr>
          <p:cNvPr id="11" name="Text 5"/>
          <p:cNvSpPr/>
          <p:nvPr/>
        </p:nvSpPr>
        <p:spPr>
          <a:xfrm>
            <a:off x="962025" y="3771900"/>
            <a:ext cx="704088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STT, TTS 단독 또는 개별 계층으로 단순 구성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62025" y="4191000"/>
            <a:ext cx="184023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한계점</a:t>
            </a:r>
            <a:endParaRPr lang="en-US" sz="1725" dirty="0"/>
          </a:p>
        </p:txBody>
      </p:sp>
      <p:sp>
        <p:nvSpPr>
          <p:cNvPr id="13" name="Text 7"/>
          <p:cNvSpPr/>
          <p:nvPr/>
        </p:nvSpPr>
        <p:spPr>
          <a:xfrm>
            <a:off x="962025" y="4476750"/>
            <a:ext cx="4211836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'누가 언제' 정보 부족으로 회의록 가독성 저하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(Diarization 부재)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962025" y="5153025"/>
            <a:ext cx="236601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품질에 대한 오해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962025" y="5438775"/>
            <a:ext cx="729234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WER 개선(정확도)만으로는 회의록 품질 달성 불가능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934200" y="3657600"/>
            <a:ext cx="276606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 파이프라인 필수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934200" y="3943350"/>
            <a:ext cx="52578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외 화자 분리, 요약, Action Item 추출 포함</a:t>
            </a:r>
            <a:endParaRPr lang="en-US" sz="1575" dirty="0"/>
          </a:p>
        </p:txBody>
      </p:sp>
      <p:sp>
        <p:nvSpPr>
          <p:cNvPr id="18" name="Text 12"/>
          <p:cNvSpPr/>
          <p:nvPr/>
        </p:nvSpPr>
        <p:spPr>
          <a:xfrm>
            <a:off x="6934200" y="4352925"/>
            <a:ext cx="352044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요약·구조화 계층의 중요성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934200" y="4638675"/>
            <a:ext cx="52578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LLM 기반 핵심 명목 계층으로 업무 가치 결정</a:t>
            </a:r>
            <a:endParaRPr lang="en-US" sz="1575" dirty="0"/>
          </a:p>
        </p:txBody>
      </p:sp>
      <p:sp>
        <p:nvSpPr>
          <p:cNvPr id="20" name="Text 14"/>
          <p:cNvSpPr/>
          <p:nvPr/>
        </p:nvSpPr>
        <p:spPr>
          <a:xfrm>
            <a:off x="6934200" y="5057775"/>
            <a:ext cx="184023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연동의 실용성</a:t>
            </a:r>
            <a:endParaRPr lang="en-US" sz="1725" dirty="0"/>
          </a:p>
        </p:txBody>
      </p:sp>
      <p:sp>
        <p:nvSpPr>
          <p:cNvPr id="21" name="Text 15"/>
          <p:cNvSpPr/>
          <p:nvPr/>
        </p:nvSpPr>
        <p:spPr>
          <a:xfrm>
            <a:off x="6934200" y="5334000"/>
            <a:ext cx="52578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캘린더, 채팅, 문서관리 연동이 실용성의 핵심</a:t>
            </a:r>
            <a:endParaRPr lang="en-US" sz="1575" dirty="0"/>
          </a:p>
        </p:txBody>
      </p:sp>
      <p:sp>
        <p:nvSpPr>
          <p:cNvPr id="22" name="Text 16"/>
          <p:cNvSpPr/>
          <p:nvPr/>
        </p:nvSpPr>
        <p:spPr>
          <a:xfrm>
            <a:off x="6934200" y="5676900"/>
            <a:ext cx="363474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216E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연동 실패 시 실용성 급감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66725" y="6467475"/>
            <a:ext cx="217170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  <p:sp>
        <p:nvSpPr>
          <p:cNvPr id="24" name="Text 18"/>
          <p:cNvSpPr/>
          <p:nvPr/>
        </p:nvSpPr>
        <p:spPr>
          <a:xfrm>
            <a:off x="587067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92596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2" y="1186309"/>
            <a:ext cx="10180290" cy="510912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1323" y="123825"/>
            <a:ext cx="12080677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주요 컴포넌트 맵 분석 / Picovoice Key Component Map Analysis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946404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 기반 구축 시 각 엔진의 기술적 역할 및 한계 검토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6672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4128492"/>
            <a:ext cx="780157" cy="63772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890" y="2482453"/>
            <a:ext cx="633859" cy="50050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973" y="4094113"/>
            <a:ext cx="682675" cy="71318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565" y="2400300"/>
            <a:ext cx="743694" cy="69264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871" y="4100959"/>
            <a:ext cx="646063" cy="66511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6667" y="2413992"/>
            <a:ext cx="658267" cy="6858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81000" y="428625"/>
            <a:ext cx="1181100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솔루션의 기술적 강점 및 활용 시나리오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1092398" y="1628775"/>
            <a:ext cx="2367855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온디바이스 엣지 처리</a:t>
            </a:r>
            <a:endParaRPr lang="en-US" sz="2025" dirty="0"/>
          </a:p>
        </p:txBody>
      </p:sp>
      <p:sp>
        <p:nvSpPr>
          <p:cNvPr id="12" name="Text 2"/>
          <p:cNvSpPr/>
          <p:nvPr/>
        </p:nvSpPr>
        <p:spPr>
          <a:xfrm>
            <a:off x="4616648" y="1628775"/>
            <a:ext cx="2996505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STT/화자분리</a:t>
            </a:r>
            <a:endParaRPr lang="en-US" sz="2025" dirty="0"/>
          </a:p>
        </p:txBody>
      </p:sp>
      <p:sp>
        <p:nvSpPr>
          <p:cNvPr id="13" name="Text 3"/>
          <p:cNvSpPr/>
          <p:nvPr/>
        </p:nvSpPr>
        <p:spPr>
          <a:xfrm>
            <a:off x="8509099" y="1628775"/>
            <a:ext cx="2860328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&amp; 크로스플랫폼 통합</a:t>
            </a:r>
            <a:endParaRPr lang="en-US" sz="2025" dirty="0"/>
          </a:p>
        </p:txBody>
      </p:sp>
      <p:sp>
        <p:nvSpPr>
          <p:cNvPr id="14" name="Text 4"/>
          <p:cNvSpPr/>
          <p:nvPr/>
        </p:nvSpPr>
        <p:spPr>
          <a:xfrm>
            <a:off x="876300" y="2381250"/>
            <a:ext cx="2116336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초저전력 CPU 기반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처리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4705350" y="2381250"/>
            <a:ext cx="2566988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Leopard: 한국어 배치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공식 지원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8553450" y="2381250"/>
            <a:ext cx="2053530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Orca: LLM 연동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스트리밍 TTS 지원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942975" y="3048000"/>
            <a:ext cx="2483048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GPU 없이 CPU만으로 동작,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디바이스에 최적화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4772025" y="3048000"/>
            <a:ext cx="2525018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녹음 파일 전사에 활용 가능,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어휘 학습 기능 포함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8753475" y="3048000"/>
            <a:ext cx="2325886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LLM 응답과 동시 음성 합성,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음성 UX 구현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838200" y="4095750"/>
            <a:ext cx="2357438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외부 전송 없는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온디바이스 처리</a:t>
            </a:r>
            <a:endParaRPr lang="en-US" sz="1725" dirty="0"/>
          </a:p>
        </p:txBody>
      </p:sp>
      <p:sp>
        <p:nvSpPr>
          <p:cNvPr id="21" name="Text 11"/>
          <p:cNvSpPr/>
          <p:nvPr/>
        </p:nvSpPr>
        <p:spPr>
          <a:xfrm>
            <a:off x="4667250" y="4095750"/>
            <a:ext cx="2325886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Falcon: 온디바이스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화자 분리 제공</a:t>
            </a:r>
            <a:endParaRPr lang="en-US" sz="1725" dirty="0"/>
          </a:p>
        </p:txBody>
      </p:sp>
      <p:sp>
        <p:nvSpPr>
          <p:cNvPr id="22" name="Text 12"/>
          <p:cNvSpPr/>
          <p:nvPr/>
        </p:nvSpPr>
        <p:spPr>
          <a:xfrm>
            <a:off x="8553450" y="4095750"/>
            <a:ext cx="2210693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크로스플랫폼 SDK로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통합 가능</a:t>
            </a:r>
            <a:endParaRPr lang="en-US" sz="1725" dirty="0"/>
          </a:p>
        </p:txBody>
      </p:sp>
      <p:sp>
        <p:nvSpPr>
          <p:cNvPr id="23" name="Text 13"/>
          <p:cNvSpPr/>
          <p:nvPr/>
        </p:nvSpPr>
        <p:spPr>
          <a:xfrm>
            <a:off x="942975" y="4752975"/>
            <a:ext cx="2325886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음성 데이터가 기기 밖으로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나가지 않아 보안성 확보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4772025" y="4752975"/>
            <a:ext cx="2043113" cy="6916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누가 언제 발언했는지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로컬에서 식별, 회의록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기능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8753475" y="4752975"/>
            <a:ext cx="1990725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iOS-Android-Linux 등</a:t>
            </a:r>
            <a:pPr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환경에서 일관된</a:t>
            </a:r>
            <a:pPr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활용</a:t>
            </a:r>
            <a:endParaRPr lang="en-US" sz="1275" dirty="0"/>
          </a:p>
        </p:txBody>
      </p:sp>
      <p:sp>
        <p:nvSpPr>
          <p:cNvPr id="26" name="Text 16"/>
          <p:cNvSpPr/>
          <p:nvPr/>
        </p:nvSpPr>
        <p:spPr>
          <a:xfrm>
            <a:off x="4819650" y="3552825"/>
            <a:ext cx="53492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커스텀 사전 업데이트 가능 (offline)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5813971" y="6696075"/>
            <a:ext cx="544711" cy="1028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75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161" y="5314950"/>
            <a:ext cx="438894" cy="4388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157" y="4622155"/>
            <a:ext cx="743694" cy="5485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596" y="3168253"/>
            <a:ext cx="572988" cy="53488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059" y="1330375"/>
            <a:ext cx="536377" cy="5073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655" y="4958209"/>
            <a:ext cx="536377" cy="3771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059" y="3058567"/>
            <a:ext cx="828973" cy="5005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5153" y="1323529"/>
            <a:ext cx="707082" cy="66511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52425" y="314325"/>
            <a:ext cx="1183957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기업용 회의록 시스템 구축 시 Picovoice의 한계점</a:t>
            </a:r>
            <a:endParaRPr lang="en-US" sz="2775" dirty="0"/>
          </a:p>
        </p:txBody>
      </p:sp>
      <p:sp>
        <p:nvSpPr>
          <p:cNvPr id="12" name="Text 1"/>
          <p:cNvSpPr/>
          <p:nvPr/>
        </p:nvSpPr>
        <p:spPr>
          <a:xfrm>
            <a:off x="829568" y="1352550"/>
            <a:ext cx="144586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화자 분리 한계</a:t>
            </a:r>
            <a:endParaRPr lang="en-US" sz="1725" dirty="0"/>
          </a:p>
        </p:txBody>
      </p:sp>
      <p:sp>
        <p:nvSpPr>
          <p:cNvPr id="13" name="Text 2"/>
          <p:cNvSpPr/>
          <p:nvPr/>
        </p:nvSpPr>
        <p:spPr>
          <a:xfrm>
            <a:off x="895350" y="1752600"/>
            <a:ext cx="56464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Falcon 화자 분리의 실전 한계</a:t>
            </a:r>
            <a:endParaRPr lang="en-US" sz="1950" dirty="0"/>
          </a:p>
        </p:txBody>
      </p:sp>
      <p:sp>
        <p:nvSpPr>
          <p:cNvPr id="14" name="Text 3"/>
          <p:cNvSpPr/>
          <p:nvPr/>
        </p:nvSpPr>
        <p:spPr>
          <a:xfrm>
            <a:off x="815280" y="3038475"/>
            <a:ext cx="17601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문맥 처리 취약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895350" y="3438525"/>
            <a:ext cx="68351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Leopard 엔진의 배치 기반 전사 한계</a:t>
            </a:r>
            <a:endParaRPr lang="en-US" sz="1950" dirty="0"/>
          </a:p>
        </p:txBody>
      </p:sp>
      <p:sp>
        <p:nvSpPr>
          <p:cNvPr id="16" name="Text 5"/>
          <p:cNvSpPr/>
          <p:nvPr/>
        </p:nvSpPr>
        <p:spPr>
          <a:xfrm>
            <a:off x="829568" y="4972050"/>
            <a:ext cx="144586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불확실성</a:t>
            </a:r>
            <a:endParaRPr lang="en-US" sz="1800" dirty="0"/>
          </a:p>
        </p:txBody>
      </p:sp>
      <p:sp>
        <p:nvSpPr>
          <p:cNvPr id="17" name="Text 6"/>
          <p:cNvSpPr/>
          <p:nvPr/>
        </p:nvSpPr>
        <p:spPr>
          <a:xfrm>
            <a:off x="895350" y="5362575"/>
            <a:ext cx="50520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스트리밍 STT 불확실성</a:t>
            </a:r>
            <a:endParaRPr lang="en-US" sz="1950" dirty="0"/>
          </a:p>
        </p:txBody>
      </p:sp>
      <p:sp>
        <p:nvSpPr>
          <p:cNvPr id="18" name="Text 7"/>
          <p:cNvSpPr/>
          <p:nvPr/>
        </p:nvSpPr>
        <p:spPr>
          <a:xfrm>
            <a:off x="6464052" y="1352550"/>
            <a:ext cx="216872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요약·액션아이템 부재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6562725" y="1752600"/>
            <a:ext cx="35661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후처리 요약 기능 부재</a:t>
            </a:r>
            <a:endParaRPr lang="en-US" sz="1950" dirty="0"/>
          </a:p>
        </p:txBody>
      </p:sp>
      <p:sp>
        <p:nvSpPr>
          <p:cNvPr id="20" name="Text 9"/>
          <p:cNvSpPr/>
          <p:nvPr/>
        </p:nvSpPr>
        <p:spPr>
          <a:xfrm>
            <a:off x="6507361" y="3162300"/>
            <a:ext cx="121533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복잡도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6562725" y="3552825"/>
            <a:ext cx="475488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엔진 이상의 통합 복잡도</a:t>
            </a:r>
            <a:endParaRPr lang="en-US" sz="1950" dirty="0"/>
          </a:p>
        </p:txBody>
      </p:sp>
      <p:sp>
        <p:nvSpPr>
          <p:cNvPr id="22" name="Text 11"/>
          <p:cNvSpPr/>
          <p:nvPr/>
        </p:nvSpPr>
        <p:spPr>
          <a:xfrm>
            <a:off x="6497389" y="4972050"/>
            <a:ext cx="143529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폐쇄망 리스크</a:t>
            </a:r>
            <a:endParaRPr lang="en-US" sz="1800" dirty="0"/>
          </a:p>
        </p:txBody>
      </p:sp>
      <p:sp>
        <p:nvSpPr>
          <p:cNvPr id="23" name="Text 12"/>
          <p:cNvSpPr/>
          <p:nvPr/>
        </p:nvSpPr>
        <p:spPr>
          <a:xfrm>
            <a:off x="6562725" y="5362575"/>
            <a:ext cx="56292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Call-home 제약과 폐쇄망 리스크</a:t>
            </a:r>
            <a:endParaRPr lang="en-US" sz="1950" dirty="0"/>
          </a:p>
        </p:txBody>
      </p:sp>
      <p:sp>
        <p:nvSpPr>
          <p:cNvPr id="24" name="Text 13"/>
          <p:cNvSpPr/>
          <p:nvPr/>
        </p:nvSpPr>
        <p:spPr>
          <a:xfrm>
            <a:off x="895350" y="2143125"/>
            <a:ext cx="5594896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다수 화자 및 중첩 발언 시 DER 급등, 실무 수용 수준 미검증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정확한 발언자 구분에 한계</a:t>
            </a:r>
            <a:endParaRPr lang="en-US" sz="1575" dirty="0"/>
          </a:p>
        </p:txBody>
      </p:sp>
      <p:sp>
        <p:nvSpPr>
          <p:cNvPr id="25" name="Text 14"/>
          <p:cNvSpPr/>
          <p:nvPr/>
        </p:nvSpPr>
        <p:spPr>
          <a:xfrm>
            <a:off x="895350" y="3819525"/>
            <a:ext cx="5259586" cy="7742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긴 회의의 세션의 배치 파일 중심 전사, 장시간 세션 분할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및 정확한 직접 구현 필요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세션 간 문맥 연결 부재</a:t>
            </a:r>
            <a:endParaRPr lang="en-US" sz="1575" dirty="0"/>
          </a:p>
        </p:txBody>
      </p:sp>
      <p:sp>
        <p:nvSpPr>
          <p:cNvPr id="26" name="Text 15"/>
          <p:cNvSpPr/>
          <p:nvPr/>
        </p:nvSpPr>
        <p:spPr>
          <a:xfrm>
            <a:off x="895350" y="5753100"/>
            <a:ext cx="4788098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Cheetah 공식 문서 내 한국어 지원 정보 불일치,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회의용 리스크 고</a:t>
            </a:r>
            <a:endParaRPr lang="en-US" sz="1650" dirty="0"/>
          </a:p>
        </p:txBody>
      </p:sp>
      <p:sp>
        <p:nvSpPr>
          <p:cNvPr id="27" name="Text 16"/>
          <p:cNvSpPr/>
          <p:nvPr/>
        </p:nvSpPr>
        <p:spPr>
          <a:xfrm>
            <a:off x="6562725" y="2143125"/>
            <a:ext cx="5594896" cy="477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STT 및 Diarization 이후 요약·구조화는 별도 Local LLM</a:t>
            </a:r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파이프라인 직접 구축 필요</a:t>
            </a:r>
            <a:endParaRPr lang="en-US" sz="1650" dirty="0"/>
          </a:p>
        </p:txBody>
      </p:sp>
      <p:sp>
        <p:nvSpPr>
          <p:cNvPr id="28" name="Text 17"/>
          <p:cNvSpPr/>
          <p:nvPr/>
        </p:nvSpPr>
        <p:spPr>
          <a:xfrm>
            <a:off x="6562725" y="3914775"/>
            <a:ext cx="4400550" cy="477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VAD→STT→Diarization→요약→연동까지</a:t>
            </a:r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81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각 컴포넌트 조합 및 운영 부담 발생</a:t>
            </a:r>
            <a:endParaRPr lang="en-US" sz="1650" dirty="0"/>
          </a:p>
        </p:txBody>
      </p:sp>
      <p:sp>
        <p:nvSpPr>
          <p:cNvPr id="29" name="Text 18"/>
          <p:cNvSpPr/>
          <p:nvPr/>
        </p:nvSpPr>
        <p:spPr>
          <a:xfrm>
            <a:off x="6562725" y="5753100"/>
            <a:ext cx="3782318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AccessKey 검증용 외부 통신 필요,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완전 폐쇄망 환경에서 운영 불가 가능성</a:t>
            </a:r>
            <a:endParaRPr lang="en-US" sz="1650" dirty="0"/>
          </a:p>
        </p:txBody>
      </p:sp>
      <p:sp>
        <p:nvSpPr>
          <p:cNvPr id="30" name="Text 19"/>
          <p:cNvSpPr/>
          <p:nvPr/>
        </p:nvSpPr>
        <p:spPr>
          <a:xfrm>
            <a:off x="10106025" y="5753100"/>
            <a:ext cx="2084933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*안전 Air-gap 환경에서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불가 가능성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10677525" y="5019675"/>
            <a:ext cx="151447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298" y="3360390"/>
            <a:ext cx="633859" cy="6240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498" y="2434530"/>
            <a:ext cx="938659" cy="65142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259" y="2221855"/>
            <a:ext cx="938659" cy="103554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23825"/>
            <a:ext cx="1196340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스트리밍 지원 모호성 및 Air-gap 보안 리스크</a:t>
            </a:r>
            <a:endParaRPr lang="en-US" sz="270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992124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도입 시 핵심 제약사항 및 리스크 분석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771525" y="2247900"/>
            <a:ext cx="4306193" cy="82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Cheetah 한국어 스트리밍 지원 불명확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 내 언어 목록 섹션 간 불일치로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전사 채택 리스크 고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771525" y="3314700"/>
            <a:ext cx="5207198" cy="82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등급: 한국어 스트리밍·페쇄망 모두 High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리스크가 동시 존재 시 기업 실시간 회의록 솔루션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단독 채택 불가 판단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6753225" y="2247900"/>
            <a:ext cx="4809083" cy="82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Call-home 동작: 라이선스 검증용 외부 통신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AccessKey 유효성 및 사용량 확인 위해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서버 주기적 호출 명시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6753225" y="3200400"/>
            <a:ext cx="4515743" cy="82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페쇄망(Air-gap) 환경에서 운영 불가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통신 차단 시 라이선스 검증 실패로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정상 동작 보장 불가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6753225" y="4162425"/>
            <a:ext cx="5050036" cy="82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'On-device' ≠ '완전 오프라인' 구분 필수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처리는 로컬이나 라이선스 통신은 외부 의존,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용어 주의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6753225" y="5114925"/>
            <a:ext cx="4075658" cy="7612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 계약·기술 조건 별도 확인 필요</a:t>
            </a:r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Air-gap 예외 조항 또는 오프라인 라이선스 옵션</a:t>
            </a:r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존재 여부 공급사 확인 필수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679674" y="1733550"/>
            <a:ext cx="286032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8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스트리밍 &amp; 종합 리스크</a:t>
            </a:r>
            <a:endParaRPr lang="en-US" sz="1575" dirty="0"/>
          </a:p>
        </p:txBody>
      </p:sp>
      <p:sp>
        <p:nvSpPr>
          <p:cNvPr id="16" name="Text 9"/>
          <p:cNvSpPr/>
          <p:nvPr/>
        </p:nvSpPr>
        <p:spPr>
          <a:xfrm>
            <a:off x="7693223" y="1733550"/>
            <a:ext cx="257740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8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Call-home 동작 &amp; 보안 제약</a:t>
            </a:r>
            <a:endParaRPr lang="en-US" sz="1575" dirty="0"/>
          </a:p>
        </p:txBody>
      </p:sp>
      <p:sp>
        <p:nvSpPr>
          <p:cNvPr id="17" name="Text 10"/>
          <p:cNvSpPr/>
          <p:nvPr/>
        </p:nvSpPr>
        <p:spPr>
          <a:xfrm>
            <a:off x="838200" y="4429125"/>
            <a:ext cx="712089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575" b="1" dirty="0">
                <a:solidFill>
                  <a:srgbClr val="2068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*한국어 스트리밍 모호성은 Cheetah 엔진에 한함</a:t>
            </a:r>
            <a:endParaRPr lang="en-US" sz="1575" dirty="0"/>
          </a:p>
        </p:txBody>
      </p:sp>
      <p:sp>
        <p:nvSpPr>
          <p:cNvPr id="18" name="Text 11"/>
          <p:cNvSpPr/>
          <p:nvPr/>
        </p:nvSpPr>
        <p:spPr>
          <a:xfrm>
            <a:off x="104775" y="6467475"/>
            <a:ext cx="205740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5876925" y="6724650"/>
            <a:ext cx="4191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95"/>
              </a:lnSpc>
              <a:buNone/>
            </a:pPr>
            <a:r>
              <a:rPr lang="en-US" sz="7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75" y="1673275"/>
            <a:ext cx="10838557" cy="445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75" y="1673275"/>
            <a:ext cx="2095500" cy="6000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175" y="1673275"/>
            <a:ext cx="2772221" cy="600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396" y="1673275"/>
            <a:ext cx="2905423" cy="600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819" y="1673275"/>
            <a:ext cx="3065413" cy="600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8175" y="2273350"/>
            <a:ext cx="2772221" cy="147458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396" y="2273350"/>
            <a:ext cx="2905423" cy="147458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5819" y="2273350"/>
            <a:ext cx="3065413" cy="147458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675" y="3747939"/>
            <a:ext cx="10838557" cy="57894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8175" y="3747939"/>
            <a:ext cx="2772221" cy="57894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0396" y="3747939"/>
            <a:ext cx="2905423" cy="57894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5819" y="3747939"/>
            <a:ext cx="3065413" cy="57894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8175" y="4326880"/>
            <a:ext cx="2772221" cy="40838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0396" y="4326880"/>
            <a:ext cx="2905423" cy="40838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5819" y="4326880"/>
            <a:ext cx="3065413" cy="40838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2675" y="4735264"/>
            <a:ext cx="10838557" cy="40838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78175" y="4735264"/>
            <a:ext cx="2772221" cy="40838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0396" y="4735264"/>
            <a:ext cx="2905423" cy="40838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5819" y="4735264"/>
            <a:ext cx="3065413" cy="40838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78175" y="5143649"/>
            <a:ext cx="2772221" cy="40838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0396" y="5143649"/>
            <a:ext cx="2905423" cy="40838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55819" y="5143649"/>
            <a:ext cx="3065413" cy="40838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675" y="5552033"/>
            <a:ext cx="10838557" cy="578941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78175" y="5552033"/>
            <a:ext cx="2772221" cy="578941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50396" y="5552033"/>
            <a:ext cx="2905423" cy="578941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55819" y="5552033"/>
            <a:ext cx="3065413" cy="57894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8353" y="6439644"/>
            <a:ext cx="268188" cy="260598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82675" y="1673275"/>
            <a:ext cx="1905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비교 항목</a:t>
            </a:r>
            <a:endParaRPr lang="en-US" sz="1500" dirty="0"/>
          </a:p>
        </p:txBody>
      </p:sp>
      <p:sp>
        <p:nvSpPr>
          <p:cNvPr id="31" name="Text 1"/>
          <p:cNvSpPr/>
          <p:nvPr/>
        </p:nvSpPr>
        <p:spPr>
          <a:xfrm>
            <a:off x="2778175" y="1673275"/>
            <a:ext cx="258172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Picovoice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5645646" y="1768525"/>
            <a:ext cx="27149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Whisper Stack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5645646" y="2025700"/>
            <a:ext cx="2714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(Whisper+pyannote+llama.cpp)</a:t>
            </a:r>
            <a:endParaRPr lang="en-US" sz="1050" dirty="0"/>
          </a:p>
        </p:txBody>
      </p:sp>
      <p:sp>
        <p:nvSpPr>
          <p:cNvPr id="34" name="Text 4"/>
          <p:cNvSpPr/>
          <p:nvPr/>
        </p:nvSpPr>
        <p:spPr>
          <a:xfrm>
            <a:off x="8551069" y="1768525"/>
            <a:ext cx="28749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Riva</a:t>
            </a:r>
            <a:endParaRPr lang="en-US" sz="1500" dirty="0"/>
          </a:p>
        </p:txBody>
      </p:sp>
      <p:sp>
        <p:nvSpPr>
          <p:cNvPr id="35" name="Text 5"/>
          <p:cNvSpPr/>
          <p:nvPr/>
        </p:nvSpPr>
        <p:spPr>
          <a:xfrm>
            <a:off x="8551069" y="2025700"/>
            <a:ext cx="28749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(NVIDIA Riva)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825550" y="2882652"/>
            <a:ext cx="18288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한국어 STT 지원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2568476" y="2882652"/>
            <a:ext cx="36576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🌐</a:t>
            </a:r>
            <a:endParaRPr lang="en-US" sz="1440" dirty="0"/>
          </a:p>
        </p:txBody>
      </p:sp>
      <p:sp>
        <p:nvSpPr>
          <p:cNvPr id="38" name="Text 8"/>
          <p:cNvSpPr/>
          <p:nvPr/>
        </p:nvSpPr>
        <p:spPr>
          <a:xfrm>
            <a:off x="2778175" y="2273350"/>
            <a:ext cx="2486471" cy="147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Leopard (공식 지원)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Cheetah (불명확)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5550396" y="2273350"/>
            <a:ext cx="2619673" cy="147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안정적 지원 (Medium 이상)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7D32"/>
                </a:solidFill>
              </a:rPr>
              <a:t>(e.g., Medium 모델 이상)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8455819" y="2273350"/>
            <a:ext cx="2779663" cy="147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안정적 지원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825550" y="3909417"/>
            <a:ext cx="1645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폐쇄망 운영 여부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2454325" y="3909417"/>
            <a:ext cx="5852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☁️</a:t>
            </a:r>
            <a:endParaRPr lang="en-US" sz="1440" dirty="0"/>
          </a:p>
        </p:txBody>
      </p:sp>
      <p:sp>
        <p:nvSpPr>
          <p:cNvPr id="43" name="Text 13"/>
          <p:cNvSpPr/>
          <p:nvPr/>
        </p:nvSpPr>
        <p:spPr>
          <a:xfrm>
            <a:off x="3534519" y="3843189"/>
            <a:ext cx="12595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2002D"/>
                </a:solidFill>
              </a:rPr>
              <a:t>⚠️ Call-home 필요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4794052" y="3843189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3735139" y="4056459"/>
            <a:ext cx="8582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2002D"/>
                </a:solidFill>
              </a:rPr>
              <a:t>(보안 리스크)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5550396" y="3747939"/>
            <a:ext cx="2619673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완전 오프라인 가능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8455819" y="3747939"/>
            <a:ext cx="2779663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데이터 센터 내 오프라인 가능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7D32"/>
                </a:solidFill>
              </a:rPr>
              <a:t>(서버 인프라 구축 필수)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825550" y="4403080"/>
            <a:ext cx="1280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성능 및 지연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2568476" y="4403080"/>
            <a:ext cx="5852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⏲️</a:t>
            </a:r>
            <a:endParaRPr lang="en-US" sz="1440" dirty="0"/>
          </a:p>
        </p:txBody>
      </p:sp>
      <p:sp>
        <p:nvSpPr>
          <p:cNvPr id="50" name="Text 20"/>
          <p:cNvSpPr/>
          <p:nvPr/>
        </p:nvSpPr>
        <p:spPr>
          <a:xfrm>
            <a:off x="2778175" y="4326880"/>
            <a:ext cx="2486471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CPU 저지연 (우수)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5550396" y="4326880"/>
            <a:ext cx="261967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중간 수준 (구성 의존)</a:t>
            </a:r>
            <a:endParaRPr lang="en-US" sz="1200" dirty="0"/>
          </a:p>
        </p:txBody>
      </p:sp>
      <p:sp>
        <p:nvSpPr>
          <p:cNvPr id="52" name="Text 22"/>
          <p:cNvSpPr/>
          <p:nvPr/>
        </p:nvSpPr>
        <p:spPr>
          <a:xfrm>
            <a:off x="8455819" y="4326880"/>
            <a:ext cx="277966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GPU 고처리량</a:t>
            </a:r>
            <a:endParaRPr lang="en-US" sz="1200" dirty="0"/>
          </a:p>
        </p:txBody>
      </p:sp>
      <p:sp>
        <p:nvSpPr>
          <p:cNvPr id="53" name="Text 23"/>
          <p:cNvSpPr/>
          <p:nvPr/>
        </p:nvSpPr>
        <p:spPr>
          <a:xfrm>
            <a:off x="825550" y="4811464"/>
            <a:ext cx="1097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운영 복잡도</a:t>
            </a:r>
            <a:endParaRPr lang="en-US" sz="1200" dirty="0"/>
          </a:p>
        </p:txBody>
      </p:sp>
      <p:sp>
        <p:nvSpPr>
          <p:cNvPr id="54" name="Text 24"/>
          <p:cNvSpPr/>
          <p:nvPr/>
        </p:nvSpPr>
        <p:spPr>
          <a:xfrm>
            <a:off x="2473375" y="4811464"/>
            <a:ext cx="58521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⚙️</a:t>
            </a:r>
            <a:endParaRPr lang="en-US" sz="1440" dirty="0"/>
          </a:p>
        </p:txBody>
      </p:sp>
      <p:sp>
        <p:nvSpPr>
          <p:cNvPr id="55" name="Text 25"/>
          <p:cNvSpPr/>
          <p:nvPr/>
        </p:nvSpPr>
        <p:spPr>
          <a:xfrm>
            <a:off x="2778175" y="4735264"/>
            <a:ext cx="2486471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SDK 통합 용이</a:t>
            </a:r>
            <a:endParaRPr lang="en-US" sz="1200" dirty="0"/>
          </a:p>
        </p:txBody>
      </p:sp>
      <p:sp>
        <p:nvSpPr>
          <p:cNvPr id="56" name="Text 26"/>
          <p:cNvSpPr/>
          <p:nvPr/>
        </p:nvSpPr>
        <p:spPr>
          <a:xfrm>
            <a:off x="5550396" y="4735264"/>
            <a:ext cx="261967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직접 조합 필요 (높은 부담)</a:t>
            </a:r>
            <a:endParaRPr lang="en-US" sz="1200" dirty="0"/>
          </a:p>
        </p:txBody>
      </p:sp>
      <p:sp>
        <p:nvSpPr>
          <p:cNvPr id="57" name="Text 27"/>
          <p:cNvSpPr/>
          <p:nvPr/>
        </p:nvSpPr>
        <p:spPr>
          <a:xfrm>
            <a:off x="8455819" y="4735264"/>
            <a:ext cx="277966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전문성 요구</a:t>
            </a:r>
            <a:endParaRPr lang="en-US" sz="1200" dirty="0"/>
          </a:p>
        </p:txBody>
      </p:sp>
      <p:sp>
        <p:nvSpPr>
          <p:cNvPr id="58" name="Text 28"/>
          <p:cNvSpPr/>
          <p:nvPr/>
        </p:nvSpPr>
        <p:spPr>
          <a:xfrm>
            <a:off x="825550" y="5219849"/>
            <a:ext cx="1645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회의록 파이프라인</a:t>
            </a:r>
            <a:endParaRPr lang="en-US" sz="1200" dirty="0"/>
          </a:p>
        </p:txBody>
      </p:sp>
      <p:sp>
        <p:nvSpPr>
          <p:cNvPr id="59" name="Text 29"/>
          <p:cNvSpPr/>
          <p:nvPr/>
        </p:nvSpPr>
        <p:spPr>
          <a:xfrm>
            <a:off x="2568476" y="5219849"/>
            <a:ext cx="36576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📄</a:t>
            </a:r>
            <a:endParaRPr lang="en-US" sz="1440" dirty="0"/>
          </a:p>
        </p:txBody>
      </p:sp>
      <p:sp>
        <p:nvSpPr>
          <p:cNvPr id="60" name="Text 30"/>
          <p:cNvSpPr/>
          <p:nvPr/>
        </p:nvSpPr>
        <p:spPr>
          <a:xfrm>
            <a:off x="2778175" y="5143649"/>
            <a:ext cx="2486471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후처리 별도 구성 필요</a:t>
            </a:r>
            <a:endParaRPr lang="en-US" sz="1200" dirty="0"/>
          </a:p>
        </p:txBody>
      </p:sp>
      <p:sp>
        <p:nvSpPr>
          <p:cNvPr id="61" name="Text 31"/>
          <p:cNvSpPr/>
          <p:nvPr/>
        </p:nvSpPr>
        <p:spPr>
          <a:xfrm>
            <a:off x="5550396" y="5143649"/>
            <a:ext cx="261967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가장 균형적 (조합 가능)</a:t>
            </a:r>
            <a:endParaRPr lang="en-US" sz="1200" dirty="0"/>
          </a:p>
        </p:txBody>
      </p:sp>
      <p:sp>
        <p:nvSpPr>
          <p:cNvPr id="62" name="Text 32"/>
          <p:cNvSpPr/>
          <p:nvPr/>
        </p:nvSpPr>
        <p:spPr>
          <a:xfrm>
            <a:off x="8455819" y="5143649"/>
            <a:ext cx="2779663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통합 용이</a:t>
            </a:r>
            <a:endParaRPr lang="en-US" sz="1200" dirty="0"/>
          </a:p>
        </p:txBody>
      </p:sp>
      <p:sp>
        <p:nvSpPr>
          <p:cNvPr id="63" name="Text 33"/>
          <p:cNvSpPr/>
          <p:nvPr/>
        </p:nvSpPr>
        <p:spPr>
          <a:xfrm>
            <a:off x="825550" y="5713512"/>
            <a:ext cx="14630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</a:rPr>
              <a:t>비용 및 인프라</a:t>
            </a:r>
            <a:endParaRPr lang="en-US" sz="1200" dirty="0"/>
          </a:p>
        </p:txBody>
      </p:sp>
      <p:sp>
        <p:nvSpPr>
          <p:cNvPr id="64" name="Text 34"/>
          <p:cNvSpPr/>
          <p:nvPr/>
        </p:nvSpPr>
        <p:spPr>
          <a:xfrm>
            <a:off x="2530525" y="5713512"/>
            <a:ext cx="21945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000000">
                    <a:alpha val="70000"/>
                  </a:srgbClr>
                </a:solidFill>
              </a:rPr>
              <a:t>₩</a:t>
            </a:r>
            <a:endParaRPr lang="en-US" sz="1440" dirty="0"/>
          </a:p>
        </p:txBody>
      </p:sp>
      <p:sp>
        <p:nvSpPr>
          <p:cNvPr id="65" name="Text 35"/>
          <p:cNvSpPr/>
          <p:nvPr/>
        </p:nvSpPr>
        <p:spPr>
          <a:xfrm>
            <a:off x="2778175" y="5552033"/>
            <a:ext cx="2486471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라이선스 비용 / CPU 서버</a:t>
            </a:r>
            <a:endParaRPr lang="en-US" sz="1200" dirty="0"/>
          </a:p>
        </p:txBody>
      </p:sp>
      <p:sp>
        <p:nvSpPr>
          <p:cNvPr id="66" name="Text 36"/>
          <p:cNvSpPr/>
          <p:nvPr/>
        </p:nvSpPr>
        <p:spPr>
          <a:xfrm>
            <a:off x="5550396" y="5552033"/>
            <a:ext cx="2619673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무료 / 범용 서버</a:t>
            </a:r>
            <a:endParaRPr lang="en-US" sz="1200" dirty="0"/>
          </a:p>
        </p:txBody>
      </p:sp>
      <p:sp>
        <p:nvSpPr>
          <p:cNvPr id="67" name="Text 37"/>
          <p:cNvSpPr/>
          <p:nvPr/>
        </p:nvSpPr>
        <p:spPr>
          <a:xfrm>
            <a:off x="8455819" y="5552033"/>
            <a:ext cx="2779663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GPU 인프라 필수 /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엔터프라이즈 비용</a:t>
            </a:r>
            <a:endParaRPr lang="en-US" sz="1200" dirty="0"/>
          </a:p>
        </p:txBody>
      </p:sp>
      <p:sp>
        <p:nvSpPr>
          <p:cNvPr id="68" name="Text 38"/>
          <p:cNvSpPr/>
          <p:nvPr/>
        </p:nvSpPr>
        <p:spPr>
          <a:xfrm>
            <a:off x="238125" y="133350"/>
            <a:ext cx="11953875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비교: Picovoice vs Whisper Stack vs Riva</a:t>
            </a:r>
            <a:endParaRPr lang="en-US" sz="2625" dirty="0"/>
          </a:p>
        </p:txBody>
      </p:sp>
      <p:sp>
        <p:nvSpPr>
          <p:cNvPr id="69" name="Text 39"/>
          <p:cNvSpPr/>
          <p:nvPr/>
        </p:nvSpPr>
        <p:spPr>
          <a:xfrm>
            <a:off x="352425" y="742950"/>
            <a:ext cx="411480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800" dirty="0"/>
          </a:p>
        </p:txBody>
      </p:sp>
      <p:sp>
        <p:nvSpPr>
          <p:cNvPr id="70" name="Text 40"/>
          <p:cNvSpPr/>
          <p:nvPr/>
        </p:nvSpPr>
        <p:spPr>
          <a:xfrm>
            <a:off x="2571750" y="742950"/>
            <a:ext cx="962025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솔루션의 한국어 지원, 폐쇄망 여부, 성능 및 운영 복잡도 종합 비교</a:t>
            </a:r>
            <a:endParaRPr lang="en-US" sz="1800" dirty="0"/>
          </a:p>
        </p:txBody>
      </p:sp>
      <p:sp>
        <p:nvSpPr>
          <p:cNvPr id="71" name="Text 41"/>
          <p:cNvSpPr/>
          <p:nvPr/>
        </p:nvSpPr>
        <p:spPr>
          <a:xfrm>
            <a:off x="46672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72" name="Text 42"/>
          <p:cNvSpPr/>
          <p:nvPr/>
        </p:nvSpPr>
        <p:spPr>
          <a:xfrm>
            <a:off x="5934521" y="6705600"/>
            <a:ext cx="408533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92" y="1330375"/>
            <a:ext cx="11362879" cy="49925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8125" y="123825"/>
            <a:ext cx="10995660" cy="4405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69"/>
              </a:lnSpc>
              <a:buNone/>
            </a:pPr>
            <a:r>
              <a:rPr lang="en-US" sz="27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A: 저지연 로컬 음성 비서 환경</a:t>
            </a:r>
            <a:endParaRPr lang="en-US" sz="277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1000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온프레미스·엣지 디바이스용 완전 로컬 오디오 인터랙션 파이프라인</a:t>
            </a:r>
            <a:endParaRPr lang="en-US" sz="1875" dirty="0"/>
          </a:p>
        </p:txBody>
      </p:sp>
      <p:sp>
        <p:nvSpPr>
          <p:cNvPr id="7" name="Text 2"/>
          <p:cNvSpPr/>
          <p:nvPr/>
        </p:nvSpPr>
        <p:spPr>
          <a:xfrm>
            <a:off x="104775" y="646747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5874544" y="6734175"/>
            <a:ext cx="471488" cy="75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4"/>
              </a:lnSpc>
              <a:buNone/>
            </a:pPr>
            <a:r>
              <a:rPr lang="en-US" sz="600" dirty="0">
                <a:solidFill>
                  <a:srgbClr val="8C8C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5" y="1570434"/>
            <a:ext cx="11338471" cy="47251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6225" y="142875"/>
            <a:ext cx="11915775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83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B / Recommended Architecture B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23850" y="742950"/>
            <a:ext cx="1027557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83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아키텍처 B: 프라이빗 회의록 자동화 파이프라인</a:t>
            </a:r>
            <a:endParaRPr lang="en-US" sz="2325" dirty="0"/>
          </a:p>
        </p:txBody>
      </p:sp>
      <p:sp>
        <p:nvSpPr>
          <p:cNvPr id="7" name="Text 2"/>
          <p:cNvSpPr/>
          <p:nvPr/>
        </p:nvSpPr>
        <p:spPr>
          <a:xfrm>
            <a:off x="276225" y="6467475"/>
            <a:ext cx="1714500" cy="20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54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5871567" y="6696075"/>
            <a:ext cx="534293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471" y="6055519"/>
            <a:ext cx="438894" cy="3908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079" y="5993755"/>
            <a:ext cx="402282" cy="50050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090" y="6014442"/>
            <a:ext cx="451098" cy="43889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894" y="3332857"/>
            <a:ext cx="670471" cy="644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1365" y="3346698"/>
            <a:ext cx="828973" cy="45943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8486" y="3387775"/>
            <a:ext cx="767953" cy="50735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190500"/>
            <a:ext cx="62979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4"/>
              </a:lnSpc>
              <a:buNone/>
            </a:pPr>
            <a:r>
              <a:rPr lang="en-US" sz="21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175" dirty="0"/>
          </a:p>
        </p:txBody>
      </p:sp>
      <p:sp>
        <p:nvSpPr>
          <p:cNvPr id="11" name="Text 1"/>
          <p:cNvSpPr/>
          <p:nvPr/>
        </p:nvSpPr>
        <p:spPr>
          <a:xfrm>
            <a:off x="3928467" y="1609725"/>
            <a:ext cx="43061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Riva 기반 통합 아키텍처 파이프라인</a:t>
            </a:r>
            <a:endParaRPr lang="en-US" sz="1650" dirty="0"/>
          </a:p>
        </p:txBody>
      </p:sp>
      <p:sp>
        <p:nvSpPr>
          <p:cNvPr id="12" name="Text 2"/>
          <p:cNvSpPr/>
          <p:nvPr/>
        </p:nvSpPr>
        <p:spPr>
          <a:xfrm>
            <a:off x="352425" y="742950"/>
            <a:ext cx="37719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650" dirty="0"/>
          </a:p>
        </p:txBody>
      </p:sp>
      <p:sp>
        <p:nvSpPr>
          <p:cNvPr id="13" name="Text 3"/>
          <p:cNvSpPr/>
          <p:nvPr/>
        </p:nvSpPr>
        <p:spPr>
          <a:xfrm>
            <a:off x="1362968" y="4781550"/>
            <a:ext cx="1864965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3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음성-텍스트 변환</a:t>
            </a:r>
            <a:endParaRPr lang="en-US" sz="1275" dirty="0"/>
          </a:p>
        </p:txBody>
      </p:sp>
      <p:sp>
        <p:nvSpPr>
          <p:cNvPr id="14" name="Text 4"/>
          <p:cNvSpPr/>
          <p:nvPr/>
        </p:nvSpPr>
        <p:spPr>
          <a:xfrm>
            <a:off x="1192411" y="5181600"/>
            <a:ext cx="2263080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NeMo 기반 모델 튜닝</a:t>
            </a:r>
            <a:endParaRPr lang="en-US" sz="1200" dirty="0"/>
          </a:p>
        </p:txBody>
      </p:sp>
      <p:sp>
        <p:nvSpPr>
          <p:cNvPr id="15" name="Text 5"/>
          <p:cNvSpPr/>
          <p:nvPr/>
        </p:nvSpPr>
        <p:spPr>
          <a:xfrm>
            <a:off x="5267325" y="4781550"/>
            <a:ext cx="167640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3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화자 식별 및 세션 분할</a:t>
            </a:r>
            <a:endParaRPr lang="en-US" sz="1275" dirty="0"/>
          </a:p>
        </p:txBody>
      </p:sp>
      <p:sp>
        <p:nvSpPr>
          <p:cNvPr id="16" name="Text 6"/>
          <p:cNvSpPr/>
          <p:nvPr/>
        </p:nvSpPr>
        <p:spPr>
          <a:xfrm>
            <a:off x="4880967" y="5181600"/>
            <a:ext cx="2420243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세션 병렬 GPU 가속 처리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8667750" y="4781550"/>
            <a:ext cx="2514600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자동 요약 (사내 LLM 연동)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8909596" y="5181600"/>
            <a:ext cx="2011561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고품질 GPU 가속 TTS 출력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4667250" y="5705475"/>
            <a:ext cx="293370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엔터프라이즈급 구문 및 운영 고려사항</a:t>
            </a:r>
            <a:endParaRPr lang="en-US" sz="1275" dirty="0"/>
          </a:p>
        </p:txBody>
      </p:sp>
      <p:sp>
        <p:nvSpPr>
          <p:cNvPr id="20" name="Text 10"/>
          <p:cNvSpPr/>
          <p:nvPr/>
        </p:nvSpPr>
        <p:spPr>
          <a:xfrm>
            <a:off x="1367730" y="2343150"/>
            <a:ext cx="1760190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7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 ASR (음성 인식)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5117753" y="2343150"/>
            <a:ext cx="2032546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Riva Diarization (화자 분리)</a:t>
            </a:r>
            <a:endParaRPr lang="en-US" sz="1125" dirty="0"/>
          </a:p>
        </p:txBody>
      </p:sp>
      <p:sp>
        <p:nvSpPr>
          <p:cNvPr id="22" name="Text 12"/>
          <p:cNvSpPr/>
          <p:nvPr/>
        </p:nvSpPr>
        <p:spPr>
          <a:xfrm>
            <a:off x="8940998" y="2343150"/>
            <a:ext cx="1948755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LLM 요약 / Riva TTS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1933575" y="5972175"/>
            <a:ext cx="2137410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0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인프라 및 예산</a:t>
            </a:r>
            <a:endParaRPr lang="en-US" sz="1275" dirty="0"/>
          </a:p>
        </p:txBody>
      </p:sp>
      <p:sp>
        <p:nvSpPr>
          <p:cNvPr id="24" name="Text 14"/>
          <p:cNvSpPr/>
          <p:nvPr/>
        </p:nvSpPr>
        <p:spPr>
          <a:xfrm>
            <a:off x="1933575" y="6210300"/>
            <a:ext cx="2472630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GPU 클러스터 및 전용 인프라 투자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초기 및 장기 운영 예산 확보</a:t>
            </a:r>
            <a:endParaRPr lang="en-US" sz="1125" dirty="0"/>
          </a:p>
        </p:txBody>
      </p:sp>
      <p:sp>
        <p:nvSpPr>
          <p:cNvPr id="25" name="Text 15"/>
          <p:cNvSpPr/>
          <p:nvPr/>
        </p:nvSpPr>
        <p:spPr>
          <a:xfrm>
            <a:off x="5486400" y="5972175"/>
            <a:ext cx="1554480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0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인력 투자</a:t>
            </a:r>
            <a:endParaRPr lang="en-US" sz="1275" dirty="0"/>
          </a:p>
        </p:txBody>
      </p:sp>
      <p:sp>
        <p:nvSpPr>
          <p:cNvPr id="26" name="Text 16"/>
          <p:cNvSpPr/>
          <p:nvPr/>
        </p:nvSpPr>
        <p:spPr>
          <a:xfrm>
            <a:off x="5486400" y="6210300"/>
            <a:ext cx="2661196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Riva/NeMo 운영 및 최적화 인력 투자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SLA 지원을 위한 전문 인원 배치</a:t>
            </a:r>
            <a:endParaRPr lang="en-US" sz="1125" dirty="0"/>
          </a:p>
        </p:txBody>
      </p:sp>
      <p:sp>
        <p:nvSpPr>
          <p:cNvPr id="27" name="Text 17"/>
          <p:cNvSpPr/>
          <p:nvPr/>
        </p:nvSpPr>
        <p:spPr>
          <a:xfrm>
            <a:off x="8886825" y="5972175"/>
            <a:ext cx="2194560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2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완성도 및 복잡성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8886825" y="6210300"/>
            <a:ext cx="2682180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최상위 성능 및 안정성 제공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61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 복잡성 및 플랫폼 종속성 고려 필요</a:t>
            </a:r>
            <a:endParaRPr lang="en-US" sz="1125" dirty="0"/>
          </a:p>
        </p:txBody>
      </p:sp>
      <p:sp>
        <p:nvSpPr>
          <p:cNvPr id="29" name="Text 19"/>
          <p:cNvSpPr/>
          <p:nvPr/>
        </p:nvSpPr>
        <p:spPr>
          <a:xfrm>
            <a:off x="7201793" y="6667500"/>
            <a:ext cx="47986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4D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복잡성 및 종속성 주의, 운영 부담 발생 / Caution: Complexity and Dependenand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77" y="3374082"/>
            <a:ext cx="536377" cy="49366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374082"/>
            <a:ext cx="572988" cy="49366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76225" y="142875"/>
            <a:ext cx="11915775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PoC 실행 계획 및 의사결정 기준 / Page title</a:t>
            </a:r>
            <a:endParaRPr lang="en-US" sz="2325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8" name="Text 2"/>
          <p:cNvSpPr/>
          <p:nvPr/>
        </p:nvSpPr>
        <p:spPr>
          <a:xfrm>
            <a:off x="1058614" y="3476625"/>
            <a:ext cx="101619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1~30</a:t>
            </a:r>
            <a:endParaRPr lang="en-US" sz="1575" dirty="0"/>
          </a:p>
        </p:txBody>
      </p:sp>
      <p:sp>
        <p:nvSpPr>
          <p:cNvPr id="9" name="Text 3"/>
          <p:cNvSpPr/>
          <p:nvPr/>
        </p:nvSpPr>
        <p:spPr>
          <a:xfrm>
            <a:off x="3298031" y="3476625"/>
            <a:ext cx="120491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31~60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5709642" y="3476625"/>
            <a:ext cx="116294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61~90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4138017" y="1600200"/>
            <a:ext cx="388709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PoC 실행 계획 및 의사결정 기준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89521" y="2362200"/>
            <a:ext cx="3268861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실행 계획 (PoC Execution Plan)</a:t>
            </a:r>
            <a:endParaRPr lang="en-US" sz="1425" dirty="0"/>
          </a:p>
        </p:txBody>
      </p:sp>
      <p:sp>
        <p:nvSpPr>
          <p:cNvPr id="13" name="Text 7"/>
          <p:cNvSpPr/>
          <p:nvPr/>
        </p:nvSpPr>
        <p:spPr>
          <a:xfrm>
            <a:off x="8292405" y="2362200"/>
            <a:ext cx="280794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기준 (Decision Criteria)</a:t>
            </a:r>
            <a:endParaRPr lang="en-US" sz="1275" dirty="0"/>
          </a:p>
        </p:txBody>
      </p:sp>
      <p:sp>
        <p:nvSpPr>
          <p:cNvPr id="14" name="Text 8"/>
          <p:cNvSpPr/>
          <p:nvPr/>
        </p:nvSpPr>
        <p:spPr>
          <a:xfrm>
            <a:off x="657225" y="4505325"/>
            <a:ext cx="33718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환경 구성 및 기준선 측정</a:t>
            </a:r>
            <a:endParaRPr lang="en-US" sz="1125" dirty="0"/>
          </a:p>
        </p:txBody>
      </p:sp>
      <p:sp>
        <p:nvSpPr>
          <p:cNvPr id="15" name="Text 9"/>
          <p:cNvSpPr/>
          <p:nvPr/>
        </p:nvSpPr>
        <p:spPr>
          <a:xfrm>
            <a:off x="2971800" y="4505325"/>
            <a:ext cx="30289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스택별 심층 비교 검증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5324475" y="4505325"/>
            <a:ext cx="33718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실무 적합성 및 운영 검증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657225" y="4886325"/>
            <a:ext cx="3040380" cy="1800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사내망 배포 및 테스트 데이터 수집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2986088" y="4829175"/>
            <a:ext cx="17811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Picovoice-Whisper-Riva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병렬 실행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07223" y="5210175"/>
            <a:ext cx="17392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페쇄망 운영 가능 여부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(Air-gap 필수 요건 확인)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771525" y="5324475"/>
            <a:ext cx="3086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스택 초기 WER-DER 측정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3076575" y="5324475"/>
            <a:ext cx="24003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시간-정확도 심층 비교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046690" y="2743200"/>
            <a:ext cx="339462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9E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Go/No-go 지표 (Quantitative Metrics)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8048030" y="3952875"/>
            <a:ext cx="336321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9E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Go/No-go 지표 (Qualitative Metrics)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8194774" y="4981575"/>
            <a:ext cx="30698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9E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기준 요약 (Decision Summary)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9262467" y="2990850"/>
            <a:ext cx="9533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WER 15% 이하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262467" y="3219450"/>
            <a:ext cx="9533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DER 20% 이하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665369" y="3448050"/>
            <a:ext cx="2147888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종단 처리 시간 실시간 대비 2배 이내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8330059" y="4238625"/>
            <a:ext cx="28183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 회의록 유용성 평가 4점 이상 (5점 척도)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330059" y="4467225"/>
            <a:ext cx="2818358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1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페쇄망 운영 가능 확인 (페쇄망 전용 오퍼링 필수)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5404842" y="4886325"/>
            <a:ext cx="179159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회의의 즉시 및 유용성 평가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8001000" y="5286375"/>
            <a:ext cx="4191000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지표 모두 충족 시 도입 권고 / 미충족 시 오폰소스 기존선 유지 결정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761" y="3552379"/>
            <a:ext cx="524173" cy="3429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2382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리더를 위한 전략적 권고 및 최종 제언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11839575" cy="38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17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검토 기반의 실행 가능한 온프레미스 스택 도입 로드맵 및 최종 제언</a:t>
            </a:r>
            <a:endParaRPr lang="en-US" sz="2025" dirty="0"/>
          </a:p>
        </p:txBody>
      </p:sp>
      <p:sp>
        <p:nvSpPr>
          <p:cNvPr id="7" name="Text 2"/>
          <p:cNvSpPr/>
          <p:nvPr/>
        </p:nvSpPr>
        <p:spPr>
          <a:xfrm>
            <a:off x="1924943" y="1628775"/>
            <a:ext cx="291271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7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스택 (Minutes Stack)</a:t>
            </a:r>
            <a:endParaRPr lang="en-US" sz="1575" dirty="0"/>
          </a:p>
        </p:txBody>
      </p:sp>
      <p:sp>
        <p:nvSpPr>
          <p:cNvPr id="8" name="Text 3"/>
          <p:cNvSpPr/>
          <p:nvPr/>
        </p:nvSpPr>
        <p:spPr>
          <a:xfrm>
            <a:off x="2320230" y="3067050"/>
            <a:ext cx="217929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UX (Speech UX)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204746" y="1628775"/>
            <a:ext cx="159246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7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(Security)</a:t>
            </a:r>
            <a:endParaRPr lang="en-US" sz="1575" dirty="0"/>
          </a:p>
        </p:txBody>
      </p:sp>
      <p:sp>
        <p:nvSpPr>
          <p:cNvPr id="10" name="Text 5"/>
          <p:cNvSpPr/>
          <p:nvPr/>
        </p:nvSpPr>
        <p:spPr>
          <a:xfrm>
            <a:off x="7998023" y="3067050"/>
            <a:ext cx="194875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(Roadmap)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989237" y="4495800"/>
            <a:ext cx="275555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(Enterprise)</a:t>
            </a:r>
            <a:endParaRPr lang="en-US" sz="1725" dirty="0"/>
          </a:p>
        </p:txBody>
      </p:sp>
      <p:sp>
        <p:nvSpPr>
          <p:cNvPr id="12" name="Text 7"/>
          <p:cNvSpPr/>
          <p:nvPr/>
        </p:nvSpPr>
        <p:spPr>
          <a:xfrm>
            <a:off x="7742337" y="4495800"/>
            <a:ext cx="233645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포지셔닝 (Positioning)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43830" y="2057400"/>
            <a:ext cx="5532090" cy="810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조합 스택 우선 채택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 + pyannote + llama.cpp를 베이스라인으로 설정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최적화된 GPU 추론 필요 (Quantization)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329809" y="2057400"/>
            <a:ext cx="5123408" cy="810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페쇄망 환경: Call-home 조건 반드시 사전 검증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Air-gap 운영 전 계약·기술 조건 확인 필수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보안 위험 감지 오프라인 활성화 기능 요구 확인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81968" y="3486150"/>
            <a:ext cx="4798665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인터페이스 목적: Picovoice 적극 활용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저지연·크로스플랫폼 강점, 로컬 UX 계층에 최적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607969" y="3486150"/>
            <a:ext cx="4452938" cy="810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PoC로 최적 아키텍처 확정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WER·DER·운영복잡도 기준으로 스택 비교 검증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마일스톤 설정 필요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056680" y="4914900"/>
            <a:ext cx="4620518" cy="810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서비스: NVIDIA Riva 플랫폼 검토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인프라 확보 시 엔터프라이즈급 완성도 제공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복잡도 낮음, 하드웨어 비용 발생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5998815" y="4914900"/>
            <a:ext cx="5699671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Picovoice 포지션: 보호 컴포넌트로 하이브리드 활용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Orca·Falcon 등 단위 컴포넌트를 선택적으로 통합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714375" y="5972175"/>
            <a:ext cx="6160740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로컬 UX는 Picovoice 적극 활용, 회의록은 Whisper Stack 우선 검토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폐쇄망 환경의 Call-home 위험 사전 제거 필수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86550" y="5972175"/>
            <a:ext cx="5081588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NVIDIA Riva는 GPU 인프라 확보 시 강력한 대안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90일 PoC 로 운영복잡도 및 WER 검증 후 아키텍처 확정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04775" y="6467475"/>
            <a:ext cx="1403896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2026-04-11T14:27:35Z</dcterms:created>
  <dcterms:modified xsi:type="dcterms:W3CDTF">2026-04-11T14:27:35Z</dcterms:modified>
</cp:coreProperties>
</file>