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26"/>
  </p:notesMasterIdLst>
  <p:handoutMasterIdLst>
    <p:handoutMasterId r:id="rId2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B6E6CF6-219A-C544-BCCD-82C9D3FECAC0}">
          <p14:sldIdLst>
            <p14:sldId id="302"/>
            <p14:sldId id="314"/>
            <p14:sldId id="315"/>
            <p14:sldId id="316"/>
            <p14:sldId id="317"/>
            <p14:sldId id="336"/>
            <p14:sldId id="318"/>
            <p14:sldId id="319"/>
            <p14:sldId id="320"/>
            <p14:sldId id="337"/>
            <p14:sldId id="322"/>
            <p14:sldId id="323"/>
            <p14:sldId id="324"/>
            <p14:sldId id="335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480" userDrawn="1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1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378" userDrawn="1">
          <p15:clr>
            <a:srgbClr val="A4A3A4"/>
          </p15:clr>
        </p15:guide>
        <p15:guide id="8" pos="937" userDrawn="1">
          <p15:clr>
            <a:srgbClr val="A4A3A4"/>
          </p15:clr>
        </p15:guide>
        <p15:guide id="9" pos="8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AE54"/>
    <a:srgbClr val="2D75B6"/>
    <a:srgbClr val="3A3838"/>
    <a:srgbClr val="D50100"/>
    <a:srgbClr val="FFC9A9"/>
    <a:srgbClr val="F2F2F2"/>
    <a:srgbClr val="DAE4F3"/>
    <a:srgbClr val="DFECF8"/>
    <a:srgbClr val="BE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7" autoAdjust="0"/>
    <p:restoredTop sz="93495" autoAdjust="0"/>
  </p:normalViewPr>
  <p:slideViewPr>
    <p:cSldViewPr showGuides="1">
      <p:cViewPr varScale="1">
        <p:scale>
          <a:sx n="70" d="100"/>
          <a:sy n="70" d="100"/>
        </p:scale>
        <p:origin x="90" y="690"/>
      </p:cViewPr>
      <p:guideLst>
        <p:guide orient="horz" pos="2160"/>
        <p:guide orient="horz" pos="1480"/>
        <p:guide orient="horz" pos="1616"/>
        <p:guide orient="horz" pos="391"/>
        <p:guide pos="3840"/>
        <p:guide pos="3386"/>
        <p:guide pos="7378"/>
        <p:guide pos="937"/>
        <p:guide pos="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275" y="5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6C835-E120-4134-B60F-ABD596A38320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582BD-E476-477F-BF5D-26D734E869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409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743F4-7298-4609-A154-E3A1492A11EA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B1E52-4DF5-4A40-846E-640CADAC5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4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FC250768-0316-FBD4-0AB3-6B98E0838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0866" y="6726506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6C3FF-1BD9-7148-9A8C-6CE9AAE0EA7B}" type="slidenum">
              <a:t>‹#›</a:t>
            </a:fld>
            <a:endParaRPr kumimoji="1" lang="ko-KR" altLang="en-US" dirty="0"/>
          </a:p>
        </p:txBody>
      </p:sp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424465CC-7EAD-6117-D1DA-14ADDBA5C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9536" y="5804733"/>
            <a:ext cx="9129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ko-KR" altLang="en-US" dirty="0" err="1"/>
              <a:t>조직명</a:t>
            </a:r>
            <a:r>
              <a:rPr lang="ko-KR" altLang="en-US" dirty="0"/>
              <a:t> </a:t>
            </a:r>
            <a:r>
              <a:rPr lang="en-US" altLang="ko-KR" dirty="0"/>
              <a:t>| </a:t>
            </a:r>
            <a:fld id="{BDDD7157-93B2-3042-A820-98B45A969530}" type="datetimeFigureOut">
              <a:rPr lang="ko-KR" altLang="en-US" smtClean="0"/>
              <a:pPr/>
              <a:t>2026-04-11</a:t>
            </a:fld>
            <a:endParaRPr kumimoji="1" lang="ko-KR" altLang="en-US" dirty="0"/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92496D52-E83C-23DD-6336-B3EF82B48353}"/>
              </a:ext>
            </a:extLst>
          </p:cNvPr>
          <p:cNvSpPr txBox="1">
            <a:spLocks/>
          </p:cNvSpPr>
          <p:nvPr userDrawn="1"/>
        </p:nvSpPr>
        <p:spPr>
          <a:xfrm>
            <a:off x="10550866" y="6726506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6C3FF-1BD9-7148-9A8C-6CE9AAE0EA7B}" type="slidenum">
              <a:rPr lang="en-US" altLang="ko-KR" smtClean="0"/>
              <a:pPr/>
              <a:t>‹#›</a:t>
            </a:fld>
            <a:endParaRPr kumimoji="1"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FB7D5D-1A50-12C9-FD22-C59B73B69F1D}"/>
              </a:ext>
            </a:extLst>
          </p:cNvPr>
          <p:cNvSpPr/>
          <p:nvPr userDrawn="1"/>
        </p:nvSpPr>
        <p:spPr>
          <a:xfrm>
            <a:off x="156673" y="136520"/>
            <a:ext cx="11878655" cy="657424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>
              <a:solidFill>
                <a:prstClr val="white"/>
              </a:solidFill>
            </a:endParaRPr>
          </a:p>
        </p:txBody>
      </p:sp>
      <p:sp>
        <p:nvSpPr>
          <p:cNvPr id="23" name="제목 개체 틀 1">
            <a:extLst>
              <a:ext uri="{FF2B5EF4-FFF2-40B4-BE49-F238E27FC236}">
                <a16:creationId xmlns:a16="http://schemas.microsoft.com/office/drawing/2014/main" id="{A26EA869-B376-9C77-1D6B-C4ED31186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6267" y="13763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kumimoji="1" lang="ko-KR" altLang="en-US" dirty="0"/>
              <a:t>제목 </a:t>
            </a:r>
            <a:r>
              <a:rPr kumimoji="1" lang="en-US" altLang="ko-KR" dirty="0"/>
              <a:t>/ Title</a:t>
            </a:r>
            <a:endParaRPr kumimoji="1" lang="ko-KR" altLang="en-US" dirty="0"/>
          </a:p>
        </p:txBody>
      </p: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BDE42DD-09D6-46FA-5B90-9884671CAA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9662" y="2884488"/>
            <a:ext cx="9739313" cy="2128687"/>
          </a:xfrm>
          <a:prstGeom prst="rect">
            <a:avLst/>
          </a:prstGeom>
        </p:spPr>
        <p:txBody>
          <a:bodyPr/>
          <a:lstStyle>
            <a:lvl1pPr>
              <a:buNone/>
              <a:defRPr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, </a:t>
            </a:r>
            <a:r>
              <a:rPr lang="ko-KR" altLang="en-US" dirty="0"/>
              <a:t>목차 </a:t>
            </a:r>
            <a:r>
              <a:rPr lang="en-US" altLang="ko-KR" dirty="0"/>
              <a:t>/ Subtitle, Agenda</a:t>
            </a:r>
            <a:endParaRPr lang="ko-KR" altLang="en-US" dirty="0"/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0496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선 연결선 7">
            <a:extLst>
              <a:ext uri="{FF2B5EF4-FFF2-40B4-BE49-F238E27FC236}">
                <a16:creationId xmlns:a16="http://schemas.microsoft.com/office/drawing/2014/main" id="{36CFBAE4-56F1-877E-8A7F-43591BE7C874}"/>
              </a:ext>
            </a:extLst>
          </p:cNvPr>
          <p:cNvSpPr/>
          <p:nvPr userDrawn="1"/>
        </p:nvSpPr>
        <p:spPr>
          <a:xfrm>
            <a:off x="217592" y="611635"/>
            <a:ext cx="11756816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" name="제목 10">
            <a:extLst>
              <a:ext uri="{FF2B5EF4-FFF2-40B4-BE49-F238E27FC236}">
                <a16:creationId xmlns:a16="http://schemas.microsoft.com/office/drawing/2014/main" id="{EEC9474F-4624-B4C5-C07A-B2A8559B9226}"/>
              </a:ext>
            </a:extLst>
          </p:cNvPr>
          <p:cNvSpPr txBox="1">
            <a:spLocks/>
          </p:cNvSpPr>
          <p:nvPr userDrawn="1"/>
        </p:nvSpPr>
        <p:spPr>
          <a:xfrm>
            <a:off x="196734" y="146400"/>
            <a:ext cx="8543925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b">
            <a:sp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800" b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2" name="텍스트 개체 틀 4">
            <a:extLst>
              <a:ext uri="{FF2B5EF4-FFF2-40B4-BE49-F238E27FC236}">
                <a16:creationId xmlns:a16="http://schemas.microsoft.com/office/drawing/2014/main" id="{A8919840-7AF8-E438-C907-0967EF6BB680}"/>
              </a:ext>
            </a:extLst>
          </p:cNvPr>
          <p:cNvSpPr txBox="1">
            <a:spLocks/>
          </p:cNvSpPr>
          <p:nvPr userDrawn="1"/>
        </p:nvSpPr>
        <p:spPr>
          <a:xfrm>
            <a:off x="341542" y="621591"/>
            <a:ext cx="11443090" cy="35913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en-US" altLang="ko-KR" sz="1600" b="1" kern="1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b="0" dirty="0">
              <a:ea typeface="LG스마트체2.0 Regular" panose="020B0600000101010101"/>
            </a:endParaRPr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E17E102D-43D7-31D3-462D-36D556711E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542" y="664938"/>
            <a:ext cx="9491674" cy="3257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en-US" altLang="ko-KR" sz="1400" baseline="0" dirty="0" smtClean="0">
                <a:latin typeface="Arial Narrow" panose="020B0606020202030204" pitchFamily="34" charset="0"/>
                <a:ea typeface="LG스마트체2.0 Regular" panose="020B0600000101010101"/>
                <a:cs typeface="LG스마트체2.0 Regular" panose="020B0600000101010101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 dirty="0"/>
              <a:t>헤드라인</a:t>
            </a:r>
            <a:endParaRPr lang="en-US" altLang="ko-KR" dirty="0"/>
          </a:p>
        </p:txBody>
      </p:sp>
      <p:sp>
        <p:nvSpPr>
          <p:cNvPr id="22" name="제목 10">
            <a:extLst>
              <a:ext uri="{FF2B5EF4-FFF2-40B4-BE49-F238E27FC236}">
                <a16:creationId xmlns:a16="http://schemas.microsoft.com/office/drawing/2014/main" id="{035B370F-B3CC-C6BA-1190-92DE2361FC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92" y="233905"/>
            <a:ext cx="8523067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b">
            <a:spAutoFit/>
          </a:bodyPr>
          <a:lstStyle>
            <a:lvl1pPr>
              <a:defRPr lang="ko-KR" altLang="en-US" sz="1800" b="1" baseline="0" dirty="0"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페이지 제목 </a:t>
            </a:r>
            <a:r>
              <a:rPr lang="en-US" altLang="ko-KR" dirty="0"/>
              <a:t>/ Page title</a:t>
            </a:r>
            <a:endParaRPr lang="ko-KR" altLang="en-US" dirty="0"/>
          </a:p>
        </p:txBody>
      </p:sp>
      <p:sp>
        <p:nvSpPr>
          <p:cNvPr id="26" name="슬라이드 번호 개체 틀 5">
            <a:extLst>
              <a:ext uri="{FF2B5EF4-FFF2-40B4-BE49-F238E27FC236}">
                <a16:creationId xmlns:a16="http://schemas.microsoft.com/office/drawing/2014/main" id="{4FB59D8F-ABD3-7AE9-CE8D-DD49A6D3F424}"/>
              </a:ext>
            </a:extLst>
          </p:cNvPr>
          <p:cNvSpPr txBox="1">
            <a:spLocks/>
          </p:cNvSpPr>
          <p:nvPr userDrawn="1"/>
        </p:nvSpPr>
        <p:spPr>
          <a:xfrm>
            <a:off x="10550866" y="6669360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6C3FF-1BD9-7148-9A8C-6CE9AAE0EA7B}" type="slidenum">
              <a:rPr lang="en-US" altLang="ko-KR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171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선 연결선 7">
            <a:extLst>
              <a:ext uri="{FF2B5EF4-FFF2-40B4-BE49-F238E27FC236}">
                <a16:creationId xmlns:a16="http://schemas.microsoft.com/office/drawing/2014/main" id="{36CFBAE4-56F1-877E-8A7F-43591BE7C874}"/>
              </a:ext>
            </a:extLst>
          </p:cNvPr>
          <p:cNvSpPr/>
          <p:nvPr userDrawn="1"/>
        </p:nvSpPr>
        <p:spPr>
          <a:xfrm>
            <a:off x="217592" y="611635"/>
            <a:ext cx="11756816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" name="텍스트 개체 틀 4">
            <a:extLst>
              <a:ext uri="{FF2B5EF4-FFF2-40B4-BE49-F238E27FC236}">
                <a16:creationId xmlns:a16="http://schemas.microsoft.com/office/drawing/2014/main" id="{A8919840-7AF8-E438-C907-0967EF6BB680}"/>
              </a:ext>
            </a:extLst>
          </p:cNvPr>
          <p:cNvSpPr txBox="1">
            <a:spLocks/>
          </p:cNvSpPr>
          <p:nvPr userDrawn="1"/>
        </p:nvSpPr>
        <p:spPr>
          <a:xfrm>
            <a:off x="341542" y="621591"/>
            <a:ext cx="11443090" cy="35913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en-US" altLang="ko-KR" sz="1600" b="1" kern="1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b="0" dirty="0">
              <a:ea typeface="LG스마트체2.0 Regular" panose="020B0600000101010101"/>
            </a:endParaRPr>
          </a:p>
        </p:txBody>
      </p:sp>
      <p:sp>
        <p:nvSpPr>
          <p:cNvPr id="26" name="슬라이드 번호 개체 틀 5">
            <a:extLst>
              <a:ext uri="{FF2B5EF4-FFF2-40B4-BE49-F238E27FC236}">
                <a16:creationId xmlns:a16="http://schemas.microsoft.com/office/drawing/2014/main" id="{4FB59D8F-ABD3-7AE9-CE8D-DD49A6D3F424}"/>
              </a:ext>
            </a:extLst>
          </p:cNvPr>
          <p:cNvSpPr txBox="1">
            <a:spLocks/>
          </p:cNvSpPr>
          <p:nvPr userDrawn="1"/>
        </p:nvSpPr>
        <p:spPr>
          <a:xfrm>
            <a:off x="10550866" y="6669360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6C3FF-1BD9-7148-9A8C-6CE9AAE0EA7B}" type="slidenum">
              <a:rPr lang="en-US" altLang="ko-KR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44516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>
            <a:extLst>
              <a:ext uri="{FF2B5EF4-FFF2-40B4-BE49-F238E27FC236}">
                <a16:creationId xmlns:a16="http://schemas.microsoft.com/office/drawing/2014/main" id="{4ED57019-B443-D147-BB14-B2BCA559265B}"/>
              </a:ext>
            </a:extLst>
          </p:cNvPr>
          <p:cNvSpPr txBox="1"/>
          <p:nvPr userDrawn="1"/>
        </p:nvSpPr>
        <p:spPr>
          <a:xfrm>
            <a:off x="5588493" y="6710763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lang="en-US"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LG Smart_H2.0 B"/>
              </a:rPr>
              <a:t>PUBLIC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CB946EA-326D-49C6-F055-E288E27C445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6423475"/>
            <a:ext cx="1192373" cy="24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4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65" r:id="rId2"/>
    <p:sldLayoutId id="2147483684" r:id="rId3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LG스마트체2.0 Regular" panose="020B0600000101010101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1pPr>
      <a:lvl2pPr marL="685835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3pPr>
      <a:lvl4pPr marL="160028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4pPr>
      <a:lvl5pPr marL="205750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Malgun Gothic"/>
              </a:rPr>
              <a:t>AI TECH REVIEW | 2026-04-28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98755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D2321"/>
                </a:solidFill>
                <a:latin typeface="Malgun Gothic"/>
              </a:rPr>
              <a:t>AI 협업은 첫 산출물을 늦출수록 넓어진다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77440"/>
            <a:ext cx="8961120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543D"/>
                </a:solidFill>
                <a:latin typeface="Malgun Gothic"/>
              </a:rPr>
              <a:t>Exploration vs. Fixation 논문 기반 실무 리뷰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154680"/>
            <a:ext cx="886968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1D2321"/>
                </a:solidFill>
                <a:latin typeface="Malgun Gothic"/>
              </a:rPr>
              <a:t>- Wen et al., arXiv:2512.18388v2, 2026-04-06</a:t>
            </a:r>
          </a:p>
          <a:p>
            <a:pPr algn="l">
              <a:spcAft>
                <a:spcPts val="0"/>
              </a:spcAft>
            </a:pPr>
            <a:r>
              <a:rPr sz="1230" b="0">
                <a:solidFill>
                  <a:srgbClr val="1D2321"/>
                </a:solidFill>
                <a:latin typeface="Malgun Gothic"/>
              </a:rPr>
              <a:t>- 리뷰 초점: 논문 인사이트, AI 사용자의 작업 순서, 조직 단위 다양성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572000"/>
            <a:ext cx="10789920" cy="713232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45736"/>
            <a:ext cx="10149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Malgun Gothic"/>
              </a:rPr>
              <a:t>작업 규칙: 먼저 탐색하고, 선택 기준을 세운 뒤 실행한다.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Sources: Wen et al. 2026; AI Matters 2026-04-20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읽어야 하는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문제는 모델 성능보다 사용 흐름에 가깝다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25880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325880"/>
            <a:ext cx="50292" cy="120700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빠른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64792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챗봇은 요청 직후 완성품처럼 보이는 산출물을 만든다.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325880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325880"/>
            <a:ext cx="50292" cy="1207008"/>
          </a:xfrm>
          <a:prstGeom prst="rect">
            <a:avLst/>
          </a:prstGeom>
          <a:solidFill>
            <a:srgbClr val="2563EB"/>
          </a:solidFill>
          <a:ln w="825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숨은 고정점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764792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첫 산출물은 이후 판단과 수정의 기준점으로 작동한다.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807208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807208"/>
            <a:ext cx="50292" cy="1207008"/>
          </a:xfrm>
          <a:prstGeom prst="rect">
            <a:avLst/>
          </a:prstGeom>
          <a:solidFill>
            <a:srgbClr val="C2410C"/>
          </a:soli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좁은 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246120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사용자는 새 방향을 찾기보다 기존 결과를 조금씩 고친다.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2807208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2807208"/>
            <a:ext cx="50292" cy="1207008"/>
          </a:xfrm>
          <a:prstGeom prst="rect">
            <a:avLst/>
          </a:prstGeom>
          <a:solidFill>
            <a:srgbClr val="B91C1C"/>
          </a:soli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실무 위험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246120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보고서, 슬라이드, 코드, 디자인 모두 초기 방향에 묶일 수 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Primary source: arXiv:2512.18388v2, introduction and problem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논문이 잡은 세 가지 병목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창의 작업에서 바로 실행하는 인터페이스가 만드는 손실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25880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325880"/>
            <a:ext cx="50292" cy="1325880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Premature 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64792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탐색 전에 하나의 방향으로 빨리 수렴한다.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325880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325880"/>
            <a:ext cx="50292" cy="1325880"/>
          </a:xfrm>
          <a:prstGeom prst="rect">
            <a:avLst/>
          </a:prstGeom>
          <a:solidFill>
            <a:srgbClr val="2563EB"/>
          </a:solidFill>
          <a:ln w="825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Design fixation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764792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초기 예시나 결과물의 특징에 묶여 대안 폭이 줄어든다.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807208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807208"/>
            <a:ext cx="50292" cy="1325880"/>
          </a:xfrm>
          <a:prstGeom prst="rect">
            <a:avLst/>
          </a:prstGeom>
          <a:solidFill>
            <a:srgbClr val="C2410C"/>
          </a:soli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Gulf of envisioning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246120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원하는 느낌은 있지만 모델이 실행할 지시로 바꾸기 어렵다.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074920"/>
            <a:ext cx="2578608" cy="502920"/>
          </a:xfrm>
          <a:prstGeom prst="rect">
            <a:avLst/>
          </a:prstGeom>
          <a:solidFill>
            <a:srgbClr val="E5F4F1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5230368"/>
            <a:ext cx="24231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F543D"/>
                </a:solidFill>
                <a:latin typeface="Malgun Gothic"/>
              </a:rPr>
              <a:t>Prompt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91256" y="5312664"/>
            <a:ext cx="182880" cy="32004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55848" y="5074920"/>
            <a:ext cx="2578608" cy="502920"/>
          </a:xfrm>
          <a:prstGeom prst="rect">
            <a:avLst/>
          </a:prstGeom>
          <a:solidFill>
            <a:srgbClr val="F7FAF9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5230368"/>
            <a:ext cx="24231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F543D"/>
                </a:solidFill>
                <a:latin typeface="Malgun Gothic"/>
              </a:rPr>
              <a:t>First artifact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88736" y="5312664"/>
            <a:ext cx="182880" cy="32004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53328" y="5074920"/>
            <a:ext cx="2578608" cy="502920"/>
          </a:xfrm>
          <a:prstGeom prst="rect">
            <a:avLst/>
          </a:prstGeom>
          <a:solidFill>
            <a:srgbClr val="E5F4F1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5230368"/>
            <a:ext cx="24231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F543D"/>
                </a:solidFill>
                <a:latin typeface="Malgun Gothic"/>
              </a:rPr>
              <a:t>Local edits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86216" y="5312664"/>
            <a:ext cx="182880" cy="32004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50808" y="5074920"/>
            <a:ext cx="2578608" cy="502920"/>
          </a:xfrm>
          <a:prstGeom prst="rect">
            <a:avLst/>
          </a:prstGeom>
          <a:solidFill>
            <a:srgbClr val="F7FAF9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5230368"/>
            <a:ext cx="24231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F543D"/>
                </a:solidFill>
                <a:latin typeface="Malgun Gothic"/>
              </a:rPr>
              <a:t>Good enough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Sources: Wen et al. 2026; Jansson and Smith 1991 cited in 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HAICo의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탐색판과 실행판을 분리하고, 수정 의도를 실행 전에 보이게 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25880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325880"/>
            <a:ext cx="50292" cy="1325880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Divergent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64792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이미지 생성 전에 idea grid를 만든다. 원격 개념, 역사, 신화, 인터넷 문화 같은 영역을 끌어온다.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325880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325880"/>
            <a:ext cx="50292" cy="1325880"/>
          </a:xfrm>
          <a:prstGeom prst="rect">
            <a:avLst/>
          </a:prstGeom>
          <a:solidFill>
            <a:srgbClr val="2563EB"/>
          </a:solidFill>
          <a:ln w="825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Convergent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764792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선택한 방향을 semantic parameter와 option으로 분해한다. 사용자는 실행 전 해석을 본다.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807208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807208"/>
            <a:ext cx="50292" cy="1325880"/>
          </a:xfrm>
          <a:prstGeom prst="rect">
            <a:avLst/>
          </a:prstGeom>
          <a:solidFill>
            <a:srgbClr val="C2410C"/>
          </a:soli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Non-linear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246120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탭과 라이브러리로 여러 갈래를 보존한다. 사용자는 돌아가고 비교하고 다시 조합한다.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Primary source: arXiv:2512.18388v2, system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실험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HAICo의 강점은 novelty와 diversity에 집중됐다. Fluency와 usefulness는 유의차가 없었다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2743200" cy="72390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08760"/>
            <a:ext cx="2596896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0F766E"/>
                </a:solidFill>
                <a:latin typeface="Malgun Gothic"/>
              </a:rPr>
              <a:t>Study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89888"/>
            <a:ext cx="5376672" cy="72390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508760"/>
            <a:ext cx="5230368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1D2321"/>
                </a:solidFill>
                <a:latin typeface="Malgun Gothic"/>
              </a:rPr>
              <a:t>within-subjects poster task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14232" y="1389888"/>
            <a:ext cx="2852928" cy="72390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87384" y="1508760"/>
            <a:ext cx="2706624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1D2321"/>
                </a:solidFill>
                <a:latin typeface="Malgun Gothic"/>
              </a:rPr>
              <a:t>N = 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113788"/>
            <a:ext cx="2743200" cy="72390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232660"/>
            <a:ext cx="2596896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algun Gothic"/>
              </a:rPr>
              <a:t>CSI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113788"/>
            <a:ext cx="5376672" cy="72390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2232660"/>
            <a:ext cx="5230368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HAICo higher on all 5 dimensions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14232" y="2113788"/>
            <a:ext cx="2852928" cy="72390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87384" y="2232660"/>
            <a:ext cx="2706624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all p &lt; 0.002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837688"/>
            <a:ext cx="2743200" cy="72390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956560"/>
            <a:ext cx="2596896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algun Gothic"/>
              </a:rPr>
              <a:t>UMUX-Lite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837688"/>
            <a:ext cx="5376672" cy="72390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2956560"/>
            <a:ext cx="5230368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81.25 vs 64.24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14232" y="2837688"/>
            <a:ext cx="2852928" cy="72390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87384" y="2956560"/>
            <a:ext cx="2706624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p &lt; 0.001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561588"/>
            <a:ext cx="2743200" cy="72390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680460"/>
            <a:ext cx="2596896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algun Gothic"/>
              </a:rPr>
              <a:t>Novelty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561588"/>
            <a:ext cx="5376672" cy="72390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3680460"/>
            <a:ext cx="5230368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3.22 vs 2.41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14232" y="3561588"/>
            <a:ext cx="2852928" cy="72390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87384" y="3680460"/>
            <a:ext cx="2706624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p &lt; 0.001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285488"/>
            <a:ext cx="2743200" cy="72390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404360"/>
            <a:ext cx="2596896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algun Gothic"/>
              </a:rPr>
              <a:t>Diversity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4285488"/>
            <a:ext cx="5376672" cy="72390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10712" y="4404360"/>
            <a:ext cx="5230368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0.48 vs 0.36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14232" y="4285488"/>
            <a:ext cx="2852928" cy="72390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87384" y="4404360"/>
            <a:ext cx="2706624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p = 0.001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009388"/>
            <a:ext cx="2743200" cy="72390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5128260"/>
            <a:ext cx="2596896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algun Gothic"/>
              </a:rPr>
              <a:t>Fluency / usefulness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37560" y="5009388"/>
            <a:ext cx="5376672" cy="72390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0712" y="5128260"/>
            <a:ext cx="5230368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no significant difference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14232" y="5009388"/>
            <a:ext cx="2852928" cy="72390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87384" y="5128260"/>
            <a:ext cx="2706624" cy="5958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caution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Primary source: arXiv:2512.18388v2, Fig. 5 and section 6.1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사용자는 무엇을 배우는가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도구 조작 학습에서 과제와 작업 순서 학습으로 이동한다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25880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325880"/>
            <a:ext cx="50292" cy="1325880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ChatGPT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64792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System behaviors, prompting strategies가 많이 보고됐다. 도구를 어떻게 다뤄야 하는지에 주의가 간다.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325880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325880"/>
            <a:ext cx="50292" cy="1325880"/>
          </a:xfrm>
          <a:prstGeom prst="rect">
            <a:avLst/>
          </a:prstGeom>
          <a:solidFill>
            <a:srgbClr val="2563EB"/>
          </a:solidFill>
          <a:ln w="825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HAICo 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764792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Task-specific knowledge, new directions, workflow learning이 더 많이 보고됐다.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807208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807208"/>
            <a:ext cx="50292" cy="1325880"/>
          </a:xfrm>
          <a:prstGeom prst="rect">
            <a:avLst/>
          </a:prstGeom>
          <a:solidFill>
            <a:srgbClr val="C2410C"/>
          </a:soli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Measured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246120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Self-reported learning: HAICo 5.29, ChatGPT 3.12, p &lt; 0.001.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Primary source: arXiv:2512.18388v2, Fig. 9 and section 7.4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외부 근거가 보강하는 지점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개인 생산성과 집단 다양성을 따로 관리해야 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25880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325880"/>
            <a:ext cx="50292" cy="1325880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Design fixation with GenAI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64792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Wadinambiarachchi et al. 2024: AI 이미지 지원은 초기 예시 고착, 아이디어 수 감소, 다양성/독창성 저하와 연결됐다.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325880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325880"/>
            <a:ext cx="50292" cy="1325880"/>
          </a:xfrm>
          <a:prstGeom prst="rect">
            <a:avLst/>
          </a:prstGeom>
          <a:solidFill>
            <a:srgbClr val="2563EB"/>
          </a:solidFill>
          <a:ln w="825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Individual gain, collective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764792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Doshi and Hauser 2024: GenAI 아이디어는 개인 글쓰기 평가를 높였지만 이야기 간 유사성도 높였다.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807208"/>
            <a:ext cx="5394960" cy="13258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807208"/>
            <a:ext cx="50292" cy="1325880"/>
          </a:xfrm>
          <a:prstGeom prst="rect">
            <a:avLst/>
          </a:prstGeom>
          <a:solidFill>
            <a:srgbClr val="C2410C"/>
          </a:soli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Homogenized ideation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246120"/>
            <a:ext cx="5138928" cy="8229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Anderson et al. 2024: ChatGPT 사용자는 상세 아이디어를 더 만들었지만 사용자 간 아이디어가 덜 구별됐다.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Sources: arXiv:2403.11164; arXiv:2312.00506; arXiv:2402.01536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AI 사용 워크플로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최종 산출물 전에 탐색과 선택을 명시한다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709160"/>
            <a:ext cx="1679448" cy="502920"/>
          </a:xfrm>
          <a:prstGeom prst="rect">
            <a:avLst/>
          </a:prstGeom>
          <a:solidFill>
            <a:srgbClr val="E5F4F1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4864608"/>
            <a:ext cx="15240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F543D"/>
                </a:solidFill>
                <a:latin typeface="Malgun Gothic"/>
              </a:rPr>
              <a:t>Problem frame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92095" y="4946904"/>
            <a:ext cx="182880" cy="32004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6688" y="4709160"/>
            <a:ext cx="1679448" cy="502920"/>
          </a:xfrm>
          <a:prstGeom prst="rect">
            <a:avLst/>
          </a:prstGeom>
          <a:solidFill>
            <a:srgbClr val="F7FAF9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9840" y="4864608"/>
            <a:ext cx="15240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F543D"/>
                </a:solidFill>
                <a:latin typeface="Malgun Gothic"/>
              </a:rPr>
              <a:t>Divergent cards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90416" y="4946904"/>
            <a:ext cx="182880" cy="32004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5008" y="4709160"/>
            <a:ext cx="1679448" cy="502920"/>
          </a:xfrm>
          <a:prstGeom prst="rect">
            <a:avLst/>
          </a:prstGeom>
          <a:solidFill>
            <a:srgbClr val="E5F4F1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8160" y="4864608"/>
            <a:ext cx="15240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F543D"/>
                </a:solidFill>
                <a:latin typeface="Malgun Gothic"/>
              </a:rPr>
              <a:t>Selection criteria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88736" y="4946904"/>
            <a:ext cx="182880" cy="32004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53328" y="4709160"/>
            <a:ext cx="1679448" cy="502920"/>
          </a:xfrm>
          <a:prstGeom prst="rect">
            <a:avLst/>
          </a:prstGeom>
          <a:solidFill>
            <a:srgbClr val="F7FAF9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864608"/>
            <a:ext cx="15240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F543D"/>
                </a:solidFill>
                <a:latin typeface="Malgun Gothic"/>
              </a:rPr>
              <a:t>Semantic parameters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7056" y="4946904"/>
            <a:ext cx="182880" cy="32004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51648" y="4709160"/>
            <a:ext cx="1679448" cy="502920"/>
          </a:xfrm>
          <a:prstGeom prst="rect">
            <a:avLst/>
          </a:prstGeom>
          <a:solidFill>
            <a:srgbClr val="E5F4F1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800" y="4864608"/>
            <a:ext cx="15240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F543D"/>
                </a:solidFill>
                <a:latin typeface="Malgun Gothic"/>
              </a:rPr>
              <a:t>Artifact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85376" y="4946904"/>
            <a:ext cx="182880" cy="32004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9968" y="4709160"/>
            <a:ext cx="1679448" cy="502920"/>
          </a:xfrm>
          <a:prstGeom prst="rect">
            <a:avLst/>
          </a:prstGeom>
          <a:solidFill>
            <a:srgbClr val="F7FAF9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3120" y="4864608"/>
            <a:ext cx="15240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F543D"/>
                </a:solidFill>
                <a:latin typeface="Malgun Gothic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61188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1D2321"/>
                </a:solidFill>
                <a:latin typeface="Malgun Gothic"/>
              </a:rPr>
              <a:t>- 첫 요청은 방향 카드로 시작한다.</a:t>
            </a:r>
          </a:p>
          <a:p>
            <a:pPr algn="l">
              <a:spcAft>
                <a:spcPts val="0"/>
              </a:spcAft>
            </a:pPr>
            <a:r>
              <a:rPr sz="1120" b="0">
                <a:solidFill>
                  <a:srgbClr val="1D2321"/>
                </a:solidFill>
                <a:latin typeface="Malgun Gothic"/>
              </a:rPr>
              <a:t>- 선택 기준을 점수와 위험으로 기록한다.</a:t>
            </a:r>
          </a:p>
          <a:p>
            <a:pPr algn="l">
              <a:spcAft>
                <a:spcPts val="0"/>
              </a:spcAft>
            </a:pPr>
            <a:r>
              <a:rPr sz="1120" b="0">
                <a:solidFill>
                  <a:srgbClr val="1D2321"/>
                </a:solidFill>
                <a:latin typeface="Malgun Gothic"/>
              </a:rPr>
              <a:t>- 수정 의도는 실행 전에 매개변수로 확인한다.</a:t>
            </a:r>
          </a:p>
          <a:p>
            <a:pPr algn="l">
              <a:spcAft>
                <a:spcPts val="0"/>
              </a:spcAft>
            </a:pPr>
            <a:r>
              <a:rPr sz="1120" b="0">
                <a:solidFill>
                  <a:srgbClr val="1D2321"/>
                </a:solidFill>
                <a:latin typeface="Malgun Gothic"/>
              </a:rPr>
              <a:t>- 버린 갈래와 이유를 보관한다.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Derived workflow from Wen et al. 2026 and supporting studies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바로 쓸 수 있는 요청 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프롬프트보다 흐름이 중요하다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25880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325880"/>
            <a:ext cx="50292" cy="120700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Idea card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64792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서로 멀리 떨어진 아이디어 카드 9개를 title, source domain, concept, fit, risk로 작성.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325880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325880"/>
            <a:ext cx="50292" cy="1207008"/>
          </a:xfrm>
          <a:prstGeom prst="rect">
            <a:avLst/>
          </a:prstGeom>
          <a:solidFill>
            <a:srgbClr val="2563EB"/>
          </a:solidFill>
          <a:ln w="825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Selection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764792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novelty, usefulness, feasibility, audience fit, risk로 평가하고 선택 이유를 기록.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807208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807208"/>
            <a:ext cx="50292" cy="1207008"/>
          </a:xfrm>
          <a:prstGeom prst="rect">
            <a:avLst/>
          </a:prstGeom>
          <a:solidFill>
            <a:srgbClr val="C2410C"/>
          </a:soli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Parameter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246120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수정 의도를 semantic parameter, option, expected effect, side effect로 분해.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2807208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2807208"/>
            <a:ext cx="50292" cy="1207008"/>
          </a:xfrm>
          <a:prstGeom prst="rect">
            <a:avLst/>
          </a:prstGeom>
          <a:solidFill>
            <a:srgbClr val="B91C1C"/>
          </a:soli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Team diversity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246120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팀원별 persona, source domain, 반대 가설을 나눠 중복을 줄임.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Prompt patterns adapted from the report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업무별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이미지 생성 연구지만 원리는 다른 작업에도 옮겨볼 수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2743200" cy="8686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08760"/>
            <a:ext cx="2596896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0F766E"/>
                </a:solidFill>
                <a:latin typeface="Malgun Gothic"/>
              </a:rPr>
              <a:t>리서치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89888"/>
            <a:ext cx="5376672" cy="8686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508760"/>
            <a:ext cx="5230368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1D2321"/>
                </a:solidFill>
                <a:latin typeface="Malgun Gothic"/>
              </a:rPr>
              <a:t>요약 요청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14232" y="1389888"/>
            <a:ext cx="2852928" cy="8686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87384" y="1508760"/>
            <a:ext cx="2706624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1D2321"/>
                </a:solidFill>
                <a:latin typeface="Malgun Gothic"/>
              </a:rPr>
              <a:t>claim map, 반례, 후속 연구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58568"/>
            <a:ext cx="2743200" cy="86868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377439"/>
            <a:ext cx="2596896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algun Gothic"/>
              </a:rPr>
              <a:t>슬라이드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258568"/>
            <a:ext cx="5376672" cy="86868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2377439"/>
            <a:ext cx="5230368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10장 생성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14232" y="2258568"/>
            <a:ext cx="2852928" cy="86868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87384" y="2377439"/>
            <a:ext cx="2706624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narrative 후보와 evidence 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127248"/>
            <a:ext cx="2743200" cy="8686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246120"/>
            <a:ext cx="2596896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algun Gothic"/>
              </a:rPr>
              <a:t>제품 기획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127248"/>
            <a:ext cx="5376672" cy="8686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3246120"/>
            <a:ext cx="5230368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기능 아이디어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14232" y="3127248"/>
            <a:ext cx="2852928" cy="8686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87384" y="3246120"/>
            <a:ext cx="2706624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사용자 문제와 실패 시나리오 카드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995927"/>
            <a:ext cx="2743200" cy="86868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4114799"/>
            <a:ext cx="2596896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algun Gothic"/>
              </a:rPr>
              <a:t>코딩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995927"/>
            <a:ext cx="5376672" cy="86868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4114799"/>
            <a:ext cx="5230368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바로 구현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14232" y="3995927"/>
            <a:ext cx="2852928" cy="868680"/>
          </a:xfrm>
          <a:prstGeom prst="rect">
            <a:avLst/>
          </a:prstGeom>
          <a:solidFill>
            <a:srgbClr val="F7FAF9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87384" y="4114799"/>
            <a:ext cx="2706624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아키텍처 대안과 rollback path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864608"/>
            <a:ext cx="2743200" cy="8686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983480"/>
            <a:ext cx="2596896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algun Gothic"/>
              </a:rPr>
              <a:t>회의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4864608"/>
            <a:ext cx="5376672" cy="8686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10712" y="4983480"/>
            <a:ext cx="5230368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회의록 정리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14232" y="4864608"/>
            <a:ext cx="2852928" cy="868680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87384" y="4983480"/>
            <a:ext cx="2706624" cy="7406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D2321"/>
                </a:solidFill>
                <a:latin typeface="Malgun Gothic"/>
              </a:rPr>
              <a:t>결정, 가정, 미결정 분리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Caution: cross-domain application remains an extrapolation from an image-generation study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제한과 남은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강한 결과지만 적용 범위는 좁게 읽어야 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25880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325880"/>
            <a:ext cx="50292" cy="120700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Study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64792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N=24, CS/IT 배경 치우침, 포스터 이미지 과제, 단회성 세션.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325880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325880"/>
            <a:ext cx="50292" cy="1207008"/>
          </a:xfrm>
          <a:prstGeom prst="rect">
            <a:avLst/>
          </a:prstGeom>
          <a:solidFill>
            <a:srgbClr val="2563EB"/>
          </a:solidFill>
          <a:ln w="825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Learning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764792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학습 효과는 자기보고 중심이다. 장기 유지 효과는 아직 확인되지 않았다.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807208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807208"/>
            <a:ext cx="50292" cy="1207008"/>
          </a:xfrm>
          <a:prstGeom prst="rect">
            <a:avLst/>
          </a:prstGeom>
          <a:solidFill>
            <a:srgbClr val="C2410C"/>
          </a:soli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Product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246120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HAICo는 연구 시스템이다. 공개 도구보다 설계 원리를 가져오는 편이 현실적이다.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2807208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2807208"/>
            <a:ext cx="50292" cy="1207008"/>
          </a:xfrm>
          <a:prstGeom prst="rect">
            <a:avLst/>
          </a:prstGeom>
          <a:solidFill>
            <a:srgbClr val="B91C1C"/>
          </a:soli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Adoption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246120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스캐폴딩은 목표가 명확한 작업에서 속도와 주도감을 낮출 수 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Primary source: arXiv:2512.18388v2, limitations and conclusion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92608"/>
            <a:ext cx="8321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2321"/>
                </a:solidFill>
                <a:latin typeface="Malgun Gothic"/>
              </a:rPr>
              <a:t>운영 원칙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722376"/>
            <a:ext cx="8961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AI를 많이 쓰는 팀일수록 결과물 다양성을 설계해야 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292608"/>
            <a:ext cx="658368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325880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325880"/>
            <a:ext cx="50292" cy="1207008"/>
          </a:xfrm>
          <a:prstGeom prst="rect">
            <a:avLst/>
          </a:prstGeom>
          <a:solidFill>
            <a:srgbClr val="0F766E"/>
          </a:solidFill>
          <a:ln w="825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1. Alternatives before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64792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AI가 완성품을 만들기 전에 서로 먼 대안을 먼저 보여주게 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6792" y="1325880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325880"/>
            <a:ext cx="50292" cy="1207008"/>
          </a:xfrm>
          <a:prstGeom prst="rect">
            <a:avLst/>
          </a:prstGeom>
          <a:solidFill>
            <a:srgbClr val="2563EB"/>
          </a:solidFill>
          <a:ln w="825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453895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2. Interpretation before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764792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모호한 수정 요청은 실행 전에 매개변수와 옵션으로 확인한다.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807208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807208"/>
            <a:ext cx="50292" cy="1207008"/>
          </a:xfrm>
          <a:prstGeom prst="rect">
            <a:avLst/>
          </a:prstGeom>
          <a:solidFill>
            <a:srgbClr val="C2410C"/>
          </a:solidFill>
          <a:ln w="825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3. Diversity at team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246120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같은 모델, 같은 프롬프트, 같은 persona가 반복되지 않게 배정한다.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2807208"/>
            <a:ext cx="5394960" cy="1207008"/>
          </a:xfrm>
          <a:prstGeom prst="rect">
            <a:avLst/>
          </a:prstGeom>
          <a:solidFill>
            <a:srgbClr val="FFFFFF"/>
          </a:solidFill>
          <a:ln w="8255">
            <a:solidFill>
              <a:srgbClr val="DBE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2807208"/>
            <a:ext cx="50292" cy="1207008"/>
          </a:xfrm>
          <a:prstGeom prst="rect">
            <a:avLst/>
          </a:prstGeom>
          <a:solidFill>
            <a:srgbClr val="B91C1C"/>
          </a:solidFill>
          <a:ln w="825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2935224"/>
            <a:ext cx="513892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4. Archive rejected branches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246120"/>
            <a:ext cx="5138928" cy="7040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D2321"/>
                </a:solidFill>
                <a:latin typeface="Malgun Gothic"/>
              </a:rPr>
              <a:t>버린 대안과 이유를 남겨 다음 탐색의 출발점으로 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111556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6605B"/>
                </a:solidFill>
                <a:latin typeface="Malgun Gothic"/>
              </a:rPr>
              <a:t>Operating rule for AI_Tech_Review and practical AI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CB28C5-3FBD-074C-8D44-04ACF1675249}">
  <we:reference id="wa104381909" version="3.5.1.0" store="ko-KR" storeType="OMEX"/>
  <we:alternateReferences>
    <we:reference id="wa104381909" version="3.5.1.0" store="WA10438190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10986</TotalTime>
  <Words>364</Words>
  <Application>Microsoft Office PowerPoint</Application>
  <PresentationFormat>와이드스크린</PresentationFormat>
  <Paragraphs>204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DIN Condensed</vt:lpstr>
      <vt:lpstr>LG Smart UI SemiBold</vt:lpstr>
      <vt:lpstr>LG스마트체2.0 Regular</vt:lpstr>
      <vt:lpstr>Pretendard</vt:lpstr>
      <vt:lpstr>Pretendard Medium</vt:lpstr>
      <vt:lpstr>Pretendard SemiBold</vt:lpstr>
      <vt:lpstr>맑은 고딕</vt:lpstr>
      <vt:lpstr>Arial</vt:lpstr>
      <vt:lpstr>Arial Narrow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kw.park</dc:creator>
  <cp:lastModifiedBy>Hyun-Jung Kim</cp:lastModifiedBy>
  <cp:revision>524</cp:revision>
  <cp:lastPrinted>2021-11-18T07:16:15Z</cp:lastPrinted>
  <dcterms:created xsi:type="dcterms:W3CDTF">2021-03-23T11:07:42Z</dcterms:created>
  <dcterms:modified xsi:type="dcterms:W3CDTF">2026-04-10T21:19:24Z</dcterms:modified>
</cp:coreProperties>
</file>