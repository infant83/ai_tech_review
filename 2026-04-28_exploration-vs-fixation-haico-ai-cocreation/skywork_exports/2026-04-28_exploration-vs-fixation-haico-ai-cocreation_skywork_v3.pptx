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pn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png"/><Relationship Id="rId37" Type="http://schemas.openxmlformats.org/officeDocument/2006/relationships/image" Target="../media/image-12-37.png"/><Relationship Id="rId38" Type="http://schemas.openxmlformats.org/officeDocument/2006/relationships/image" Target="../media/image-12-38.png"/><Relationship Id="rId39" Type="http://schemas.openxmlformats.org/officeDocument/2006/relationships/image" Target="../media/image-12-39.png"/><Relationship Id="rId40" Type="http://schemas.openxmlformats.org/officeDocument/2006/relationships/image" Target="../media/image-12-40.png"/><Relationship Id="rId41" Type="http://schemas.openxmlformats.org/officeDocument/2006/relationships/image" Target="../media/image-12-41.png"/><Relationship Id="rId42" Type="http://schemas.openxmlformats.org/officeDocument/2006/relationships/image" Target="../media/image-12-42.png"/><Relationship Id="rId43" Type="http://schemas.openxmlformats.org/officeDocument/2006/relationships/image" Target="../media/image-12-43.png"/><Relationship Id="rId44" Type="http://schemas.openxmlformats.org/officeDocument/2006/relationships/image" Target="../media/image-12-44.png"/><Relationship Id="rId45" Type="http://schemas.openxmlformats.org/officeDocument/2006/relationships/image" Target="../media/image-12-45.png"/><Relationship Id="rId46" Type="http://schemas.openxmlformats.org/officeDocument/2006/relationships/image" Target="../media/image-12-46.png"/><Relationship Id="rId47" Type="http://schemas.openxmlformats.org/officeDocument/2006/relationships/image" Target="../media/image-12-47.png"/><Relationship Id="rId48" Type="http://schemas.openxmlformats.org/officeDocument/2006/relationships/image" Target="../media/image-12-48.png"/><Relationship Id="rId49" Type="http://schemas.openxmlformats.org/officeDocument/2006/relationships/image" Target="../media/image-12-49.png"/><Relationship Id="rId50" Type="http://schemas.openxmlformats.org/officeDocument/2006/relationships/image" Target="../media/image-12-50.png"/><Relationship Id="rId51" Type="http://schemas.openxmlformats.org/officeDocument/2006/relationships/image" Target="../media/image-12-51.png"/><Relationship Id="rId52" Type="http://schemas.openxmlformats.org/officeDocument/2006/relationships/image" Target="../media/image-12-52.png"/><Relationship Id="rId53" Type="http://schemas.openxmlformats.org/officeDocument/2006/relationships/image" Target="../media/image-12-53.png"/><Relationship Id="rId54" Type="http://schemas.openxmlformats.org/officeDocument/2006/relationships/image" Target="../media/image-12-54.png"/><Relationship Id="rId55" Type="http://schemas.openxmlformats.org/officeDocument/2006/relationships/image" Target="../media/image-12-55.png"/><Relationship Id="rId56" Type="http://schemas.openxmlformats.org/officeDocument/2006/relationships/image" Target="../media/image-12-56.png"/><Relationship Id="rId57" Type="http://schemas.openxmlformats.org/officeDocument/2006/relationships/image" Target="../media/image-12-57.png"/><Relationship Id="rId58" Type="http://schemas.openxmlformats.org/officeDocument/2006/relationships/image" Target="../media/image-12-58.png"/><Relationship Id="rId59" Type="http://schemas.openxmlformats.org/officeDocument/2006/relationships/image" Target="../media/image-12-59.png"/><Relationship Id="rId60" Type="http://schemas.openxmlformats.org/officeDocument/2006/relationships/slideLayout" Target="../slideLayouts/slideLayout1.xml"/><Relationship Id="rId6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419100"/>
            <a:ext cx="11144250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941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협업은 첫 산출물을 낼수록 넓어진다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1629221" y="1543050"/>
            <a:ext cx="1246733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개념과 문제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01080" y="4162425"/>
            <a:ext cx="155064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및 결과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81125" y="1990725"/>
            <a:ext cx="5385346" cy="17484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첫 산출물이 이후 판단을 고착시킨다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즉시 실행 인터페이스가 탐색 범위를 좁히는 문제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탐색 구조화가 프롬프트 최적화보다 중요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작업 순서 설계가 결과의 다양성을 결정한다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논문 출처: arXiv:2512.18388v2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Wen et al. | 2026-04-28 내부 기술 리뷰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1381125" y="4610100"/>
            <a:ext cx="5573911" cy="17484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HAI Co: 발산·수렴 모드 분리 시스템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아이디어 카드 탐색 후 산출물 생성 순서 적용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N=24 실험: Novelty 3.22 vs 2.41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HAI Co가 ChatGPT 대비 독창성·다양성 모두 우위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대상: 엔지니어·PM·AI 도구 사용자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의사결정자 포함 실무 적용 가이드 제공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466725" y="6543675"/>
            <a:ext cx="2286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501259"/>
            <a:ext cx="268188" cy="25360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123825"/>
            <a:ext cx="673227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Page title</a:t>
            </a:r>
            <a:endParaRPr lang="en-US" sz="2325" dirty="0"/>
          </a:p>
        </p:txBody>
      </p:sp>
      <p:sp>
        <p:nvSpPr>
          <p:cNvPr id="5" name="Text 1"/>
          <p:cNvSpPr/>
          <p:nvPr/>
        </p:nvSpPr>
        <p:spPr>
          <a:xfrm>
            <a:off x="352425" y="742950"/>
            <a:ext cx="1183957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i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논문의 가치와 실무적 의의 / Core Value and Practical Significance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991046" y="1666875"/>
            <a:ext cx="4599533" cy="4252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48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산출물이 고착을 만든다</a:t>
            </a:r>
            <a:endParaRPr lang="en-US" sz="2325" dirty="0"/>
          </a:p>
        </p:txBody>
      </p:sp>
      <p:sp>
        <p:nvSpPr>
          <p:cNvPr id="7" name="Text 3"/>
          <p:cNvSpPr/>
          <p:nvPr/>
        </p:nvSpPr>
        <p:spPr>
          <a:xfrm>
            <a:off x="6443663" y="1666875"/>
            <a:ext cx="5343525" cy="4252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48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순서가 결과 품질을 결정한다</a:t>
            </a:r>
            <a:endParaRPr lang="en-US" sz="2325" dirty="0"/>
          </a:p>
        </p:txBody>
      </p:sp>
      <p:sp>
        <p:nvSpPr>
          <p:cNvPr id="8" name="Text 4"/>
          <p:cNvSpPr/>
          <p:nvPr/>
        </p:nvSpPr>
        <p:spPr>
          <a:xfrm>
            <a:off x="1527721" y="3276600"/>
            <a:ext cx="3478411" cy="4252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48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기술의 한계</a:t>
            </a:r>
            <a:endParaRPr lang="en-US" sz="2325" dirty="0"/>
          </a:p>
        </p:txBody>
      </p:sp>
      <p:sp>
        <p:nvSpPr>
          <p:cNvPr id="9" name="Text 5"/>
          <p:cNvSpPr/>
          <p:nvPr/>
        </p:nvSpPr>
        <p:spPr>
          <a:xfrm>
            <a:off x="6246465" y="3276600"/>
            <a:ext cx="5699671" cy="4252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48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구조화가 결과를 결정하는 변수</a:t>
            </a:r>
            <a:endParaRPr lang="en-US" sz="2325" dirty="0"/>
          </a:p>
        </p:txBody>
      </p:sp>
      <p:sp>
        <p:nvSpPr>
          <p:cNvPr id="10" name="Text 6"/>
          <p:cNvSpPr/>
          <p:nvPr/>
        </p:nvSpPr>
        <p:spPr>
          <a:xfrm>
            <a:off x="852488" y="4781550"/>
            <a:ext cx="4924425" cy="4252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48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품질↑ 집단 다양성↓ 분리</a:t>
            </a:r>
            <a:endParaRPr lang="en-US" sz="2325" dirty="0"/>
          </a:p>
        </p:txBody>
      </p:sp>
      <p:sp>
        <p:nvSpPr>
          <p:cNvPr id="11" name="Text 7"/>
          <p:cNvSpPr/>
          <p:nvPr/>
        </p:nvSpPr>
        <p:spPr>
          <a:xfrm>
            <a:off x="6851303" y="4781550"/>
            <a:ext cx="4547146" cy="4252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48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 설계가 실무 전환점</a:t>
            </a:r>
            <a:endParaRPr lang="en-US" sz="2325" dirty="0"/>
          </a:p>
        </p:txBody>
      </p:sp>
      <p:sp>
        <p:nvSpPr>
          <p:cNvPr id="12" name="Text 8"/>
          <p:cNvSpPr/>
          <p:nvPr/>
        </p:nvSpPr>
        <p:spPr>
          <a:xfrm>
            <a:off x="653355" y="2181225"/>
            <a:ext cx="532254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결과물이 anchor로 작동해 탐색 범위를 좁힌다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6444555" y="2181225"/>
            <a:ext cx="532254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손서 설계가 탐색 폭과 결과 품질을 동시에 결정한다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990005" y="3781425"/>
            <a:ext cx="462051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최적화는 도구 조작 학습에 그친다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6978848" y="3781425"/>
            <a:ext cx="425380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실행을 늦추고 대안을 먼저 비교해야 한다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390525" y="5276850"/>
            <a:ext cx="586740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지원 시 개인 성과는 높아지나 팀의 결과물은 동질화됨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6644134" y="5276850"/>
            <a:ext cx="491385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산출물을 늦추면 대안 탐색 폭을 넓힐 수 있다</a:t>
            </a:r>
            <a:endParaRPr lang="en-US" sz="1725" dirty="0"/>
          </a:p>
        </p:txBody>
      </p:sp>
      <p:sp>
        <p:nvSpPr>
          <p:cNvPr id="18" name="Text 14"/>
          <p:cNvSpPr/>
          <p:nvPr/>
        </p:nvSpPr>
        <p:spPr>
          <a:xfrm>
            <a:off x="11609487" y="6572250"/>
            <a:ext cx="45050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6725" y="6534150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521946"/>
            <a:ext cx="268188" cy="2674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388" y="5280571"/>
            <a:ext cx="646063" cy="52119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180" y="4951363"/>
            <a:ext cx="1304479" cy="85025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059" y="4656534"/>
            <a:ext cx="2682180" cy="12686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180" y="4786759"/>
            <a:ext cx="2462659" cy="10287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83419" y="2247900"/>
            <a:ext cx="3405188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수렴: 탐색 전 방향 고정</a:t>
            </a:r>
            <a:endParaRPr lang="en-US" sz="1950" dirty="0"/>
          </a:p>
        </p:txBody>
      </p:sp>
      <p:sp>
        <p:nvSpPr>
          <p:cNvPr id="9" name="Text 1"/>
          <p:cNvSpPr/>
          <p:nvPr/>
        </p:nvSpPr>
        <p:spPr>
          <a:xfrm>
            <a:off x="807244" y="2619375"/>
            <a:ext cx="3405188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즉시 산출물이 첫 기점으로 작동,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수정 루프 강화</a:t>
            </a:r>
            <a:endParaRPr lang="en-US" sz="1725" dirty="0"/>
          </a:p>
        </p:txBody>
      </p:sp>
      <p:sp>
        <p:nvSpPr>
          <p:cNvPr id="10" name="Text 2"/>
          <p:cNvSpPr/>
          <p:nvPr/>
        </p:nvSpPr>
        <p:spPr>
          <a:xfrm>
            <a:off x="807244" y="3486150"/>
            <a:ext cx="3405188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고착: 첫 예시에 묶이는 상태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1018580" y="3857625"/>
            <a:ext cx="273456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이미지 노출 시 아이디어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수·다양성·독창성 모두 저하</a:t>
            </a:r>
            <a:endParaRPr lang="en-US" sz="1650" dirty="0"/>
          </a:p>
        </p:txBody>
      </p:sp>
      <p:sp>
        <p:nvSpPr>
          <p:cNvPr id="12" name="Text 4"/>
          <p:cNvSpPr/>
          <p:nvPr/>
        </p:nvSpPr>
        <p:spPr>
          <a:xfrm>
            <a:off x="4454277" y="2247900"/>
            <a:ext cx="36355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Gulf of envisioning 개념 정의</a:t>
            </a:r>
            <a:endParaRPr lang="en-US" sz="1875" dirty="0"/>
          </a:p>
        </p:txBody>
      </p:sp>
      <p:sp>
        <p:nvSpPr>
          <p:cNvPr id="13" name="Text 5"/>
          <p:cNvSpPr/>
          <p:nvPr/>
        </p:nvSpPr>
        <p:spPr>
          <a:xfrm>
            <a:off x="4578548" y="2619375"/>
            <a:ext cx="3415605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느낌 → 구체 지시 변환 실패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의외의 해석 루프 발생</a:t>
            </a:r>
            <a:endParaRPr lang="en-US" sz="1725" dirty="0"/>
          </a:p>
        </p:txBody>
      </p:sp>
      <p:sp>
        <p:nvSpPr>
          <p:cNvPr id="14" name="Text 6"/>
          <p:cNvSpPr/>
          <p:nvPr/>
        </p:nvSpPr>
        <p:spPr>
          <a:xfrm>
            <a:off x="5049143" y="3486150"/>
            <a:ext cx="2493615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 심화 플로우 구조</a:t>
            </a:r>
            <a:endParaRPr lang="en-US" sz="1950" dirty="0"/>
          </a:p>
        </p:txBody>
      </p:sp>
      <p:sp>
        <p:nvSpPr>
          <p:cNvPr id="15" name="Text 7"/>
          <p:cNvSpPr/>
          <p:nvPr/>
        </p:nvSpPr>
        <p:spPr>
          <a:xfrm>
            <a:off x="4849564" y="3857625"/>
            <a:ext cx="290214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산출물 → 로컬 수정 반복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대안 탐색 기회 소멸</a:t>
            </a:r>
            <a:endParaRPr lang="en-US" sz="1650" dirty="0"/>
          </a:p>
        </p:txBody>
      </p:sp>
      <p:sp>
        <p:nvSpPr>
          <p:cNvPr id="16" name="Text 8"/>
          <p:cNvSpPr/>
          <p:nvPr/>
        </p:nvSpPr>
        <p:spPr>
          <a:xfrm>
            <a:off x="8820596" y="2247900"/>
            <a:ext cx="2713583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우선 플로우와 비교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8420546" y="2619375"/>
            <a:ext cx="3551783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카드 탐색 → 선택 기준 수립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 생성 순서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8758238" y="3486150"/>
            <a:ext cx="28289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원인: 작업 순서 설계</a:t>
            </a:r>
            <a:endParaRPr lang="en-US" sz="1875" dirty="0"/>
          </a:p>
        </p:txBody>
      </p:sp>
      <p:sp>
        <p:nvSpPr>
          <p:cNvPr id="19" name="Text 11"/>
          <p:cNvSpPr/>
          <p:nvPr/>
        </p:nvSpPr>
        <p:spPr>
          <a:xfrm>
            <a:off x="8756303" y="3857625"/>
            <a:ext cx="2870746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순서 설계가 고착 여부를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결정하는 변수</a:t>
            </a:r>
            <a:endParaRPr lang="en-US" sz="1725" dirty="0"/>
          </a:p>
        </p:txBody>
      </p:sp>
      <p:sp>
        <p:nvSpPr>
          <p:cNvPr id="20" name="Text 12"/>
          <p:cNvSpPr/>
          <p:nvPr/>
        </p:nvSpPr>
        <p:spPr>
          <a:xfrm>
            <a:off x="1358205" y="1352550"/>
            <a:ext cx="196974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모델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4820543" y="1352550"/>
            <a:ext cx="2912715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메커니즘 및 플로우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8674894" y="1352550"/>
            <a:ext cx="277653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우선 플로우 및 원인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1358205" y="1657350"/>
            <a:ext cx="19697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Problem Model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820543" y="1657350"/>
            <a:ext cx="291271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Occurrence Mechanism &amp; Flow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8674894" y="1657350"/>
            <a:ext cx="277653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Exploration-First Flow &amp; Cause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80721"/>
            <a:ext cx="268188" cy="2605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8125" y="123825"/>
            <a:ext cx="98755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 시스템 설계: 발산과 수렴의 분리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771525" y="2314575"/>
            <a:ext cx="4457700" cy="4171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아이디어 그리드 생성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771525" y="3314700"/>
            <a:ext cx="6172200" cy="4171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연상 프롬프팅으로 다양성 확보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771525" y="4333875"/>
            <a:ext cx="6172200" cy="4171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연상 프롬프팅 기반 탐색 설계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6810375" y="2314575"/>
            <a:ext cx="4800600" cy="4171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파라미터 분해 후 실행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6810375" y="3314700"/>
            <a:ext cx="5381625" cy="4171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비선형 컨텍스트 전환 지원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6810375" y="4333875"/>
            <a:ext cx="4800600" cy="4171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버린 분기와 이유 보존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1019175" y="2800350"/>
            <a:ext cx="762381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생성 전 제목·설명·태그 포함 카드 배열 제시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1019175" y="3800475"/>
            <a:ext cx="1069086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신화·역사·예술 등 원격 영역 연상 (W=24.0 p&lt;0.001)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1019175" y="4819650"/>
            <a:ext cx="709803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생성·탐색 분리 구조로 고착 방지 메커니즘 내재화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6991350" y="2800350"/>
            <a:ext cx="52006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의도를 semantic parameter 표로 분해 후 선택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6991350" y="3800475"/>
            <a:ext cx="52006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흐름 비중축, 이전 분기 상태로 자유 복귀 가능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6785521" y="4819650"/>
            <a:ext cx="540647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페기된 아이디어 branch와 선택 근거를 히스토리로 보관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2544514" y="1733550"/>
            <a:ext cx="80664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 모드</a:t>
            </a:r>
            <a:endParaRPr lang="en-US" sz="1425" dirty="0"/>
          </a:p>
        </p:txBody>
      </p:sp>
      <p:sp>
        <p:nvSpPr>
          <p:cNvPr id="18" name="Text 14"/>
          <p:cNvSpPr/>
          <p:nvPr/>
        </p:nvSpPr>
        <p:spPr>
          <a:xfrm>
            <a:off x="8773864" y="1733550"/>
            <a:ext cx="80664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모드</a:t>
            </a:r>
            <a:endParaRPr lang="en-US" sz="1425" dirty="0"/>
          </a:p>
        </p:txBody>
      </p:sp>
      <p:sp>
        <p:nvSpPr>
          <p:cNvPr id="19" name="Text 15"/>
          <p:cNvSpPr/>
          <p:nvPr/>
        </p:nvSpPr>
        <p:spPr>
          <a:xfrm>
            <a:off x="466725" y="6486525"/>
            <a:ext cx="194310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501259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88" y="4807446"/>
            <a:ext cx="10570369" cy="153605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28600" y="123825"/>
            <a:ext cx="8046720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결과: 독창성 및 다양성 지표 분석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5245894" y="1562100"/>
            <a:ext cx="2147888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6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실험 결과 메트릭</a:t>
            </a:r>
            <a:endParaRPr lang="en-US" sz="1650" dirty="0"/>
          </a:p>
        </p:txBody>
      </p:sp>
      <p:sp>
        <p:nvSpPr>
          <p:cNvPr id="7" name="Text 2"/>
          <p:cNvSpPr/>
          <p:nvPr/>
        </p:nvSpPr>
        <p:spPr>
          <a:xfrm>
            <a:off x="838200" y="2800350"/>
            <a:ext cx="617115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UMUX-Lite 사용성: 81.25 vs 64.24 (HAI Co가 유의미하게 높음,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p&lt;0.001)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838200" y="3343275"/>
            <a:ext cx="1135380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Novelty 독창성: 3.22 vs 2.41 (p&lt;0.001, 통계적으로 유의)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38200" y="3667125"/>
            <a:ext cx="1043940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Diversity 다양성: 0.48 vs 0.36 (p=0.001)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7078861" y="2800350"/>
            <a:ext cx="51131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수정 횟수: 1.56 vs 2.94 감소 (p=0.004, HAI Co 우위)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239000" y="3076575"/>
            <a:ext cx="474627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창의성 지원 지표(CSI) 전 5개 차원 우위 (p&lt;0.002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수준)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162800" y="3667125"/>
            <a:ext cx="50292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유창성(Fluency) 및 유용성(Usefulness) 두 조건 간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유의미한 차이 없음 (ns)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298478" y="2352675"/>
            <a:ext cx="77524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01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지표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489156" y="2314575"/>
            <a:ext cx="2043113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01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 및 기타 결과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28600" y="6534150"/>
            <a:ext cx="205740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1"/>
              </a:lnSpc>
              <a:buNone/>
            </a:pPr>
            <a:r>
              <a:rPr lang="en-US" sz="13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80721"/>
            <a:ext cx="292596" cy="27429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377" y="2098477"/>
            <a:ext cx="6644580" cy="366206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98" y="2050405"/>
            <a:ext cx="4376886" cy="405303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8600" y="123825"/>
            <a:ext cx="946404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학습의 전환: 도구 사용법에서 과제 이해로</a:t>
            </a:r>
            <a:endParaRPr lang="en-US" sz="2700" dirty="0"/>
          </a:p>
        </p:txBody>
      </p:sp>
      <p:sp>
        <p:nvSpPr>
          <p:cNvPr id="7" name="Text 1"/>
          <p:cNvSpPr/>
          <p:nvPr/>
        </p:nvSpPr>
        <p:spPr>
          <a:xfrm>
            <a:off x="352425" y="742950"/>
            <a:ext cx="555498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조건별 학습 결과 및 장기적 함의</a:t>
            </a:r>
            <a:endParaRPr lang="en-US" sz="2025" dirty="0"/>
          </a:p>
        </p:txBody>
      </p:sp>
      <p:sp>
        <p:nvSpPr>
          <p:cNvPr id="8" name="Text 2"/>
          <p:cNvSpPr/>
          <p:nvPr/>
        </p:nvSpPr>
        <p:spPr>
          <a:xfrm>
            <a:off x="5267325" y="1581150"/>
            <a:ext cx="167640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결과 및 비교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228600" y="6505575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5930652" y="6734175"/>
            <a:ext cx="492323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535638"/>
            <a:ext cx="268188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682" y="191988"/>
            <a:ext cx="707082" cy="21937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726531" y="600075"/>
            <a:ext cx="7072313" cy="4999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936"/>
              </a:lnSpc>
              <a:buNone/>
            </a:pPr>
            <a:r>
              <a:rPr lang="en-US" sz="30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AI의 고착 심화에 관한 보강 근거</a:t>
            </a:r>
            <a:endParaRPr lang="en-US" sz="3075" dirty="0"/>
          </a:p>
        </p:txBody>
      </p:sp>
      <p:sp>
        <p:nvSpPr>
          <p:cNvPr id="6" name="Text 1"/>
          <p:cNvSpPr/>
          <p:nvPr/>
        </p:nvSpPr>
        <p:spPr>
          <a:xfrm>
            <a:off x="752475" y="1905000"/>
            <a:ext cx="2608808" cy="6801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노출 → 아이디어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다양성·독창성 저하</a:t>
            </a: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4638675" y="1905000"/>
            <a:ext cx="3405188" cy="634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품질↑, 집단 다양성↓</a:t>
            </a:r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 현상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8591550" y="1905000"/>
            <a:ext cx="3027908" cy="6801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 → 아이디어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동질화 위험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752475" y="4714875"/>
            <a:ext cx="2818358" cy="6801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프로토타입이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직렬보다 다양성 우위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4638675" y="4714875"/>
            <a:ext cx="44577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고착은 도메인 범용 현상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8451503" y="4714875"/>
            <a:ext cx="3740497" cy="3287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GenAI 자체가 고착 심화 요인</a:t>
            </a:r>
            <a:endParaRPr lang="en-US" sz="2175" dirty="0"/>
          </a:p>
        </p:txBody>
      </p:sp>
      <p:sp>
        <p:nvSpPr>
          <p:cNvPr id="12" name="Text 7"/>
          <p:cNvSpPr/>
          <p:nvPr/>
        </p:nvSpPr>
        <p:spPr>
          <a:xfrm>
            <a:off x="752475" y="2705100"/>
            <a:ext cx="3708946" cy="1006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Wadinambiarachchi 2024: AI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노출 시 아이디어 수(↓18.3%),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다양성(↓25.1%), 독창성(↓30.5%)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유의미하게 감소 (p &lt; 0.001)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4638675" y="2705100"/>
            <a:ext cx="3855690" cy="1006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Doshi &amp; Hauser 2024: AI 지원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글쓰기에서 개인 창의성 잠수는 상승하나,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간 유사도(↑32.4%, p &lt; 0.01)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증가로 집단 다양성 하락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591550" y="2705100"/>
            <a:ext cx="3467993" cy="10513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Anderson et al. 2024: 아이디어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수는 증가(↑65.3%), 사용자 간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구별도(↓41.8%, p &lt; 0.001) 및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동시 저하로 동질화</a:t>
            </a:r>
            <a:endParaRPr lang="en-US" sz="1725" dirty="0"/>
          </a:p>
        </p:txBody>
      </p:sp>
      <p:sp>
        <p:nvSpPr>
          <p:cNvPr id="15" name="Text 10"/>
          <p:cNvSpPr/>
          <p:nvPr/>
        </p:nvSpPr>
        <p:spPr>
          <a:xfrm>
            <a:off x="752475" y="5467350"/>
            <a:ext cx="3677543" cy="7545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 et al.: 동시 대안 탐색(병렬)이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 탐색(직렬)보다 결과의 다양성 및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품질(↑22.5%)이 모두 높음 (p &lt; 0.05)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4638675" y="5238750"/>
            <a:ext cx="3520380" cy="1006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Parsons et al. 2021: 창의적 작업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 작업과 데이터 사각화 설계 등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범용적으로 고착이 창의적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제한 (p &lt; 0.05)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493323" y="5238750"/>
            <a:ext cx="3698528" cy="1006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순서가 결과 품질을 결정한다.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산출물 노출 자체가 사용자의 고착을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강화하는 요인 (**p &lt; 0.05)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(**p &lt; 0.05)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466725" y="6524625"/>
            <a:ext cx="2286000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9625" y="1590675"/>
            <a:ext cx="43891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1] / 연구 결과 1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705350" y="1590675"/>
            <a:ext cx="43891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2] / 연구 결과 2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591550" y="1590675"/>
            <a:ext cx="3600450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3] / 연구 결과 3</a:t>
            </a:r>
            <a:endParaRPr lang="en-US" sz="1425" dirty="0"/>
          </a:p>
        </p:txBody>
      </p:sp>
      <p:sp>
        <p:nvSpPr>
          <p:cNvPr id="22" name="Text 17"/>
          <p:cNvSpPr/>
          <p:nvPr/>
        </p:nvSpPr>
        <p:spPr>
          <a:xfrm>
            <a:off x="809625" y="4391025"/>
            <a:ext cx="43891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4] / 연구 결과 4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705350" y="4391025"/>
            <a:ext cx="43891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5] / 연구 결과 5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591550" y="4391025"/>
            <a:ext cx="3600450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6] / 연구 결과 6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87567"/>
            <a:ext cx="280392" cy="2674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71" y="1172617"/>
            <a:ext cx="10387459" cy="519142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142875"/>
            <a:ext cx="6088380" cy="359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3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사용자 워크플로 6단계</a:t>
            </a:r>
            <a:endParaRPr lang="en-US" sz="2550" dirty="0"/>
          </a:p>
        </p:txBody>
      </p:sp>
      <p:sp>
        <p:nvSpPr>
          <p:cNvPr id="6" name="Text 1"/>
          <p:cNvSpPr/>
          <p:nvPr/>
        </p:nvSpPr>
        <p:spPr>
          <a:xfrm>
            <a:off x="361950" y="742950"/>
            <a:ext cx="683514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 방지 및 발산 강화를 위한 AI 협업 절차</a:t>
            </a:r>
            <a:endParaRPr lang="en-US" sz="1725" dirty="0"/>
          </a:p>
        </p:txBody>
      </p:sp>
      <p:sp>
        <p:nvSpPr>
          <p:cNvPr id="7" name="Text 2"/>
          <p:cNvSpPr/>
          <p:nvPr/>
        </p:nvSpPr>
        <p:spPr>
          <a:xfrm>
            <a:off x="466725" y="6496050"/>
            <a:ext cx="19431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75"/>
              </a:lnSpc>
              <a:buNone/>
            </a:pPr>
            <a:r>
              <a:rPr lang="en-US" sz="127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75" dirty="0"/>
          </a:p>
        </p:txBody>
      </p:sp>
      <p:sp>
        <p:nvSpPr>
          <p:cNvPr id="8" name="Text 3"/>
          <p:cNvSpPr/>
          <p:nvPr/>
        </p:nvSpPr>
        <p:spPr>
          <a:xfrm>
            <a:off x="5968305" y="6734175"/>
            <a:ext cx="50289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173" y="2071092"/>
            <a:ext cx="1670298" cy="16252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157" y="2167086"/>
            <a:ext cx="1475184" cy="146759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863" y="2153394"/>
            <a:ext cx="1450777" cy="1371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67" y="2064246"/>
            <a:ext cx="1718965" cy="163219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71475" y="628650"/>
            <a:ext cx="8915400" cy="517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77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적용을 위한 4가지 프롬프트 패턴</a:t>
            </a:r>
            <a:endParaRPr lang="en-US" sz="2700" dirty="0"/>
          </a:p>
        </p:txBody>
      </p:sp>
      <p:sp>
        <p:nvSpPr>
          <p:cNvPr id="8" name="Text 1"/>
          <p:cNvSpPr/>
          <p:nvPr/>
        </p:nvSpPr>
        <p:spPr>
          <a:xfrm>
            <a:off x="799505" y="4010025"/>
            <a:ext cx="2105918" cy="6390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아이디어 카드</a:t>
            </a:r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패턴</a:t>
            </a:r>
            <a:endParaRPr lang="en-US" sz="1950" dirty="0"/>
          </a:p>
        </p:txBody>
      </p:sp>
      <p:sp>
        <p:nvSpPr>
          <p:cNvPr id="9" name="Text 2"/>
          <p:cNvSpPr/>
          <p:nvPr/>
        </p:nvSpPr>
        <p:spPr>
          <a:xfrm>
            <a:off x="3694212" y="4010025"/>
            <a:ext cx="2126903" cy="6390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선택 매트릭스</a:t>
            </a:r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패턴</a:t>
            </a:r>
            <a:endParaRPr lang="en-US" sz="1950" dirty="0"/>
          </a:p>
        </p:txBody>
      </p:sp>
      <p:sp>
        <p:nvSpPr>
          <p:cNvPr id="10" name="Text 3"/>
          <p:cNvSpPr/>
          <p:nvPr/>
        </p:nvSpPr>
        <p:spPr>
          <a:xfrm>
            <a:off x="6452592" y="4010025"/>
            <a:ext cx="2420243" cy="6390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의미적 매개변수</a:t>
            </a:r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 패턴</a:t>
            </a:r>
            <a:endParaRPr lang="en-US" sz="1950" dirty="0"/>
          </a:p>
        </p:txBody>
      </p:sp>
      <p:sp>
        <p:nvSpPr>
          <p:cNvPr id="11" name="Text 4"/>
          <p:cNvSpPr/>
          <p:nvPr/>
        </p:nvSpPr>
        <p:spPr>
          <a:xfrm>
            <a:off x="9611618" y="4010025"/>
            <a:ext cx="1864965" cy="6390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팀 단위 관점</a:t>
            </a:r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 패턴</a:t>
            </a:r>
            <a:endParaRPr lang="en-US" sz="1950" dirty="0"/>
          </a:p>
        </p:txBody>
      </p:sp>
      <p:sp>
        <p:nvSpPr>
          <p:cNvPr id="12" name="Text 5"/>
          <p:cNvSpPr/>
          <p:nvPr/>
        </p:nvSpPr>
        <p:spPr>
          <a:xfrm>
            <a:off x="656183" y="4857750"/>
            <a:ext cx="2325886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카드, 각 source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 비선형 지정,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생성 금지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3435102" y="4857750"/>
            <a:ext cx="2587823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novelty·usefulness·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feasibility·risk 기준,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이유 한 줄씩 명시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6402586" y="4857750"/>
            <a:ext cx="2472630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의도를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 포로 분해,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옵션 선택 후에만 실행</a:t>
            </a:r>
            <a:endParaRPr lang="en-US" sz="1725" dirty="0"/>
          </a:p>
        </p:txBody>
      </p:sp>
      <p:sp>
        <p:nvSpPr>
          <p:cNvPr id="15" name="Text 8"/>
          <p:cNvSpPr/>
          <p:nvPr/>
        </p:nvSpPr>
        <p:spPr>
          <a:xfrm>
            <a:off x="9283005" y="4857750"/>
            <a:ext cx="2388840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5명에게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고객·기술·비용·반대·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유추 관점 각각 배정</a:t>
            </a:r>
            <a:endParaRPr lang="en-US" sz="1725" dirty="0"/>
          </a:p>
        </p:txBody>
      </p:sp>
      <p:sp>
        <p:nvSpPr>
          <p:cNvPr id="16" name="Text 9"/>
          <p:cNvSpPr/>
          <p:nvPr/>
        </p:nvSpPr>
        <p:spPr>
          <a:xfrm>
            <a:off x="409575" y="142875"/>
            <a:ext cx="6008370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11"/>
              </a:lnSpc>
              <a:buNone/>
            </a:pPr>
            <a:r>
              <a:rPr lang="en-US" sz="1425" dirty="0">
                <a:solidFill>
                  <a:srgbClr val="B50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9 | PROMPT PATTERNS</a:t>
            </a:r>
            <a:endParaRPr lang="en-US" sz="1425" dirty="0"/>
          </a:p>
        </p:txBody>
      </p:sp>
      <p:sp>
        <p:nvSpPr>
          <p:cNvPr id="17" name="Text 10"/>
          <p:cNvSpPr/>
          <p:nvPr/>
        </p:nvSpPr>
        <p:spPr>
          <a:xfrm>
            <a:off x="5859214" y="6734175"/>
            <a:ext cx="59709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  <p:sp>
        <p:nvSpPr>
          <p:cNvPr id="18" name="Text 11"/>
          <p:cNvSpPr/>
          <p:nvPr/>
        </p:nvSpPr>
        <p:spPr>
          <a:xfrm>
            <a:off x="485775" y="6515100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5858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80721"/>
            <a:ext cx="292596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65" y="4930825"/>
            <a:ext cx="402282" cy="38397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65" y="3819823"/>
            <a:ext cx="402282" cy="38397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65" y="2688282"/>
            <a:ext cx="414486" cy="39766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69" y="130225"/>
            <a:ext cx="4401294" cy="40451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52425" y="742950"/>
            <a:ext cx="10492740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도메인별 특화된 AI 협업 패턴의 변화와 실제 적용 사례 분석</a:t>
            </a:r>
            <a:endParaRPr lang="en-US" sz="2025" dirty="0"/>
          </a:p>
        </p:txBody>
      </p:sp>
      <p:sp>
        <p:nvSpPr>
          <p:cNvPr id="9" name="Text 1"/>
          <p:cNvSpPr/>
          <p:nvPr/>
        </p:nvSpPr>
        <p:spPr>
          <a:xfrm>
            <a:off x="1323975" y="2762250"/>
            <a:ext cx="475488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리서치: 요약 → 구조화 분해</a:t>
            </a:r>
            <a:endParaRPr lang="en-US" sz="1950" dirty="0"/>
          </a:p>
        </p:txBody>
      </p:sp>
      <p:sp>
        <p:nvSpPr>
          <p:cNvPr id="10" name="Text 2"/>
          <p:cNvSpPr/>
          <p:nvPr/>
        </p:nvSpPr>
        <p:spPr>
          <a:xfrm>
            <a:off x="1323975" y="3829050"/>
            <a:ext cx="68351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슬라이드: 서식 전 narrative 비교</a:t>
            </a:r>
            <a:endParaRPr lang="en-US" sz="1950" dirty="0"/>
          </a:p>
        </p:txBody>
      </p:sp>
      <p:sp>
        <p:nvSpPr>
          <p:cNvPr id="11" name="Text 3"/>
          <p:cNvSpPr/>
          <p:nvPr/>
        </p:nvSpPr>
        <p:spPr>
          <a:xfrm>
            <a:off x="1323975" y="4991100"/>
            <a:ext cx="53492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기획: 기능 → 문제 카드화</a:t>
            </a:r>
            <a:endParaRPr lang="en-US" sz="1950" dirty="0"/>
          </a:p>
        </p:txBody>
      </p:sp>
      <p:sp>
        <p:nvSpPr>
          <p:cNvPr id="12" name="Text 4"/>
          <p:cNvSpPr/>
          <p:nvPr/>
        </p:nvSpPr>
        <p:spPr>
          <a:xfrm>
            <a:off x="7058025" y="2724150"/>
            <a:ext cx="51339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코딩: 구현 전 아키텍처 대안 비교</a:t>
            </a:r>
            <a:endParaRPr lang="en-US" sz="1950" dirty="0"/>
          </a:p>
        </p:txBody>
      </p:sp>
      <p:sp>
        <p:nvSpPr>
          <p:cNvPr id="13" name="Text 5"/>
          <p:cNvSpPr/>
          <p:nvPr/>
        </p:nvSpPr>
        <p:spPr>
          <a:xfrm>
            <a:off x="7058025" y="3829050"/>
            <a:ext cx="51339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디자인: concept card 먼저, 생성은 나중</a:t>
            </a:r>
            <a:endParaRPr lang="en-US" sz="1950" dirty="0"/>
          </a:p>
        </p:txBody>
      </p:sp>
      <p:sp>
        <p:nvSpPr>
          <p:cNvPr id="14" name="Text 6"/>
          <p:cNvSpPr/>
          <p:nvPr/>
        </p:nvSpPr>
        <p:spPr>
          <a:xfrm>
            <a:off x="7058025" y="4991100"/>
            <a:ext cx="51339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회의: 정리 → 결정·미결정 분리</a:t>
            </a:r>
            <a:endParaRPr lang="en-US" sz="1950" dirty="0"/>
          </a:p>
        </p:txBody>
      </p:sp>
      <p:sp>
        <p:nvSpPr>
          <p:cNvPr id="15" name="Text 7"/>
          <p:cNvSpPr/>
          <p:nvPr/>
        </p:nvSpPr>
        <p:spPr>
          <a:xfrm>
            <a:off x="2473523" y="1543050"/>
            <a:ext cx="152965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기획·분석 도메인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8093273" y="1543050"/>
            <a:ext cx="173920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실행·산출물 도메인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1323975" y="3143250"/>
            <a:ext cx="84582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요약 직접 요청 대신 claim·반례·적용 가능성 카드로 분해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1323975" y="4238625"/>
            <a:ext cx="102108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 생성 전 narrative 후보 3개·audience별 메시지 먼저 비교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1323975" y="5343525"/>
            <a:ext cx="84582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아이디어 직접 요청 대신 사용자 문제·실패 시나리오 카드 선형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6900863" y="3143250"/>
            <a:ext cx="529113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요청 전 아키텍처 대안 3개·결정(trade-off)·rollback path 비교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7058025" y="4238625"/>
            <a:ext cx="513397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포스터·이미지 생성 전 concept card 탐색 후 선택만 방향만 실행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7058025" y="5343525"/>
            <a:ext cx="513397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요약 대신 결정·미결정·가장·후속 질문 항목으로 분리 출력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466725" y="6467475"/>
            <a:ext cx="194310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75" dirty="0"/>
          </a:p>
        </p:txBody>
      </p:sp>
      <p:sp>
        <p:nvSpPr>
          <p:cNvPr id="24" name="Text 16"/>
          <p:cNvSpPr/>
          <p:nvPr/>
        </p:nvSpPr>
        <p:spPr>
          <a:xfrm>
            <a:off x="5872609" y="6734175"/>
            <a:ext cx="513308" cy="695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48"/>
              </a:lnSpc>
              <a:buNone/>
            </a:pPr>
            <a:r>
              <a:rPr lang="en-US" sz="75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63" y="6556177"/>
            <a:ext cx="231577" cy="2330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377" y="5157192"/>
            <a:ext cx="1170384" cy="72687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377" y="4087267"/>
            <a:ext cx="1158180" cy="67880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77" y="3038029"/>
            <a:ext cx="1158180" cy="67195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377" y="1892796"/>
            <a:ext cx="1170384" cy="76110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271" y="5157192"/>
            <a:ext cx="1145977" cy="7200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067" y="4053036"/>
            <a:ext cx="1158180" cy="76110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067" y="2989957"/>
            <a:ext cx="1158180" cy="76795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863" y="1920180"/>
            <a:ext cx="1182588" cy="733723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590550" y="95250"/>
            <a:ext cx="1160145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“AI 험문한 주 읽건누 늘시되” / Research Limitations and Risks</a:t>
            </a:r>
            <a:endParaRPr lang="en-US" sz="2325" dirty="0"/>
          </a:p>
        </p:txBody>
      </p:sp>
      <p:sp>
        <p:nvSpPr>
          <p:cNvPr id="13" name="Text 1"/>
          <p:cNvSpPr/>
          <p:nvPr/>
        </p:nvSpPr>
        <p:spPr>
          <a:xfrm>
            <a:off x="466725" y="647700"/>
            <a:ext cx="1172527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및 실무 적용 측면의 제약과 리스크 / Constraints and Risks</a:t>
            </a:r>
            <a:endParaRPr lang="en-US" sz="1725" dirty="0"/>
          </a:p>
        </p:txBody>
      </p:sp>
      <p:sp>
        <p:nvSpPr>
          <p:cNvPr id="14" name="Text 2"/>
          <p:cNvSpPr/>
          <p:nvPr/>
        </p:nvSpPr>
        <p:spPr>
          <a:xfrm>
            <a:off x="2324100" y="1962150"/>
            <a:ext cx="587121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 편향: N=24, CS/IT 집중</a:t>
            </a:r>
            <a:endParaRPr lang="en-US" sz="1725" dirty="0"/>
          </a:p>
        </p:txBody>
      </p:sp>
      <p:sp>
        <p:nvSpPr>
          <p:cNvPr id="15" name="Text 3"/>
          <p:cNvSpPr/>
          <p:nvPr/>
        </p:nvSpPr>
        <p:spPr>
          <a:xfrm>
            <a:off x="2324100" y="3067050"/>
            <a:ext cx="31546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과제 도메인 한계</a:t>
            </a:r>
            <a:endParaRPr lang="en-US" sz="1725" dirty="0"/>
          </a:p>
        </p:txBody>
      </p:sp>
      <p:sp>
        <p:nvSpPr>
          <p:cNvPr id="16" name="Text 4"/>
          <p:cNvSpPr/>
          <p:nvPr/>
        </p:nvSpPr>
        <p:spPr>
          <a:xfrm>
            <a:off x="2324100" y="4143375"/>
            <a:ext cx="31546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과전, 메인 한계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2324100" y="5219700"/>
            <a:ext cx="394335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세션, 장기 불과 측정</a:t>
            </a:r>
            <a:endParaRPr lang="en-US" sz="1725" dirty="0"/>
          </a:p>
        </p:txBody>
      </p:sp>
      <p:sp>
        <p:nvSpPr>
          <p:cNvPr id="18" name="Text 6"/>
          <p:cNvSpPr/>
          <p:nvPr/>
        </p:nvSpPr>
        <p:spPr>
          <a:xfrm>
            <a:off x="7972425" y="1962150"/>
            <a:ext cx="394335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스케폴딩 증가 → 속도 손실</a:t>
            </a:r>
            <a:endParaRPr lang="en-US" sz="1725" dirty="0"/>
          </a:p>
        </p:txBody>
      </p:sp>
      <p:sp>
        <p:nvSpPr>
          <p:cNvPr id="19" name="Text 7"/>
          <p:cNvSpPr/>
          <p:nvPr/>
        </p:nvSpPr>
        <p:spPr>
          <a:xfrm>
            <a:off x="7972425" y="3067050"/>
            <a:ext cx="31546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소재 모호성 위험</a:t>
            </a:r>
            <a:endParaRPr lang="en-US" sz="1725" dirty="0"/>
          </a:p>
        </p:txBody>
      </p:sp>
      <p:sp>
        <p:nvSpPr>
          <p:cNvPr id="20" name="Text 8"/>
          <p:cNvSpPr/>
          <p:nvPr/>
        </p:nvSpPr>
        <p:spPr>
          <a:xfrm>
            <a:off x="7972425" y="4143375"/>
            <a:ext cx="31546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소재 모호성 위험</a:t>
            </a:r>
            <a:endParaRPr lang="en-US" sz="1725" dirty="0"/>
          </a:p>
        </p:txBody>
      </p:sp>
      <p:sp>
        <p:nvSpPr>
          <p:cNvPr id="21" name="Text 9"/>
          <p:cNvSpPr/>
          <p:nvPr/>
        </p:nvSpPr>
        <p:spPr>
          <a:xfrm>
            <a:off x="7972425" y="5219700"/>
            <a:ext cx="31546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HAICo는 명찰 미견</a:t>
            </a:r>
            <a:endParaRPr lang="en-US" sz="1725" dirty="0"/>
          </a:p>
        </p:txBody>
      </p:sp>
      <p:sp>
        <p:nvSpPr>
          <p:cNvPr id="22" name="Text 10"/>
          <p:cNvSpPr/>
          <p:nvPr/>
        </p:nvSpPr>
        <p:spPr>
          <a:xfrm>
            <a:off x="1001911" y="1352550"/>
            <a:ext cx="435858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[연구 한계점 / RESEARCH LIMITATIONS]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6468368" y="1352550"/>
            <a:ext cx="479866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[실무 도입 리스크 / IMPLEMENTATION RISKS]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2324100" y="2343150"/>
            <a:ext cx="41148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직군 소카미 믹일수감 비디할제원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2324100" y="3429000"/>
            <a:ext cx="47320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포스터 생성 외 도메인 적용 가능성 미검증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2324100" y="4524375"/>
            <a:ext cx="41148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포스키 생성 외 뛰어인 믿음요도펠헤두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2324100" y="5600700"/>
            <a:ext cx="47320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자기보고 학습 지표, 객관적 장기 측정어음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7972425" y="2343150"/>
            <a:ext cx="421957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명확한 과제서는 직접 실험이치 긴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7972425" y="3429000"/>
            <a:ext cx="421957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탐색구호 도인 깃 상철유무과 왈 알를분목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7972425" y="4524375"/>
            <a:ext cx="421957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답눈 기즈유임 구 외회; 식검피기도 물개버</a:t>
            </a:r>
            <a:endParaRPr lang="en-US" sz="1350" dirty="0"/>
          </a:p>
        </p:txBody>
      </p:sp>
      <p:sp>
        <p:nvSpPr>
          <p:cNvPr id="31" name="Text 19"/>
          <p:cNvSpPr/>
          <p:nvPr/>
        </p:nvSpPr>
        <p:spPr>
          <a:xfrm>
            <a:off x="7972425" y="5600700"/>
            <a:ext cx="421957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 시실음등 언도로 잦언겔 문누 직외안</a:t>
            </a:r>
            <a:endParaRPr lang="en-US" sz="1350" dirty="0"/>
          </a:p>
        </p:txBody>
      </p:sp>
      <p:sp>
        <p:nvSpPr>
          <p:cNvPr id="32" name="Text 20"/>
          <p:cNvSpPr/>
          <p:nvPr/>
        </p:nvSpPr>
        <p:spPr>
          <a:xfrm>
            <a:off x="352425" y="656272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498" y="3668911"/>
            <a:ext cx="1840992" cy="105021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498" y="3668911"/>
            <a:ext cx="180988" cy="12376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486" y="3668911"/>
            <a:ext cx="657274" cy="12376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760" y="3668911"/>
            <a:ext cx="1002730" cy="12376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498" y="3792676"/>
            <a:ext cx="180988" cy="11575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0486" y="3792676"/>
            <a:ext cx="657274" cy="11575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0496" y="3832872"/>
            <a:ext cx="557254" cy="3536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7760" y="3792676"/>
            <a:ext cx="1002730" cy="11575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9027" y="3828452"/>
            <a:ext cx="142886" cy="1768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9027" y="3854973"/>
            <a:ext cx="142886" cy="1768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89498" y="3908430"/>
            <a:ext cx="180988" cy="11575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70486" y="3908430"/>
            <a:ext cx="657274" cy="11575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20496" y="3948626"/>
            <a:ext cx="557254" cy="3536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27760" y="3908430"/>
            <a:ext cx="1002730" cy="11575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28078" y="3957467"/>
            <a:ext cx="142886" cy="1768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33645" y="3957467"/>
            <a:ext cx="142886" cy="1768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39212" y="3948626"/>
            <a:ext cx="190515" cy="35362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89498" y="4024184"/>
            <a:ext cx="180988" cy="11575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70486" y="4024184"/>
            <a:ext cx="657274" cy="115754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20496" y="4064380"/>
            <a:ext cx="557254" cy="35362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27760" y="4024184"/>
            <a:ext cx="1002730" cy="115754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43379" y="4064380"/>
            <a:ext cx="190514" cy="35362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89498" y="4139938"/>
            <a:ext cx="180988" cy="115754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70486" y="4139938"/>
            <a:ext cx="657274" cy="115754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82414" y="4180134"/>
            <a:ext cx="433420" cy="35362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27760" y="4139938"/>
            <a:ext cx="1002730" cy="115754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04264" y="4175714"/>
            <a:ext cx="238143" cy="17681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04264" y="4202235"/>
            <a:ext cx="95257" cy="17681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89498" y="4255692"/>
            <a:ext cx="180988" cy="115754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070486" y="4255692"/>
            <a:ext cx="657274" cy="115754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20496" y="4295888"/>
            <a:ext cx="557254" cy="35362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27760" y="4255692"/>
            <a:ext cx="1002730" cy="115754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04264" y="4291468"/>
            <a:ext cx="238143" cy="17681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804264" y="4317989"/>
            <a:ext cx="95257" cy="17681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889498" y="4371446"/>
            <a:ext cx="180988" cy="115754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070486" y="4371446"/>
            <a:ext cx="657274" cy="115754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182414" y="4411642"/>
            <a:ext cx="433420" cy="35362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727760" y="4371446"/>
            <a:ext cx="1002730" cy="115754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836115" y="4407222"/>
            <a:ext cx="142886" cy="17681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36115" y="4433743"/>
            <a:ext cx="114309" cy="17681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57608" y="4420482"/>
            <a:ext cx="142886" cy="17681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479101" y="4420482"/>
            <a:ext cx="142886" cy="17681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889498" y="4487200"/>
            <a:ext cx="180988" cy="115754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070486" y="4487200"/>
            <a:ext cx="657274" cy="115754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20496" y="4527396"/>
            <a:ext cx="557254" cy="35362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727760" y="4487200"/>
            <a:ext cx="1002730" cy="115754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889498" y="4602953"/>
            <a:ext cx="180988" cy="116168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070486" y="4602953"/>
            <a:ext cx="657274" cy="116168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13372" y="4643288"/>
            <a:ext cx="371503" cy="35362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727760" y="4602953"/>
            <a:ext cx="1002730" cy="116168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43780" y="6528792"/>
            <a:ext cx="292596" cy="287982"/>
          </a:xfrm>
          <a:prstGeom prst="rect">
            <a:avLst/>
          </a:prstGeom>
        </p:spPr>
      </p:pic>
      <p:pic>
        <p:nvPicPr>
          <p:cNvPr id="5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033992" y="3977580"/>
            <a:ext cx="1718965" cy="713184"/>
          </a:xfrm>
          <a:prstGeom prst="rect">
            <a:avLst/>
          </a:prstGeom>
        </p:spPr>
      </p:pic>
      <p:pic>
        <p:nvPicPr>
          <p:cNvPr id="5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960769" y="2743200"/>
            <a:ext cx="1865263" cy="1220688"/>
          </a:xfrm>
          <a:prstGeom prst="rect">
            <a:avLst/>
          </a:prstGeom>
        </p:spPr>
      </p:pic>
      <p:pic>
        <p:nvPicPr>
          <p:cNvPr id="56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510165" y="2914650"/>
            <a:ext cx="1987153" cy="1817340"/>
          </a:xfrm>
          <a:prstGeom prst="rect">
            <a:avLst/>
          </a:prstGeom>
        </p:spPr>
      </p:pic>
      <p:pic>
        <p:nvPicPr>
          <p:cNvPr id="57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218063" y="4169569"/>
            <a:ext cx="1889671" cy="678805"/>
          </a:xfrm>
          <a:prstGeom prst="rect">
            <a:avLst/>
          </a:prstGeom>
        </p:spPr>
      </p:pic>
      <p:pic>
        <p:nvPicPr>
          <p:cNvPr id="58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218063" y="2818507"/>
            <a:ext cx="1877467" cy="1302990"/>
          </a:xfrm>
          <a:prstGeom prst="rect">
            <a:avLst/>
          </a:prstGeom>
        </p:spPr>
      </p:pic>
      <p:pic>
        <p:nvPicPr>
          <p:cNvPr id="59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316188" y="2825353"/>
            <a:ext cx="975271" cy="822871"/>
          </a:xfrm>
          <a:prstGeom prst="rect">
            <a:avLst/>
          </a:prstGeom>
        </p:spPr>
      </p:pic>
      <p:pic>
        <p:nvPicPr>
          <p:cNvPr id="60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85192" y="2914650"/>
            <a:ext cx="1706761" cy="1282303"/>
          </a:xfrm>
          <a:prstGeom prst="rect">
            <a:avLst/>
          </a:prstGeom>
        </p:spPr>
      </p:pic>
      <p:sp>
        <p:nvSpPr>
          <p:cNvPr id="61" name="Text 0"/>
          <p:cNvSpPr/>
          <p:nvPr/>
        </p:nvSpPr>
        <p:spPr>
          <a:xfrm>
            <a:off x="3070486" y="3668911"/>
            <a:ext cx="619174" cy="1237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</a:rPr>
              <a:t>Parameter</a:t>
            </a:r>
            <a:endParaRPr lang="en-US" sz="675" dirty="0"/>
          </a:p>
        </p:txBody>
      </p:sp>
      <p:sp>
        <p:nvSpPr>
          <p:cNvPr id="62" name="Text 1"/>
          <p:cNvSpPr/>
          <p:nvPr/>
        </p:nvSpPr>
        <p:spPr>
          <a:xfrm>
            <a:off x="3727760" y="3668911"/>
            <a:ext cx="964630" cy="1237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</a:rPr>
              <a:t>Data</a:t>
            </a:r>
            <a:endParaRPr lang="en-US" sz="675" dirty="0"/>
          </a:p>
        </p:txBody>
      </p:sp>
      <p:sp>
        <p:nvSpPr>
          <p:cNvPr id="63" name="Text 2"/>
          <p:cNvSpPr/>
          <p:nvPr/>
        </p:nvSpPr>
        <p:spPr>
          <a:xfrm>
            <a:off x="2889498" y="3792676"/>
            <a:ext cx="142888" cy="11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</a:rPr>
              <a:t>1</a:t>
            </a:r>
            <a:endParaRPr lang="en-US" sz="600" dirty="0"/>
          </a:p>
        </p:txBody>
      </p:sp>
      <p:sp>
        <p:nvSpPr>
          <p:cNvPr id="64" name="Text 3"/>
          <p:cNvSpPr/>
          <p:nvPr/>
        </p:nvSpPr>
        <p:spPr>
          <a:xfrm>
            <a:off x="2889498" y="3908430"/>
            <a:ext cx="142888" cy="11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</a:rPr>
              <a:t>2</a:t>
            </a:r>
            <a:endParaRPr lang="en-US" sz="600" dirty="0"/>
          </a:p>
        </p:txBody>
      </p:sp>
      <p:sp>
        <p:nvSpPr>
          <p:cNvPr id="65" name="Text 4"/>
          <p:cNvSpPr/>
          <p:nvPr/>
        </p:nvSpPr>
        <p:spPr>
          <a:xfrm>
            <a:off x="2889498" y="4024184"/>
            <a:ext cx="142888" cy="11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</a:rPr>
              <a:t>3</a:t>
            </a:r>
            <a:endParaRPr lang="en-US" sz="600" dirty="0"/>
          </a:p>
        </p:txBody>
      </p:sp>
      <p:sp>
        <p:nvSpPr>
          <p:cNvPr id="66" name="Text 5"/>
          <p:cNvSpPr/>
          <p:nvPr/>
        </p:nvSpPr>
        <p:spPr>
          <a:xfrm>
            <a:off x="2889498" y="4139938"/>
            <a:ext cx="142888" cy="11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</a:rPr>
              <a:t>4</a:t>
            </a:r>
            <a:endParaRPr lang="en-US" sz="600" dirty="0"/>
          </a:p>
        </p:txBody>
      </p:sp>
      <p:sp>
        <p:nvSpPr>
          <p:cNvPr id="67" name="Text 6"/>
          <p:cNvSpPr/>
          <p:nvPr/>
        </p:nvSpPr>
        <p:spPr>
          <a:xfrm>
            <a:off x="2889498" y="4255692"/>
            <a:ext cx="142888" cy="11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</a:rPr>
              <a:t>5</a:t>
            </a:r>
            <a:endParaRPr lang="en-US" sz="600" dirty="0"/>
          </a:p>
        </p:txBody>
      </p:sp>
      <p:sp>
        <p:nvSpPr>
          <p:cNvPr id="68" name="Text 7"/>
          <p:cNvSpPr/>
          <p:nvPr/>
        </p:nvSpPr>
        <p:spPr>
          <a:xfrm>
            <a:off x="2889498" y="4371446"/>
            <a:ext cx="142888" cy="11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</a:rPr>
              <a:t>6</a:t>
            </a:r>
            <a:endParaRPr lang="en-US" sz="600" dirty="0"/>
          </a:p>
        </p:txBody>
      </p:sp>
      <p:sp>
        <p:nvSpPr>
          <p:cNvPr id="69" name="Text 8"/>
          <p:cNvSpPr/>
          <p:nvPr/>
        </p:nvSpPr>
        <p:spPr>
          <a:xfrm>
            <a:off x="2889498" y="4487200"/>
            <a:ext cx="142888" cy="11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</a:rPr>
              <a:t>7</a:t>
            </a:r>
            <a:endParaRPr lang="en-US" sz="600" dirty="0"/>
          </a:p>
        </p:txBody>
      </p:sp>
      <p:sp>
        <p:nvSpPr>
          <p:cNvPr id="70" name="Text 9"/>
          <p:cNvSpPr/>
          <p:nvPr/>
        </p:nvSpPr>
        <p:spPr>
          <a:xfrm>
            <a:off x="2889498" y="4602953"/>
            <a:ext cx="142888" cy="11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</a:rPr>
              <a:t>8</a:t>
            </a:r>
            <a:endParaRPr lang="en-US" sz="600" dirty="0"/>
          </a:p>
        </p:txBody>
      </p:sp>
      <p:sp>
        <p:nvSpPr>
          <p:cNvPr id="71" name="Text 10"/>
          <p:cNvSpPr/>
          <p:nvPr/>
        </p:nvSpPr>
        <p:spPr>
          <a:xfrm>
            <a:off x="466725" y="266700"/>
            <a:ext cx="11725275" cy="5783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554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 효율화를 위한 4가지 운영 원칙</a:t>
            </a:r>
            <a:endParaRPr lang="en-US" sz="3450" dirty="0"/>
          </a:p>
        </p:txBody>
      </p:sp>
      <p:sp>
        <p:nvSpPr>
          <p:cNvPr id="72" name="Text 11"/>
          <p:cNvSpPr/>
          <p:nvPr/>
        </p:nvSpPr>
        <p:spPr>
          <a:xfrm>
            <a:off x="466725" y="914400"/>
            <a:ext cx="5855970" cy="3287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원칙 및 통합 측정 기준</a:t>
            </a:r>
            <a:endParaRPr lang="en-US" sz="2175" dirty="0"/>
          </a:p>
        </p:txBody>
      </p:sp>
      <p:sp>
        <p:nvSpPr>
          <p:cNvPr id="73" name="Text 12"/>
          <p:cNvSpPr/>
          <p:nvPr/>
        </p:nvSpPr>
        <p:spPr>
          <a:xfrm>
            <a:off x="762446" y="5095875"/>
            <a:ext cx="1665833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카드·후보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선택지를 먼저 요청,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실행 금지</a:t>
            </a:r>
            <a:endParaRPr lang="en-US" sz="1425" dirty="0"/>
          </a:p>
        </p:txBody>
      </p:sp>
      <p:sp>
        <p:nvSpPr>
          <p:cNvPr id="74" name="Text 13"/>
          <p:cNvSpPr/>
          <p:nvPr/>
        </p:nvSpPr>
        <p:spPr>
          <a:xfrm>
            <a:off x="2747367" y="5095875"/>
            <a:ext cx="2210693" cy="7545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요청은 semantic</a:t>
            </a:r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 포로</a:t>
            </a:r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 후 옵션 선택</a:t>
            </a:r>
            <a:endParaRPr lang="en-US" sz="1650" dirty="0"/>
          </a:p>
        </p:txBody>
      </p:sp>
      <p:sp>
        <p:nvSpPr>
          <p:cNvPr id="75" name="Text 14"/>
          <p:cNvSpPr/>
          <p:nvPr/>
        </p:nvSpPr>
        <p:spPr>
          <a:xfrm>
            <a:off x="5049143" y="5095875"/>
            <a:ext cx="2284065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품질 평가와</a:t>
            </a:r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별도로 팀 내 아이디어</a:t>
            </a:r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중복을 확인</a:t>
            </a:r>
            <a:endParaRPr lang="en-US" sz="1725" dirty="0"/>
          </a:p>
        </p:txBody>
      </p:sp>
      <p:sp>
        <p:nvSpPr>
          <p:cNvPr id="76" name="Text 15"/>
          <p:cNvSpPr/>
          <p:nvPr/>
        </p:nvSpPr>
        <p:spPr>
          <a:xfrm>
            <a:off x="7409408" y="5095875"/>
            <a:ext cx="2325886" cy="7201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conservative-remote-</a:t>
            </a:r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contrarian branch를</a:t>
            </a:r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이유와 함께 기록</a:t>
            </a:r>
            <a:endParaRPr lang="en-US" sz="1575" dirty="0"/>
          </a:p>
        </p:txBody>
      </p:sp>
      <p:sp>
        <p:nvSpPr>
          <p:cNvPr id="77" name="Text 16"/>
          <p:cNvSpPr/>
          <p:nvPr/>
        </p:nvSpPr>
        <p:spPr>
          <a:xfrm>
            <a:off x="10106025" y="5095875"/>
            <a:ext cx="1781175" cy="15604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카드 수</a:t>
            </a:r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기준 수립</a:t>
            </a:r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refinement 횟수</a:t>
            </a:r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branch 보존</a:t>
            </a:r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5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중복율</a:t>
            </a:r>
            <a:endParaRPr lang="en-US" sz="1575" dirty="0"/>
          </a:p>
        </p:txBody>
      </p:sp>
      <p:sp>
        <p:nvSpPr>
          <p:cNvPr id="78" name="Text 17"/>
          <p:cNvSpPr/>
          <p:nvPr/>
        </p:nvSpPr>
        <p:spPr>
          <a:xfrm>
            <a:off x="1108621" y="4429125"/>
            <a:ext cx="754261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 ✕</a:t>
            </a:r>
            <a:endParaRPr lang="en-US" sz="1425" dirty="0"/>
          </a:p>
        </p:txBody>
      </p:sp>
      <p:sp>
        <p:nvSpPr>
          <p:cNvPr id="79" name="Text 18"/>
          <p:cNvSpPr/>
          <p:nvPr/>
        </p:nvSpPr>
        <p:spPr>
          <a:xfrm>
            <a:off x="1173956" y="1752600"/>
            <a:ext cx="576263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1</a:t>
            </a:r>
            <a:endParaRPr lang="en-US" sz="1425" dirty="0"/>
          </a:p>
        </p:txBody>
      </p:sp>
      <p:sp>
        <p:nvSpPr>
          <p:cNvPr id="80" name="Text 19"/>
          <p:cNvSpPr/>
          <p:nvPr/>
        </p:nvSpPr>
        <p:spPr>
          <a:xfrm>
            <a:off x="3487489" y="1752600"/>
            <a:ext cx="59709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2</a:t>
            </a:r>
            <a:endParaRPr lang="en-US" sz="1425" dirty="0"/>
          </a:p>
        </p:txBody>
      </p:sp>
      <p:sp>
        <p:nvSpPr>
          <p:cNvPr id="81" name="Text 20"/>
          <p:cNvSpPr/>
          <p:nvPr/>
        </p:nvSpPr>
        <p:spPr>
          <a:xfrm>
            <a:off x="5869186" y="1752600"/>
            <a:ext cx="58668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3</a:t>
            </a:r>
            <a:endParaRPr lang="en-US" sz="1425" dirty="0"/>
          </a:p>
        </p:txBody>
      </p:sp>
      <p:sp>
        <p:nvSpPr>
          <p:cNvPr id="82" name="Text 21"/>
          <p:cNvSpPr/>
          <p:nvPr/>
        </p:nvSpPr>
        <p:spPr>
          <a:xfrm>
            <a:off x="8183314" y="1752600"/>
            <a:ext cx="59709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4</a:t>
            </a:r>
            <a:endParaRPr lang="en-US" sz="1425" dirty="0"/>
          </a:p>
        </p:txBody>
      </p:sp>
      <p:sp>
        <p:nvSpPr>
          <p:cNvPr id="83" name="Text 22"/>
          <p:cNvSpPr/>
          <p:nvPr/>
        </p:nvSpPr>
        <p:spPr>
          <a:xfrm>
            <a:off x="10426452" y="1752600"/>
            <a:ext cx="911423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기준</a:t>
            </a:r>
            <a:endParaRPr lang="en-US" sz="1425" dirty="0"/>
          </a:p>
        </p:txBody>
      </p:sp>
      <p:sp>
        <p:nvSpPr>
          <p:cNvPr id="84" name="Text 23"/>
          <p:cNvSpPr/>
          <p:nvPr/>
        </p:nvSpPr>
        <p:spPr>
          <a:xfrm>
            <a:off x="5808315" y="6638925"/>
            <a:ext cx="670471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  <p:sp>
        <p:nvSpPr>
          <p:cNvPr id="85" name="Text 24"/>
          <p:cNvSpPr/>
          <p:nvPr/>
        </p:nvSpPr>
        <p:spPr>
          <a:xfrm>
            <a:off x="502444" y="2181225"/>
            <a:ext cx="1938337" cy="5920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대안 먼저,</a:t>
            </a:r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산출물은 그 다음</a:t>
            </a:r>
            <a:endParaRPr lang="en-US" sz="2100" dirty="0"/>
          </a:p>
        </p:txBody>
      </p:sp>
      <p:sp>
        <p:nvSpPr>
          <p:cNvPr id="86" name="Text 25"/>
          <p:cNvSpPr/>
          <p:nvPr/>
        </p:nvSpPr>
        <p:spPr>
          <a:xfrm>
            <a:off x="2815977" y="2181225"/>
            <a:ext cx="1959173" cy="5920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AI 해석을</a:t>
            </a:r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실행 전에 가시화</a:t>
            </a:r>
            <a:endParaRPr lang="en-US" sz="2100" dirty="0"/>
          </a:p>
        </p:txBody>
      </p:sp>
      <p:sp>
        <p:nvSpPr>
          <p:cNvPr id="87" name="Text 26"/>
          <p:cNvSpPr/>
          <p:nvPr/>
        </p:nvSpPr>
        <p:spPr>
          <a:xfrm>
            <a:off x="5341590" y="2181225"/>
            <a:ext cx="1718221" cy="5920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다양성은</a:t>
            </a:r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팀 단위로 측정</a:t>
            </a:r>
            <a:endParaRPr lang="en-US" sz="2100" dirty="0"/>
          </a:p>
        </p:txBody>
      </p:sp>
      <p:sp>
        <p:nvSpPr>
          <p:cNvPr id="88" name="Text 27"/>
          <p:cNvSpPr/>
          <p:nvPr/>
        </p:nvSpPr>
        <p:spPr>
          <a:xfrm>
            <a:off x="7706618" y="2181225"/>
            <a:ext cx="1655415" cy="5920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기각된 분기와</a:t>
            </a:r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2331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이유를 보존</a:t>
            </a:r>
            <a:endParaRPr lang="en-US" sz="2100" dirty="0"/>
          </a:p>
        </p:txBody>
      </p:sp>
      <p:sp>
        <p:nvSpPr>
          <p:cNvPr id="89" name="Text 28"/>
          <p:cNvSpPr/>
          <p:nvPr/>
        </p:nvSpPr>
        <p:spPr>
          <a:xfrm>
            <a:off x="10249346" y="2181225"/>
            <a:ext cx="1246733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1"/>
              </a:lnSpc>
              <a:buNone/>
            </a:pPr>
            <a:r>
              <a:rPr lang="en-US" sz="1875" b="1" dirty="0">
                <a:solidFill>
                  <a:srgbClr val="000000"/>
                </a:solidFill>
              </a:rPr>
              <a:t>5가지 적용</a:t>
            </a:r>
            <a:endParaRPr lang="en-US" sz="1875" dirty="0"/>
          </a:p>
        </p:txBody>
      </p:sp>
      <p:sp>
        <p:nvSpPr>
          <p:cNvPr id="90" name="Text 29"/>
          <p:cNvSpPr/>
          <p:nvPr/>
        </p:nvSpPr>
        <p:spPr>
          <a:xfrm>
            <a:off x="557659" y="4924425"/>
            <a:ext cx="722858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125" dirty="0"/>
          </a:p>
        </p:txBody>
      </p:sp>
      <p:sp>
        <p:nvSpPr>
          <p:cNvPr id="91" name="Text 30"/>
          <p:cNvSpPr/>
          <p:nvPr/>
        </p:nvSpPr>
        <p:spPr>
          <a:xfrm>
            <a:off x="2844105" y="4924425"/>
            <a:ext cx="1341090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요소</a:t>
            </a:r>
            <a:endParaRPr lang="en-US" sz="1125" dirty="0"/>
          </a:p>
        </p:txBody>
      </p:sp>
      <p:sp>
        <p:nvSpPr>
          <p:cNvPr id="92" name="Text 31"/>
          <p:cNvSpPr/>
          <p:nvPr/>
        </p:nvSpPr>
        <p:spPr>
          <a:xfrm>
            <a:off x="5087689" y="4924425"/>
            <a:ext cx="1435298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품질</a:t>
            </a:r>
            <a:endParaRPr lang="en-US" sz="1125" dirty="0"/>
          </a:p>
        </p:txBody>
      </p:sp>
      <p:sp>
        <p:nvSpPr>
          <p:cNvPr id="93" name="Text 32"/>
          <p:cNvSpPr/>
          <p:nvPr/>
        </p:nvSpPr>
        <p:spPr>
          <a:xfrm>
            <a:off x="7435602" y="4924425"/>
            <a:ext cx="1749623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branch 분석</a:t>
            </a:r>
            <a:endParaRPr lang="en-US" sz="1125" dirty="0"/>
          </a:p>
        </p:txBody>
      </p:sp>
      <p:sp>
        <p:nvSpPr>
          <p:cNvPr id="94" name="Text 33"/>
          <p:cNvSpPr/>
          <p:nvPr/>
        </p:nvSpPr>
        <p:spPr>
          <a:xfrm>
            <a:off x="10073134" y="4924425"/>
            <a:ext cx="722858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요소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2026-04-28T16:39:07Z</dcterms:created>
  <dcterms:modified xsi:type="dcterms:W3CDTF">2026-04-28T16:39:07Z</dcterms:modified>
</cp:coreProperties>
</file>