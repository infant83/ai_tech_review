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embeddedFontLst>
    <p:embeddedFont>
      <p:font typeface="Noto Sans KR"/>
      <p:regular r:id="rId201314"/>
      <p:bold r:id="rId3013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301314" Target="fonts/301314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1842" y="2314575"/>
            <a:ext cx="11221343" cy="79340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6247"/>
              </a:lnSpc>
              <a:buNone/>
            </a:pPr>
            <a:r>
              <a:rPr lang="en-US" sz="525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협업은 첫 산출물을 낮출수록 넓어진다</a:t>
            </a:r>
            <a:endParaRPr lang="en-US" sz="5250" dirty="0"/>
          </a:p>
        </p:txBody>
      </p:sp>
      <p:sp>
        <p:nvSpPr>
          <p:cNvPr id="4" name="Text 1"/>
          <p:cNvSpPr/>
          <p:nvPr/>
        </p:nvSpPr>
        <p:spPr>
          <a:xfrm>
            <a:off x="1380530" y="3829050"/>
            <a:ext cx="9440168" cy="39722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3128"/>
              </a:lnSpc>
              <a:buNone/>
            </a:pPr>
            <a:r>
              <a:rPr lang="en-US" sz="225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Exploration vs. Fixation 논문 기반 실무 리뷰 / arXiv:2512.18388v2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463677" y="4981575"/>
            <a:ext cx="5311973" cy="39722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3128"/>
              </a:lnSpc>
              <a:buNone/>
            </a:pPr>
            <a:r>
              <a:rPr lang="en-US" sz="225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Wen et al., 2026-04-28 내부 기술 리뷰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285750" y="6457950"/>
            <a:ext cx="2514600" cy="24943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63"/>
              </a:lnSpc>
              <a:buNone/>
            </a:pPr>
            <a:r>
              <a:rPr lang="en-US" sz="1650" b="1" dirty="0">
                <a:solidFill>
                  <a:srgbClr val="A900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5740598" y="6534150"/>
            <a:ext cx="691455" cy="1473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160"/>
              </a:lnSpc>
              <a:buNone/>
            </a:pPr>
            <a:r>
              <a:rPr lang="en-US" sz="975" dirty="0">
                <a:solidFill>
                  <a:srgbClr val="787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9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04800"/>
            <a:ext cx="7132320" cy="56688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4464"/>
              </a:lnSpc>
              <a:buNone/>
            </a:pPr>
            <a:r>
              <a:rPr lang="en-US" sz="3600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논문이 던지는 실무 질문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355753" y="1600200"/>
            <a:ext cx="3499396" cy="36924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907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논문이 던지는 실무 질문</a:t>
            </a:r>
            <a:endParaRPr lang="en-US" sz="2550" dirty="0"/>
          </a:p>
        </p:txBody>
      </p:sp>
      <p:sp>
        <p:nvSpPr>
          <p:cNvPr id="5" name="Text 2"/>
          <p:cNvSpPr/>
          <p:nvPr/>
        </p:nvSpPr>
        <p:spPr>
          <a:xfrm>
            <a:off x="2486025" y="2314575"/>
            <a:ext cx="6223546" cy="99744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927"/>
              </a:lnSpc>
              <a:buNone/>
            </a:pPr>
            <a:r>
              <a:rPr lang="en-US" sz="2550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•첫 결과물이 너무 빨리 나오면 이후 판단이</a:t>
            </a:r>
            <a:pPr indent="0" marL="0">
              <a:lnSpc>
                <a:spcPts val="3927"/>
              </a:lnSpc>
              <a:buNone/>
            </a:pPr>
            <a:r>
              <a:rPr lang="en-US" sz="2550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3927"/>
              </a:lnSpc>
              <a:buNone/>
            </a:pPr>
            <a:r>
              <a:rPr lang="en-US" sz="2550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 결과물에 묶인다.</a:t>
            </a:r>
            <a:endParaRPr lang="en-US" sz="2550" dirty="0"/>
          </a:p>
        </p:txBody>
      </p:sp>
      <p:sp>
        <p:nvSpPr>
          <p:cNvPr id="6" name="Text 3"/>
          <p:cNvSpPr/>
          <p:nvPr/>
        </p:nvSpPr>
        <p:spPr>
          <a:xfrm>
            <a:off x="2486025" y="3343275"/>
            <a:ext cx="9705975" cy="49872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927"/>
              </a:lnSpc>
              <a:buNone/>
            </a:pPr>
            <a:r>
              <a:rPr lang="en-US" sz="2550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•좋은 프롬프트보다 먼저 필요한 것은 작업 순서 설계다.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2486025" y="3952875"/>
            <a:ext cx="6611243" cy="99744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927"/>
              </a:lnSpc>
              <a:buNone/>
            </a:pPr>
            <a:r>
              <a:rPr lang="en-US" sz="2550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•AI 사용자는 산출물 생성 전에 대한 탐색 폭을</a:t>
            </a:r>
            <a:pPr indent="0" marL="0">
              <a:lnSpc>
                <a:spcPts val="3927"/>
              </a:lnSpc>
              <a:buNone/>
            </a:pPr>
            <a:r>
              <a:rPr lang="en-US" sz="2550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3927"/>
              </a:lnSpc>
              <a:buNone/>
            </a:pPr>
            <a:r>
              <a:rPr lang="en-US" sz="2550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확보해야 한다.</a:t>
            </a:r>
            <a:endParaRPr lang="en-US" sz="2550" dirty="0"/>
          </a:p>
        </p:txBody>
      </p:sp>
      <p:sp>
        <p:nvSpPr>
          <p:cNvPr id="8" name="Text 5"/>
          <p:cNvSpPr/>
          <p:nvPr/>
        </p:nvSpPr>
        <p:spPr>
          <a:xfrm>
            <a:off x="2486025" y="4981575"/>
            <a:ext cx="9705975" cy="49872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927"/>
              </a:lnSpc>
              <a:buNone/>
            </a:pPr>
            <a:r>
              <a:rPr lang="en-US" sz="2550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•이 논문은 도구 성능보다 협업 흐름을 다룬다.</a:t>
            </a:r>
            <a:endParaRPr lang="en-US" sz="2550" dirty="0"/>
          </a:p>
        </p:txBody>
      </p:sp>
      <p:sp>
        <p:nvSpPr>
          <p:cNvPr id="9" name="Text 6"/>
          <p:cNvSpPr/>
          <p:nvPr/>
        </p:nvSpPr>
        <p:spPr>
          <a:xfrm>
            <a:off x="285750" y="6419850"/>
            <a:ext cx="285750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25"/>
              </a:lnSpc>
              <a:buNone/>
            </a:pPr>
            <a:r>
              <a:rPr lang="en-US" sz="1875" b="1" dirty="0">
                <a:solidFill>
                  <a:srgbClr val="8080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875" dirty="0"/>
          </a:p>
        </p:txBody>
      </p:sp>
      <p:sp>
        <p:nvSpPr>
          <p:cNvPr id="10" name="Text 7"/>
          <p:cNvSpPr/>
          <p:nvPr/>
        </p:nvSpPr>
        <p:spPr>
          <a:xfrm>
            <a:off x="5740598" y="6553200"/>
            <a:ext cx="691455" cy="16534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302"/>
              </a:lnSpc>
              <a:buNone/>
            </a:pPr>
            <a:r>
              <a:rPr lang="en-US" sz="1050" dirty="0">
                <a:solidFill>
                  <a:srgbClr val="8080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14325"/>
            <a:ext cx="5486400" cy="5485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고착이 생기는 과정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679603" y="1571625"/>
            <a:ext cx="2870746" cy="38859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3060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고착이 생기는 과정</a:t>
            </a:r>
            <a:endParaRPr lang="en-US" sz="2550" dirty="0"/>
          </a:p>
        </p:txBody>
      </p:sp>
      <p:sp>
        <p:nvSpPr>
          <p:cNvPr id="5" name="Text 2"/>
          <p:cNvSpPr/>
          <p:nvPr/>
        </p:nvSpPr>
        <p:spPr>
          <a:xfrm>
            <a:off x="2521148" y="5038725"/>
            <a:ext cx="718750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3375"/>
              </a:lnSpc>
              <a:buNone/>
            </a:pPr>
            <a:r>
              <a:rPr lang="en-US" sz="2700" b="1" i="1" dirty="0">
                <a:solidFill>
                  <a:srgbClr val="6E69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결과물은 빨리 나오지만 탐색 범위는 좁아진다.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722983" y="3267075"/>
            <a:ext cx="1487686" cy="70395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772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즉시</a:t>
            </a:r>
            <a:pPr algn="ctr" indent="0" marL="0">
              <a:lnSpc>
                <a:spcPts val="2772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772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산출물 생성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3869531" y="3267075"/>
            <a:ext cx="2043113" cy="70395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772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첫 결과물이</a:t>
            </a:r>
            <a:pPr algn="ctr" indent="0" marL="0">
              <a:lnSpc>
                <a:spcPts val="2772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772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기준점으로 작동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226969" y="3267075"/>
            <a:ext cx="2147888" cy="70395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772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사용자는</a:t>
            </a:r>
            <a:pPr algn="ctr" indent="0" marL="0">
              <a:lnSpc>
                <a:spcPts val="2772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772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로컬 수정에 집중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8959155" y="3267075"/>
            <a:ext cx="1550640" cy="70395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772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 대한 탐색</a:t>
            </a:r>
            <a:pPr algn="ctr" indent="0" marL="0">
              <a:lnSpc>
                <a:spcPts val="2772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772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기회 감소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285750" y="6448425"/>
            <a:ext cx="3086100" cy="30867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30"/>
              </a:lnSpc>
              <a:buNone/>
            </a:pPr>
            <a:r>
              <a:rPr lang="en-US" sz="2025" b="1" dirty="0">
                <a:solidFill>
                  <a:srgbClr val="6E69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2025" dirty="0"/>
          </a:p>
        </p:txBody>
      </p:sp>
      <p:sp>
        <p:nvSpPr>
          <p:cNvPr id="11" name="Text 8"/>
          <p:cNvSpPr/>
          <p:nvPr/>
        </p:nvSpPr>
        <p:spPr>
          <a:xfrm>
            <a:off x="5740152" y="6553200"/>
            <a:ext cx="701873" cy="15433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215"/>
              </a:lnSpc>
              <a:buNone/>
            </a:pPr>
            <a:r>
              <a:rPr lang="en-US" sz="1125" dirty="0">
                <a:solidFill>
                  <a:srgbClr val="6E69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11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04800"/>
            <a:ext cx="8229600" cy="56688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4464"/>
              </a:lnSpc>
              <a:buNone/>
            </a:pPr>
            <a:r>
              <a:rPr lang="en-US" sz="3600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HAICo가 바꾼 인터페이스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158109" y="1600200"/>
            <a:ext cx="3866108" cy="37400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945"/>
              </a:lnSpc>
              <a:buNone/>
            </a:pPr>
            <a:r>
              <a:rPr lang="en-US" sz="24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HAICo가 바꾼 인터페이스</a:t>
            </a:r>
            <a:endParaRPr lang="en-US" sz="2475" dirty="0"/>
          </a:p>
        </p:txBody>
      </p:sp>
      <p:sp>
        <p:nvSpPr>
          <p:cNvPr id="5" name="Text 2"/>
          <p:cNvSpPr/>
          <p:nvPr/>
        </p:nvSpPr>
        <p:spPr>
          <a:xfrm>
            <a:off x="2514600" y="2381250"/>
            <a:ext cx="8858250" cy="41046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232"/>
              </a:lnSpc>
              <a:buNone/>
            </a:pPr>
            <a:r>
              <a:rPr lang="en-US" sz="232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•발산 모드: 아이디어 카드와 원격 연상 제안</a:t>
            </a:r>
            <a:endParaRPr lang="en-US" sz="2325" dirty="0"/>
          </a:p>
        </p:txBody>
      </p:sp>
      <p:sp>
        <p:nvSpPr>
          <p:cNvPr id="6" name="Text 3"/>
          <p:cNvSpPr/>
          <p:nvPr/>
        </p:nvSpPr>
        <p:spPr>
          <a:xfrm>
            <a:off x="2514600" y="2876550"/>
            <a:ext cx="9677400" cy="41046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232"/>
              </a:lnSpc>
              <a:buNone/>
            </a:pPr>
            <a:r>
              <a:rPr lang="en-US" sz="232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•수렴 모드: semantic parameter와 선택지 조정</a:t>
            </a:r>
            <a:endParaRPr lang="en-US" sz="2325" dirty="0"/>
          </a:p>
        </p:txBody>
      </p:sp>
      <p:sp>
        <p:nvSpPr>
          <p:cNvPr id="7" name="Text 4"/>
          <p:cNvSpPr/>
          <p:nvPr/>
        </p:nvSpPr>
        <p:spPr>
          <a:xfrm>
            <a:off x="2514600" y="3371850"/>
            <a:ext cx="8149590" cy="41046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232"/>
              </a:lnSpc>
              <a:buNone/>
            </a:pPr>
            <a:r>
              <a:rPr lang="en-US" sz="232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•기록 구조: 버린 분기와 선택 이유 보존</a:t>
            </a:r>
            <a:endParaRPr lang="en-US" sz="2325" dirty="0"/>
          </a:p>
        </p:txBody>
      </p:sp>
      <p:sp>
        <p:nvSpPr>
          <p:cNvPr id="8" name="Text 5"/>
          <p:cNvSpPr/>
          <p:nvPr/>
        </p:nvSpPr>
        <p:spPr>
          <a:xfrm>
            <a:off x="2514600" y="3867150"/>
            <a:ext cx="7440930" cy="41046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232"/>
              </a:lnSpc>
              <a:buNone/>
            </a:pPr>
            <a:r>
              <a:rPr lang="en-US" sz="232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•목적: 생성 전에 탐색을 구조화한다.</a:t>
            </a:r>
            <a:endParaRPr lang="en-US" sz="2325" dirty="0"/>
          </a:p>
        </p:txBody>
      </p:sp>
      <p:sp>
        <p:nvSpPr>
          <p:cNvPr id="9" name="Text 6"/>
          <p:cNvSpPr/>
          <p:nvPr/>
        </p:nvSpPr>
        <p:spPr>
          <a:xfrm>
            <a:off x="304800" y="6496050"/>
            <a:ext cx="2400300" cy="19809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59"/>
              </a:lnSpc>
              <a:buNone/>
            </a:pPr>
            <a:r>
              <a:rPr lang="en-US" sz="1575" b="1" dirty="0">
                <a:solidFill>
                  <a:srgbClr val="8080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575" dirty="0"/>
          </a:p>
        </p:txBody>
      </p:sp>
      <p:sp>
        <p:nvSpPr>
          <p:cNvPr id="10" name="Text 7"/>
          <p:cNvSpPr/>
          <p:nvPr/>
        </p:nvSpPr>
        <p:spPr>
          <a:xfrm>
            <a:off x="5740598" y="6553200"/>
            <a:ext cx="691455" cy="1473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160"/>
              </a:lnSpc>
              <a:buNone/>
            </a:pPr>
            <a:r>
              <a:rPr lang="en-US" sz="975" dirty="0">
                <a:solidFill>
                  <a:srgbClr val="BFBF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9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0550" y="400050"/>
            <a:ext cx="2343150" cy="4686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690"/>
              </a:lnSpc>
              <a:buNone/>
            </a:pPr>
            <a:r>
              <a:rPr lang="en-US" sz="3075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실험 결과</a:t>
            </a:r>
            <a:endParaRPr lang="en-US" sz="3075" dirty="0"/>
          </a:p>
        </p:txBody>
      </p:sp>
      <p:sp>
        <p:nvSpPr>
          <p:cNvPr id="4" name="Text 1"/>
          <p:cNvSpPr/>
          <p:nvPr/>
        </p:nvSpPr>
        <p:spPr>
          <a:xfrm>
            <a:off x="5403056" y="1628775"/>
            <a:ext cx="1414463" cy="38085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999"/>
              </a:lnSpc>
              <a:buNone/>
            </a:pPr>
            <a:r>
              <a:rPr lang="en-US" sz="23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실험 결과</a:t>
            </a:r>
            <a:endParaRPr lang="en-US" sz="2325" dirty="0"/>
          </a:p>
        </p:txBody>
      </p:sp>
      <p:sp>
        <p:nvSpPr>
          <p:cNvPr id="5" name="Text 2"/>
          <p:cNvSpPr/>
          <p:nvPr/>
        </p:nvSpPr>
        <p:spPr>
          <a:xfrm>
            <a:off x="2543175" y="2371725"/>
            <a:ext cx="9648825" cy="33173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612"/>
              </a:lnSpc>
              <a:buNone/>
            </a:pPr>
            <a:r>
              <a:rPr lang="en-US" sz="202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N=24, within-subjects poster task</a:t>
            </a:r>
            <a:endParaRPr lang="en-US" sz="2025" dirty="0"/>
          </a:p>
        </p:txBody>
      </p:sp>
      <p:sp>
        <p:nvSpPr>
          <p:cNvPr id="6" name="Text 3"/>
          <p:cNvSpPr/>
          <p:nvPr/>
        </p:nvSpPr>
        <p:spPr>
          <a:xfrm>
            <a:off x="2543175" y="2828925"/>
            <a:ext cx="9608820" cy="3195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16"/>
              </a:lnSpc>
              <a:buNone/>
            </a:pPr>
            <a:r>
              <a:rPr lang="en-US" sz="195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UMUX-Lite: </a:t>
            </a:r>
            <a:pPr indent="0" marL="0">
              <a:lnSpc>
                <a:spcPts val="2516"/>
              </a:lnSpc>
              <a:buNone/>
            </a:pPr>
            <a:r>
              <a:rPr lang="en-US" sz="1950" b="1" dirty="0">
                <a:solidFill>
                  <a:srgbClr val="8000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81.25</a:t>
            </a:r>
            <a:pPr indent="0" marL="0">
              <a:lnSpc>
                <a:spcPts val="2516"/>
              </a:lnSpc>
              <a:buNone/>
            </a:pPr>
            <a:r>
              <a:rPr lang="en-US" sz="195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vs 64.24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2543175" y="4029075"/>
            <a:ext cx="8023860" cy="3195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16"/>
              </a:lnSpc>
              <a:buNone/>
            </a:pPr>
            <a:r>
              <a:rPr lang="en-US" sz="195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Novelty: </a:t>
            </a:r>
            <a:pPr indent="0" marL="0">
              <a:lnSpc>
                <a:spcPts val="2516"/>
              </a:lnSpc>
              <a:buNone/>
            </a:pPr>
            <a:r>
              <a:rPr lang="en-US" sz="1950" b="1" dirty="0">
                <a:solidFill>
                  <a:srgbClr val="8000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3.22</a:t>
            </a:r>
            <a:pPr indent="0" marL="0">
              <a:lnSpc>
                <a:spcPts val="2516"/>
              </a:lnSpc>
              <a:buNone/>
            </a:pPr>
            <a:r>
              <a:rPr lang="en-US" sz="195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vs 2.41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2543175" y="4486275"/>
            <a:ext cx="8949690" cy="33173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612"/>
              </a:lnSpc>
              <a:buNone/>
            </a:pPr>
            <a:r>
              <a:rPr lang="en-US" sz="202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Diversity: </a:t>
            </a:r>
            <a:pPr indent="0" marL="0">
              <a:lnSpc>
                <a:spcPts val="2612"/>
              </a:lnSpc>
              <a:buNone/>
            </a:pPr>
            <a:r>
              <a:rPr lang="en-US" sz="2025" b="1" dirty="0">
                <a:solidFill>
                  <a:srgbClr val="8000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0.48</a:t>
            </a:r>
            <a:pPr indent="0" marL="0">
              <a:lnSpc>
                <a:spcPts val="2612"/>
              </a:lnSpc>
              <a:buNone/>
            </a:pPr>
            <a:r>
              <a:rPr lang="en-US" sz="202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vs 0.36</a:t>
            </a:r>
            <a:endParaRPr lang="en-US" sz="2025" dirty="0"/>
          </a:p>
        </p:txBody>
      </p:sp>
      <p:sp>
        <p:nvSpPr>
          <p:cNvPr id="9" name="Text 6"/>
          <p:cNvSpPr/>
          <p:nvPr/>
        </p:nvSpPr>
        <p:spPr>
          <a:xfrm>
            <a:off x="2543175" y="4933950"/>
            <a:ext cx="8572500" cy="36864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903"/>
              </a:lnSpc>
              <a:buNone/>
            </a:pPr>
            <a:r>
              <a:rPr lang="en-US" sz="225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수정 횟수: </a:t>
            </a:r>
            <a:pPr indent="0" marL="0">
              <a:lnSpc>
                <a:spcPts val="2903"/>
              </a:lnSpc>
              <a:buNone/>
            </a:pPr>
            <a:r>
              <a:rPr lang="en-US" sz="2250" b="1" dirty="0">
                <a:solidFill>
                  <a:srgbClr val="8000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1.56</a:t>
            </a:r>
            <a:pPr indent="0" marL="0">
              <a:lnSpc>
                <a:spcPts val="2903"/>
              </a:lnSpc>
              <a:buNone/>
            </a:pPr>
            <a:r>
              <a:rPr lang="en-US" sz="225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vs 2.94</a:t>
            </a:r>
            <a:endParaRPr lang="en-US" sz="2250" dirty="0"/>
          </a:p>
        </p:txBody>
      </p:sp>
      <p:sp>
        <p:nvSpPr>
          <p:cNvPr id="10" name="Text 7"/>
          <p:cNvSpPr/>
          <p:nvPr/>
        </p:nvSpPr>
        <p:spPr>
          <a:xfrm>
            <a:off x="2543175" y="5372100"/>
            <a:ext cx="9648825" cy="38085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999"/>
              </a:lnSpc>
              <a:buNone/>
            </a:pPr>
            <a:r>
              <a:rPr lang="en-US" sz="232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Fluency와 Usefulness는 유의한 차이가 없었다.</a:t>
            </a:r>
            <a:endParaRPr lang="en-US" sz="2325" dirty="0"/>
          </a:p>
        </p:txBody>
      </p:sp>
      <p:sp>
        <p:nvSpPr>
          <p:cNvPr id="11" name="Text 8"/>
          <p:cNvSpPr/>
          <p:nvPr/>
        </p:nvSpPr>
        <p:spPr>
          <a:xfrm>
            <a:off x="285750" y="6457950"/>
            <a:ext cx="2400300" cy="23797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74"/>
              </a:lnSpc>
              <a:buNone/>
            </a:pPr>
            <a:r>
              <a:rPr lang="en-US" sz="1575" b="1" dirty="0">
                <a:solidFill>
                  <a:srgbClr val="8000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575" dirty="0"/>
          </a:p>
        </p:txBody>
      </p:sp>
      <p:sp>
        <p:nvSpPr>
          <p:cNvPr id="12" name="Text 9"/>
          <p:cNvSpPr/>
          <p:nvPr/>
        </p:nvSpPr>
        <p:spPr>
          <a:xfrm>
            <a:off x="5740598" y="6543675"/>
            <a:ext cx="691455" cy="1473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160"/>
              </a:lnSpc>
              <a:buNone/>
            </a:pPr>
            <a:r>
              <a:rPr lang="en-US" sz="975" dirty="0">
                <a:solidFill>
                  <a:srgbClr val="8080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0550" y="304800"/>
            <a:ext cx="8778240" cy="56688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4464"/>
              </a:lnSpc>
              <a:buNone/>
            </a:pPr>
            <a:r>
              <a:rPr lang="en-US" sz="3600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사용자가 배우는 것이 달라진다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3798987" y="1600200"/>
            <a:ext cx="4641503" cy="38531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3035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사용자가 배우는 것이 달라진다</a:t>
            </a:r>
            <a:endParaRPr lang="en-US" sz="2550" dirty="0"/>
          </a:p>
        </p:txBody>
      </p:sp>
      <p:sp>
        <p:nvSpPr>
          <p:cNvPr id="5" name="Text 2"/>
          <p:cNvSpPr/>
          <p:nvPr/>
        </p:nvSpPr>
        <p:spPr>
          <a:xfrm>
            <a:off x="2486025" y="2362200"/>
            <a:ext cx="9705975" cy="45020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545"/>
              </a:lnSpc>
              <a:buNone/>
            </a:pPr>
            <a:r>
              <a:rPr lang="en-US" sz="2550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ChatGPT 조건: 시스템 사용법과 프롬프트 요령 학습</a:t>
            </a:r>
            <a:endParaRPr lang="en-US" sz="2550" dirty="0"/>
          </a:p>
        </p:txBody>
      </p:sp>
      <p:sp>
        <p:nvSpPr>
          <p:cNvPr id="6" name="Text 3"/>
          <p:cNvSpPr/>
          <p:nvPr/>
        </p:nvSpPr>
        <p:spPr>
          <a:xfrm>
            <a:off x="2486025" y="3324225"/>
            <a:ext cx="9705975" cy="45020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545"/>
              </a:lnSpc>
              <a:buNone/>
            </a:pPr>
            <a:r>
              <a:rPr lang="en-US" sz="2550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HAICo 조건: 과제 지식, 새로운 방향, 작업 흐름 학습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2486025" y="4314825"/>
            <a:ext cx="9705975" cy="45020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545"/>
              </a:lnSpc>
              <a:buNone/>
            </a:pPr>
            <a:r>
              <a:rPr lang="en-US" sz="2550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전이 결과: brainstorming-first 전략 사용 증가</a:t>
            </a:r>
            <a:endParaRPr lang="en-US" sz="2550" dirty="0"/>
          </a:p>
        </p:txBody>
      </p:sp>
      <p:sp>
        <p:nvSpPr>
          <p:cNvPr id="8" name="Text 5"/>
          <p:cNvSpPr/>
          <p:nvPr/>
        </p:nvSpPr>
        <p:spPr>
          <a:xfrm>
            <a:off x="2486025" y="5276850"/>
            <a:ext cx="9705975" cy="45020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545"/>
              </a:lnSpc>
              <a:buNone/>
            </a:pPr>
            <a:r>
              <a:rPr lang="en-US" sz="2550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판단: 도구 조작 학습에서 문제 탐색 학습으로 이동한다.</a:t>
            </a:r>
            <a:endParaRPr lang="en-US" sz="2550" dirty="0"/>
          </a:p>
        </p:txBody>
      </p:sp>
      <p:sp>
        <p:nvSpPr>
          <p:cNvPr id="9" name="Text 6"/>
          <p:cNvSpPr/>
          <p:nvPr/>
        </p:nvSpPr>
        <p:spPr>
          <a:xfrm>
            <a:off x="285750" y="6457950"/>
            <a:ext cx="262890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25"/>
              </a:lnSpc>
              <a:buNone/>
            </a:pPr>
            <a:r>
              <a:rPr lang="en-US" sz="1725" b="1" dirty="0">
                <a:solidFill>
                  <a:srgbClr val="A9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725" dirty="0"/>
          </a:p>
        </p:txBody>
      </p:sp>
      <p:sp>
        <p:nvSpPr>
          <p:cNvPr id="10" name="Text 7"/>
          <p:cNvSpPr/>
          <p:nvPr/>
        </p:nvSpPr>
        <p:spPr>
          <a:xfrm>
            <a:off x="5760690" y="6543675"/>
            <a:ext cx="670471" cy="1485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170"/>
              </a:lnSpc>
              <a:buNone/>
            </a:pPr>
            <a:r>
              <a:rPr lang="en-US" sz="975" dirty="0">
                <a:solidFill>
                  <a:srgbClr val="9E9E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9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0550" y="304800"/>
            <a:ext cx="8778240" cy="56688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4464"/>
              </a:lnSpc>
              <a:buNone/>
            </a:pPr>
            <a:r>
              <a:rPr lang="en-US" sz="3600" b="1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보강 근거가 말하는 공통 패턴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3958530" y="1600200"/>
            <a:ext cx="4274790" cy="36864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903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보강 근거가 말하는 공통 패턴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2514600" y="2343150"/>
            <a:ext cx="7732365" cy="317777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128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•Wadinambiarachchi et al. 2024: AI 이미지 노출은</a:t>
            </a:r>
            <a:pPr indent="0" marL="0">
              <a:lnSpc>
                <a:spcPts val="3128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3128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아이디어 다양성과 독창성을 낮출 수 있다.</a:t>
            </a:r>
            <a:pPr indent="0" marL="0">
              <a:lnSpc>
                <a:spcPts val="3128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3128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•Doshi and Hauser 2024: 개인 창의성은 오르지만 집단</a:t>
            </a:r>
            <a:pPr indent="0" marL="0">
              <a:lnSpc>
                <a:spcPts val="3128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3128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다양성은 낮아질 수 있다.</a:t>
            </a:r>
            <a:pPr indent="0" marL="0">
              <a:lnSpc>
                <a:spcPts val="3128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3128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•Anderson et al. 2024: ChatGPT 아이디어는 사용자 간</a:t>
            </a:r>
            <a:pPr indent="0" marL="0">
              <a:lnSpc>
                <a:spcPts val="3128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3128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동질화를 만들 수 있다.</a:t>
            </a:r>
            <a:pPr indent="0" marL="0">
              <a:lnSpc>
                <a:spcPts val="3128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3128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•Dow et al.: 병렬 대안 탐색은 직렬 수정보다 낮은 결과를</a:t>
            </a:r>
            <a:pPr indent="0" marL="0">
              <a:lnSpc>
                <a:spcPts val="3128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3128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만든다.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285750" y="6457950"/>
            <a:ext cx="2514600" cy="24943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63"/>
              </a:lnSpc>
              <a:buNone/>
            </a:pPr>
            <a:r>
              <a:rPr lang="en-US" sz="1650" b="1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5740152" y="6553200"/>
            <a:ext cx="701873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063"/>
              </a:lnSpc>
              <a:buNone/>
            </a:pPr>
            <a:r>
              <a:rPr lang="en-US" sz="975" dirty="0">
                <a:solidFill>
                  <a:srgbClr val="BDBDB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9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04800"/>
            <a:ext cx="6583680" cy="56688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4464"/>
              </a:lnSpc>
              <a:buNone/>
            </a:pPr>
            <a:r>
              <a:rPr lang="en-US" sz="3600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실무용 AI 사용 순서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668143" y="1590675"/>
            <a:ext cx="291271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3023"/>
              </a:lnSpc>
              <a:buNone/>
            </a:pPr>
            <a:r>
              <a:rPr lang="en-US" sz="21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실무용 AI 사용 순서</a:t>
            </a:r>
            <a:endParaRPr lang="en-US" sz="2175" dirty="0"/>
          </a:p>
        </p:txBody>
      </p:sp>
      <p:sp>
        <p:nvSpPr>
          <p:cNvPr id="5" name="Text 2"/>
          <p:cNvSpPr/>
          <p:nvPr/>
        </p:nvSpPr>
        <p:spPr>
          <a:xfrm>
            <a:off x="2628900" y="2438400"/>
            <a:ext cx="9563100" cy="5624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4428"/>
              </a:lnSpc>
              <a:buNone/>
            </a:pPr>
            <a:r>
              <a:rPr lang="en-US" sz="3075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1단계: 문제와 제약을 먼저 적는다.</a:t>
            </a:r>
            <a:endParaRPr lang="en-US" sz="3075" dirty="0"/>
          </a:p>
        </p:txBody>
      </p:sp>
      <p:sp>
        <p:nvSpPr>
          <p:cNvPr id="6" name="Text 3"/>
          <p:cNvSpPr/>
          <p:nvPr/>
        </p:nvSpPr>
        <p:spPr>
          <a:xfrm>
            <a:off x="2628900" y="3114675"/>
            <a:ext cx="9563100" cy="5624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4428"/>
              </a:lnSpc>
              <a:buNone/>
            </a:pPr>
            <a:r>
              <a:rPr lang="en-US" sz="3075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2단계: 서로 다른 후보를 여러 개 요청한다.</a:t>
            </a:r>
            <a:endParaRPr lang="en-US" sz="3075" dirty="0"/>
          </a:p>
        </p:txBody>
      </p:sp>
      <p:sp>
        <p:nvSpPr>
          <p:cNvPr id="7" name="Text 4"/>
          <p:cNvSpPr/>
          <p:nvPr/>
        </p:nvSpPr>
        <p:spPr>
          <a:xfrm>
            <a:off x="2628900" y="3800475"/>
            <a:ext cx="7810500" cy="5624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4428"/>
              </a:lnSpc>
              <a:buNone/>
            </a:pPr>
            <a:r>
              <a:rPr lang="en-US" sz="3075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3단계: 선택 기준을 정한다.</a:t>
            </a:r>
            <a:endParaRPr lang="en-US" sz="3075" dirty="0"/>
          </a:p>
        </p:txBody>
      </p:sp>
      <p:sp>
        <p:nvSpPr>
          <p:cNvPr id="8" name="Text 5"/>
          <p:cNvSpPr/>
          <p:nvPr/>
        </p:nvSpPr>
        <p:spPr>
          <a:xfrm>
            <a:off x="2628900" y="4486275"/>
            <a:ext cx="9563100" cy="5624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4428"/>
              </a:lnSpc>
              <a:buNone/>
            </a:pPr>
            <a:r>
              <a:rPr lang="en-US" sz="3075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4단계: 그 기준으로 산출물을 만든다.</a:t>
            </a:r>
            <a:endParaRPr lang="en-US" sz="3075" dirty="0"/>
          </a:p>
        </p:txBody>
      </p:sp>
      <p:sp>
        <p:nvSpPr>
          <p:cNvPr id="9" name="Text 6"/>
          <p:cNvSpPr/>
          <p:nvPr/>
        </p:nvSpPr>
        <p:spPr>
          <a:xfrm>
            <a:off x="2628900" y="5172075"/>
            <a:ext cx="9563100" cy="5624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4428"/>
              </a:lnSpc>
              <a:buNone/>
            </a:pPr>
            <a:r>
              <a:rPr lang="en-US" sz="3075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5단계: 수정 이유와 버린 분기를 남긴다.</a:t>
            </a:r>
            <a:endParaRPr lang="en-US" sz="3075" dirty="0"/>
          </a:p>
        </p:txBody>
      </p:sp>
      <p:sp>
        <p:nvSpPr>
          <p:cNvPr id="10" name="Text 7"/>
          <p:cNvSpPr/>
          <p:nvPr/>
        </p:nvSpPr>
        <p:spPr>
          <a:xfrm>
            <a:off x="276225" y="6477000"/>
            <a:ext cx="2971800" cy="26997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26"/>
              </a:lnSpc>
              <a:buNone/>
            </a:pPr>
            <a:r>
              <a:rPr lang="en-US" sz="1950" b="1" dirty="0">
                <a:solidFill>
                  <a:srgbClr val="8080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5729288" y="6553200"/>
            <a:ext cx="733425" cy="16996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339"/>
              </a:lnSpc>
              <a:buNone/>
            </a:pPr>
            <a:r>
              <a:rPr lang="en-US" sz="1125" dirty="0">
                <a:solidFill>
                  <a:srgbClr val="BFBF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11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0550" y="400050"/>
            <a:ext cx="4629150" cy="5100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4016"/>
              </a:lnSpc>
              <a:buNone/>
            </a:pPr>
            <a:r>
              <a:rPr lang="en-US" sz="3375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업무별 적용 방식</a:t>
            </a:r>
            <a:endParaRPr lang="en-US" sz="3375" dirty="0"/>
          </a:p>
        </p:txBody>
      </p:sp>
      <p:sp>
        <p:nvSpPr>
          <p:cNvPr id="4" name="Text 1"/>
          <p:cNvSpPr/>
          <p:nvPr/>
        </p:nvSpPr>
        <p:spPr>
          <a:xfrm>
            <a:off x="4918174" y="1619250"/>
            <a:ext cx="2441228" cy="35138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767"/>
              </a:lnSpc>
              <a:buNone/>
            </a:pPr>
            <a:r>
              <a:rPr lang="en-US" sz="23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업무별 적용 방식</a:t>
            </a:r>
            <a:endParaRPr lang="en-US" sz="2325" dirty="0"/>
          </a:p>
        </p:txBody>
      </p:sp>
      <p:sp>
        <p:nvSpPr>
          <p:cNvPr id="5" name="Text 2"/>
          <p:cNvSpPr/>
          <p:nvPr/>
        </p:nvSpPr>
        <p:spPr>
          <a:xfrm>
            <a:off x="2486025" y="2457450"/>
            <a:ext cx="9705975" cy="46955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697"/>
              </a:lnSpc>
              <a:buNone/>
            </a:pPr>
            <a:r>
              <a:rPr lang="en-US" sz="2325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리서치: 요약 전에 claim, 반례, 적용 조건을 분해한다.</a:t>
            </a:r>
            <a:endParaRPr lang="en-US" sz="2325" dirty="0"/>
          </a:p>
        </p:txBody>
      </p:sp>
      <p:sp>
        <p:nvSpPr>
          <p:cNvPr id="6" name="Text 3"/>
          <p:cNvSpPr/>
          <p:nvPr/>
        </p:nvSpPr>
        <p:spPr>
          <a:xfrm>
            <a:off x="2486025" y="2971800"/>
            <a:ext cx="7323683" cy="93910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697"/>
              </a:lnSpc>
              <a:buNone/>
            </a:pPr>
            <a:r>
              <a:rPr lang="en-US" sz="2325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코딩: 구현 전에 아키텍처 대안과 rollback path를</a:t>
            </a:r>
            <a:pPr indent="0" marL="0">
              <a:lnSpc>
                <a:spcPts val="3697"/>
              </a:lnSpc>
              <a:buNone/>
            </a:pPr>
            <a:r>
              <a:rPr lang="en-US" sz="2325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3697"/>
              </a:lnSpc>
              <a:buNone/>
            </a:pPr>
            <a:r>
              <a:rPr lang="en-US" sz="2325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비교한다.</a:t>
            </a:r>
            <a:endParaRPr lang="en-US" sz="2325" dirty="0"/>
          </a:p>
        </p:txBody>
      </p:sp>
      <p:sp>
        <p:nvSpPr>
          <p:cNvPr id="7" name="Text 4"/>
          <p:cNvSpPr/>
          <p:nvPr/>
        </p:nvSpPr>
        <p:spPr>
          <a:xfrm>
            <a:off x="2486025" y="3943350"/>
            <a:ext cx="9705975" cy="41046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232"/>
              </a:lnSpc>
              <a:buNone/>
            </a:pPr>
            <a:r>
              <a:rPr lang="en-US" sz="2325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디자인: 이미지 생성 전에 concept card를 탐색한다.</a:t>
            </a:r>
            <a:endParaRPr lang="en-US" sz="2325" dirty="0"/>
          </a:p>
        </p:txBody>
      </p:sp>
      <p:sp>
        <p:nvSpPr>
          <p:cNvPr id="8" name="Text 5"/>
          <p:cNvSpPr/>
          <p:nvPr/>
        </p:nvSpPr>
        <p:spPr>
          <a:xfrm>
            <a:off x="2486025" y="4438650"/>
            <a:ext cx="9705975" cy="41046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232"/>
              </a:lnSpc>
              <a:buNone/>
            </a:pPr>
            <a:r>
              <a:rPr lang="en-US" sz="2325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슬라이드: 서식 작성 전에 narrative 후보를 비교한다.</a:t>
            </a:r>
            <a:endParaRPr lang="en-US" sz="2325" dirty="0"/>
          </a:p>
        </p:txBody>
      </p:sp>
      <p:sp>
        <p:nvSpPr>
          <p:cNvPr id="9" name="Text 6"/>
          <p:cNvSpPr/>
          <p:nvPr/>
        </p:nvSpPr>
        <p:spPr>
          <a:xfrm>
            <a:off x="2486025" y="4933950"/>
            <a:ext cx="9705975" cy="41046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232"/>
              </a:lnSpc>
              <a:buNone/>
            </a:pPr>
            <a:r>
              <a:rPr lang="en-US" sz="2325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회의록: 요약 전에 결정, 미결정, 후속 질문을 분리한다.</a:t>
            </a:r>
            <a:endParaRPr lang="en-US" sz="2325" dirty="0"/>
          </a:p>
        </p:txBody>
      </p:sp>
      <p:sp>
        <p:nvSpPr>
          <p:cNvPr id="10" name="Text 7"/>
          <p:cNvSpPr/>
          <p:nvPr/>
        </p:nvSpPr>
        <p:spPr>
          <a:xfrm>
            <a:off x="285750" y="6467475"/>
            <a:ext cx="2400300" cy="19809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59"/>
              </a:lnSpc>
              <a:buNone/>
            </a:pPr>
            <a:r>
              <a:rPr lang="en-US" sz="1575" b="1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575" dirty="0"/>
          </a:p>
        </p:txBody>
      </p:sp>
      <p:sp>
        <p:nvSpPr>
          <p:cNvPr id="11" name="Text 8"/>
          <p:cNvSpPr/>
          <p:nvPr/>
        </p:nvSpPr>
        <p:spPr>
          <a:xfrm>
            <a:off x="5760690" y="6572250"/>
            <a:ext cx="670471" cy="1473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160"/>
              </a:lnSpc>
              <a:buNone/>
            </a:pPr>
            <a:r>
              <a:rPr lang="en-US" sz="975" dirty="0">
                <a:solidFill>
                  <a:srgbClr val="BFBF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9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2425"/>
            <a:ext cx="565785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4050"/>
              </a:lnSpc>
              <a:buNone/>
            </a:pPr>
            <a:r>
              <a:rPr lang="en-US" sz="3375" b="1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도입 시 확인할 지점</a:t>
            </a:r>
            <a:endParaRPr lang="en-US" sz="3375" dirty="0"/>
          </a:p>
        </p:txBody>
      </p:sp>
      <p:sp>
        <p:nvSpPr>
          <p:cNvPr id="4" name="Text 1"/>
          <p:cNvSpPr/>
          <p:nvPr/>
        </p:nvSpPr>
        <p:spPr>
          <a:xfrm>
            <a:off x="4639121" y="1571625"/>
            <a:ext cx="2923133" cy="38978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3069"/>
              </a:lnSpc>
              <a:buNone/>
            </a:pPr>
            <a:r>
              <a:rPr lang="en-US" sz="23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도입 시 확인할 지점</a:t>
            </a:r>
            <a:endParaRPr lang="en-US" sz="2325" dirty="0"/>
          </a:p>
        </p:txBody>
      </p:sp>
      <p:sp>
        <p:nvSpPr>
          <p:cNvPr id="5" name="Text 2"/>
          <p:cNvSpPr/>
          <p:nvPr/>
        </p:nvSpPr>
        <p:spPr>
          <a:xfrm>
            <a:off x="2514600" y="2409825"/>
            <a:ext cx="9677400" cy="38978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069"/>
              </a:lnSpc>
              <a:buNone/>
            </a:pPr>
            <a:r>
              <a:rPr lang="en-US" sz="2325" b="1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•연구 표본은 N=24이며 CS/IT 배경 비중이 높다.</a:t>
            </a:r>
            <a:endParaRPr lang="en-US" sz="2325" dirty="0"/>
          </a:p>
        </p:txBody>
      </p:sp>
      <p:sp>
        <p:nvSpPr>
          <p:cNvPr id="6" name="Text 3"/>
          <p:cNvSpPr/>
          <p:nvPr/>
        </p:nvSpPr>
        <p:spPr>
          <a:xfrm>
            <a:off x="2514600" y="3067050"/>
            <a:ext cx="9677400" cy="38978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069"/>
              </a:lnSpc>
              <a:buNone/>
            </a:pPr>
            <a:r>
              <a:rPr lang="en-US" sz="2325" b="1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•포스터 생성 과제 밖의 일반화는 추가 검증이 필요하다.</a:t>
            </a:r>
            <a:endParaRPr lang="en-US" sz="2325" dirty="0"/>
          </a:p>
        </p:txBody>
      </p:sp>
      <p:sp>
        <p:nvSpPr>
          <p:cNvPr id="7" name="Text 4"/>
          <p:cNvSpPr/>
          <p:nvPr/>
        </p:nvSpPr>
        <p:spPr>
          <a:xfrm>
            <a:off x="2514600" y="3733800"/>
            <a:ext cx="9566910" cy="38978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069"/>
              </a:lnSpc>
              <a:buNone/>
            </a:pPr>
            <a:r>
              <a:rPr lang="en-US" sz="2325" b="1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•탐색 구조를 늘리면 속도 손실이 생길 수 있다.</a:t>
            </a:r>
            <a:endParaRPr lang="en-US" sz="2325" dirty="0"/>
          </a:p>
        </p:txBody>
      </p:sp>
      <p:sp>
        <p:nvSpPr>
          <p:cNvPr id="8" name="Text 5"/>
          <p:cNvSpPr/>
          <p:nvPr/>
        </p:nvSpPr>
        <p:spPr>
          <a:xfrm>
            <a:off x="2514600" y="4391025"/>
            <a:ext cx="9677400" cy="38978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069"/>
              </a:lnSpc>
              <a:buNone/>
            </a:pPr>
            <a:r>
              <a:rPr lang="en-US" sz="2325" b="1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•팀 적용 시 ownership과 승인 기준을 정해야 한다.</a:t>
            </a:r>
            <a:endParaRPr lang="en-US" sz="2325" dirty="0"/>
          </a:p>
        </p:txBody>
      </p:sp>
      <p:sp>
        <p:nvSpPr>
          <p:cNvPr id="9" name="Text 6"/>
          <p:cNvSpPr/>
          <p:nvPr/>
        </p:nvSpPr>
        <p:spPr>
          <a:xfrm>
            <a:off x="2514600" y="5048250"/>
            <a:ext cx="9677400" cy="38978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069"/>
              </a:lnSpc>
              <a:buNone/>
            </a:pPr>
            <a:r>
              <a:rPr lang="en-US" sz="2325" b="1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•권장 방향: AI 도구 선택보다 워크플로 파일럿으로 검증한다.</a:t>
            </a:r>
            <a:endParaRPr lang="en-US" sz="2325" dirty="0"/>
          </a:p>
        </p:txBody>
      </p:sp>
      <p:sp>
        <p:nvSpPr>
          <p:cNvPr id="10" name="Text 7"/>
          <p:cNvSpPr/>
          <p:nvPr/>
        </p:nvSpPr>
        <p:spPr>
          <a:xfrm>
            <a:off x="285750" y="6457950"/>
            <a:ext cx="2514600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49"/>
              </a:lnSpc>
              <a:buNone/>
            </a:pPr>
            <a:r>
              <a:rPr lang="en-US" sz="1650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5740598" y="6543675"/>
            <a:ext cx="691455" cy="1485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170"/>
              </a:lnSpc>
              <a:buNone/>
            </a:pPr>
            <a:r>
              <a:rPr lang="en-US" sz="975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9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2026-04-28T17:17:44Z</dcterms:created>
  <dcterms:modified xsi:type="dcterms:W3CDTF">2026-04-28T17:17:44Z</dcterms:modified>
</cp:coreProperties>
</file>