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  <p:embeddedFont>
      <p:font typeface="NanumGothic"/>
      <p:regular r:id="rId201315"/>
      <p:bold r:id="rId3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47750" y="447675"/>
            <a:ext cx="11144250" cy="6538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5148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협업은 첫 산출물을 늦출수록 넘어진다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1292423" y="1543050"/>
            <a:ext cx="1948755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97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 및 문제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451521" y="4162425"/>
            <a:ext cx="1592461" cy="2536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97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솔루션 및 결과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333500" y="2019300"/>
            <a:ext cx="5458718" cy="19609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첫 산출물이 이후 판단을 고착시킨다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즉시 실행 인터페이스가 탐색 범위를 좁히는 문제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탐색 구조화가 프롬프트 최적화보다 중요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작업 순서 설계가 결과의 다양성을 결정한다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논문 출처: arXiv:2512.18388v2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Wen et al. | 2026-04-28 내부 기술 리뷰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333500" y="4629150"/>
            <a:ext cx="5553075" cy="19609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HAICo: 발산·수렴 모드 분리 시스템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아이디어 카드 탐색 후 산출물 생성 순서 적용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N=24 실험: 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B500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Novelty 3.22 vs 2.41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HAICo가 ChatGPT 대비 독창성·다양성 모두 우위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대상: 엔지니어·PM·AI 도구 사용자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74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의사결정자 포함 실무 적용 가이드 제공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466725" y="6486525"/>
            <a:ext cx="1714500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80721"/>
            <a:ext cx="268188" cy="25360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5750" y="142875"/>
            <a:ext cx="6732270" cy="33962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4"/>
              </a:lnSpc>
              <a:buNone/>
            </a:pPr>
            <a:r>
              <a:rPr lang="en-US" sz="2325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/ Page title</a:t>
            </a:r>
            <a:endParaRPr lang="en-US" sz="2325" dirty="0"/>
          </a:p>
        </p:txBody>
      </p:sp>
      <p:sp>
        <p:nvSpPr>
          <p:cNvPr id="5" name="Text 1"/>
          <p:cNvSpPr/>
          <p:nvPr/>
        </p:nvSpPr>
        <p:spPr>
          <a:xfrm>
            <a:off x="931962" y="1676400"/>
            <a:ext cx="4641503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32"/>
              </a:lnSpc>
              <a:buNone/>
            </a:pPr>
            <a:r>
              <a:rPr lang="en-US" sz="2325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산출물이 고착을 만든다</a:t>
            </a:r>
            <a:endParaRPr lang="en-US" sz="2325" dirty="0"/>
          </a:p>
        </p:txBody>
      </p:sp>
      <p:sp>
        <p:nvSpPr>
          <p:cNvPr id="6" name="Text 2"/>
          <p:cNvSpPr/>
          <p:nvPr/>
        </p:nvSpPr>
        <p:spPr>
          <a:xfrm>
            <a:off x="6376988" y="1676400"/>
            <a:ext cx="5343525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32"/>
              </a:lnSpc>
              <a:buNone/>
            </a:pPr>
            <a:r>
              <a:rPr lang="en-US" sz="2325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순서가 결과 품질을 결정한다</a:t>
            </a:r>
            <a:endParaRPr lang="en-US" sz="2325" dirty="0"/>
          </a:p>
        </p:txBody>
      </p:sp>
      <p:sp>
        <p:nvSpPr>
          <p:cNvPr id="7" name="Text 3"/>
          <p:cNvSpPr/>
          <p:nvPr/>
        </p:nvSpPr>
        <p:spPr>
          <a:xfrm>
            <a:off x="1478161" y="3267075"/>
            <a:ext cx="3520380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32"/>
              </a:lnSpc>
              <a:buNone/>
            </a:pPr>
            <a:r>
              <a:rPr lang="en-US" sz="2325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기술의 한계</a:t>
            </a:r>
            <a:endParaRPr lang="en-US" sz="2325" dirty="0"/>
          </a:p>
        </p:txBody>
      </p:sp>
      <p:sp>
        <p:nvSpPr>
          <p:cNvPr id="8" name="Text 4"/>
          <p:cNvSpPr/>
          <p:nvPr/>
        </p:nvSpPr>
        <p:spPr>
          <a:xfrm>
            <a:off x="6207919" y="3267075"/>
            <a:ext cx="5710238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32"/>
              </a:lnSpc>
              <a:buNone/>
            </a:pPr>
            <a:r>
              <a:rPr lang="en-US" sz="2325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구조화가 결과를 결정하는 변수</a:t>
            </a:r>
            <a:endParaRPr lang="en-US" sz="2325" dirty="0"/>
          </a:p>
        </p:txBody>
      </p:sp>
      <p:sp>
        <p:nvSpPr>
          <p:cNvPr id="9" name="Text 5"/>
          <p:cNvSpPr/>
          <p:nvPr/>
        </p:nvSpPr>
        <p:spPr>
          <a:xfrm>
            <a:off x="834330" y="4781550"/>
            <a:ext cx="4903440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32"/>
              </a:lnSpc>
              <a:buNone/>
            </a:pPr>
            <a:r>
              <a:rPr lang="en-US" sz="2325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품질↑ 집단 다양성↓ 분리</a:t>
            </a:r>
            <a:endParaRPr lang="en-US" sz="2325" dirty="0"/>
          </a:p>
        </p:txBody>
      </p:sp>
      <p:sp>
        <p:nvSpPr>
          <p:cNvPr id="10" name="Text 6"/>
          <p:cNvSpPr/>
          <p:nvPr/>
        </p:nvSpPr>
        <p:spPr>
          <a:xfrm>
            <a:off x="6784181" y="4781550"/>
            <a:ext cx="4557713" cy="4104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232"/>
              </a:lnSpc>
              <a:buNone/>
            </a:pPr>
            <a:r>
              <a:rPr lang="en-US" sz="2325" b="1" dirty="0">
                <a:solidFill>
                  <a:srgbClr val="B500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 설계가 실무 전환점</a:t>
            </a:r>
            <a:endParaRPr lang="en-US" sz="2325" dirty="0"/>
          </a:p>
        </p:txBody>
      </p:sp>
      <p:sp>
        <p:nvSpPr>
          <p:cNvPr id="11" name="Text 7"/>
          <p:cNvSpPr/>
          <p:nvPr/>
        </p:nvSpPr>
        <p:spPr>
          <a:xfrm>
            <a:off x="352425" y="742950"/>
            <a:ext cx="11839575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논문의 핵심 가치와 실무적 의의 / Core Value and Practical Significance</a:t>
            </a:r>
            <a:endParaRPr lang="en-US" sz="1725" dirty="0"/>
          </a:p>
        </p:txBody>
      </p:sp>
      <p:sp>
        <p:nvSpPr>
          <p:cNvPr id="12" name="Text 8"/>
          <p:cNvSpPr/>
          <p:nvPr/>
        </p:nvSpPr>
        <p:spPr>
          <a:xfrm>
            <a:off x="635794" y="2181225"/>
            <a:ext cx="5291138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결과물이 anchor로 작동해 탐색 범위를 좁힌다</a:t>
            </a:r>
            <a:endParaRPr lang="en-US" sz="1725" dirty="0"/>
          </a:p>
        </p:txBody>
      </p:sp>
      <p:sp>
        <p:nvSpPr>
          <p:cNvPr id="13" name="Text 9"/>
          <p:cNvSpPr/>
          <p:nvPr/>
        </p:nvSpPr>
        <p:spPr>
          <a:xfrm>
            <a:off x="6346924" y="2181225"/>
            <a:ext cx="5374928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 설계가 탐색 폭과 결과 품질을 동시에 결정한다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971550" y="3752850"/>
            <a:ext cx="461010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최적화는 도구 조작 학습에 그친다</a:t>
            </a:r>
            <a:endParaRPr lang="en-US" sz="1725" dirty="0"/>
          </a:p>
        </p:txBody>
      </p:sp>
      <p:sp>
        <p:nvSpPr>
          <p:cNvPr id="15" name="Text 11"/>
          <p:cNvSpPr/>
          <p:nvPr/>
        </p:nvSpPr>
        <p:spPr>
          <a:xfrm>
            <a:off x="6880771" y="3752850"/>
            <a:ext cx="4316611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실행을 늦추고 대안을 먼저 비교해야 한다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350490" y="5267325"/>
            <a:ext cx="5909221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지원 시 개인 성과는 높아지나 팀의 결과물은 동질화됨</a:t>
            </a:r>
            <a:endParaRPr lang="en-US" sz="1725" dirty="0"/>
          </a:p>
        </p:txBody>
      </p:sp>
      <p:sp>
        <p:nvSpPr>
          <p:cNvPr id="17" name="Text 13"/>
          <p:cNvSpPr/>
          <p:nvPr/>
        </p:nvSpPr>
        <p:spPr>
          <a:xfrm>
            <a:off x="6586984" y="5267325"/>
            <a:ext cx="4913858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산출물을 늦추면 대안 탐색 폭을 넓힐 수 있다</a:t>
            </a:r>
            <a:endParaRPr lang="en-US" sz="1725" dirty="0"/>
          </a:p>
        </p:txBody>
      </p:sp>
      <p:sp>
        <p:nvSpPr>
          <p:cNvPr id="18" name="Text 14"/>
          <p:cNvSpPr/>
          <p:nvPr/>
        </p:nvSpPr>
        <p:spPr>
          <a:xfrm>
            <a:off x="11563350" y="6553200"/>
            <a:ext cx="460921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12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466725" y="6467475"/>
            <a:ext cx="228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881688" y="6753225"/>
            <a:ext cx="523875" cy="879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93"/>
              </a:lnSpc>
              <a:buNone/>
            </a:pPr>
            <a:r>
              <a:rPr lang="en-US" sz="825" dirty="0">
                <a:solidFill>
                  <a:srgbClr val="49494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94413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8479" y="5019973"/>
            <a:ext cx="767953" cy="9943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2753" y="4937671"/>
            <a:ext cx="1267867" cy="83656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984" y="4635996"/>
            <a:ext cx="2669977" cy="126176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773" y="4786759"/>
            <a:ext cx="2426196" cy="96009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11323" y="123825"/>
            <a:ext cx="12080677" cy="3414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88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수렴과 설계 고착 문제 모델 / Early Convergence &amp; Design Fixation Model</a:t>
            </a:r>
            <a:endParaRPr lang="en-US" sz="2400" dirty="0"/>
          </a:p>
        </p:txBody>
      </p:sp>
      <p:sp>
        <p:nvSpPr>
          <p:cNvPr id="9" name="Text 1"/>
          <p:cNvSpPr/>
          <p:nvPr/>
        </p:nvSpPr>
        <p:spPr>
          <a:xfrm>
            <a:off x="819596" y="2247900"/>
            <a:ext cx="31326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수렴: 탐색 전 방향 고정</a:t>
            </a:r>
            <a:endParaRPr lang="en-US" sz="1875" dirty="0"/>
          </a:p>
        </p:txBody>
      </p:sp>
      <p:sp>
        <p:nvSpPr>
          <p:cNvPr id="10" name="Text 2"/>
          <p:cNvSpPr/>
          <p:nvPr/>
        </p:nvSpPr>
        <p:spPr>
          <a:xfrm>
            <a:off x="4461867" y="2247900"/>
            <a:ext cx="3467993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Gulf of envisioning 개념 정의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8770590" y="2247900"/>
            <a:ext cx="2556421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우선 플로우와 비교</a:t>
            </a:r>
            <a:endParaRPr lang="en-US" sz="1800" dirty="0"/>
          </a:p>
        </p:txBody>
      </p:sp>
      <p:sp>
        <p:nvSpPr>
          <p:cNvPr id="12" name="Text 4"/>
          <p:cNvSpPr/>
          <p:nvPr/>
        </p:nvSpPr>
        <p:spPr>
          <a:xfrm>
            <a:off x="1360587" y="1438275"/>
            <a:ext cx="191735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9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 모델</a:t>
            </a:r>
            <a:pPr algn="ctr" indent="0" marL="0">
              <a:lnSpc>
                <a:spcPts val="149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9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Problem Model</a:t>
            </a:r>
            <a:endParaRPr lang="en-US" sz="1350" dirty="0"/>
          </a:p>
        </p:txBody>
      </p:sp>
      <p:sp>
        <p:nvSpPr>
          <p:cNvPr id="13" name="Text 5"/>
          <p:cNvSpPr/>
          <p:nvPr/>
        </p:nvSpPr>
        <p:spPr>
          <a:xfrm>
            <a:off x="4727228" y="1438275"/>
            <a:ext cx="2870746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9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발생 매커니즘 및 플로우</a:t>
            </a:r>
            <a:pPr algn="ctr" indent="0" marL="0">
              <a:lnSpc>
                <a:spcPts val="149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9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Occurrence Mechanism &amp; Flow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8637240" y="1438275"/>
            <a:ext cx="2765971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1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우선 플로우 및 원인</a:t>
            </a:r>
            <a:pPr algn="ctr" indent="0" marL="0">
              <a:lnSpc>
                <a:spcPts val="141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1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Exploration-First Flow &amp; Cause</a:t>
            </a:r>
            <a:endParaRPr lang="en-US" sz="1275" dirty="0"/>
          </a:p>
        </p:txBody>
      </p:sp>
      <p:sp>
        <p:nvSpPr>
          <p:cNvPr id="15" name="Text 7"/>
          <p:cNvSpPr/>
          <p:nvPr/>
        </p:nvSpPr>
        <p:spPr>
          <a:xfrm>
            <a:off x="553343" y="2638425"/>
            <a:ext cx="3541365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즉시 산출물이 첫 기준점으로 작동,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수정 루프 강화</a:t>
            </a:r>
            <a:endParaRPr lang="en-US" sz="1650" dirty="0"/>
          </a:p>
        </p:txBody>
      </p:sp>
      <p:sp>
        <p:nvSpPr>
          <p:cNvPr id="16" name="Text 8"/>
          <p:cNvSpPr/>
          <p:nvPr/>
        </p:nvSpPr>
        <p:spPr>
          <a:xfrm>
            <a:off x="4585692" y="2638425"/>
            <a:ext cx="3258443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원하는 느낌 → 구체 지시 변환 실패</a:t>
            </a:r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의미의 해석 루프 발생</a:t>
            </a:r>
            <a:endParaRPr lang="en-US" sz="1575" dirty="0"/>
          </a:p>
        </p:txBody>
      </p:sp>
      <p:sp>
        <p:nvSpPr>
          <p:cNvPr id="17" name="Text 9"/>
          <p:cNvSpPr/>
          <p:nvPr/>
        </p:nvSpPr>
        <p:spPr>
          <a:xfrm>
            <a:off x="8360569" y="2638425"/>
            <a:ext cx="3405188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카드 탐색 → 선택 기준 수립</a:t>
            </a:r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산출물 생성 순서</a:t>
            </a:r>
            <a:endParaRPr lang="en-US" sz="1575" dirty="0"/>
          </a:p>
        </p:txBody>
      </p:sp>
      <p:sp>
        <p:nvSpPr>
          <p:cNvPr id="18" name="Text 10"/>
          <p:cNvSpPr/>
          <p:nvPr/>
        </p:nvSpPr>
        <p:spPr>
          <a:xfrm>
            <a:off x="550962" y="3495675"/>
            <a:ext cx="3593753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고착: 첫 예시에 묶이는 상태</a:t>
            </a:r>
            <a:endParaRPr lang="en-US" sz="1650" dirty="0"/>
          </a:p>
        </p:txBody>
      </p:sp>
      <p:sp>
        <p:nvSpPr>
          <p:cNvPr id="19" name="Text 11"/>
          <p:cNvSpPr/>
          <p:nvPr/>
        </p:nvSpPr>
        <p:spPr>
          <a:xfrm>
            <a:off x="4995863" y="3495675"/>
            <a:ext cx="2409825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 심화 플로우 구조</a:t>
            </a:r>
            <a:endParaRPr lang="en-US" sz="1650" dirty="0"/>
          </a:p>
        </p:txBody>
      </p:sp>
      <p:sp>
        <p:nvSpPr>
          <p:cNvPr id="20" name="Text 12"/>
          <p:cNvSpPr/>
          <p:nvPr/>
        </p:nvSpPr>
        <p:spPr>
          <a:xfrm>
            <a:off x="8768209" y="3495675"/>
            <a:ext cx="2608808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원인: 작업 순서 설계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1023342" y="3895725"/>
            <a:ext cx="2629793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이미지 노출 시 아이디어</a:t>
            </a:r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수·다양성·독창성 모두 저하</a:t>
            </a:r>
            <a:endParaRPr lang="en-US" sz="1575" dirty="0"/>
          </a:p>
        </p:txBody>
      </p:sp>
      <p:sp>
        <p:nvSpPr>
          <p:cNvPr id="22" name="Text 14"/>
          <p:cNvSpPr/>
          <p:nvPr/>
        </p:nvSpPr>
        <p:spPr>
          <a:xfrm>
            <a:off x="4797177" y="3895725"/>
            <a:ext cx="2797373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산출물 → 로컬 수정 반복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대안 탐색 기회 소멸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8696771" y="3895725"/>
            <a:ext cx="2713583" cy="5560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순서 설계가 고착 여부를</a:t>
            </a:r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89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결정하는 핵심 변수</a:t>
            </a:r>
            <a:endParaRPr lang="en-US" sz="1575" dirty="0"/>
          </a:p>
        </p:txBody>
      </p:sp>
      <p:sp>
        <p:nvSpPr>
          <p:cNvPr id="24" name="Text 16"/>
          <p:cNvSpPr/>
          <p:nvPr/>
        </p:nvSpPr>
        <p:spPr>
          <a:xfrm>
            <a:off x="9039225" y="4648200"/>
            <a:ext cx="62865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 우선</a:t>
            </a:r>
            <a:endParaRPr lang="en-US" sz="1125" dirty="0"/>
          </a:p>
        </p:txBody>
      </p:sp>
      <p:sp>
        <p:nvSpPr>
          <p:cNvPr id="25" name="Text 17"/>
          <p:cNvSpPr/>
          <p:nvPr/>
        </p:nvSpPr>
        <p:spPr>
          <a:xfrm>
            <a:off x="10524530" y="4648200"/>
            <a:ext cx="639068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조기 수렴</a:t>
            </a:r>
            <a:endParaRPr lang="en-US" sz="1125" dirty="0"/>
          </a:p>
        </p:txBody>
      </p:sp>
      <p:sp>
        <p:nvSpPr>
          <p:cNvPr id="26" name="Text 18"/>
          <p:cNvSpPr/>
          <p:nvPr/>
        </p:nvSpPr>
        <p:spPr>
          <a:xfrm>
            <a:off x="8701980" y="5819775"/>
            <a:ext cx="134109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카드 탐색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04775" y="6505575"/>
            <a:ext cx="205740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5999262" y="6734175"/>
            <a:ext cx="45050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80721"/>
            <a:ext cx="280392" cy="2742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85750" y="123825"/>
            <a:ext cx="987552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HAICo 시스템 설계: 발산과 수렴의 분리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771525" y="2314575"/>
            <a:ext cx="416052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아이디어 그리드 생성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71525" y="3324225"/>
            <a:ext cx="576072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연상 프롬프팅으로 다양성 확보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771525" y="4343400"/>
            <a:ext cx="576072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연상 프롬프팅 기반 탐색 설계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810375" y="2314575"/>
            <a:ext cx="448056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파라미터 분해 후 실행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810375" y="3324225"/>
            <a:ext cx="512064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비선형 컨텍스트 전환 지원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810375" y="4343400"/>
            <a:ext cx="448056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버린 분기와 이유 보존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942975" y="2800350"/>
            <a:ext cx="729234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생성 전 제목·설명·태그 포함 카드 배열 제시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942975" y="3800475"/>
            <a:ext cx="1022604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신화·역사·예술 등 원격 영역 연상 (W=24.0 p&lt;0.001)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942975" y="4810125"/>
            <a:ext cx="678942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생성·탐색 분리 구조로 고착 방지 메커니즘 내재화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972300" y="2800350"/>
            <a:ext cx="52197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의도를 semantic parameter 표로 분해 후 선택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6972300" y="3800475"/>
            <a:ext cx="52197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흐름 비중축, 이전 분기 상태로 자유 복귀 가능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6827490" y="4810125"/>
            <a:ext cx="536451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페기된 아이디어 branch와 선택 근거를 히스토리로 보관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2512665" y="1724025"/>
            <a:ext cx="8800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발산 모드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771037" y="1724025"/>
            <a:ext cx="86960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 모드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66725" y="6467475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929759" y="6734175"/>
            <a:ext cx="51330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73875"/>
            <a:ext cx="268188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180" y="4786759"/>
            <a:ext cx="10521553" cy="155674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28600" y="142875"/>
            <a:ext cx="854964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결과: 독창성 및 다양성 지표 분석</a:t>
            </a:r>
            <a:endParaRPr lang="en-US" sz="2550" dirty="0"/>
          </a:p>
        </p:txBody>
      </p:sp>
      <p:sp>
        <p:nvSpPr>
          <p:cNvPr id="6" name="Text 1"/>
          <p:cNvSpPr/>
          <p:nvPr/>
        </p:nvSpPr>
        <p:spPr>
          <a:xfrm>
            <a:off x="5160169" y="1600200"/>
            <a:ext cx="214788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실험 결과 메트릭</a:t>
            </a:r>
            <a:endParaRPr lang="en-US" sz="1650" dirty="0"/>
          </a:p>
        </p:txBody>
      </p:sp>
      <p:sp>
        <p:nvSpPr>
          <p:cNvPr id="7" name="Text 2"/>
          <p:cNvSpPr/>
          <p:nvPr/>
        </p:nvSpPr>
        <p:spPr>
          <a:xfrm>
            <a:off x="714375" y="2800350"/>
            <a:ext cx="6464498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UMUX-Lite 사용성: 81.25 vs 64.24 (HAICo가 유의미하게 높음,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p&lt;0.001)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714375" y="3343275"/>
            <a:ext cx="11477625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Novelty 독창성: 3.22 vs 2.41 (p&lt;0.001, 통계적으로 유의)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714375" y="3648075"/>
            <a:ext cx="11477625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Diversity 다양성: 0.48 vs 0.36 (p=0.001)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869311" y="2800350"/>
            <a:ext cx="5322689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수정 횟수: 1.56 vs 2.94 감소 (p=0.004, HAICo 우위)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7105650" y="3105150"/>
            <a:ext cx="4924425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창의성 지원 지수(CSI) 전 5개 차원 우위 (p&lt;0.002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수준)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963668" y="3648075"/>
            <a:ext cx="5228183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유창성(Fluency) 및 유용성(Usefulness) 두 조건 간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유의미한 차이 없음 (ns)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3049786" y="2381250"/>
            <a:ext cx="121533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성능 지표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426202" y="2333625"/>
            <a:ext cx="195917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 및 기타 결과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2425" y="6477000"/>
            <a:ext cx="205740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600200" y="6705600"/>
            <a:ext cx="365760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893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arXiv:2512.18388v2, N=24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5953125" y="6705600"/>
            <a:ext cx="68580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893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80721"/>
            <a:ext cx="292596" cy="27429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377" y="2098477"/>
            <a:ext cx="6644580" cy="366206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98" y="2050405"/>
            <a:ext cx="4376886" cy="405303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28600" y="133350"/>
            <a:ext cx="946404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학습의 전환: 도구 사용법에서 과제 이해로</a:t>
            </a:r>
            <a:endParaRPr lang="en-US" sz="2700" dirty="0"/>
          </a:p>
        </p:txBody>
      </p:sp>
      <p:sp>
        <p:nvSpPr>
          <p:cNvPr id="7" name="Text 1"/>
          <p:cNvSpPr/>
          <p:nvPr/>
        </p:nvSpPr>
        <p:spPr>
          <a:xfrm>
            <a:off x="352425" y="742950"/>
            <a:ext cx="534924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조건별 학습 결과 및 장기적 함의</a:t>
            </a:r>
            <a:endParaRPr lang="en-US" sz="1950" dirty="0"/>
          </a:p>
        </p:txBody>
      </p:sp>
      <p:sp>
        <p:nvSpPr>
          <p:cNvPr id="8" name="Text 2"/>
          <p:cNvSpPr/>
          <p:nvPr/>
        </p:nvSpPr>
        <p:spPr>
          <a:xfrm>
            <a:off x="5267325" y="1600200"/>
            <a:ext cx="16764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결과 및 비교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94413"/>
            <a:ext cx="268188" cy="2467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651671" y="638175"/>
            <a:ext cx="7040761" cy="5037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967"/>
              </a:lnSpc>
              <a:buNone/>
            </a:pPr>
            <a:r>
              <a:rPr lang="en-US" sz="30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생성형 AI의 고착 심화에 관한 보강 근거</a:t>
            </a:r>
            <a:endParaRPr lang="en-US" sz="3075" dirty="0"/>
          </a:p>
        </p:txBody>
      </p:sp>
      <p:sp>
        <p:nvSpPr>
          <p:cNvPr id="5" name="Text 1"/>
          <p:cNvSpPr/>
          <p:nvPr/>
        </p:nvSpPr>
        <p:spPr>
          <a:xfrm>
            <a:off x="714375" y="1905000"/>
            <a:ext cx="2650778" cy="6801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노출 → 아이디어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다양성·독창성 저하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572000" y="1905000"/>
            <a:ext cx="3373636" cy="6801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개인 품질↓, 집단 다양성↓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분리 현상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8458200" y="1905000"/>
            <a:ext cx="3059311" cy="6801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ChatGPT → 아이디어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동질화 위험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714375" y="4648200"/>
            <a:ext cx="2818358" cy="6801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병렬 프로토타입이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직렬보다 다양성 우위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4572000" y="4648200"/>
            <a:ext cx="4457700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고착은 도메인 범용 현상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8458200" y="4648200"/>
            <a:ext cx="3733800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GenAI 자체가 고착 심화 요인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714375" y="2695575"/>
            <a:ext cx="3635573" cy="10810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Wadinambiarachchi 2024: AI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이미지 노출 시 아이디어 수(↓18.3%),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다양성(↓25.1%), 독창성(↓30.5%)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모두 유의미하게 감소 (p &lt; 0.001)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572000" y="2695575"/>
            <a:ext cx="3792736" cy="10810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Doshi &amp; Hauser 2024: AI 지원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글쓰기에서 개인 창의성 점수는 상승하나,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텍스트 간 유사도(↑32.4%, p &lt; 0.01)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증가로 집단 다양성 하락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8458200" y="2695575"/>
            <a:ext cx="3405188" cy="10810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Anderson et al. 2024: 아이디어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수는 증가(↑65.3%), 사용자 간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구별도(↓41.8%, p &lt; 0.001) 및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책임감 동시 저하로 동질화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14375" y="5438775"/>
            <a:ext cx="3635573" cy="8108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Dow et al.: 동시 대안 탐색(병렬)이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순차 탐색(직렬)보다 결과의 다양성 및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품질(↑22.5%)이 모두 높음 (p &lt; 0.05)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4572000" y="5200650"/>
            <a:ext cx="3457575" cy="10810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Parsons et al. 2021: 창의적 작업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창의적 작업과 데이터 시각화 설계 등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도메인 범용적으로 고착이 창의적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결과를 제한 (p &lt; 0.05)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8458200" y="5200650"/>
            <a:ext cx="3635573" cy="10810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작업 순서가 결과 품질을 결정한다.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산출물 노출 자체가 사용자의 고착을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강화하는 핵심 요인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(**p &lt; 0.05)</a:t>
            </a:r>
            <a:endParaRPr lang="en-US" sz="1650" dirty="0"/>
          </a:p>
        </p:txBody>
      </p:sp>
      <p:sp>
        <p:nvSpPr>
          <p:cNvPr id="17" name="Text 13"/>
          <p:cNvSpPr/>
          <p:nvPr/>
        </p:nvSpPr>
        <p:spPr>
          <a:xfrm>
            <a:off x="5805934" y="238125"/>
            <a:ext cx="722858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9E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보강 근거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71525" y="1590675"/>
            <a:ext cx="170688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[RESULT 1]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29150" y="1590675"/>
            <a:ext cx="170688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[RESULT 2]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515350" y="1590675"/>
            <a:ext cx="170688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[RESULT 3]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71525" y="4352925"/>
            <a:ext cx="170688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[RESULT 4]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629150" y="4352925"/>
            <a:ext cx="170688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[RESULT 5]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8515350" y="4352925"/>
            <a:ext cx="170688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[RESULT 6]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704975" y="1590675"/>
            <a:ext cx="178308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/연구 결과 1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705475" y="1590675"/>
            <a:ext cx="178308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/연구 결과 2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9591675" y="1590675"/>
            <a:ext cx="178308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/연구 결과 3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1704975" y="4352925"/>
            <a:ext cx="178308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/연구 결과 4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5705475" y="4352925"/>
            <a:ext cx="178308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/연구 결과 5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9591675" y="4352925"/>
            <a:ext cx="178308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/연구 결과 6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466725" y="6467475"/>
            <a:ext cx="182880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LG Display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87567"/>
            <a:ext cx="280392" cy="2674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271" y="1172617"/>
            <a:ext cx="10387459" cy="519142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85750" y="142875"/>
            <a:ext cx="6267450" cy="3734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0"/>
              </a:lnSpc>
              <a:buNone/>
            </a:pPr>
            <a:r>
              <a:rPr lang="en-US" sz="26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 사용자 워크플로 6단계</a:t>
            </a:r>
            <a:endParaRPr lang="en-US" sz="2625" dirty="0"/>
          </a:p>
        </p:txBody>
      </p:sp>
      <p:sp>
        <p:nvSpPr>
          <p:cNvPr id="6" name="Text 1"/>
          <p:cNvSpPr/>
          <p:nvPr/>
        </p:nvSpPr>
        <p:spPr>
          <a:xfrm>
            <a:off x="361950" y="742950"/>
            <a:ext cx="683514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고착 방지 및 발산 강화를 위한 AI 협업 절차</a:t>
            </a:r>
            <a:endParaRPr lang="en-US" sz="1725" dirty="0"/>
          </a:p>
        </p:txBody>
      </p:sp>
      <p:sp>
        <p:nvSpPr>
          <p:cNvPr id="7" name="Text 2"/>
          <p:cNvSpPr/>
          <p:nvPr/>
        </p:nvSpPr>
        <p:spPr>
          <a:xfrm>
            <a:off x="200025" y="6534150"/>
            <a:ext cx="1714500" cy="1686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27"/>
              </a:lnSpc>
              <a:buNone/>
            </a:pPr>
            <a:r>
              <a:rPr lang="en-US" sz="11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173" y="2071092"/>
            <a:ext cx="1670298" cy="16252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157" y="2167086"/>
            <a:ext cx="1462980" cy="146759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863" y="2153394"/>
            <a:ext cx="1450777" cy="13716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067" y="2064246"/>
            <a:ext cx="1718965" cy="163219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71475" y="57150"/>
            <a:ext cx="6324600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85"/>
              </a:lnSpc>
              <a:buNone/>
            </a:pPr>
            <a:r>
              <a:rPr lang="en-US" sz="1500" dirty="0">
                <a:solidFill>
                  <a:srgbClr val="B512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9 | PROMPT PATTERNS</a:t>
            </a:r>
            <a:endParaRPr lang="en-US" sz="1500" dirty="0"/>
          </a:p>
        </p:txBody>
      </p:sp>
      <p:sp>
        <p:nvSpPr>
          <p:cNvPr id="8" name="Text 1"/>
          <p:cNvSpPr/>
          <p:nvPr/>
        </p:nvSpPr>
        <p:spPr>
          <a:xfrm>
            <a:off x="361950" y="685800"/>
            <a:ext cx="8915400" cy="4560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91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적용을 위한 4가지 프롬프트 패턴</a:t>
            </a:r>
            <a:endParaRPr lang="en-US" sz="2700" dirty="0"/>
          </a:p>
        </p:txBody>
      </p:sp>
      <p:sp>
        <p:nvSpPr>
          <p:cNvPr id="9" name="Text 2"/>
          <p:cNvSpPr/>
          <p:nvPr/>
        </p:nvSpPr>
        <p:spPr>
          <a:xfrm>
            <a:off x="799505" y="4019550"/>
            <a:ext cx="2105918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아이디어 카드</a:t>
            </a:r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 패턴</a:t>
            </a:r>
            <a:endParaRPr lang="en-US" sz="2100" dirty="0"/>
          </a:p>
        </p:txBody>
      </p:sp>
      <p:sp>
        <p:nvSpPr>
          <p:cNvPr id="10" name="Text 3"/>
          <p:cNvSpPr/>
          <p:nvPr/>
        </p:nvSpPr>
        <p:spPr>
          <a:xfrm>
            <a:off x="3704183" y="4019550"/>
            <a:ext cx="2116336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선택 매트릭스</a:t>
            </a:r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 패턴</a:t>
            </a:r>
            <a:endParaRPr lang="en-US" sz="2100" dirty="0"/>
          </a:p>
        </p:txBody>
      </p:sp>
      <p:sp>
        <p:nvSpPr>
          <p:cNvPr id="11" name="Text 4"/>
          <p:cNvSpPr/>
          <p:nvPr/>
        </p:nvSpPr>
        <p:spPr>
          <a:xfrm>
            <a:off x="6482655" y="4019550"/>
            <a:ext cx="2388840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의미적 매개변수</a:t>
            </a:r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 패턴</a:t>
            </a:r>
            <a:endParaRPr lang="en-US" sz="2100" dirty="0"/>
          </a:p>
        </p:txBody>
      </p:sp>
      <p:sp>
        <p:nvSpPr>
          <p:cNvPr id="12" name="Text 5"/>
          <p:cNvSpPr/>
          <p:nvPr/>
        </p:nvSpPr>
        <p:spPr>
          <a:xfrm>
            <a:off x="9652099" y="4019550"/>
            <a:ext cx="1812578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팀 단위 관점</a:t>
            </a:r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 패턴</a:t>
            </a:r>
            <a:endParaRPr lang="en-US" sz="2100" dirty="0"/>
          </a:p>
        </p:txBody>
      </p:sp>
      <p:sp>
        <p:nvSpPr>
          <p:cNvPr id="13" name="Text 6"/>
          <p:cNvSpPr/>
          <p:nvPr/>
        </p:nvSpPr>
        <p:spPr>
          <a:xfrm>
            <a:off x="664815" y="4848225"/>
            <a:ext cx="2346871" cy="8742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9개 카드, 각 source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 비선형 지정,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 생성 금지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3435548" y="4848225"/>
            <a:ext cx="2577405" cy="8742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novelty·usefulness·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feasibility·risk 기준,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이유 한 줄씩 명시</a:t>
            </a:r>
            <a:endParaRPr lang="en-US" sz="1725" dirty="0"/>
          </a:p>
        </p:txBody>
      </p:sp>
      <p:sp>
        <p:nvSpPr>
          <p:cNvPr id="15" name="Text 8"/>
          <p:cNvSpPr/>
          <p:nvPr/>
        </p:nvSpPr>
        <p:spPr>
          <a:xfrm>
            <a:off x="6402586" y="4848225"/>
            <a:ext cx="2472630" cy="8742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의도를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parameter 포로 분해,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옵션 선택 후에만 실행</a:t>
            </a:r>
            <a:endParaRPr lang="en-US" sz="1725" dirty="0"/>
          </a:p>
        </p:txBody>
      </p:sp>
      <p:sp>
        <p:nvSpPr>
          <p:cNvPr id="16" name="Text 9"/>
          <p:cNvSpPr/>
          <p:nvPr/>
        </p:nvSpPr>
        <p:spPr>
          <a:xfrm>
            <a:off x="9321998" y="4848225"/>
            <a:ext cx="2367855" cy="8742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5명에게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고객·기술·비용·반대·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유추 관점 각각 배정</a:t>
            </a:r>
            <a:endParaRPr lang="en-US" sz="17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80721"/>
            <a:ext cx="292596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65" y="4930825"/>
            <a:ext cx="402282" cy="38397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65" y="3819823"/>
            <a:ext cx="402282" cy="38397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65" y="2688282"/>
            <a:ext cx="414486" cy="39766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169" y="130225"/>
            <a:ext cx="4401294" cy="40451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23850" y="742950"/>
            <a:ext cx="971550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도메인별 특화된 AI 협업 패턴의 변화와 실제 적용 사례 분석</a:t>
            </a:r>
            <a:endParaRPr lang="en-US" sz="1875" dirty="0"/>
          </a:p>
        </p:txBody>
      </p:sp>
      <p:sp>
        <p:nvSpPr>
          <p:cNvPr id="9" name="Text 1"/>
          <p:cNvSpPr/>
          <p:nvPr/>
        </p:nvSpPr>
        <p:spPr>
          <a:xfrm>
            <a:off x="1323975" y="2724150"/>
            <a:ext cx="4937760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리서치: 요약 → 구조화 분해</a:t>
            </a:r>
            <a:endParaRPr lang="en-US" sz="2025" dirty="0"/>
          </a:p>
        </p:txBody>
      </p:sp>
      <p:sp>
        <p:nvSpPr>
          <p:cNvPr id="10" name="Text 2"/>
          <p:cNvSpPr/>
          <p:nvPr/>
        </p:nvSpPr>
        <p:spPr>
          <a:xfrm>
            <a:off x="1323975" y="3810000"/>
            <a:ext cx="7098030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슬라이드: 서식 전 narrative 비교</a:t>
            </a:r>
            <a:endParaRPr lang="en-US" sz="2025" dirty="0"/>
          </a:p>
        </p:txBody>
      </p:sp>
      <p:sp>
        <p:nvSpPr>
          <p:cNvPr id="11" name="Text 3"/>
          <p:cNvSpPr/>
          <p:nvPr/>
        </p:nvSpPr>
        <p:spPr>
          <a:xfrm>
            <a:off x="1323975" y="4981575"/>
            <a:ext cx="534924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기획: 기능 → 문제 카드화</a:t>
            </a:r>
            <a:endParaRPr lang="en-US" sz="1950" dirty="0"/>
          </a:p>
        </p:txBody>
      </p:sp>
      <p:sp>
        <p:nvSpPr>
          <p:cNvPr id="12" name="Text 4"/>
          <p:cNvSpPr/>
          <p:nvPr/>
        </p:nvSpPr>
        <p:spPr>
          <a:xfrm>
            <a:off x="7058025" y="2724150"/>
            <a:ext cx="5133975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코딩: 구현 전 아키텍처 대안 비교</a:t>
            </a:r>
            <a:endParaRPr lang="en-US" sz="2025" dirty="0"/>
          </a:p>
        </p:txBody>
      </p:sp>
      <p:sp>
        <p:nvSpPr>
          <p:cNvPr id="13" name="Text 5"/>
          <p:cNvSpPr/>
          <p:nvPr/>
        </p:nvSpPr>
        <p:spPr>
          <a:xfrm>
            <a:off x="7058025" y="3810000"/>
            <a:ext cx="5133975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디자인: concept card 먼저, 생성은 나중</a:t>
            </a:r>
            <a:endParaRPr lang="en-US" sz="1950" dirty="0"/>
          </a:p>
        </p:txBody>
      </p:sp>
      <p:sp>
        <p:nvSpPr>
          <p:cNvPr id="14" name="Text 6"/>
          <p:cNvSpPr/>
          <p:nvPr/>
        </p:nvSpPr>
        <p:spPr>
          <a:xfrm>
            <a:off x="7058025" y="4981575"/>
            <a:ext cx="5133975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회의: 정리 → 결정·미결정 분리</a:t>
            </a:r>
            <a:endParaRPr lang="en-US" sz="1950" dirty="0"/>
          </a:p>
        </p:txBody>
      </p:sp>
      <p:sp>
        <p:nvSpPr>
          <p:cNvPr id="15" name="Text 7"/>
          <p:cNvSpPr/>
          <p:nvPr/>
        </p:nvSpPr>
        <p:spPr>
          <a:xfrm>
            <a:off x="2484090" y="1552575"/>
            <a:ext cx="1508671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기획·분석 도메인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8113365" y="1552575"/>
            <a:ext cx="1718221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실행·산출물 도메인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1323975" y="3143250"/>
            <a:ext cx="718947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요약 직접 요청 대신 claim·반례·적용 가능상 카드로 분해</a:t>
            </a:r>
            <a:endParaRPr lang="en-US" sz="1275" dirty="0"/>
          </a:p>
        </p:txBody>
      </p:sp>
      <p:sp>
        <p:nvSpPr>
          <p:cNvPr id="18" name="Text 10"/>
          <p:cNvSpPr/>
          <p:nvPr/>
        </p:nvSpPr>
        <p:spPr>
          <a:xfrm>
            <a:off x="1323975" y="4238625"/>
            <a:ext cx="918972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 생성 전 narrative 후보 3개·audience별 메시지 먼저 비교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1323975" y="5343525"/>
            <a:ext cx="718947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아이디어 직접 요청 대신 사용자 문제·실패 시나리오 카드 선형</a:t>
            </a:r>
            <a:endParaRPr lang="en-US" sz="1275" dirty="0"/>
          </a:p>
        </p:txBody>
      </p:sp>
      <p:sp>
        <p:nvSpPr>
          <p:cNvPr id="20" name="Text 12"/>
          <p:cNvSpPr/>
          <p:nvPr/>
        </p:nvSpPr>
        <p:spPr>
          <a:xfrm>
            <a:off x="6900863" y="3143250"/>
            <a:ext cx="5291138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요청 전 아키텍처 대안 3개·결정(trade-off)·rollback path 비교</a:t>
            </a:r>
            <a:endParaRPr lang="en-US" sz="1275" dirty="0"/>
          </a:p>
        </p:txBody>
      </p:sp>
      <p:sp>
        <p:nvSpPr>
          <p:cNvPr id="21" name="Text 13"/>
          <p:cNvSpPr/>
          <p:nvPr/>
        </p:nvSpPr>
        <p:spPr>
          <a:xfrm>
            <a:off x="7058025" y="4238625"/>
            <a:ext cx="5133975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포스터·이미지 생성 전 concept card 탐색 후 선택만 방향만 실행</a:t>
            </a:r>
            <a:endParaRPr lang="en-US" sz="1275" dirty="0"/>
          </a:p>
        </p:txBody>
      </p:sp>
      <p:sp>
        <p:nvSpPr>
          <p:cNvPr id="22" name="Text 14"/>
          <p:cNvSpPr/>
          <p:nvPr/>
        </p:nvSpPr>
        <p:spPr>
          <a:xfrm>
            <a:off x="7058025" y="5343525"/>
            <a:ext cx="5133975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요약 대신 결정·미결정·가장·후속 질문 항목으로 분리 출력</a:t>
            </a:r>
            <a:endParaRPr lang="en-US" sz="1275" dirty="0"/>
          </a:p>
        </p:txBody>
      </p:sp>
      <p:sp>
        <p:nvSpPr>
          <p:cNvPr id="23" name="Text 15"/>
          <p:cNvSpPr/>
          <p:nvPr/>
        </p:nvSpPr>
        <p:spPr>
          <a:xfrm>
            <a:off x="466725" y="6496050"/>
            <a:ext cx="217170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4"/>
              </a:lnSpc>
              <a:buNone/>
            </a:pPr>
            <a:r>
              <a:rPr lang="en-US" sz="14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63" y="6556177"/>
            <a:ext cx="231577" cy="2330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377" y="5157192"/>
            <a:ext cx="1170384" cy="72687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2377" y="4087267"/>
            <a:ext cx="1158180" cy="67880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377" y="3038029"/>
            <a:ext cx="1158180" cy="67195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2377" y="1892796"/>
            <a:ext cx="1170384" cy="76110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271" y="5157192"/>
            <a:ext cx="1145977" cy="72003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067" y="4053036"/>
            <a:ext cx="1158180" cy="76110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067" y="2989957"/>
            <a:ext cx="1158180" cy="76795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863" y="1920180"/>
            <a:ext cx="1182588" cy="733723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23825"/>
            <a:ext cx="11963400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02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“AI 험민인 주 울컨누 눌시되” / Research Limitations and Risks</a:t>
            </a:r>
            <a:endParaRPr lang="en-US" sz="2325" dirty="0"/>
          </a:p>
        </p:txBody>
      </p:sp>
      <p:sp>
        <p:nvSpPr>
          <p:cNvPr id="13" name="Text 1"/>
          <p:cNvSpPr/>
          <p:nvPr/>
        </p:nvSpPr>
        <p:spPr>
          <a:xfrm>
            <a:off x="466725" y="638175"/>
            <a:ext cx="1172527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및 실무 적용 측면의 제약과 리스크 / Constraints and Risks</a:t>
            </a:r>
            <a:endParaRPr lang="en-US" sz="1725" dirty="0"/>
          </a:p>
        </p:txBody>
      </p:sp>
      <p:sp>
        <p:nvSpPr>
          <p:cNvPr id="14" name="Text 2"/>
          <p:cNvSpPr/>
          <p:nvPr/>
        </p:nvSpPr>
        <p:spPr>
          <a:xfrm>
            <a:off x="2419350" y="1962150"/>
            <a:ext cx="587121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 편향: N=24, CS/IT 집중</a:t>
            </a:r>
            <a:endParaRPr lang="en-US" sz="1725" dirty="0"/>
          </a:p>
        </p:txBody>
      </p:sp>
      <p:sp>
        <p:nvSpPr>
          <p:cNvPr id="15" name="Text 3"/>
          <p:cNvSpPr/>
          <p:nvPr/>
        </p:nvSpPr>
        <p:spPr>
          <a:xfrm>
            <a:off x="2295525" y="3067050"/>
            <a:ext cx="31546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과제 도메인 한계</a:t>
            </a:r>
            <a:endParaRPr lang="en-US" sz="1725" dirty="0"/>
          </a:p>
        </p:txBody>
      </p:sp>
      <p:sp>
        <p:nvSpPr>
          <p:cNvPr id="16" name="Text 4"/>
          <p:cNvSpPr/>
          <p:nvPr/>
        </p:nvSpPr>
        <p:spPr>
          <a:xfrm>
            <a:off x="2295525" y="4171950"/>
            <a:ext cx="31546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과전, 메인 한계</a:t>
            </a:r>
            <a:endParaRPr lang="en-US" sz="1725" dirty="0"/>
          </a:p>
        </p:txBody>
      </p:sp>
      <p:sp>
        <p:nvSpPr>
          <p:cNvPr id="17" name="Text 5"/>
          <p:cNvSpPr/>
          <p:nvPr/>
        </p:nvSpPr>
        <p:spPr>
          <a:xfrm>
            <a:off x="2295525" y="5210175"/>
            <a:ext cx="394335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세션, 장기 불과 측원</a:t>
            </a:r>
            <a:endParaRPr lang="en-US" sz="1725" dirty="0"/>
          </a:p>
        </p:txBody>
      </p:sp>
      <p:sp>
        <p:nvSpPr>
          <p:cNvPr id="18" name="Text 6"/>
          <p:cNvSpPr/>
          <p:nvPr/>
        </p:nvSpPr>
        <p:spPr>
          <a:xfrm>
            <a:off x="7905750" y="1962150"/>
            <a:ext cx="394335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스케폴딩 증가 → 속도 손실</a:t>
            </a:r>
            <a:endParaRPr lang="en-US" sz="1725" dirty="0"/>
          </a:p>
        </p:txBody>
      </p:sp>
      <p:sp>
        <p:nvSpPr>
          <p:cNvPr id="19" name="Text 7"/>
          <p:cNvSpPr/>
          <p:nvPr/>
        </p:nvSpPr>
        <p:spPr>
          <a:xfrm>
            <a:off x="7905750" y="3067050"/>
            <a:ext cx="31546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소재 모호성 위험</a:t>
            </a:r>
            <a:endParaRPr lang="en-US" sz="1725" dirty="0"/>
          </a:p>
        </p:txBody>
      </p:sp>
      <p:sp>
        <p:nvSpPr>
          <p:cNvPr id="20" name="Text 8"/>
          <p:cNvSpPr/>
          <p:nvPr/>
        </p:nvSpPr>
        <p:spPr>
          <a:xfrm>
            <a:off x="7905750" y="4171950"/>
            <a:ext cx="31546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소재 모호성 위험</a:t>
            </a:r>
            <a:endParaRPr lang="en-US" sz="1725" dirty="0"/>
          </a:p>
        </p:txBody>
      </p:sp>
      <p:sp>
        <p:nvSpPr>
          <p:cNvPr id="21" name="Text 9"/>
          <p:cNvSpPr/>
          <p:nvPr/>
        </p:nvSpPr>
        <p:spPr>
          <a:xfrm>
            <a:off x="7905750" y="5210175"/>
            <a:ext cx="31546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HAICo는 명찰 미견</a:t>
            </a:r>
            <a:endParaRPr lang="en-US" sz="1725" dirty="0"/>
          </a:p>
        </p:txBody>
      </p:sp>
      <p:sp>
        <p:nvSpPr>
          <p:cNvPr id="22" name="Text 10"/>
          <p:cNvSpPr/>
          <p:nvPr/>
        </p:nvSpPr>
        <p:spPr>
          <a:xfrm>
            <a:off x="1002506" y="1352550"/>
            <a:ext cx="43481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[연구 한계점 / RESEARCH LIMITATIONS]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6472238" y="1352550"/>
            <a:ext cx="4714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[실무 도입 리스크 / IMPLEMENTATION RISKS]</a:t>
            </a:r>
            <a:endParaRPr lang="en-US" sz="1500" dirty="0"/>
          </a:p>
        </p:txBody>
      </p:sp>
      <p:sp>
        <p:nvSpPr>
          <p:cNvPr id="24" name="Text 12"/>
          <p:cNvSpPr/>
          <p:nvPr/>
        </p:nvSpPr>
        <p:spPr>
          <a:xfrm>
            <a:off x="2295525" y="2343150"/>
            <a:ext cx="411480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직군 소카의 믹일수감 비디할제원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2295525" y="3448050"/>
            <a:ext cx="473202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포스터 생성 외 메인인 적용 가능설미계점증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2295525" y="4543425"/>
            <a:ext cx="411480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포스키 생성 외 뚝히인 민음옥도펠헤두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2295525" y="5638800"/>
            <a:ext cx="473202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자기보고 학습 지표, 객관적 장기 측국왕음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7905750" y="2343150"/>
            <a:ext cx="428625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명확한 과제서는 직접 실패이치 큼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7905750" y="3448050"/>
            <a:ext cx="428625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탐색구호 도인 깃 상류유 모과 왈 알를분역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7905750" y="4543425"/>
            <a:ext cx="428625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딩눈 기즈유일 구 외화; 식검피지도 될재버</a:t>
            </a:r>
            <a:endParaRPr lang="en-US" sz="1350" dirty="0"/>
          </a:p>
        </p:txBody>
      </p:sp>
      <p:sp>
        <p:nvSpPr>
          <p:cNvPr id="31" name="Text 19"/>
          <p:cNvSpPr/>
          <p:nvPr/>
        </p:nvSpPr>
        <p:spPr>
          <a:xfrm>
            <a:off x="7905750" y="5638800"/>
            <a:ext cx="411480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물시실문능 인도로 잔연겔 문누 직외만</a:t>
            </a:r>
            <a:endParaRPr lang="en-US" sz="1350" dirty="0"/>
          </a:p>
        </p:txBody>
      </p:sp>
      <p:sp>
        <p:nvSpPr>
          <p:cNvPr id="32" name="Text 20"/>
          <p:cNvSpPr/>
          <p:nvPr/>
        </p:nvSpPr>
        <p:spPr>
          <a:xfrm>
            <a:off x="466725" y="6572250"/>
            <a:ext cx="2057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80" y="6501259"/>
            <a:ext cx="292596" cy="27429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157" y="4025503"/>
            <a:ext cx="1694557" cy="63772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879" y="2750046"/>
            <a:ext cx="1853059" cy="119315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886" y="2914650"/>
            <a:ext cx="1938486" cy="20161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192" y="4162723"/>
            <a:ext cx="1877467" cy="66511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192" y="2818507"/>
            <a:ext cx="1865263" cy="129614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0682" y="3662065"/>
            <a:ext cx="1840855" cy="112469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7373" y="2825353"/>
            <a:ext cx="975271" cy="82287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988" y="2914650"/>
            <a:ext cx="1682353" cy="126176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66725" y="314325"/>
            <a:ext cx="11725275" cy="5258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14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협업 효율화를 위한 4가지 운영 원칙</a:t>
            </a:r>
            <a:endParaRPr lang="en-US" sz="3450" dirty="0"/>
          </a:p>
        </p:txBody>
      </p:sp>
      <p:sp>
        <p:nvSpPr>
          <p:cNvPr id="13" name="Text 1"/>
          <p:cNvSpPr/>
          <p:nvPr/>
        </p:nvSpPr>
        <p:spPr>
          <a:xfrm>
            <a:off x="466725" y="904875"/>
            <a:ext cx="7086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4가지 원칙 및 통합 측정 기준</a:t>
            </a:r>
            <a:endParaRPr lang="en-US" sz="2250" dirty="0"/>
          </a:p>
        </p:txBody>
      </p:sp>
      <p:sp>
        <p:nvSpPr>
          <p:cNvPr id="14" name="Text 2"/>
          <p:cNvSpPr/>
          <p:nvPr/>
        </p:nvSpPr>
        <p:spPr>
          <a:xfrm>
            <a:off x="501848" y="5029200"/>
            <a:ext cx="1948755" cy="817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카드·후보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선택지를 먼저 요청,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실행 금지</a:t>
            </a:r>
            <a:endParaRPr lang="en-US" sz="1650" dirty="0"/>
          </a:p>
        </p:txBody>
      </p:sp>
      <p:sp>
        <p:nvSpPr>
          <p:cNvPr id="15" name="Text 3"/>
          <p:cNvSpPr/>
          <p:nvPr/>
        </p:nvSpPr>
        <p:spPr>
          <a:xfrm>
            <a:off x="2689771" y="5029200"/>
            <a:ext cx="2221111" cy="817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요청은 semantic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parameter 포로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분해 후 옵션 선택</a:t>
            </a:r>
            <a:endParaRPr lang="en-US" sz="1650" dirty="0"/>
          </a:p>
        </p:txBody>
      </p:sp>
      <p:sp>
        <p:nvSpPr>
          <p:cNvPr id="16" name="Text 4"/>
          <p:cNvSpPr/>
          <p:nvPr/>
        </p:nvSpPr>
        <p:spPr>
          <a:xfrm>
            <a:off x="5065365" y="5029200"/>
            <a:ext cx="2137321" cy="817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품질 평가와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별도로 팀 내 아이디어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중복을 확인</a:t>
            </a:r>
            <a:endParaRPr lang="en-US" sz="1650" dirty="0"/>
          </a:p>
        </p:txBody>
      </p:sp>
      <p:sp>
        <p:nvSpPr>
          <p:cNvPr id="17" name="Text 5"/>
          <p:cNvSpPr/>
          <p:nvPr/>
        </p:nvSpPr>
        <p:spPr>
          <a:xfrm>
            <a:off x="7373689" y="5029200"/>
            <a:ext cx="2273498" cy="7058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conservative·remote·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contrarian branch를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이유와 함께 기록</a:t>
            </a:r>
            <a:endParaRPr lang="en-US" sz="1425" dirty="0"/>
          </a:p>
        </p:txBody>
      </p:sp>
      <p:sp>
        <p:nvSpPr>
          <p:cNvPr id="18" name="Text 6"/>
          <p:cNvSpPr/>
          <p:nvPr/>
        </p:nvSpPr>
        <p:spPr>
          <a:xfrm>
            <a:off x="9982200" y="5029200"/>
            <a:ext cx="1791593" cy="13000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카드 수</a:t>
            </a:r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기준 수립</a:t>
            </a:r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refinement 횟수</a:t>
            </a:r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branch 보존</a:t>
            </a:r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중복율</a:t>
            </a:r>
            <a:endParaRPr lang="en-US" sz="1575" dirty="0"/>
          </a:p>
        </p:txBody>
      </p:sp>
      <p:sp>
        <p:nvSpPr>
          <p:cNvPr id="19" name="Text 7"/>
          <p:cNvSpPr/>
          <p:nvPr/>
        </p:nvSpPr>
        <p:spPr>
          <a:xfrm>
            <a:off x="466725" y="6486525"/>
            <a:ext cx="251460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650" dirty="0"/>
          </a:p>
        </p:txBody>
      </p:sp>
      <p:sp>
        <p:nvSpPr>
          <p:cNvPr id="20" name="Text 8"/>
          <p:cNvSpPr/>
          <p:nvPr/>
        </p:nvSpPr>
        <p:spPr>
          <a:xfrm>
            <a:off x="1108174" y="4429125"/>
            <a:ext cx="76482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 X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10203061" y="1781175"/>
            <a:ext cx="100578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기준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5779294" y="6591300"/>
            <a:ext cx="681038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105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050" dirty="0"/>
          </a:p>
        </p:txBody>
      </p:sp>
      <p:sp>
        <p:nvSpPr>
          <p:cNvPr id="23" name="Text 11"/>
          <p:cNvSpPr/>
          <p:nvPr/>
        </p:nvSpPr>
        <p:spPr>
          <a:xfrm>
            <a:off x="1114425" y="1771650"/>
            <a:ext cx="62865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1</a:t>
            </a:r>
            <a:endParaRPr lang="en-US" sz="1350" dirty="0"/>
          </a:p>
        </p:txBody>
      </p:sp>
      <p:sp>
        <p:nvSpPr>
          <p:cNvPr id="24" name="Text 12"/>
          <p:cNvSpPr/>
          <p:nvPr/>
        </p:nvSpPr>
        <p:spPr>
          <a:xfrm>
            <a:off x="3429000" y="1771650"/>
            <a:ext cx="62865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2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5781675" y="1771650"/>
            <a:ext cx="62865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3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8143280" y="1771650"/>
            <a:ext cx="639068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4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504230" y="2162175"/>
            <a:ext cx="1896368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대안 먼저,</a:t>
            </a:r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산출물은 그 다음</a:t>
            </a:r>
            <a:endParaRPr lang="en-US" sz="1950" dirty="0"/>
          </a:p>
        </p:txBody>
      </p:sp>
      <p:sp>
        <p:nvSpPr>
          <p:cNvPr id="28" name="Text 16"/>
          <p:cNvSpPr/>
          <p:nvPr/>
        </p:nvSpPr>
        <p:spPr>
          <a:xfrm>
            <a:off x="2818805" y="2162175"/>
            <a:ext cx="1896368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해석을</a:t>
            </a:r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전에 가시화</a:t>
            </a:r>
            <a:endParaRPr lang="en-US" sz="1950" dirty="0"/>
          </a:p>
        </p:txBody>
      </p:sp>
      <p:sp>
        <p:nvSpPr>
          <p:cNvPr id="29" name="Text 17"/>
          <p:cNvSpPr/>
          <p:nvPr/>
        </p:nvSpPr>
        <p:spPr>
          <a:xfrm>
            <a:off x="5346353" y="2162175"/>
            <a:ext cx="1613446" cy="566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다양성은</a:t>
            </a:r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단위로 측정</a:t>
            </a:r>
            <a:endParaRPr lang="en-US" sz="1875" dirty="0"/>
          </a:p>
        </p:txBody>
      </p:sp>
      <p:sp>
        <p:nvSpPr>
          <p:cNvPr id="30" name="Text 18"/>
          <p:cNvSpPr/>
          <p:nvPr/>
        </p:nvSpPr>
        <p:spPr>
          <a:xfrm>
            <a:off x="7651403" y="2162175"/>
            <a:ext cx="1613446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기각된 분기와</a:t>
            </a:r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이유를 보존</a:t>
            </a:r>
            <a:endParaRPr lang="en-US" sz="1950" dirty="0"/>
          </a:p>
        </p:txBody>
      </p:sp>
      <p:sp>
        <p:nvSpPr>
          <p:cNvPr id="31" name="Text 19"/>
          <p:cNvSpPr/>
          <p:nvPr/>
        </p:nvSpPr>
        <p:spPr>
          <a:xfrm>
            <a:off x="10145911" y="2162175"/>
            <a:ext cx="121533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 적용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2026-04-28T16:22:57Z</dcterms:created>
  <dcterms:modified xsi:type="dcterms:W3CDTF">2026-04-28T16:22:57Z</dcterms:modified>
</cp:coreProperties>
</file>