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3330" y="2314575"/>
            <a:ext cx="11189940" cy="7140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623"/>
              </a:lnSpc>
              <a:buNone/>
            </a:pPr>
            <a:r>
              <a:rPr lang="en-US" sz="47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협업은 첫 산출물을 낮출수록 넓어진다</a:t>
            </a:r>
            <a:endParaRPr lang="en-US" sz="4725" dirty="0"/>
          </a:p>
        </p:txBody>
      </p:sp>
      <p:sp>
        <p:nvSpPr>
          <p:cNvPr id="4" name="Text 1"/>
          <p:cNvSpPr/>
          <p:nvPr/>
        </p:nvSpPr>
        <p:spPr>
          <a:xfrm>
            <a:off x="1378148" y="3829050"/>
            <a:ext cx="9492555" cy="3957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116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Exploration vs. Fixation 논문 기반 실무 리뷰 / arXiv:2512.18388v2</a:t>
            </a:r>
            <a:endParaRPr lang="en-US" sz="2325" dirty="0"/>
          </a:p>
        </p:txBody>
      </p:sp>
      <p:sp>
        <p:nvSpPr>
          <p:cNvPr id="5" name="Text 2"/>
          <p:cNvSpPr/>
          <p:nvPr/>
        </p:nvSpPr>
        <p:spPr>
          <a:xfrm>
            <a:off x="3393728" y="4972050"/>
            <a:ext cx="5385346" cy="3957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116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Wen et al., 2026-04-28 내부 기술 리뷰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285750" y="6457950"/>
            <a:ext cx="2971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A920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740598" y="6534150"/>
            <a:ext cx="69145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314325"/>
            <a:ext cx="7132320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논문이 던지는 실무 질문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355753" y="1600200"/>
            <a:ext cx="3499396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논문이 던지는 실무 질문</a:t>
            </a:r>
            <a:endParaRPr lang="en-US" sz="2475" dirty="0"/>
          </a:p>
        </p:txBody>
      </p:sp>
      <p:sp>
        <p:nvSpPr>
          <p:cNvPr id="5" name="Text 2"/>
          <p:cNvSpPr/>
          <p:nvPr/>
        </p:nvSpPr>
        <p:spPr>
          <a:xfrm>
            <a:off x="2543175" y="2343150"/>
            <a:ext cx="6213128" cy="9391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97"/>
              </a:lnSpc>
              <a:buNone/>
            </a:pPr>
            <a:r>
              <a:rPr lang="en-US" sz="2325" b="1" dirty="0">
                <a:solidFill>
                  <a:srgbClr val="1C1C1C"/>
                </a:solidFill>
              </a:rPr>
              <a:t>•첫 결과물이 너무 빨리 나오면 이후 판단이</a:t>
            </a:r>
            <a:pPr indent="0" marL="0">
              <a:lnSpc>
                <a:spcPts val="3697"/>
              </a:lnSpc>
              <a:buNone/>
            </a:pPr>
            <a:r>
              <a:rPr lang="en-US" sz="2325" b="1" dirty="0">
                <a:solidFill>
                  <a:srgbClr val="1C1C1C"/>
                </a:solidFill>
              </a:rPr>
              <a:t>
</a:t>
            </a:r>
            <a:pPr indent="0" marL="0">
              <a:lnSpc>
                <a:spcPts val="3697"/>
              </a:lnSpc>
              <a:buNone/>
            </a:pPr>
            <a:r>
              <a:rPr lang="en-US" sz="2325" b="1" dirty="0">
                <a:solidFill>
                  <a:srgbClr val="1C1C1C"/>
                </a:solidFill>
              </a:rPr>
              <a:t>그 결과물에 묶인다.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2543175" y="3429000"/>
            <a:ext cx="9648825" cy="4399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64"/>
              </a:lnSpc>
              <a:buNone/>
            </a:pPr>
            <a:r>
              <a:rPr lang="en-US" sz="2325" b="1" dirty="0">
                <a:solidFill>
                  <a:srgbClr val="1C1C1C"/>
                </a:solidFill>
              </a:rPr>
              <a:t>•좋은 프롬프트보다 먼저 필요한 것은 작업 순서 설계다.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2686050" y="4010025"/>
            <a:ext cx="6454080" cy="9391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97"/>
              </a:lnSpc>
              <a:buNone/>
            </a:pPr>
            <a:r>
              <a:rPr lang="en-US" sz="2325" b="1" dirty="0">
                <a:solidFill>
                  <a:srgbClr val="1C1C1C"/>
                </a:solidFill>
              </a:rPr>
              <a:t>•AI 사용자는 산출물 생성 전에 대한 탐색 폭을</a:t>
            </a:r>
            <a:pPr indent="0" marL="0">
              <a:lnSpc>
                <a:spcPts val="3697"/>
              </a:lnSpc>
              <a:buNone/>
            </a:pPr>
            <a:r>
              <a:rPr lang="en-US" sz="2325" b="1" dirty="0">
                <a:solidFill>
                  <a:srgbClr val="1C1C1C"/>
                </a:solidFill>
              </a:rPr>
              <a:t>
</a:t>
            </a:r>
            <a:pPr indent="0" marL="0">
              <a:lnSpc>
                <a:spcPts val="3697"/>
              </a:lnSpc>
              <a:buNone/>
            </a:pPr>
            <a:r>
              <a:rPr lang="en-US" sz="2325" b="1" dirty="0">
                <a:solidFill>
                  <a:srgbClr val="1C1C1C"/>
                </a:solidFill>
              </a:rPr>
              <a:t>확보해야 한다.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2543175" y="5029200"/>
            <a:ext cx="9212580" cy="4399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64"/>
              </a:lnSpc>
              <a:buNone/>
            </a:pPr>
            <a:r>
              <a:rPr lang="en-US" sz="2325" b="1" dirty="0">
                <a:solidFill>
                  <a:srgbClr val="1C1C1C"/>
                </a:solidFill>
              </a:rPr>
              <a:t>•이 논문은 도구 성능보다 협업 흐름을 다룬다.</a:t>
            </a:r>
            <a:endParaRPr lang="en-US" sz="2325" dirty="0"/>
          </a:p>
        </p:txBody>
      </p:sp>
      <p:sp>
        <p:nvSpPr>
          <p:cNvPr id="9" name="Text 6"/>
          <p:cNvSpPr/>
          <p:nvPr/>
        </p:nvSpPr>
        <p:spPr>
          <a:xfrm>
            <a:off x="285750" y="6467475"/>
            <a:ext cx="308610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5760690" y="6553200"/>
            <a:ext cx="670471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2425"/>
            <a:ext cx="5486400" cy="5441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284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고착이 생기는 과정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2489746" y="5095875"/>
            <a:ext cx="7250311" cy="411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i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결과물은 빨리 나오지만 탐색 범위는 좁아진다.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669631" y="1600200"/>
            <a:ext cx="2881313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99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고착이 생기는 과정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1733996" y="3267075"/>
            <a:ext cx="1456283" cy="746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즉시</a:t>
            </a:r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생성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3879503" y="3267075"/>
            <a:ext cx="2032546" cy="746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첫 결과물이</a:t>
            </a:r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기준점으로 작동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266855" y="3267075"/>
            <a:ext cx="2105918" cy="746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사용자는</a:t>
            </a:r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수정에 집중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948142" y="3267075"/>
            <a:ext cx="1582043" cy="746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대한 탐색</a:t>
            </a:r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기회 감소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85750" y="6486525"/>
            <a:ext cx="2857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56"/>
              </a:lnSpc>
              <a:buNone/>
            </a:pPr>
            <a:r>
              <a:rPr lang="en-US" sz="187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5740598" y="6543675"/>
            <a:ext cx="69145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04800"/>
            <a:ext cx="8229600" cy="5668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64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HAICo가 바꾼 인터페이스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137124" y="1600200"/>
            <a:ext cx="3908078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HAICo가 바꾼 인터페이스</a:t>
            </a:r>
            <a:endParaRPr lang="en-US" sz="2475" dirty="0"/>
          </a:p>
        </p:txBody>
      </p:sp>
      <p:sp>
        <p:nvSpPr>
          <p:cNvPr id="5" name="Text 2"/>
          <p:cNvSpPr/>
          <p:nvPr/>
        </p:nvSpPr>
        <p:spPr>
          <a:xfrm>
            <a:off x="2543175" y="2362200"/>
            <a:ext cx="9429750" cy="4621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38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•발산 모드: 아이디어 카드와 원격 연상 제안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2543175" y="2886075"/>
            <a:ext cx="9648825" cy="4621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38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•수렴 모드: semantic parameter와 선택지 조정</a:t>
            </a:r>
            <a:endParaRPr lang="en-US" sz="2475" dirty="0"/>
          </a:p>
        </p:txBody>
      </p:sp>
      <p:sp>
        <p:nvSpPr>
          <p:cNvPr id="7" name="Text 4"/>
          <p:cNvSpPr/>
          <p:nvPr/>
        </p:nvSpPr>
        <p:spPr>
          <a:xfrm>
            <a:off x="2543175" y="3390900"/>
            <a:ext cx="8675370" cy="4621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38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•기록 구조: 버린 분기와 선택 이유 보존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2543175" y="3914775"/>
            <a:ext cx="7680960" cy="4481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28"/>
              </a:lnSpc>
              <a:buNone/>
            </a:pPr>
            <a:r>
              <a:rPr lang="en-US" sz="2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•목적: 생성 전에 탐색을 구조화한다.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85750" y="6457950"/>
            <a:ext cx="297180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7"/>
              </a:lnSpc>
              <a:buNone/>
            </a:pPr>
            <a:r>
              <a:rPr lang="en-US" sz="1950" b="1" dirty="0">
                <a:solidFill>
                  <a:srgbClr val="A9A9A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740598" y="6553200"/>
            <a:ext cx="69145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A9A9A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352425"/>
            <a:ext cx="2743200" cy="562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28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02014" y="1600200"/>
            <a:ext cx="1435298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543175" y="2352675"/>
            <a:ext cx="9648825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N=24, within-subjects poster task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2543175" y="2809875"/>
            <a:ext cx="9648825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UMUX-Lite: </a:t>
            </a:r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81.25</a:t>
            </a:r>
            <a:pPr indent="0" marL="0">
              <a:lnSpc>
                <a:spcPts val="2767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64.24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2543175" y="4019550"/>
            <a:ext cx="956691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Novelty: </a:t>
            </a:r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3.22</a:t>
            </a:r>
            <a:pPr indent="0" marL="0">
              <a:lnSpc>
                <a:spcPts val="2767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2.41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2543175" y="4476750"/>
            <a:ext cx="9648825" cy="3626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56"/>
              </a:lnSpc>
              <a:buNone/>
            </a:pPr>
            <a:r>
              <a:rPr lang="en-US" sz="2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Diversity: </a:t>
            </a:r>
            <a:pPr indent="0" marL="0">
              <a:lnSpc>
                <a:spcPts val="2856"/>
              </a:lnSpc>
              <a:buNone/>
            </a:pPr>
            <a:r>
              <a:rPr lang="en-US" sz="24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</a:t>
            </a:r>
            <a:pPr indent="0" marL="0">
              <a:lnSpc>
                <a:spcPts val="2856"/>
              </a:lnSpc>
              <a:buNone/>
            </a:pPr>
            <a:r>
              <a:rPr lang="en-US" sz="24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0.36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543175" y="4933950"/>
            <a:ext cx="885825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수정 횟수: </a:t>
            </a:r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1.56</a:t>
            </a:r>
            <a:pPr indent="0" marL="0">
              <a:lnSpc>
                <a:spcPts val="2767"/>
              </a:lnSpc>
              <a:buNone/>
            </a:pPr>
            <a:r>
              <a:rPr lang="en-US" sz="23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2.94</a:t>
            </a:r>
            <a:endParaRPr lang="en-US" sz="2325" dirty="0"/>
          </a:p>
        </p:txBody>
      </p:sp>
      <p:sp>
        <p:nvSpPr>
          <p:cNvPr id="10" name="Text 7"/>
          <p:cNvSpPr/>
          <p:nvPr/>
        </p:nvSpPr>
        <p:spPr>
          <a:xfrm>
            <a:off x="2543175" y="5324475"/>
            <a:ext cx="9648825" cy="3400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Fluency와 Usefulness는 유의한 차이가 없었다.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285750" y="6419850"/>
            <a:ext cx="297180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740598" y="6524625"/>
            <a:ext cx="691455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314325"/>
            <a:ext cx="8778240" cy="5898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644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배우는 것이 달라진다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800475" y="1581150"/>
            <a:ext cx="46101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배우는 것이 달라진다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543175" y="2343150"/>
            <a:ext cx="9648825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4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ChatGPT 조건: 시스템 사용법과 프롬프트 요령 학습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2543175" y="3314700"/>
            <a:ext cx="9648825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4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HAICo 조건: 과제 지식, 새로운 방향, 작업 흐름 학습</a:t>
            </a:r>
            <a:endParaRPr lang="en-US" sz="2475" dirty="0"/>
          </a:p>
        </p:txBody>
      </p:sp>
      <p:sp>
        <p:nvSpPr>
          <p:cNvPr id="7" name="Text 4"/>
          <p:cNvSpPr/>
          <p:nvPr/>
        </p:nvSpPr>
        <p:spPr>
          <a:xfrm>
            <a:off x="2543175" y="4324350"/>
            <a:ext cx="9648825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4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전이 결과: brainstorming-first 전략 사용 증가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2543175" y="5276850"/>
            <a:ext cx="9648825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4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판단: 도구 조작 학습에서 문제 탐색 학습으로 이동한다.</a:t>
            </a:r>
            <a:endParaRPr lang="en-US" sz="2475" dirty="0"/>
          </a:p>
        </p:txBody>
      </p:sp>
      <p:sp>
        <p:nvSpPr>
          <p:cNvPr id="9" name="Text 6"/>
          <p:cNvSpPr/>
          <p:nvPr/>
        </p:nvSpPr>
        <p:spPr>
          <a:xfrm>
            <a:off x="285750" y="6457950"/>
            <a:ext cx="3200400" cy="290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89"/>
              </a:lnSpc>
              <a:buNone/>
            </a:pPr>
            <a:r>
              <a:rPr lang="en-US" sz="21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760690" y="6534150"/>
            <a:ext cx="670471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314325"/>
            <a:ext cx="8778240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보강 근거가 말하는 공통 패턴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999012" y="1600200"/>
            <a:ext cx="4222403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보강 근거가 말하는 공통 패턴</a:t>
            </a:r>
            <a:endParaRPr lang="en-US" sz="2475" dirty="0"/>
          </a:p>
        </p:txBody>
      </p:sp>
      <p:sp>
        <p:nvSpPr>
          <p:cNvPr id="5" name="Text 2"/>
          <p:cNvSpPr/>
          <p:nvPr/>
        </p:nvSpPr>
        <p:spPr>
          <a:xfrm>
            <a:off x="2543175" y="2352675"/>
            <a:ext cx="7700963" cy="2743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Wadinambiarachchi et al. 2024: AI 이미지 노출은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다양성과 독창성을 낮출 수 있다.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Doshi and Hauser 2024: 개인 창의성은 오르지만 집단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다양성은 낮아질 수 있다.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Anderson et al. 2024: ChatGPT 아이디어는 사용자 간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동질화를 만들 수 있다.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Dow et al.: 병렬 대안 탐색은 직렬 수정보다 낮은 결과를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만든다.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285750" y="6448425"/>
            <a:ext cx="28575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5760690" y="6553200"/>
            <a:ext cx="670471" cy="144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34"/>
              </a:lnSpc>
              <a:buNone/>
            </a:pPr>
            <a:r>
              <a:rPr lang="en-US" sz="1050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314325"/>
            <a:ext cx="6172200" cy="5100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016"/>
              </a:lnSpc>
              <a:buNone/>
            </a:pPr>
            <a:r>
              <a:rPr lang="en-US" sz="33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실무용 AI 사용 순서</a:t>
            </a:r>
            <a:endParaRPr lang="en-US" sz="3375" dirty="0"/>
          </a:p>
        </p:txBody>
      </p:sp>
      <p:sp>
        <p:nvSpPr>
          <p:cNvPr id="4" name="Text 1"/>
          <p:cNvSpPr/>
          <p:nvPr/>
        </p:nvSpPr>
        <p:spPr>
          <a:xfrm>
            <a:off x="4819650" y="1571625"/>
            <a:ext cx="4251960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99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실무용 AI 사용 순서</a:t>
            </a:r>
            <a:endParaRPr lang="en-US" sz="2325" dirty="0"/>
          </a:p>
        </p:txBody>
      </p:sp>
      <p:sp>
        <p:nvSpPr>
          <p:cNvPr id="5" name="Text 2"/>
          <p:cNvSpPr/>
          <p:nvPr/>
        </p:nvSpPr>
        <p:spPr>
          <a:xfrm>
            <a:off x="2667000" y="2457450"/>
            <a:ext cx="8740140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135"/>
              </a:lnSpc>
              <a:buNone/>
            </a:pPr>
            <a:r>
              <a:rPr lang="en-US" sz="27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 문제와 제약을 먼저 적는다.</a:t>
            </a:r>
            <a:endParaRPr lang="en-US" sz="2775" dirty="0"/>
          </a:p>
        </p:txBody>
      </p:sp>
      <p:sp>
        <p:nvSpPr>
          <p:cNvPr id="6" name="Text 3"/>
          <p:cNvSpPr/>
          <p:nvPr/>
        </p:nvSpPr>
        <p:spPr>
          <a:xfrm>
            <a:off x="2667000" y="3143250"/>
            <a:ext cx="9525000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135"/>
              </a:lnSpc>
              <a:buNone/>
            </a:pPr>
            <a:r>
              <a:rPr lang="en-US" sz="27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 서로 다른 후보를 여러 개 요청한다.</a:t>
            </a:r>
            <a:endParaRPr lang="en-US" sz="2775" dirty="0"/>
          </a:p>
        </p:txBody>
      </p:sp>
      <p:sp>
        <p:nvSpPr>
          <p:cNvPr id="7" name="Text 4"/>
          <p:cNvSpPr/>
          <p:nvPr/>
        </p:nvSpPr>
        <p:spPr>
          <a:xfrm>
            <a:off x="2667000" y="3829050"/>
            <a:ext cx="7048500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135"/>
              </a:lnSpc>
              <a:buNone/>
            </a:pPr>
            <a:r>
              <a:rPr lang="en-US" sz="27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3단계: 선택 기준을 정한다.</a:t>
            </a:r>
            <a:endParaRPr lang="en-US" sz="2775" dirty="0"/>
          </a:p>
        </p:txBody>
      </p:sp>
      <p:sp>
        <p:nvSpPr>
          <p:cNvPr id="8" name="Text 5"/>
          <p:cNvSpPr/>
          <p:nvPr/>
        </p:nvSpPr>
        <p:spPr>
          <a:xfrm>
            <a:off x="2667000" y="4514850"/>
            <a:ext cx="9163050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135"/>
              </a:lnSpc>
              <a:buNone/>
            </a:pPr>
            <a:r>
              <a:rPr lang="en-US" sz="27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4단계: 그 기준으로 산출물을 만든다.</a:t>
            </a:r>
            <a:endParaRPr lang="en-US" sz="2775" dirty="0"/>
          </a:p>
        </p:txBody>
      </p:sp>
      <p:sp>
        <p:nvSpPr>
          <p:cNvPr id="9" name="Text 6"/>
          <p:cNvSpPr/>
          <p:nvPr/>
        </p:nvSpPr>
        <p:spPr>
          <a:xfrm>
            <a:off x="2667000" y="5200650"/>
            <a:ext cx="9525000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135"/>
              </a:lnSpc>
              <a:buNone/>
            </a:pPr>
            <a:r>
              <a:rPr lang="en-US" sz="27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5단계: 수정 이유와 버린 분기를 남긴다.</a:t>
            </a:r>
            <a:endParaRPr lang="en-US" sz="2775" dirty="0"/>
          </a:p>
        </p:txBody>
      </p:sp>
      <p:sp>
        <p:nvSpPr>
          <p:cNvPr id="10" name="Text 7"/>
          <p:cNvSpPr/>
          <p:nvPr/>
        </p:nvSpPr>
        <p:spPr>
          <a:xfrm>
            <a:off x="285750" y="6467475"/>
            <a:ext cx="308610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07"/>
              </a:lnSpc>
              <a:buNone/>
            </a:pPr>
            <a:r>
              <a:rPr lang="en-US" sz="20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5760690" y="6572250"/>
            <a:ext cx="670471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352425"/>
            <a:ext cx="4937760" cy="5668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64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업무별 적용 방식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928592" y="1590675"/>
            <a:ext cx="2420243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업무별 적용 방식</a:t>
            </a:r>
            <a:endParaRPr lang="en-US" sz="2475" dirty="0"/>
          </a:p>
        </p:txBody>
      </p:sp>
      <p:sp>
        <p:nvSpPr>
          <p:cNvPr id="5" name="Text 2"/>
          <p:cNvSpPr/>
          <p:nvPr/>
        </p:nvSpPr>
        <p:spPr>
          <a:xfrm>
            <a:off x="2457450" y="2457450"/>
            <a:ext cx="7889528" cy="33754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3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리서치: 요약 전에 claim, 반례, 적용 조건을 분해한다.</a:t>
            </a:r>
            <a:pPr indent="0" marL="0">
              <a:lnSpc>
                <a:spcPts val="443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443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코딩: 구현 전에 아키텍처 대안과 rollback path를</a:t>
            </a:r>
            <a:pPr indent="0" marL="0">
              <a:lnSpc>
                <a:spcPts val="443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443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비교한다.</a:t>
            </a:r>
            <a:pPr indent="0" marL="0">
              <a:lnSpc>
                <a:spcPts val="443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443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디자인: 이미지 생성 전에 concept card를 탐색한다.</a:t>
            </a:r>
            <a:pPr indent="0" marL="0">
              <a:lnSpc>
                <a:spcPts val="443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443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슬라이드: 서식 작성 전에 narrative 후보를 비교한다.</a:t>
            </a:r>
            <a:pPr indent="0" marL="0">
              <a:lnSpc>
                <a:spcPts val="443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4430"/>
              </a:lnSpc>
              <a:buNone/>
            </a:pPr>
            <a:r>
              <a:rPr lang="en-US" sz="24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회의록: 요약 전에 결정, 미결정, 후속 질문을 분리한다.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285750" y="6419850"/>
            <a:ext cx="285750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5740598" y="6524625"/>
            <a:ext cx="69145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23850"/>
            <a:ext cx="6035040" cy="5441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284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시 확인할 지점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617690" y="1571625"/>
            <a:ext cx="2975521" cy="3972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128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시 확인할 지점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543175" y="2400300"/>
            <a:ext cx="9648825" cy="4543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78"/>
              </a:lnSpc>
              <a:buNone/>
            </a:pPr>
            <a:r>
              <a:rPr lang="en-US" sz="22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•연구 표본은 N=24이며 CS/IT 배경 비중이 높다.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2543175" y="3038475"/>
            <a:ext cx="9648825" cy="4543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78"/>
              </a:lnSpc>
              <a:buNone/>
            </a:pPr>
            <a:r>
              <a:rPr lang="en-US" sz="22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•포스터 생성 과제 밖의 일반화는 추가 검증이 필요하다.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2543175" y="3724275"/>
            <a:ext cx="9258300" cy="4543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78"/>
              </a:lnSpc>
              <a:buNone/>
            </a:pPr>
            <a:r>
              <a:rPr lang="en-US" sz="22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•탐색 구조를 늘리면 속도 손실이 생길 수 있다.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543175" y="4410075"/>
            <a:ext cx="9648825" cy="4543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78"/>
              </a:lnSpc>
              <a:buNone/>
            </a:pPr>
            <a:r>
              <a:rPr lang="en-US" sz="22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•팀 적용 시 ownership과 승인 기준을 정해야 한다.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543175" y="5057775"/>
            <a:ext cx="9648825" cy="4543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78"/>
              </a:lnSpc>
              <a:buNone/>
            </a:pPr>
            <a:r>
              <a:rPr lang="en-US" sz="22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•권장 방향: AI 도구 선택보다 워크플로 파일럿으로 검증한다.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85750" y="6496050"/>
            <a:ext cx="2857500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4"/>
              </a:lnSpc>
              <a:buNone/>
            </a:pPr>
            <a:r>
              <a:rPr lang="en-US" sz="1875" b="1" dirty="0">
                <a:solidFill>
                  <a:srgbClr val="A92F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5740598" y="6562725"/>
            <a:ext cx="69145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2026-04-28T17:25:54Z</dcterms:created>
  <dcterms:modified xsi:type="dcterms:W3CDTF">2026-04-28T17:25:54Z</dcterms:modified>
</cp:coreProperties>
</file>