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533400"/>
            <a:ext cx="11163300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협업은 첫 산출물을 늦출수록 넘어진다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335286" y="1590675"/>
            <a:ext cx="1843980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및 문제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43025" y="4171950"/>
            <a:ext cx="1676400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및 결과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23975" y="2038350"/>
            <a:ext cx="5448300" cy="20654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첫 산출물이 이후 판단을 고착시킨다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즉시 실행 인터페이스가 탐색 범위를 좁히는 문제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탐색 구조화가 프롬프트 최적화보다 중요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순서 설계가 결과의 다양성을 결정한다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논문 출처: arXiv:2512.18388v2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Wen et al. | 2026-04-28 내부 기술 리뷰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23975" y="4610100"/>
            <a:ext cx="5584478" cy="20654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HAICo: 발산·수렴 모드 분리 시스템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카드 탐색 후 산출물 생성 순서 적용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N=24 실험: Novelty 3.22 vs 2.41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HAICo가 ChatGPT 대비 독창성·다양성 모두 우위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대상: 엔지니어·PM·AI 도구 사용자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의사결정자 포함 실무 적용 가이드 제공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72609" y="6743700"/>
            <a:ext cx="513308" cy="73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75"/>
              </a:lnSpc>
              <a:buNone/>
            </a:pPr>
            <a:r>
              <a:rPr lang="en-US" sz="9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27199" y="4743450"/>
            <a:ext cx="4746278" cy="417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품질↑ 집단 다양성↓ 분리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993428" y="1657350"/>
            <a:ext cx="4547146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3"/>
              </a:lnSpc>
              <a:buNone/>
            </a:pPr>
            <a:r>
              <a:rPr lang="en-US" sz="2700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산출물이 고착을 만든다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6885980" y="1657350"/>
            <a:ext cx="4201418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3"/>
              </a:lnSpc>
              <a:buNone/>
            </a:pPr>
            <a:r>
              <a:rPr lang="en-US" sz="2700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문제는 모델 성능이 아니다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1532037" y="3228975"/>
            <a:ext cx="3384203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3"/>
              </a:lnSpc>
              <a:buNone/>
            </a:pPr>
            <a:r>
              <a:rPr lang="en-US" sz="2700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기술의 한계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026027" y="3228975"/>
            <a:ext cx="3845123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3"/>
              </a:lnSpc>
              <a:buNone/>
            </a:pPr>
            <a:r>
              <a:rPr lang="en-US" sz="2700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구조화가 핵심 변수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285750" y="142875"/>
            <a:ext cx="651510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0"/>
              </a:lnSpc>
              <a:buNone/>
            </a:pPr>
            <a:r>
              <a:rPr lang="en-US" sz="22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352425" y="742950"/>
            <a:ext cx="11839575" cy="3223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논문의 핵심 가치와 실무적 의의 / Core Value and Practical Significance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25636" y="5210175"/>
            <a:ext cx="5825430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지원 시 개인 성과는 높아지나 팀의 결과물은 동질화됨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98140" y="2171700"/>
            <a:ext cx="5280571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결과물이 anchor로 작동해 탐색 범위를 좁힌다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958459" y="2171700"/>
            <a:ext cx="4075658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 설계가 결과 품질을 결정한다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33896" y="3733800"/>
            <a:ext cx="4599533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최적화는 도구 조작 학습에 그친다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15138" y="3733800"/>
            <a:ext cx="429577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실행을 늦추고 대안을 먼저 비교해야 한다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98890" y="4781550"/>
            <a:ext cx="465192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 설계가 실무 전환점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6594128" y="5229225"/>
            <a:ext cx="4756696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재설계로 고객 없이 넓은 탐색이 가능하다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563350" y="6486525"/>
            <a:ext cx="439936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68"/>
              </a:lnSpc>
              <a:buNone/>
            </a:pPr>
            <a:r>
              <a:rPr lang="en-US" sz="12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1475" y="6467475"/>
            <a:ext cx="182880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13524" y="6715125"/>
            <a:ext cx="555278" cy="100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92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180" y="4649688"/>
            <a:ext cx="767953" cy="13303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863" y="4649688"/>
            <a:ext cx="1267867" cy="134406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761" y="4622155"/>
            <a:ext cx="2657773" cy="12343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773" y="4759375"/>
            <a:ext cx="2365177" cy="96009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42875"/>
            <a:ext cx="119634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수렴과 설계 고착 문제 모델 / Early Convergence &amp; Design Fixation Model</a:t>
            </a:r>
            <a:endParaRPr lang="en-US" sz="2325" dirty="0"/>
          </a:p>
        </p:txBody>
      </p:sp>
      <p:sp>
        <p:nvSpPr>
          <p:cNvPr id="9" name="Text 1"/>
          <p:cNvSpPr/>
          <p:nvPr/>
        </p:nvSpPr>
        <p:spPr>
          <a:xfrm>
            <a:off x="823317" y="2247900"/>
            <a:ext cx="3048893" cy="337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수렴: 탐색 전 방향 고정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4416177" y="2247900"/>
            <a:ext cx="3426023" cy="337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Gulf of envisioning 개념 정의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8387209" y="2247900"/>
            <a:ext cx="2818358" cy="337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플로우와 비교</a:t>
            </a:r>
            <a:endParaRPr lang="en-US" sz="1725" dirty="0"/>
          </a:p>
        </p:txBody>
      </p:sp>
      <p:sp>
        <p:nvSpPr>
          <p:cNvPr id="12" name="Text 4"/>
          <p:cNvSpPr/>
          <p:nvPr/>
        </p:nvSpPr>
        <p:spPr>
          <a:xfrm>
            <a:off x="1362075" y="1419225"/>
            <a:ext cx="1885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 모델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4673352" y="1419225"/>
            <a:ext cx="27973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매커니즘 및 플로우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8512373" y="1419225"/>
            <a:ext cx="2786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 및 원인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553789" y="2657475"/>
            <a:ext cx="353079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즉시 산출물이 첫 기준점으로 작동,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수정 루프 강화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4498628" y="2657475"/>
            <a:ext cx="3289846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느낌 → 구체 지시 변환 실패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임의의 해석 루프 발생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8175724" y="2657475"/>
            <a:ext cx="348897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 탐색 → 선택 기준 수립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 생성 순서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553343" y="3486150"/>
            <a:ext cx="3541365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고착: 첫 예시에 묶이는 상태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5000625" y="3486150"/>
            <a:ext cx="2305050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심화 플로우 구조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311455" y="3486150"/>
            <a:ext cx="3227040" cy="3372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5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원인: 모델 성능 아닌 손서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1024830" y="3886200"/>
            <a:ext cx="259839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 노출 시 아이디어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수·다양성·독창성 모두 저하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4730055" y="3886200"/>
            <a:ext cx="280794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 → 로컬 수정 반복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대안 탐색 기회 소멸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8552408" y="3886200"/>
            <a:ext cx="2744986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 설계가 고착 여부를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결정하는 핵심 변수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1362075" y="1685925"/>
            <a:ext cx="1885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Problem Model</a:t>
            </a:r>
            <a:endParaRPr lang="en-US" sz="1125" dirty="0"/>
          </a:p>
        </p:txBody>
      </p:sp>
      <p:sp>
        <p:nvSpPr>
          <p:cNvPr id="25" name="Text 17"/>
          <p:cNvSpPr/>
          <p:nvPr/>
        </p:nvSpPr>
        <p:spPr>
          <a:xfrm>
            <a:off x="4673352" y="1685925"/>
            <a:ext cx="27973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Occurrence Mechanism &amp; Flow</a:t>
            </a:r>
            <a:endParaRPr lang="en-US" sz="1125" dirty="0"/>
          </a:p>
        </p:txBody>
      </p:sp>
      <p:sp>
        <p:nvSpPr>
          <p:cNvPr id="26" name="Text 18"/>
          <p:cNvSpPr/>
          <p:nvPr/>
        </p:nvSpPr>
        <p:spPr>
          <a:xfrm>
            <a:off x="8512373" y="1685925"/>
            <a:ext cx="27869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Exploration-First Flow &amp; Cause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8125" y="14287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 시스템 설계: 발산과 수렴의 분리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771525" y="2314575"/>
            <a:ext cx="4457700" cy="4257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그리드 생성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71525" y="3305175"/>
            <a:ext cx="6172200" cy="4257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연상 프롬프팅으로 다양성 확보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771525" y="4314825"/>
            <a:ext cx="8001000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Gene xplore 모델 기반 설계 원리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686550" y="2314575"/>
            <a:ext cx="4800600" cy="4257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파라미터 분해 후 실행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6686550" y="3305175"/>
            <a:ext cx="5486400" cy="4257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비선형 컨텍스트 전환 지원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6686550" y="4314825"/>
            <a:ext cx="4800600" cy="4257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버린 분기와 이유 보존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914400" y="2800350"/>
            <a:ext cx="762381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생성 전 제목·설명·태그 포함 카드 배열 제시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914400" y="3790950"/>
            <a:ext cx="106908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신화·역사·예술 등 원격 영역 연상 (W=24.0 p&lt;0.001)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914400" y="4781550"/>
            <a:ext cx="709803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생성·탐색 분리 구조로 고착 방지 메커니즘 내재화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6934200" y="2800350"/>
            <a:ext cx="52578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 semantic parameter 표로 분해 후 선택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6934200" y="3790950"/>
            <a:ext cx="52578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흐름 비중속, 이전 분기 상태로 자유 복귀 가능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6869311" y="4781550"/>
            <a:ext cx="5322689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폐기된 아이디어 branch와 선택 근거를 히스토리로 보관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8658671" y="1733550"/>
            <a:ext cx="82763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모드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496443" y="1733550"/>
            <a:ext cx="81721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 모드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6725" y="6457950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70674" y="6734175"/>
            <a:ext cx="555278" cy="753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3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80" y="4766221"/>
            <a:ext cx="10375255" cy="151551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90500"/>
            <a:ext cx="90525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결과: 독창성 및 다양성 지표 분석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5135314" y="1600200"/>
            <a:ext cx="206394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실험 결과 메트릭</a:t>
            </a:r>
            <a:endParaRPr lang="en-US" sz="1650" dirty="0"/>
          </a:p>
        </p:txBody>
      </p:sp>
      <p:sp>
        <p:nvSpPr>
          <p:cNvPr id="7" name="Text 2"/>
          <p:cNvSpPr/>
          <p:nvPr/>
        </p:nvSpPr>
        <p:spPr>
          <a:xfrm>
            <a:off x="714375" y="2800350"/>
            <a:ext cx="6181725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UMUX-Lite 사용성: 81.25 vs 64.24 (HAICo가 유의미하게 높음,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p&lt;0.001)</a:t>
            </a:r>
            <a:endParaRPr lang="en-US" sz="1575" dirty="0"/>
          </a:p>
        </p:txBody>
      </p:sp>
      <p:sp>
        <p:nvSpPr>
          <p:cNvPr id="8" name="Text 3"/>
          <p:cNvSpPr/>
          <p:nvPr/>
        </p:nvSpPr>
        <p:spPr>
          <a:xfrm>
            <a:off x="7058025" y="2800350"/>
            <a:ext cx="5133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수정 횟수: 1.56 vs 2.94 감소 (p=0.004, HAICo 우위)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714375" y="3343275"/>
            <a:ext cx="114776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Novelty 독창성: 3.22 vs 2.41 (p&lt;0.001, 통계적으로 유의)</a:t>
            </a:r>
            <a:endParaRPr lang="en-US" sz="1575" dirty="0"/>
          </a:p>
        </p:txBody>
      </p:sp>
      <p:sp>
        <p:nvSpPr>
          <p:cNvPr id="10" name="Text 5"/>
          <p:cNvSpPr/>
          <p:nvPr/>
        </p:nvSpPr>
        <p:spPr>
          <a:xfrm>
            <a:off x="7058025" y="3105150"/>
            <a:ext cx="4725293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창의성 지원 지수(CSI) 전 5개 차원 우위 (p&lt;0.002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수준)</a:t>
            </a:r>
            <a:endParaRPr lang="en-US" sz="1575" dirty="0"/>
          </a:p>
        </p:txBody>
      </p:sp>
      <p:sp>
        <p:nvSpPr>
          <p:cNvPr id="11" name="Text 6"/>
          <p:cNvSpPr/>
          <p:nvPr/>
        </p:nvSpPr>
        <p:spPr>
          <a:xfrm>
            <a:off x="714375" y="3667125"/>
            <a:ext cx="10961370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Diversity 다양성: 0.48 vs 0.36 (p=0.001)</a:t>
            </a:r>
            <a:endParaRPr lang="en-US" sz="1575" dirty="0"/>
          </a:p>
        </p:txBody>
      </p:sp>
      <p:sp>
        <p:nvSpPr>
          <p:cNvPr id="12" name="Text 7"/>
          <p:cNvSpPr/>
          <p:nvPr/>
        </p:nvSpPr>
        <p:spPr>
          <a:xfrm>
            <a:off x="7058025" y="3667125"/>
            <a:ext cx="4987230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유창성(Fluency) 및 유용성(Usefulness) 두 조건 간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 차이 없음 (ns)</a:t>
            </a:r>
            <a:endParaRPr lang="en-US" sz="1575" dirty="0"/>
          </a:p>
        </p:txBody>
      </p:sp>
      <p:sp>
        <p:nvSpPr>
          <p:cNvPr id="13" name="Text 8"/>
          <p:cNvSpPr/>
          <p:nvPr/>
        </p:nvSpPr>
        <p:spPr>
          <a:xfrm>
            <a:off x="2994571" y="2352675"/>
            <a:ext cx="1173361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성능 지표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302377" y="2352675"/>
            <a:ext cx="1959173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및 기타 결과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28600" y="6467475"/>
            <a:ext cx="205740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871567" y="6715125"/>
            <a:ext cx="534293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894" y="2098477"/>
            <a:ext cx="6668988" cy="36278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57" y="2064246"/>
            <a:ext cx="4291459" cy="40049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38125" y="190500"/>
            <a:ext cx="9989820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64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학습의 전환: 도구 사용법에서 과제 이해로</a:t>
            </a:r>
            <a:endParaRPr lang="en-US" sz="2850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586359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조건별 학습 결과 및 장기적 시사점</a:t>
            </a:r>
            <a:endParaRPr lang="en-US" sz="2025" dirty="0"/>
          </a:p>
        </p:txBody>
      </p:sp>
      <p:sp>
        <p:nvSpPr>
          <p:cNvPr id="8" name="Text 2"/>
          <p:cNvSpPr/>
          <p:nvPr/>
        </p:nvSpPr>
        <p:spPr>
          <a:xfrm>
            <a:off x="5269706" y="1600200"/>
            <a:ext cx="162401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결과 및 비교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5813524" y="6705600"/>
            <a:ext cx="555278" cy="1140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  <p:sp>
        <p:nvSpPr>
          <p:cNvPr id="10" name="Text 4"/>
          <p:cNvSpPr/>
          <p:nvPr/>
        </p:nvSpPr>
        <p:spPr>
          <a:xfrm>
            <a:off x="533400" y="6486525"/>
            <a:ext cx="16802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588" y="294829"/>
            <a:ext cx="670471" cy="1988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660303" y="666750"/>
            <a:ext cx="6852196" cy="4877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고착 심화에 관한 보강 근거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714375" y="1943100"/>
            <a:ext cx="2546003" cy="6628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노출 → 아이디어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다양성·독창성 저하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4495800" y="1943100"/>
            <a:ext cx="3352800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품질↓, 집단 다양성↓</a:t>
            </a:r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 현상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8391525" y="1943100"/>
            <a:ext cx="2954536" cy="6628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→ 아이디어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동질화 위험</a:t>
            </a:r>
            <a:endParaRPr lang="en-US" sz="2175" dirty="0"/>
          </a:p>
        </p:txBody>
      </p:sp>
      <p:sp>
        <p:nvSpPr>
          <p:cNvPr id="9" name="Text 4"/>
          <p:cNvSpPr/>
          <p:nvPr/>
        </p:nvSpPr>
        <p:spPr>
          <a:xfrm>
            <a:off x="714375" y="4676775"/>
            <a:ext cx="2692598" cy="6628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프로토타입이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직렬보다 다양성 우위</a:t>
            </a:r>
            <a:endParaRPr lang="en-US" sz="2175" dirty="0"/>
          </a:p>
        </p:txBody>
      </p:sp>
      <p:sp>
        <p:nvSpPr>
          <p:cNvPr id="10" name="Text 5"/>
          <p:cNvSpPr/>
          <p:nvPr/>
        </p:nvSpPr>
        <p:spPr>
          <a:xfrm>
            <a:off x="4495800" y="4676775"/>
            <a:ext cx="4309110" cy="331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고착은 도메인 범용 현상</a:t>
            </a:r>
            <a:endParaRPr lang="en-US" sz="2175" dirty="0"/>
          </a:p>
        </p:txBody>
      </p:sp>
      <p:sp>
        <p:nvSpPr>
          <p:cNvPr id="11" name="Text 6"/>
          <p:cNvSpPr/>
          <p:nvPr/>
        </p:nvSpPr>
        <p:spPr>
          <a:xfrm>
            <a:off x="8391525" y="4676775"/>
            <a:ext cx="3800475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GenAI 자체가 고착 심화 요인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714375" y="2724150"/>
            <a:ext cx="3530798" cy="960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Wadinambiarachchi 2024: AI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노출 시 아이디어 수(↓18.3%),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다양성(↓25.1%), 독창성(↓30.5%)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유의미하게 감소 (p &lt; 0.001)</a:t>
            </a:r>
            <a:endParaRPr lang="en-US" sz="1575" dirty="0"/>
          </a:p>
        </p:txBody>
      </p:sp>
      <p:sp>
        <p:nvSpPr>
          <p:cNvPr id="13" name="Text 8"/>
          <p:cNvSpPr/>
          <p:nvPr/>
        </p:nvSpPr>
        <p:spPr>
          <a:xfrm>
            <a:off x="4495800" y="2724150"/>
            <a:ext cx="374034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Doshi &amp; Hauser 2024: AI 지원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클러스터에서 개인 창의성 점수는 상승하나,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간 유사도(↑32.4%, p &lt; 0.01)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증가로 집단 다양성 하락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91525" y="2724150"/>
            <a:ext cx="3111698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Anderson et al. 2024: 아이디어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수는 증가(↑65.3%), 사용자 간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구별도(↓41.8%, p &lt; 0.001) 및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동시 저하로 동질화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14375" y="5438775"/>
            <a:ext cx="3530798" cy="7201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 et al.: 동시 대안 탐색(병렬)이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 탐색(직렬)보다 결과의 다양성 및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품질(↑22.5%)이 모두 높음 (p &lt; 0.05)</a:t>
            </a:r>
            <a:endParaRPr lang="en-US" sz="1575" dirty="0"/>
          </a:p>
        </p:txBody>
      </p:sp>
      <p:sp>
        <p:nvSpPr>
          <p:cNvPr id="16" name="Text 11"/>
          <p:cNvSpPr/>
          <p:nvPr/>
        </p:nvSpPr>
        <p:spPr>
          <a:xfrm>
            <a:off x="4495800" y="5191125"/>
            <a:ext cx="3677543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Parsons et al. 2021: 창의적 작업뿐만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아니라와 데이터 시각화 설계 등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범용적으로 고착이 창의적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제한 (p &lt; 0.05)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391525" y="5191125"/>
            <a:ext cx="3583186" cy="960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연구 수렴: 모델 성능(Accuracy)과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무관하게, AI 산출물 노출 자체기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고착을 강화하는 핵심 요인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(**p &lt; 0.05)</a:t>
            </a:r>
            <a:endParaRPr lang="en-US" sz="1575" dirty="0"/>
          </a:p>
        </p:txBody>
      </p:sp>
      <p:sp>
        <p:nvSpPr>
          <p:cNvPr id="18" name="Text 13"/>
          <p:cNvSpPr/>
          <p:nvPr/>
        </p:nvSpPr>
        <p:spPr>
          <a:xfrm>
            <a:off x="771525" y="1647825"/>
            <a:ext cx="43891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1] / 연구 결과 1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0" y="1647825"/>
            <a:ext cx="43891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2] / 연구 결과 2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67725" y="1647825"/>
            <a:ext cx="3724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3] / 연구 결과 3</a:t>
            </a:r>
            <a:endParaRPr lang="en-US" sz="1275" dirty="0"/>
          </a:p>
        </p:txBody>
      </p:sp>
      <p:sp>
        <p:nvSpPr>
          <p:cNvPr id="21" name="Text 16"/>
          <p:cNvSpPr/>
          <p:nvPr/>
        </p:nvSpPr>
        <p:spPr>
          <a:xfrm>
            <a:off x="771525" y="4391025"/>
            <a:ext cx="43891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4] / 연구 결과 4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572000" y="4391025"/>
            <a:ext cx="43891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5] / 연구 결과 5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467725" y="4391025"/>
            <a:ext cx="3724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[RESULT 6] / 연구 결과 6</a:t>
            </a:r>
            <a:endParaRPr lang="en-US" sz="1275" dirty="0"/>
          </a:p>
        </p:txBody>
      </p:sp>
      <p:sp>
        <p:nvSpPr>
          <p:cNvPr id="24" name="Text 19"/>
          <p:cNvSpPr/>
          <p:nvPr/>
        </p:nvSpPr>
        <p:spPr>
          <a:xfrm>
            <a:off x="104775" y="6477000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823942" y="6715125"/>
            <a:ext cx="53429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279" y="3422005"/>
            <a:ext cx="1145977" cy="7063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271" y="4731990"/>
            <a:ext cx="1060698" cy="7542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067" y="2057400"/>
            <a:ext cx="1109365" cy="8434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0753" y="4704457"/>
            <a:ext cx="1024086" cy="77494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977" y="2057400"/>
            <a:ext cx="889992" cy="82287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7467" y="3394621"/>
            <a:ext cx="1072753" cy="733723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142875"/>
            <a:ext cx="608838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사용자 워크플로 6단계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1416844" y="3038475"/>
            <a:ext cx="193833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문제 프레임</a:t>
            </a:r>
            <a:endParaRPr lang="en-US" sz="1725" dirty="0"/>
          </a:p>
        </p:txBody>
      </p:sp>
      <p:sp>
        <p:nvSpPr>
          <p:cNvPr id="12" name="Text 2"/>
          <p:cNvSpPr/>
          <p:nvPr/>
        </p:nvSpPr>
        <p:spPr>
          <a:xfrm>
            <a:off x="3579465" y="1771650"/>
            <a:ext cx="213732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발산 카드 패스</a:t>
            </a:r>
            <a:endParaRPr lang="en-US" sz="1725" dirty="0"/>
          </a:p>
        </p:txBody>
      </p:sp>
      <p:sp>
        <p:nvSpPr>
          <p:cNvPr id="13" name="Text 3"/>
          <p:cNvSpPr/>
          <p:nvPr/>
        </p:nvSpPr>
        <p:spPr>
          <a:xfrm>
            <a:off x="6572696" y="1771650"/>
            <a:ext cx="20849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선택 기준 수립</a:t>
            </a:r>
            <a:endParaRPr lang="en-US" sz="1650" dirty="0"/>
          </a:p>
        </p:txBody>
      </p:sp>
      <p:sp>
        <p:nvSpPr>
          <p:cNvPr id="14" name="Text 4"/>
          <p:cNvSpPr/>
          <p:nvPr/>
        </p:nvSpPr>
        <p:spPr>
          <a:xfrm>
            <a:off x="8814792" y="3038475"/>
            <a:ext cx="200114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및 브랜치 보완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6734175" y="4371975"/>
            <a:ext cx="18859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5단계: 산출물 생성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361950" y="742950"/>
            <a:ext cx="683514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방지 및 발산 강화를 위한 AI 협업 절차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2413099" y="2724150"/>
            <a:ext cx="136178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4566196" y="1390650"/>
            <a:ext cx="125611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75" dirty="0"/>
          </a:p>
        </p:txBody>
      </p:sp>
      <p:sp>
        <p:nvSpPr>
          <p:cNvPr id="19" name="Text 9"/>
          <p:cNvSpPr/>
          <p:nvPr/>
        </p:nvSpPr>
        <p:spPr>
          <a:xfrm>
            <a:off x="7528471" y="1390650"/>
            <a:ext cx="125611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75" dirty="0"/>
          </a:p>
        </p:txBody>
      </p:sp>
      <p:sp>
        <p:nvSpPr>
          <p:cNvPr id="20" name="Text 10"/>
          <p:cNvSpPr/>
          <p:nvPr/>
        </p:nvSpPr>
        <p:spPr>
          <a:xfrm>
            <a:off x="9794528" y="2724150"/>
            <a:ext cx="146596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50" dirty="0"/>
          </a:p>
        </p:txBody>
      </p:sp>
      <p:sp>
        <p:nvSpPr>
          <p:cNvPr id="21" name="Text 11"/>
          <p:cNvSpPr/>
          <p:nvPr/>
        </p:nvSpPr>
        <p:spPr>
          <a:xfrm>
            <a:off x="4546253" y="4010025"/>
            <a:ext cx="146596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12"/>
          <p:cNvSpPr/>
          <p:nvPr/>
        </p:nvSpPr>
        <p:spPr>
          <a:xfrm>
            <a:off x="7537103" y="4010025"/>
            <a:ext cx="146596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3"/>
          <p:cNvSpPr/>
          <p:nvPr/>
        </p:nvSpPr>
        <p:spPr>
          <a:xfrm>
            <a:off x="1486793" y="4286250"/>
            <a:ext cx="1864965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목표·독자·제약·금지</a:t>
            </a:r>
            <a:pPr algn="ctr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 사전 명시</a:t>
            </a:r>
            <a:endParaRPr lang="en-US" sz="1425" dirty="0"/>
          </a:p>
        </p:txBody>
      </p:sp>
      <p:sp>
        <p:nvSpPr>
          <p:cNvPr id="24" name="Text 14"/>
          <p:cNvSpPr/>
          <p:nvPr/>
        </p:nvSpPr>
        <p:spPr>
          <a:xfrm>
            <a:off x="3779490" y="4371975"/>
            <a:ext cx="17182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매개변수 구조화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9087296" y="4238625"/>
            <a:ext cx="1456283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고착·중복 점검,</a:t>
            </a:r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버린 대안과 이유</a:t>
            </a:r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아카이빙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3737074" y="2933700"/>
            <a:ext cx="1812578" cy="7058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영역 아이디어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7-9개 생성,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생성 금지</a:t>
            </a:r>
            <a:endParaRPr lang="en-US" sz="1425" dirty="0"/>
          </a:p>
        </p:txBody>
      </p:sp>
      <p:sp>
        <p:nvSpPr>
          <p:cNvPr id="27" name="Text 17"/>
          <p:cNvSpPr/>
          <p:nvPr/>
        </p:nvSpPr>
        <p:spPr>
          <a:xfrm>
            <a:off x="6702177" y="2933700"/>
            <a:ext cx="1749623" cy="7058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novelty·유용성·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실행가능성·리스크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리스크로 평가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3620839" y="5543550"/>
            <a:ext cx="2063948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 semantic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표로 분해</a:t>
            </a:r>
            <a:endParaRPr lang="en-US" sz="1425" dirty="0"/>
          </a:p>
        </p:txBody>
      </p:sp>
      <p:sp>
        <p:nvSpPr>
          <p:cNvPr id="29" name="Text 19"/>
          <p:cNvSpPr/>
          <p:nvPr/>
        </p:nvSpPr>
        <p:spPr>
          <a:xfrm>
            <a:off x="6731198" y="5543550"/>
            <a:ext cx="173920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방향에 한해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 생성</a:t>
            </a:r>
            <a:endParaRPr lang="en-US" sz="1425" dirty="0"/>
          </a:p>
        </p:txBody>
      </p:sp>
      <p:sp>
        <p:nvSpPr>
          <p:cNvPr id="30" name="Text 20"/>
          <p:cNvSpPr/>
          <p:nvPr/>
        </p:nvSpPr>
        <p:spPr>
          <a:xfrm>
            <a:off x="104775" y="6457950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5934521" y="6734175"/>
            <a:ext cx="408533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079" y="2098477"/>
            <a:ext cx="1645890" cy="15772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75" y="2180779"/>
            <a:ext cx="1450777" cy="14400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992" y="2180779"/>
            <a:ext cx="1426369" cy="134406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067" y="2098477"/>
            <a:ext cx="1682353" cy="15635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52425" y="733425"/>
            <a:ext cx="8915400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64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적용을 위한 4가지 프롬프트 패턴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813346" y="4010025"/>
            <a:ext cx="544711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3749873" y="4010025"/>
            <a:ext cx="272355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950" dirty="0"/>
          </a:p>
        </p:txBody>
      </p:sp>
      <p:sp>
        <p:nvSpPr>
          <p:cNvPr id="11" name="Text 3"/>
          <p:cNvSpPr/>
          <p:nvPr/>
        </p:nvSpPr>
        <p:spPr>
          <a:xfrm>
            <a:off x="6550223" y="4010025"/>
            <a:ext cx="272355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9493448" y="4010025"/>
            <a:ext cx="272355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1200150" y="209550"/>
            <a:ext cx="325755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PATTERNS</a:t>
            </a:r>
            <a:endParaRPr lang="en-US" sz="1425" dirty="0"/>
          </a:p>
        </p:txBody>
      </p:sp>
      <p:sp>
        <p:nvSpPr>
          <p:cNvPr id="14" name="Text 6"/>
          <p:cNvSpPr/>
          <p:nvPr/>
        </p:nvSpPr>
        <p:spPr>
          <a:xfrm>
            <a:off x="762446" y="4419600"/>
            <a:ext cx="1875383" cy="2102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6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</a:t>
            </a:r>
            <a:endParaRPr lang="en-US" sz="1725" dirty="0"/>
          </a:p>
        </p:txBody>
      </p:sp>
      <p:sp>
        <p:nvSpPr>
          <p:cNvPr id="15" name="Text 7"/>
          <p:cNvSpPr/>
          <p:nvPr/>
        </p:nvSpPr>
        <p:spPr>
          <a:xfrm>
            <a:off x="4074765" y="4419600"/>
            <a:ext cx="10895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4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매트릭스</a:t>
            </a:r>
            <a:endParaRPr lang="en-US" sz="1275" dirty="0"/>
          </a:p>
        </p:txBody>
      </p:sp>
      <p:sp>
        <p:nvSpPr>
          <p:cNvPr id="16" name="Text 8"/>
          <p:cNvSpPr/>
          <p:nvPr/>
        </p:nvSpPr>
        <p:spPr>
          <a:xfrm>
            <a:off x="6937028" y="4419600"/>
            <a:ext cx="1194346" cy="1462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매개변수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9788723" y="4419600"/>
            <a:ext cx="1320105" cy="2102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6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단위 관점</a:t>
            </a:r>
            <a:endParaRPr lang="en-US" sz="1725" dirty="0"/>
          </a:p>
        </p:txBody>
      </p:sp>
      <p:sp>
        <p:nvSpPr>
          <p:cNvPr id="18" name="Text 10"/>
          <p:cNvSpPr/>
          <p:nvPr/>
        </p:nvSpPr>
        <p:spPr>
          <a:xfrm>
            <a:off x="674340" y="4857750"/>
            <a:ext cx="2137321" cy="830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카드, 각 source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비중복 지정,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생성 금지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3406527" y="4857750"/>
            <a:ext cx="2378273" cy="830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novelty·usefulness·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feasibility·risk 기준,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 한 줄씩 명시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401693" y="4857750"/>
            <a:ext cx="2284065" cy="830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표로 분해,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선택 후에만 실행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9203978" y="4857750"/>
            <a:ext cx="2242096" cy="830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5명에게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고객·기술·비용·반대·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78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유추 관점 각각 배정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419100" y="209550"/>
            <a:ext cx="19888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9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876925" y="6705600"/>
            <a:ext cx="419100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82" y="4937671"/>
            <a:ext cx="463153" cy="32905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690" y="3799284"/>
            <a:ext cx="438894" cy="39082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61" y="4910286"/>
            <a:ext cx="414486" cy="3908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61" y="3799284"/>
            <a:ext cx="414486" cy="39766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361" y="2674590"/>
            <a:ext cx="426690" cy="397669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28600" y="190500"/>
            <a:ext cx="72009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56"/>
              </a:lnSpc>
              <a:buNone/>
            </a:pPr>
            <a:r>
              <a:rPr lang="en-US" sz="26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도메인별 적용 사례 및 패턴 변화</a:t>
            </a:r>
            <a:endParaRPr lang="en-US" sz="2625" dirty="0"/>
          </a:p>
        </p:txBody>
      </p:sp>
      <p:sp>
        <p:nvSpPr>
          <p:cNvPr id="10" name="Text 1"/>
          <p:cNvSpPr/>
          <p:nvPr/>
        </p:nvSpPr>
        <p:spPr>
          <a:xfrm>
            <a:off x="314325" y="742950"/>
            <a:ext cx="9715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도메인별 특화된 AI 협업 패턴의 변화와 실제 적용 사례 분석</a:t>
            </a:r>
            <a:endParaRPr lang="en-US" sz="1875" dirty="0"/>
          </a:p>
        </p:txBody>
      </p:sp>
      <p:sp>
        <p:nvSpPr>
          <p:cNvPr id="11" name="Text 2"/>
          <p:cNvSpPr/>
          <p:nvPr/>
        </p:nvSpPr>
        <p:spPr>
          <a:xfrm>
            <a:off x="1323975" y="2724150"/>
            <a:ext cx="493776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리서치: 요약 → 구조화 분해</a:t>
            </a:r>
            <a:endParaRPr lang="en-US" sz="2025" dirty="0"/>
          </a:p>
        </p:txBody>
      </p:sp>
      <p:sp>
        <p:nvSpPr>
          <p:cNvPr id="12" name="Text 3"/>
          <p:cNvSpPr/>
          <p:nvPr/>
        </p:nvSpPr>
        <p:spPr>
          <a:xfrm>
            <a:off x="1323975" y="3810000"/>
            <a:ext cx="709803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슬라이드: 서식 전 narrative 비교</a:t>
            </a:r>
            <a:endParaRPr lang="en-US" sz="2025" dirty="0"/>
          </a:p>
        </p:txBody>
      </p:sp>
      <p:sp>
        <p:nvSpPr>
          <p:cNvPr id="13" name="Text 4"/>
          <p:cNvSpPr/>
          <p:nvPr/>
        </p:nvSpPr>
        <p:spPr>
          <a:xfrm>
            <a:off x="1323975" y="4933950"/>
            <a:ext cx="534924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기획: 기능 → 문제 카드화</a:t>
            </a:r>
            <a:endParaRPr lang="en-US" sz="1950" dirty="0"/>
          </a:p>
        </p:txBody>
      </p:sp>
      <p:sp>
        <p:nvSpPr>
          <p:cNvPr id="14" name="Text 5"/>
          <p:cNvSpPr/>
          <p:nvPr/>
        </p:nvSpPr>
        <p:spPr>
          <a:xfrm>
            <a:off x="7058025" y="2724150"/>
            <a:ext cx="513397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코딩: 구현 전 아키텍처 대안 비교</a:t>
            </a:r>
            <a:endParaRPr lang="en-US" sz="1950" dirty="0"/>
          </a:p>
        </p:txBody>
      </p:sp>
      <p:sp>
        <p:nvSpPr>
          <p:cNvPr id="15" name="Text 6"/>
          <p:cNvSpPr/>
          <p:nvPr/>
        </p:nvSpPr>
        <p:spPr>
          <a:xfrm>
            <a:off x="7058025" y="3810000"/>
            <a:ext cx="513397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디자인: concept card 먼저, 생성은 나중</a:t>
            </a:r>
            <a:endParaRPr lang="en-US" sz="1950" dirty="0"/>
          </a:p>
        </p:txBody>
      </p:sp>
      <p:sp>
        <p:nvSpPr>
          <p:cNvPr id="16" name="Text 7"/>
          <p:cNvSpPr/>
          <p:nvPr/>
        </p:nvSpPr>
        <p:spPr>
          <a:xfrm>
            <a:off x="7058025" y="4933950"/>
            <a:ext cx="513397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회의: 정리 → 결정·미결정 분리</a:t>
            </a:r>
            <a:endParaRPr lang="en-US" sz="1950" dirty="0"/>
          </a:p>
        </p:txBody>
      </p:sp>
      <p:sp>
        <p:nvSpPr>
          <p:cNvPr id="17" name="Text 8"/>
          <p:cNvSpPr/>
          <p:nvPr/>
        </p:nvSpPr>
        <p:spPr>
          <a:xfrm>
            <a:off x="2474119" y="1524000"/>
            <a:ext cx="151923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기획·분석 도메인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8093273" y="1524000"/>
            <a:ext cx="173920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실행·산출물 도메인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1323975" y="3095625"/>
            <a:ext cx="803529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요약 직접 요청 대신 claim·반례·적용 가능성 카드로 분해</a:t>
            </a:r>
            <a:endParaRPr lang="en-US" sz="1425" dirty="0"/>
          </a:p>
        </p:txBody>
      </p:sp>
      <p:sp>
        <p:nvSpPr>
          <p:cNvPr id="20" name="Text 11"/>
          <p:cNvSpPr/>
          <p:nvPr/>
        </p:nvSpPr>
        <p:spPr>
          <a:xfrm>
            <a:off x="1323975" y="4191000"/>
            <a:ext cx="91897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생성 전 narrative 후보 3개·audience별 메시지 먼저 비교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1323975" y="5314950"/>
            <a:ext cx="803529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아이디어 직접 요청 대신 사용자 문제·실패 시나리오 카드 선형</a:t>
            </a:r>
            <a:endParaRPr lang="en-US" sz="1425" dirty="0"/>
          </a:p>
        </p:txBody>
      </p:sp>
      <p:sp>
        <p:nvSpPr>
          <p:cNvPr id="22" name="Text 13"/>
          <p:cNvSpPr/>
          <p:nvPr/>
        </p:nvSpPr>
        <p:spPr>
          <a:xfrm>
            <a:off x="7058025" y="3095625"/>
            <a:ext cx="51339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요청 전 아키텍처 대안 3개·tradeoff·rollback path 비교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7005638" y="4191000"/>
            <a:ext cx="5186363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포스터·이미지 생성 전 concept card 탐색 후 선택된 방향만 실행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7037040" y="5314950"/>
            <a:ext cx="515496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요약 대신 결정·미결정·가정·후속 질문 항목으로 분리 출력</a:t>
            </a:r>
            <a:endParaRPr lang="en-US" sz="1275" dirty="0"/>
          </a:p>
        </p:txBody>
      </p:sp>
      <p:sp>
        <p:nvSpPr>
          <p:cNvPr id="25" name="Text 16"/>
          <p:cNvSpPr/>
          <p:nvPr/>
        </p:nvSpPr>
        <p:spPr>
          <a:xfrm>
            <a:off x="466725" y="6467475"/>
            <a:ext cx="2057400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10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5876925" y="6715125"/>
            <a:ext cx="419100" cy="82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48"/>
              </a:lnSpc>
              <a:buNone/>
            </a:pPr>
            <a:r>
              <a:rPr lang="en-US" sz="67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267" y="4814292"/>
            <a:ext cx="1231255" cy="83656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267" y="3566071"/>
            <a:ext cx="1231255" cy="7679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267" y="2235696"/>
            <a:ext cx="1231255" cy="86409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84" y="4821138"/>
            <a:ext cx="1206996" cy="8297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80" y="3518148"/>
            <a:ext cx="1231255" cy="8777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77" y="2263080"/>
            <a:ext cx="1255663" cy="82287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33350"/>
            <a:ext cx="11963400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한계점 및 실무 도입 리스크 / Research Limitations and Risks</a:t>
            </a:r>
            <a:endParaRPr lang="en-US" sz="2325" dirty="0"/>
          </a:p>
        </p:txBody>
      </p:sp>
      <p:sp>
        <p:nvSpPr>
          <p:cNvPr id="11" name="Text 1"/>
          <p:cNvSpPr/>
          <p:nvPr/>
        </p:nvSpPr>
        <p:spPr>
          <a:xfrm>
            <a:off x="2209800" y="2314575"/>
            <a:ext cx="66370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편향: N=24, CS/IT 집중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2209800" y="3600450"/>
            <a:ext cx="35661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과제 도메인 한계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2209800" y="4886325"/>
            <a:ext cx="47548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세션, 장기 효과 불명확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8124825" y="2314575"/>
            <a:ext cx="40671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스케폴딩 증가 → 속도 손실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8124825" y="3600450"/>
            <a:ext cx="35661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모호성 위험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8124825" y="4886325"/>
            <a:ext cx="40671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HAICo는 연구용, 상용 미제공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352425" y="742950"/>
            <a:ext cx="1183957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및 실무 적용 측면의 제약과 리스크 / Constraints and Risks</a:t>
            </a:r>
            <a:endParaRPr lang="en-US" sz="1875" dirty="0"/>
          </a:p>
        </p:txBody>
      </p:sp>
      <p:sp>
        <p:nvSpPr>
          <p:cNvPr id="18" name="Text 8"/>
          <p:cNvSpPr/>
          <p:nvPr/>
        </p:nvSpPr>
        <p:spPr>
          <a:xfrm>
            <a:off x="1001018" y="1590675"/>
            <a:ext cx="437956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[연구 한계점 / RESEARCH LIMITATIONS]</a:t>
            </a:r>
            <a:endParaRPr lang="en-US" sz="1650" dirty="0"/>
          </a:p>
        </p:txBody>
      </p:sp>
      <p:sp>
        <p:nvSpPr>
          <p:cNvPr id="19" name="Text 9"/>
          <p:cNvSpPr/>
          <p:nvPr/>
        </p:nvSpPr>
        <p:spPr>
          <a:xfrm>
            <a:off x="6596063" y="1590675"/>
            <a:ext cx="492442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[실무 도입 리스크 / IMPLEMENTATION RISKS]</a:t>
            </a:r>
            <a:endParaRPr lang="en-US" sz="1650" dirty="0"/>
          </a:p>
        </p:txBody>
      </p:sp>
      <p:sp>
        <p:nvSpPr>
          <p:cNvPr id="20" name="Text 10"/>
          <p:cNvSpPr/>
          <p:nvPr/>
        </p:nvSpPr>
        <p:spPr>
          <a:xfrm>
            <a:off x="2209800" y="5324475"/>
            <a:ext cx="54864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 학습 지표, 객관적 장기 측정 없음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2209800" y="2762250"/>
            <a:ext cx="48006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직군 소규모 표본으로 일반화 제한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2209800" y="4038600"/>
            <a:ext cx="52578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 생성 외 도메인 적용 가능성 미검증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8124825" y="5324475"/>
            <a:ext cx="406717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도입 초기 저항 및 워크플로 복잡화 예상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8124825" y="2762250"/>
            <a:ext cx="406717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명확한 과제에서는 직접 실행이 더 효율적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8124825" y="4038600"/>
            <a:ext cx="406717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구조 도입 시 산출물 ownership 불분명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228600" y="6438900"/>
            <a:ext cx="1714500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4" y="1604665"/>
            <a:ext cx="11423898" cy="418326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8125" y="133350"/>
            <a:ext cx="91973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 효율화를 위한 4가지 운영 원칙</a:t>
            </a:r>
            <a:endParaRPr lang="en-US" sz="2550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543306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4가지 원칙 및 통합 측정 기준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533400" y="6467475"/>
            <a:ext cx="171450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5880646" y="6734175"/>
            <a:ext cx="544711" cy="848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68"/>
              </a:lnSpc>
              <a:buNone/>
            </a:pPr>
            <a:r>
              <a:rPr lang="en-US" sz="67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2026-04-28T15:59:12Z</dcterms:created>
  <dcterms:modified xsi:type="dcterms:W3CDTF">2026-04-28T15:59:12Z</dcterms:modified>
</cp:coreProperties>
</file>